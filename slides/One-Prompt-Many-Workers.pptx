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the room to settle. That fan is the whole talk: one thing becoming a team. Tonight we build it for real, in Java, on this laptop, with a model that never phones home. Say your name, thank BBD.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delivered slowly. Last week I typed one sentence, fourteen words, and my laptop assembled a team of five, split the work, handed me back a plan. No cloud, no bill, no internet. Two reactions: that is magic, then, that is horrifying, because it was so little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We climb a short ladder: a prompt, an agent, the infrastructure, the control panel almost nobody talks about, and then we point one prompt at a whole crew and run it live. Promise the demo early, it buys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 room. Slow down. Rung one, the prompt, and almost everyone misunderstands what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away the marketing and a model is a function. Text in, text out. No memory, no hands, no way to check itself. Ask twice, get two answers. It is a very good guesser, but a guesser. A prompt is you calling that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walls, fast. No memory, every call starts from zero. No hands, it can describe the email but not send it. No proof, it sounds equally sure when right and when inventing. A brilliant intern who never remembers your name and occasionally invents a co-worker.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give the function three things it is missing: a memory, some hands, and a loop. And it stops being a chatbot. It becomes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definition, worth remembering: an agent is a model, plus tools it is allowed to call, wrapped in a loop. Everything else anyone sells you is a flavour of this. The model is the brain, tools are the hands, the loop is where the magic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idea. It reasons, it acts by calling a tool, it observes what came back, and it asks: am I done? If not, around again. That circle is the difference between a model that talks and a system that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on a slide is easy. A loop you can run at BBD, on real infrastructure, that a client will trust, needs a stack. Let's build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A runtime to hold the model, Ollama with Qwen. An orchestration layer that runs the loop, LangChain4j or Spring AI. Tools, the hands. Memory, the notebook. And structured output, so the answer comes back as data, not a paragraph. Hold onto that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tutorial online is Python, and Python is lovely. But your systems of record, the ones under audit, run on the JVM. You do not have to rewrite any of it. LangChain4j and Spring AI mean the AI lives next to the business, behind Spring Security, inside your transactions, next to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 through Ollama, entirely on this laptop. The client's data never leaves the building. No token bill that scales with success. Works on a plane. For a bank or an insurer, it never leaves the building is not a nice to have, it is the whole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talk. Most people think the prompt is the steering wheel. It is one control out of six. Let me show you the whole cockpit.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says what. Tools decide what it can touch. Schema decides the shape. Guardrails reject bad output. Memory decides what it knows and forgets. Orchestration decides who talks to whom. You barely touch the prompt, you change the constraints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to remember, then stop talking for two seconds. You don't program an agent, you constrain it. The prompt says what, the tools say how far, the schema says what shape, the orchestration says who. Good agent engineering is good constraint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the energy, this is what they came for. Lever six, orchestration, is the fun one. Instead of one agent doing everything, we point a single prompt at a whole crew. One becomes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One prompt hits a planner. The planner does not do the work, it decides who should and hands back a typed crew. Each worker is the same model wearing a different hat. A synthesizer folds every answer into one plan. Fan out, fan in. And nobody hardcoded those roles, the planner invented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what steers the crew. The prompt, lever one, barely changes. The real control is structured output turning a sentence into a typed crew, and orchestration deciding they run as a team. Two levers you could never reach from the prompt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worker in LangChain4j is an interface. No implementation. The annotations are the program. The system message makes it a specialist, role and task get slotted in at call time. One interface backs every worker, that is the many workers line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the whole talk in fifteen lines. The planner turns one prompt into a crew, structured output, a typed Plan. We loop over the crew, each worker does its job, we collect the notes, the synthesizer folds them into one answer. Fan out, fan in. Now,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presenting, go to the terminal. Warm-up already done. Run it and narrate: one prompt at the top, the planner is inventing a crew, there is the engineer, the marketer, legal always says no. Let the room read the workers, then the plan lands. If it dies, the house crew catches it, and you have a recording as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 while the awe is warm. One English sentence became a team of specialists that split the work and reported back. It self-assembled, it stayed home, and it was about a hundred lines. The scary part is not that it worked, it is how little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We started with a function that guesses. We gave it a loop, a stack, six levers, and a crew. A single sentence learned to command a team, in Java, offline, tonight. Soon the real skill is knowing what to ask and how to constrain the answer. I'm Nevin, the code is yours, what do you want to break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BBD TECH TALK  ·  JAVA</a:t>
            </a:r>
            <a:endParaRPr lang="en-US" sz="1100" dirty="0"/>
          </a:p>
        </p:txBody>
      </p:sp>
      <p:sp>
        <p:nvSpPr>
          <p:cNvPr id="3" name="Text 1"/>
          <p:cNvSpPr/>
          <p:nvPr/>
        </p:nvSpPr>
        <p:spPr>
          <a:xfrm>
            <a:off x="841248" y="1371600"/>
            <a:ext cx="7315200" cy="2377440"/>
          </a:xfrm>
          <a:prstGeom prst="rect">
            <a:avLst/>
          </a:prstGeom>
          <a:noFill/>
          <a:ln/>
        </p:spPr>
        <p:txBody>
          <a:bodyPr wrap="square" rtlCol="0" anchor="ctr"/>
          <a:lstStyle/>
          <a:p>
            <a:pPr algn="l" indent="0" marL="0">
              <a:lnSpc>
                <a:spcPts val="6200"/>
              </a:lnSpc>
              <a:buNone/>
            </a:pPr>
            <a:r>
              <a:rPr lang="en-US" sz="6600" dirty="0">
                <a:solidFill>
                  <a:srgbClr val="ECE7DE"/>
                </a:solidFill>
                <a:latin typeface="Cambria" pitchFamily="34" charset="0"/>
                <a:ea typeface="Cambria" pitchFamily="34" charset="-122"/>
                <a:cs typeface="Cambria" pitchFamily="34" charset="-120"/>
              </a:rPr>
              <a:t>One Prompt.</a:t>
            </a:r>
            <a:endParaRPr lang="en-US" sz="6600" dirty="0"/>
          </a:p>
          <a:p>
            <a:pPr algn="l" indent="0" marL="0">
              <a:lnSpc>
                <a:spcPts val="6200"/>
              </a:lnSpc>
              <a:buNone/>
            </a:pPr>
            <a:r>
              <a:rPr lang="en-US" sz="6600" dirty="0">
                <a:solidFill>
                  <a:srgbClr val="ECE7DE"/>
                </a:solidFill>
                <a:latin typeface="Cambria" pitchFamily="34" charset="0"/>
                <a:ea typeface="Cambria" pitchFamily="34" charset="-122"/>
                <a:cs typeface="Cambria" pitchFamily="34" charset="-120"/>
              </a:rPr>
              <a:t>Many Workers</a:t>
            </a:r>
            <a:pPr algn="l" indent="0" marL="0">
              <a:lnSpc>
                <a:spcPts val="6200"/>
              </a:lnSpc>
              <a:buNone/>
            </a:pPr>
            <a:r>
              <a:rPr lang="en-US" sz="6600" dirty="0">
                <a:solidFill>
                  <a:srgbClr val="F5A524"/>
                </a:solidFill>
                <a:latin typeface="Cambria" pitchFamily="34" charset="0"/>
                <a:ea typeface="Cambria" pitchFamily="34" charset="-122"/>
                <a:cs typeface="Cambria" pitchFamily="34" charset="-120"/>
              </a:rPr>
              <a:t>.</a:t>
            </a:r>
            <a:endParaRPr lang="en-US" sz="6600" dirty="0"/>
          </a:p>
        </p:txBody>
      </p:sp>
      <p:sp>
        <p:nvSpPr>
          <p:cNvPr id="4" name="Text 2"/>
          <p:cNvSpPr/>
          <p:nvPr/>
        </p:nvSpPr>
        <p:spPr>
          <a:xfrm>
            <a:off x="841248" y="3840480"/>
            <a:ext cx="5852160" cy="914400"/>
          </a:xfrm>
          <a:prstGeom prst="rect">
            <a:avLst/>
          </a:prstGeom>
          <a:noFill/>
          <a:ln/>
        </p:spPr>
        <p:txBody>
          <a:bodyPr wrap="square" rtlCol="0" anchor="ctr"/>
          <a:lstStyle/>
          <a:p>
            <a:pPr indent="0" marL="0">
              <a:lnSpc>
                <a:spcPts val="2600"/>
              </a:lnSpc>
              <a:buNone/>
            </a:pPr>
            <a:r>
              <a:rPr lang="en-US" sz="1700" dirty="0">
                <a:solidFill>
                  <a:srgbClr val="9297A8"/>
                </a:solidFill>
                <a:latin typeface="Calibri" pitchFamily="34" charset="0"/>
                <a:ea typeface="Calibri" pitchFamily="34" charset="-122"/>
                <a:cs typeface="Calibri" pitchFamily="34" charset="-120"/>
              </a:rPr>
              <a:t>Building multi-agent AI systems in Java, where a single sentence commands a whole crew.</a:t>
            </a:r>
            <a:endParaRPr lang="en-US" sz="1700" dirty="0"/>
          </a:p>
        </p:txBody>
      </p:sp>
      <p:sp>
        <p:nvSpPr>
          <p:cNvPr id="5" name="Text 3"/>
          <p:cNvSpPr/>
          <p:nvPr/>
        </p:nvSpPr>
        <p:spPr>
          <a:xfrm>
            <a:off x="841248" y="5029200"/>
            <a:ext cx="6400800" cy="822960"/>
          </a:xfrm>
          <a:prstGeom prst="rect">
            <a:avLst/>
          </a:prstGeom>
          <a:noFill/>
          <a:ln/>
        </p:spPr>
        <p:txBody>
          <a:bodyPr wrap="square" rtlCol="0" anchor="ctr"/>
          <a:lstStyle/>
          <a:p>
            <a:pPr indent="0" marL="0">
              <a:lnSpc>
                <a:spcPts val="2400"/>
              </a:lnSpc>
              <a:buNone/>
            </a:pPr>
            <a:r>
              <a:rPr lang="en-US" sz="1250" b="1" dirty="0">
                <a:solidFill>
                  <a:srgbClr val="ECE7DE"/>
                </a:solidFill>
                <a:latin typeface="Consolas" pitchFamily="34" charset="0"/>
                <a:ea typeface="Consolas" pitchFamily="34" charset="-122"/>
                <a:cs typeface="Consolas" pitchFamily="34" charset="-120"/>
              </a:rPr>
              <a:t>Nevin Tom</a:t>
            </a:r>
            <a:pPr indent="0" marL="0">
              <a:lnSpc>
                <a:spcPts val="2400"/>
              </a:lnSpc>
              <a:buNone/>
            </a:pPr>
            <a:r>
              <a:rPr lang="en-US" sz="1250" dirty="0">
                <a:solidFill>
                  <a:srgbClr val="F5A524"/>
                </a:solidFill>
                <a:latin typeface="Consolas" pitchFamily="34" charset="0"/>
                <a:ea typeface="Consolas" pitchFamily="34" charset="-122"/>
                <a:cs typeface="Consolas" pitchFamily="34" charset="-120"/>
              </a:rPr>
              <a:t>  @  BBD</a:t>
            </a:r>
            <a:pPr indent="0" marL="0">
              <a:lnSpc>
                <a:spcPts val="2400"/>
              </a:lnSpc>
              <a:buNone/>
            </a:pPr>
            <a:endParaRPr lang="en-US" sz="1250" dirty="0"/>
          </a:p>
          <a:p>
            <a:pPr indent="0" marL="0">
              <a:lnSpc>
                <a:spcPts val="2400"/>
              </a:lnSpc>
              <a:buNone/>
            </a:pPr>
            <a:r>
              <a:rPr lang="en-US" sz="1250" dirty="0">
                <a:solidFill>
                  <a:srgbClr val="9297A8"/>
                </a:solidFill>
                <a:latin typeface="Consolas" pitchFamily="34" charset="0"/>
                <a:ea typeface="Consolas" pitchFamily="34" charset="-122"/>
                <a:cs typeface="Consolas" pitchFamily="34" charset="-120"/>
              </a:rPr>
              <a:t> local model  ·  no cloud  ·  live code</a:t>
            </a:r>
            <a:endParaRPr lang="en-US" sz="1250" dirty="0"/>
          </a:p>
        </p:txBody>
      </p:sp>
      <p:sp>
        <p:nvSpPr>
          <p:cNvPr id="6" name="Shape 4"/>
          <p:cNvSpPr/>
          <p:nvPr/>
        </p:nvSpPr>
        <p:spPr>
          <a:xfrm flipV="1">
            <a:off x="8275320" y="1234440"/>
            <a:ext cx="2423160" cy="2194560"/>
          </a:xfrm>
          <a:prstGeom prst="line">
            <a:avLst/>
          </a:prstGeom>
          <a:noFill/>
          <a:ln w="19050">
            <a:solidFill>
              <a:srgbClr val="2DD4BF"/>
            </a:solidFill>
            <a:prstDash val="solid"/>
          </a:ln>
        </p:spPr>
      </p:sp>
      <p:sp>
        <p:nvSpPr>
          <p:cNvPr id="7" name="Shape 5"/>
          <p:cNvSpPr/>
          <p:nvPr/>
        </p:nvSpPr>
        <p:spPr>
          <a:xfrm flipV="1">
            <a:off x="8275320" y="2331720"/>
            <a:ext cx="2423160" cy="1097280"/>
          </a:xfrm>
          <a:prstGeom prst="line">
            <a:avLst/>
          </a:prstGeom>
          <a:noFill/>
          <a:ln w="19050">
            <a:solidFill>
              <a:srgbClr val="8B5CF6"/>
            </a:solidFill>
            <a:prstDash val="solid"/>
          </a:ln>
        </p:spPr>
      </p:sp>
      <p:sp>
        <p:nvSpPr>
          <p:cNvPr id="8" name="Shape 6"/>
          <p:cNvSpPr/>
          <p:nvPr/>
        </p:nvSpPr>
        <p:spPr>
          <a:xfrm>
            <a:off x="8275320" y="3429000"/>
            <a:ext cx="2423160" cy="0"/>
          </a:xfrm>
          <a:prstGeom prst="line">
            <a:avLst/>
          </a:prstGeom>
          <a:noFill/>
          <a:ln w="19050">
            <a:solidFill>
              <a:srgbClr val="F5A524"/>
            </a:solidFill>
            <a:prstDash val="solid"/>
          </a:ln>
        </p:spPr>
      </p:sp>
      <p:sp>
        <p:nvSpPr>
          <p:cNvPr id="9" name="Shape 7"/>
          <p:cNvSpPr/>
          <p:nvPr/>
        </p:nvSpPr>
        <p:spPr>
          <a:xfrm>
            <a:off x="8275320" y="3429000"/>
            <a:ext cx="2423160" cy="1097280"/>
          </a:xfrm>
          <a:prstGeom prst="line">
            <a:avLst/>
          </a:prstGeom>
          <a:noFill/>
          <a:ln w="19050">
            <a:solidFill>
              <a:srgbClr val="FB7185"/>
            </a:solidFill>
            <a:prstDash val="solid"/>
          </a:ln>
        </p:spPr>
      </p:sp>
      <p:sp>
        <p:nvSpPr>
          <p:cNvPr id="10" name="Shape 8"/>
          <p:cNvSpPr/>
          <p:nvPr/>
        </p:nvSpPr>
        <p:spPr>
          <a:xfrm>
            <a:off x="8275320" y="3429000"/>
            <a:ext cx="2423160" cy="2194560"/>
          </a:xfrm>
          <a:prstGeom prst="line">
            <a:avLst/>
          </a:prstGeom>
          <a:noFill/>
          <a:ln w="19050">
            <a:solidFill>
              <a:srgbClr val="38BDF8"/>
            </a:solidFill>
            <a:prstDash val="solid"/>
          </a:ln>
        </p:spPr>
      </p:sp>
      <p:sp>
        <p:nvSpPr>
          <p:cNvPr id="11" name="Shape 9"/>
          <p:cNvSpPr/>
          <p:nvPr/>
        </p:nvSpPr>
        <p:spPr>
          <a:xfrm>
            <a:off x="10597896" y="1133856"/>
            <a:ext cx="201168" cy="201168"/>
          </a:xfrm>
          <a:prstGeom prst="ellipse">
            <a:avLst/>
          </a:prstGeom>
          <a:solidFill>
            <a:srgbClr val="2DD4BF"/>
          </a:solidFill>
          <a:ln w="12700">
            <a:solidFill>
              <a:srgbClr val="2DD4BF"/>
            </a:solidFill>
            <a:prstDash val="solid"/>
          </a:ln>
        </p:spPr>
      </p:sp>
      <p:sp>
        <p:nvSpPr>
          <p:cNvPr id="12" name="Shape 10"/>
          <p:cNvSpPr/>
          <p:nvPr/>
        </p:nvSpPr>
        <p:spPr>
          <a:xfrm>
            <a:off x="10597896" y="2231136"/>
            <a:ext cx="201168" cy="201168"/>
          </a:xfrm>
          <a:prstGeom prst="ellipse">
            <a:avLst/>
          </a:prstGeom>
          <a:solidFill>
            <a:srgbClr val="8B5CF6"/>
          </a:solidFill>
          <a:ln w="12700">
            <a:solidFill>
              <a:srgbClr val="8B5CF6"/>
            </a:solidFill>
            <a:prstDash val="solid"/>
          </a:ln>
        </p:spPr>
      </p:sp>
      <p:sp>
        <p:nvSpPr>
          <p:cNvPr id="13" name="Shape 11"/>
          <p:cNvSpPr/>
          <p:nvPr/>
        </p:nvSpPr>
        <p:spPr>
          <a:xfrm>
            <a:off x="10597896" y="3328416"/>
            <a:ext cx="201168" cy="201168"/>
          </a:xfrm>
          <a:prstGeom prst="ellipse">
            <a:avLst/>
          </a:prstGeom>
          <a:solidFill>
            <a:srgbClr val="F5A524"/>
          </a:solidFill>
          <a:ln w="12700">
            <a:solidFill>
              <a:srgbClr val="F5A524"/>
            </a:solidFill>
            <a:prstDash val="solid"/>
          </a:ln>
        </p:spPr>
      </p:sp>
      <p:sp>
        <p:nvSpPr>
          <p:cNvPr id="14" name="Shape 12"/>
          <p:cNvSpPr/>
          <p:nvPr/>
        </p:nvSpPr>
        <p:spPr>
          <a:xfrm>
            <a:off x="10597896" y="4425696"/>
            <a:ext cx="201168" cy="201168"/>
          </a:xfrm>
          <a:prstGeom prst="ellipse">
            <a:avLst/>
          </a:prstGeom>
          <a:solidFill>
            <a:srgbClr val="FB7185"/>
          </a:solidFill>
          <a:ln w="12700">
            <a:solidFill>
              <a:srgbClr val="FB7185"/>
            </a:solidFill>
            <a:prstDash val="solid"/>
          </a:ln>
        </p:spPr>
      </p:sp>
      <p:sp>
        <p:nvSpPr>
          <p:cNvPr id="15" name="Shape 13"/>
          <p:cNvSpPr/>
          <p:nvPr/>
        </p:nvSpPr>
        <p:spPr>
          <a:xfrm>
            <a:off x="10597896" y="5522976"/>
            <a:ext cx="201168" cy="201168"/>
          </a:xfrm>
          <a:prstGeom prst="ellipse">
            <a:avLst/>
          </a:prstGeom>
          <a:solidFill>
            <a:srgbClr val="38BDF8"/>
          </a:solidFill>
          <a:ln w="12700">
            <a:solidFill>
              <a:srgbClr val="38BDF8"/>
            </a:solidFill>
            <a:prstDash val="solid"/>
          </a:ln>
        </p:spPr>
      </p:sp>
      <p:sp>
        <p:nvSpPr>
          <p:cNvPr id="16" name="Shape 14"/>
          <p:cNvSpPr/>
          <p:nvPr/>
        </p:nvSpPr>
        <p:spPr>
          <a:xfrm>
            <a:off x="8083296" y="3236976"/>
            <a:ext cx="384048" cy="384048"/>
          </a:xfrm>
          <a:prstGeom prst="ellipse">
            <a:avLst/>
          </a:prstGeom>
          <a:solidFill>
            <a:srgbClr val="F5A524"/>
          </a:solidFill>
          <a:ln w="12700">
            <a:solidFill>
              <a:srgbClr val="F5A524"/>
            </a:solidFill>
            <a:prstDash val="solid"/>
          </a:ln>
          <a:effectLst>
            <a:outerShdw sx="100000" sy="100000" kx="0" ky="0" algn="bl" rotWithShape="0" blurRad="152400" dist="50800" dir="16200000">
              <a:srgbClr val="F5A524">
                <a:alpha val="60000"/>
              </a:srgbClr>
            </a:outerShdw>
          </a:effectLst>
        </p:spPr>
      </p:sp>
      <p:sp>
        <p:nvSpPr>
          <p:cNvPr id="17" name="Text 15"/>
          <p:cNvSpPr/>
          <p:nvPr/>
        </p:nvSpPr>
        <p:spPr>
          <a:xfrm>
            <a:off x="7498080" y="3685032"/>
            <a:ext cx="1554480" cy="274320"/>
          </a:xfrm>
          <a:prstGeom prst="rect">
            <a:avLst/>
          </a:prstGeom>
          <a:noFill/>
          <a:ln/>
        </p:spPr>
        <p:txBody>
          <a:bodyPr wrap="square" rtlCol="0" anchor="ctr"/>
          <a:lstStyle/>
          <a:p>
            <a:pPr algn="ctr" indent="0" marL="0">
              <a:buNone/>
            </a:pPr>
            <a:r>
              <a:rPr lang="en-US" sz="900" spc="200" kern="0" dirty="0">
                <a:solidFill>
                  <a:srgbClr val="F5A524"/>
                </a:solidFill>
                <a:latin typeface="Consolas" pitchFamily="34" charset="0"/>
                <a:ea typeface="Consolas" pitchFamily="34" charset="-122"/>
                <a:cs typeface="Consolas" pitchFamily="34" charset="-120"/>
              </a:rPr>
              <a:t>PROMPT</a:t>
            </a:r>
            <a:endParaRPr lang="en-US" sz="900" dirty="0"/>
          </a:p>
        </p:txBody>
      </p:sp>
      <p:sp>
        <p:nvSpPr>
          <p:cNvPr id="18" name="Text 16"/>
          <p:cNvSpPr/>
          <p:nvPr/>
        </p:nvSpPr>
        <p:spPr>
          <a:xfrm>
            <a:off x="10149840" y="5806440"/>
            <a:ext cx="1554480" cy="274320"/>
          </a:xfrm>
          <a:prstGeom prst="rect">
            <a:avLst/>
          </a:prstGeom>
          <a:noFill/>
          <a:ln/>
        </p:spPr>
        <p:txBody>
          <a:bodyPr wrap="square" rtlCol="0" anchor="ctr"/>
          <a:lstStyle/>
          <a:p>
            <a:pPr algn="ctr" indent="0" marL="0">
              <a:buNone/>
            </a:pPr>
            <a:r>
              <a:rPr lang="en-US" sz="900" spc="200" kern="0" dirty="0">
                <a:solidFill>
                  <a:srgbClr val="9297A8"/>
                </a:solidFill>
                <a:latin typeface="Consolas" pitchFamily="34" charset="0"/>
                <a:ea typeface="Consolas" pitchFamily="34" charset="-122"/>
                <a:cs typeface="Consolas" pitchFamily="34" charset="-120"/>
              </a:rPr>
              <a:t>WORKERS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PROMISE</a:t>
            </a:r>
            <a:endParaRPr lang="en-US" sz="1100" dirty="0"/>
          </a:p>
        </p:txBody>
      </p:sp>
      <p:sp>
        <p:nvSpPr>
          <p:cNvPr id="3" name="Text 1"/>
          <p:cNvSpPr/>
          <p:nvPr/>
        </p:nvSpPr>
        <p:spPr>
          <a:xfrm>
            <a:off x="841248" y="1737360"/>
            <a:ext cx="6492240" cy="2194560"/>
          </a:xfrm>
          <a:prstGeom prst="rect">
            <a:avLst/>
          </a:prstGeom>
          <a:noFill/>
          <a:ln/>
        </p:spPr>
        <p:txBody>
          <a:bodyPr wrap="square" rtlCol="0" anchor="ctr"/>
          <a:lstStyle/>
          <a:p>
            <a:pPr indent="0" marL="0">
              <a:lnSpc>
                <a:spcPts val="4800"/>
              </a:lnSpc>
              <a:buNone/>
            </a:pPr>
            <a:r>
              <a:rPr lang="en-US" sz="4000" dirty="0">
                <a:solidFill>
                  <a:srgbClr val="ECE7DE"/>
                </a:solidFill>
                <a:latin typeface="Cambria" pitchFamily="34" charset="0"/>
                <a:ea typeface="Cambria" pitchFamily="34" charset="-122"/>
                <a:cs typeface="Cambria" pitchFamily="34" charset="-120"/>
              </a:rPr>
              <a:t>I typed </a:t>
            </a:r>
            <a:pPr indent="0" marL="0">
              <a:lnSpc>
                <a:spcPts val="4800"/>
              </a:lnSpc>
              <a:buNone/>
            </a:pPr>
            <a:r>
              <a:rPr lang="en-US" sz="4000" i="1" dirty="0">
                <a:solidFill>
                  <a:srgbClr val="F5A524"/>
                </a:solidFill>
                <a:latin typeface="Cambria" pitchFamily="34" charset="0"/>
                <a:ea typeface="Cambria" pitchFamily="34" charset="-122"/>
                <a:cs typeface="Cambria" pitchFamily="34" charset="-120"/>
              </a:rPr>
              <a:t>one sentence.</a:t>
            </a:r>
            <a:pPr indent="0" marL="0">
              <a:lnSpc>
                <a:spcPts val="4800"/>
              </a:lnSpc>
              <a:buNone/>
            </a:pPr>
            <a:endParaRPr lang="en-US" sz="4000" dirty="0"/>
          </a:p>
          <a:p>
            <a:pPr indent="0" marL="0">
              <a:lnSpc>
                <a:spcPts val="4800"/>
              </a:lnSpc>
              <a:buNone/>
            </a:pPr>
            <a:r>
              <a:rPr lang="en-US" sz="4000" dirty="0">
                <a:solidFill>
                  <a:srgbClr val="ECE7DE"/>
                </a:solidFill>
                <a:latin typeface="Cambria" pitchFamily="34" charset="0"/>
                <a:ea typeface="Cambria" pitchFamily="34" charset="-122"/>
                <a:cs typeface="Cambria" pitchFamily="34" charset="-120"/>
              </a:rPr>
              <a:t>My laptop hired </a:t>
            </a:r>
            <a:endParaRPr lang="en-US" sz="4000" dirty="0"/>
          </a:p>
          <a:p>
            <a:pPr indent="0" marL="0">
              <a:lnSpc>
                <a:spcPts val="4800"/>
              </a:lnSpc>
              <a:buNone/>
            </a:pPr>
            <a:r>
              <a:rPr lang="en-US" sz="4000" i="1" dirty="0">
                <a:solidFill>
                  <a:srgbClr val="F5A524"/>
                </a:solidFill>
                <a:latin typeface="Cambria" pitchFamily="34" charset="0"/>
                <a:ea typeface="Cambria" pitchFamily="34" charset="-122"/>
                <a:cs typeface="Cambria" pitchFamily="34" charset="-120"/>
              </a:rPr>
              <a:t>five workers.</a:t>
            </a:r>
            <a:endParaRPr lang="en-US" sz="4000" dirty="0"/>
          </a:p>
        </p:txBody>
      </p:sp>
      <p:sp>
        <p:nvSpPr>
          <p:cNvPr id="4" name="Text 2"/>
          <p:cNvSpPr/>
          <p:nvPr/>
        </p:nvSpPr>
        <p:spPr>
          <a:xfrm>
            <a:off x="841248" y="4114800"/>
            <a:ext cx="5669280" cy="1097280"/>
          </a:xfrm>
          <a:prstGeom prst="rect">
            <a:avLst/>
          </a:prstGeom>
          <a:noFill/>
          <a:ln/>
        </p:spPr>
        <p:txBody>
          <a:bodyPr wrap="square" rtlCol="0" anchor="ctr"/>
          <a:lstStyle/>
          <a:p>
            <a:pPr indent="0" marL="0">
              <a:lnSpc>
                <a:spcPts val="2600"/>
              </a:lnSpc>
              <a:buNone/>
            </a:pPr>
            <a:r>
              <a:rPr lang="en-US" sz="1700" dirty="0">
                <a:solidFill>
                  <a:srgbClr val="9297A8"/>
                </a:solidFill>
                <a:latin typeface="Calibri" pitchFamily="34" charset="0"/>
                <a:ea typeface="Calibri" pitchFamily="34" charset="-122"/>
                <a:cs typeface="Calibri" pitchFamily="34" charset="-120"/>
              </a:rPr>
              <a:t>No cloud. No API bill. It never touched the internet. By the end of tonight you will have built it yourself.</a:t>
            </a:r>
            <a:endParaRPr lang="en-US" sz="1700" dirty="0"/>
          </a:p>
        </p:txBody>
      </p:sp>
      <p:sp>
        <p:nvSpPr>
          <p:cNvPr id="5" name="Text 3"/>
          <p:cNvSpPr/>
          <p:nvPr/>
        </p:nvSpPr>
        <p:spPr>
          <a:xfrm>
            <a:off x="7680960" y="2103120"/>
            <a:ext cx="1463040" cy="2377440"/>
          </a:xfrm>
          <a:prstGeom prst="rect">
            <a:avLst/>
          </a:prstGeom>
          <a:noFill/>
          <a:ln/>
        </p:spPr>
        <p:txBody>
          <a:bodyPr wrap="square" rtlCol="0" anchor="ctr"/>
          <a:lstStyle/>
          <a:p>
            <a:pPr algn="ctr" indent="0" marL="0">
              <a:buNone/>
            </a:pPr>
            <a:r>
              <a:rPr lang="en-US" sz="15000" i="1" dirty="0">
                <a:solidFill>
                  <a:srgbClr val="F5A524"/>
                </a:solidFill>
                <a:latin typeface="Cambria" pitchFamily="34" charset="0"/>
                <a:ea typeface="Cambria" pitchFamily="34" charset="-122"/>
                <a:cs typeface="Cambria" pitchFamily="34" charset="-120"/>
              </a:rPr>
              <a:t>1</a:t>
            </a:r>
            <a:endParaRPr lang="en-US" sz="15000" dirty="0"/>
          </a:p>
        </p:txBody>
      </p:sp>
      <p:sp>
        <p:nvSpPr>
          <p:cNvPr id="6" name="Shape 4"/>
          <p:cNvSpPr/>
          <p:nvPr/>
        </p:nvSpPr>
        <p:spPr>
          <a:xfrm>
            <a:off x="9189720" y="3310128"/>
            <a:ext cx="566928" cy="0"/>
          </a:xfrm>
          <a:prstGeom prst="line">
            <a:avLst/>
          </a:prstGeom>
          <a:noFill/>
          <a:ln w="25400">
            <a:solidFill>
              <a:srgbClr val="5A6072"/>
            </a:solidFill>
            <a:prstDash val="solid"/>
            <a:tailEnd type="triangle"/>
          </a:ln>
        </p:spPr>
      </p:sp>
      <p:sp>
        <p:nvSpPr>
          <p:cNvPr id="7" name="Shape 5"/>
          <p:cNvSpPr/>
          <p:nvPr/>
        </p:nvSpPr>
        <p:spPr>
          <a:xfrm>
            <a:off x="9921240" y="2267712"/>
            <a:ext cx="182880" cy="182880"/>
          </a:xfrm>
          <a:prstGeom prst="ellipse">
            <a:avLst/>
          </a:prstGeom>
          <a:solidFill>
            <a:srgbClr val="2DD4BF"/>
          </a:solidFill>
          <a:ln w="12700">
            <a:solidFill>
              <a:srgbClr val="2DD4BF"/>
            </a:solidFill>
            <a:prstDash val="solid"/>
          </a:ln>
        </p:spPr>
      </p:sp>
      <p:sp>
        <p:nvSpPr>
          <p:cNvPr id="8" name="Text 6"/>
          <p:cNvSpPr/>
          <p:nvPr/>
        </p:nvSpPr>
        <p:spPr>
          <a:xfrm>
            <a:off x="10241280" y="2185416"/>
            <a:ext cx="1828800" cy="347472"/>
          </a:xfrm>
          <a:prstGeom prst="rect">
            <a:avLst/>
          </a:prstGeom>
          <a:noFill/>
          <a:ln/>
        </p:spPr>
        <p:txBody>
          <a:bodyPr wrap="square" rtlCol="0" anchor="ctr"/>
          <a:lstStyle/>
          <a:p>
            <a:pPr indent="0" marL="0">
              <a:buNone/>
            </a:pPr>
            <a:r>
              <a:rPr lang="en-US" sz="1100" spc="200" kern="0" dirty="0">
                <a:solidFill>
                  <a:srgbClr val="9297A8"/>
                </a:solidFill>
                <a:latin typeface="Consolas" pitchFamily="34" charset="0"/>
                <a:ea typeface="Consolas" pitchFamily="34" charset="-122"/>
                <a:cs typeface="Consolas" pitchFamily="34" charset="-120"/>
              </a:rPr>
              <a:t>ENGINEER</a:t>
            </a:r>
            <a:endParaRPr lang="en-US" sz="1100" dirty="0"/>
          </a:p>
        </p:txBody>
      </p:sp>
      <p:sp>
        <p:nvSpPr>
          <p:cNvPr id="9" name="Shape 7"/>
          <p:cNvSpPr/>
          <p:nvPr/>
        </p:nvSpPr>
        <p:spPr>
          <a:xfrm>
            <a:off x="9921240" y="2816352"/>
            <a:ext cx="182880" cy="182880"/>
          </a:xfrm>
          <a:prstGeom prst="ellipse">
            <a:avLst/>
          </a:prstGeom>
          <a:solidFill>
            <a:srgbClr val="8B5CF6"/>
          </a:solidFill>
          <a:ln w="12700">
            <a:solidFill>
              <a:srgbClr val="8B5CF6"/>
            </a:solidFill>
            <a:prstDash val="solid"/>
          </a:ln>
        </p:spPr>
      </p:sp>
      <p:sp>
        <p:nvSpPr>
          <p:cNvPr id="10" name="Text 8"/>
          <p:cNvSpPr/>
          <p:nvPr/>
        </p:nvSpPr>
        <p:spPr>
          <a:xfrm>
            <a:off x="10241280" y="2734056"/>
            <a:ext cx="1828800" cy="347472"/>
          </a:xfrm>
          <a:prstGeom prst="rect">
            <a:avLst/>
          </a:prstGeom>
          <a:noFill/>
          <a:ln/>
        </p:spPr>
        <p:txBody>
          <a:bodyPr wrap="square" rtlCol="0" anchor="ctr"/>
          <a:lstStyle/>
          <a:p>
            <a:pPr indent="0" marL="0">
              <a:buNone/>
            </a:pPr>
            <a:r>
              <a:rPr lang="en-US" sz="1100" spc="200" kern="0" dirty="0">
                <a:solidFill>
                  <a:srgbClr val="9297A8"/>
                </a:solidFill>
                <a:latin typeface="Consolas" pitchFamily="34" charset="0"/>
                <a:ea typeface="Consolas" pitchFamily="34" charset="-122"/>
                <a:cs typeface="Consolas" pitchFamily="34" charset="-120"/>
              </a:rPr>
              <a:t>MARKETER</a:t>
            </a:r>
            <a:endParaRPr lang="en-US" sz="1100" dirty="0"/>
          </a:p>
        </p:txBody>
      </p:sp>
      <p:sp>
        <p:nvSpPr>
          <p:cNvPr id="11" name="Shape 9"/>
          <p:cNvSpPr/>
          <p:nvPr/>
        </p:nvSpPr>
        <p:spPr>
          <a:xfrm>
            <a:off x="9921240" y="3364992"/>
            <a:ext cx="182880" cy="182880"/>
          </a:xfrm>
          <a:prstGeom prst="ellipse">
            <a:avLst/>
          </a:prstGeom>
          <a:solidFill>
            <a:srgbClr val="F5A524"/>
          </a:solidFill>
          <a:ln w="12700">
            <a:solidFill>
              <a:srgbClr val="F5A524"/>
            </a:solidFill>
            <a:prstDash val="solid"/>
          </a:ln>
        </p:spPr>
      </p:sp>
      <p:sp>
        <p:nvSpPr>
          <p:cNvPr id="12" name="Text 10"/>
          <p:cNvSpPr/>
          <p:nvPr/>
        </p:nvSpPr>
        <p:spPr>
          <a:xfrm>
            <a:off x="10241280" y="3282696"/>
            <a:ext cx="1828800" cy="347472"/>
          </a:xfrm>
          <a:prstGeom prst="rect">
            <a:avLst/>
          </a:prstGeom>
          <a:noFill/>
          <a:ln/>
        </p:spPr>
        <p:txBody>
          <a:bodyPr wrap="square" rtlCol="0" anchor="ctr"/>
          <a:lstStyle/>
          <a:p>
            <a:pPr indent="0" marL="0">
              <a:buNone/>
            </a:pPr>
            <a:r>
              <a:rPr lang="en-US" sz="1100" spc="200" kern="0" dirty="0">
                <a:solidFill>
                  <a:srgbClr val="9297A8"/>
                </a:solidFill>
                <a:latin typeface="Consolas" pitchFamily="34" charset="0"/>
                <a:ea typeface="Consolas" pitchFamily="34" charset="-122"/>
                <a:cs typeface="Consolas" pitchFamily="34" charset="-120"/>
              </a:rPr>
              <a:t>DESIGNER</a:t>
            </a:r>
            <a:endParaRPr lang="en-US" sz="1100" dirty="0"/>
          </a:p>
        </p:txBody>
      </p:sp>
      <p:sp>
        <p:nvSpPr>
          <p:cNvPr id="13" name="Shape 11"/>
          <p:cNvSpPr/>
          <p:nvPr/>
        </p:nvSpPr>
        <p:spPr>
          <a:xfrm>
            <a:off x="9921240" y="3913632"/>
            <a:ext cx="182880" cy="182880"/>
          </a:xfrm>
          <a:prstGeom prst="ellipse">
            <a:avLst/>
          </a:prstGeom>
          <a:solidFill>
            <a:srgbClr val="FB7185"/>
          </a:solidFill>
          <a:ln w="12700">
            <a:solidFill>
              <a:srgbClr val="FB7185"/>
            </a:solidFill>
            <a:prstDash val="solid"/>
          </a:ln>
        </p:spPr>
      </p:sp>
      <p:sp>
        <p:nvSpPr>
          <p:cNvPr id="14" name="Text 12"/>
          <p:cNvSpPr/>
          <p:nvPr/>
        </p:nvSpPr>
        <p:spPr>
          <a:xfrm>
            <a:off x="10241280" y="3831336"/>
            <a:ext cx="1828800" cy="347472"/>
          </a:xfrm>
          <a:prstGeom prst="rect">
            <a:avLst/>
          </a:prstGeom>
          <a:noFill/>
          <a:ln/>
        </p:spPr>
        <p:txBody>
          <a:bodyPr wrap="square" rtlCol="0" anchor="ctr"/>
          <a:lstStyle/>
          <a:p>
            <a:pPr indent="0" marL="0">
              <a:buNone/>
            </a:pPr>
            <a:r>
              <a:rPr lang="en-US" sz="1100" spc="200" kern="0" dirty="0">
                <a:solidFill>
                  <a:srgbClr val="9297A8"/>
                </a:solidFill>
                <a:latin typeface="Consolas" pitchFamily="34" charset="0"/>
                <a:ea typeface="Consolas" pitchFamily="34" charset="-122"/>
                <a:cs typeface="Consolas" pitchFamily="34" charset="-120"/>
              </a:rPr>
              <a:t>LEGAL</a:t>
            </a:r>
            <a:endParaRPr lang="en-US" sz="1100" dirty="0"/>
          </a:p>
        </p:txBody>
      </p:sp>
      <p:sp>
        <p:nvSpPr>
          <p:cNvPr id="15" name="Shape 13"/>
          <p:cNvSpPr/>
          <p:nvPr/>
        </p:nvSpPr>
        <p:spPr>
          <a:xfrm>
            <a:off x="9921240" y="4462272"/>
            <a:ext cx="182880" cy="182880"/>
          </a:xfrm>
          <a:prstGeom prst="ellipse">
            <a:avLst/>
          </a:prstGeom>
          <a:solidFill>
            <a:srgbClr val="38BDF8"/>
          </a:solidFill>
          <a:ln w="12700">
            <a:solidFill>
              <a:srgbClr val="38BDF8"/>
            </a:solidFill>
            <a:prstDash val="solid"/>
          </a:ln>
        </p:spPr>
      </p:sp>
      <p:sp>
        <p:nvSpPr>
          <p:cNvPr id="16" name="Text 14"/>
          <p:cNvSpPr/>
          <p:nvPr/>
        </p:nvSpPr>
        <p:spPr>
          <a:xfrm>
            <a:off x="10241280" y="4379976"/>
            <a:ext cx="1828800" cy="347472"/>
          </a:xfrm>
          <a:prstGeom prst="rect">
            <a:avLst/>
          </a:prstGeom>
          <a:noFill/>
          <a:ln/>
        </p:spPr>
        <p:txBody>
          <a:bodyPr wrap="square" rtlCol="0" anchor="ctr"/>
          <a:lstStyle/>
          <a:p>
            <a:pPr indent="0" marL="0">
              <a:buNone/>
            </a:pPr>
            <a:r>
              <a:rPr lang="en-US" sz="1100" spc="200" kern="0" dirty="0">
                <a:solidFill>
                  <a:srgbClr val="9297A8"/>
                </a:solidFill>
                <a:latin typeface="Consolas" pitchFamily="34" charset="0"/>
                <a:ea typeface="Consolas" pitchFamily="34" charset="-122"/>
                <a:cs typeface="Consolas" pitchFamily="34" charset="-120"/>
              </a:rPr>
              <a:t>DEVREL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WHERE WE'RE GOING</a:t>
            </a:r>
            <a:endParaRPr lang="en-US" sz="1100" dirty="0"/>
          </a:p>
        </p:txBody>
      </p:sp>
      <p:sp>
        <p:nvSpPr>
          <p:cNvPr id="3" name="Text 1"/>
          <p:cNvSpPr/>
          <p:nvPr/>
        </p:nvSpPr>
        <p:spPr>
          <a:xfrm>
            <a:off x="841248" y="1097280"/>
            <a:ext cx="10058400" cy="914400"/>
          </a:xfrm>
          <a:prstGeom prst="rect">
            <a:avLst/>
          </a:prstGeom>
          <a:noFill/>
          <a:ln/>
        </p:spPr>
        <p:txBody>
          <a:bodyPr wrap="square" rtlCol="0" anchor="ctr"/>
          <a:lstStyle/>
          <a:p>
            <a:pPr indent="0" marL="0">
              <a:buNone/>
            </a:pPr>
            <a:r>
              <a:rPr lang="en-US" sz="3400" dirty="0">
                <a:solidFill>
                  <a:srgbClr val="ECE7DE"/>
                </a:solidFill>
                <a:latin typeface="Cambria" pitchFamily="34" charset="0"/>
                <a:ea typeface="Cambria" pitchFamily="34" charset="-122"/>
                <a:cs typeface="Cambria" pitchFamily="34" charset="-120"/>
              </a:rPr>
              <a:t>Five rungs from </a:t>
            </a:r>
            <a:pPr indent="0" marL="0">
              <a:buNone/>
            </a:pPr>
            <a:r>
              <a:rPr lang="en-US" sz="3400" i="1" dirty="0">
                <a:solidFill>
                  <a:srgbClr val="F5A524"/>
                </a:solidFill>
                <a:latin typeface="Cambria" pitchFamily="34" charset="0"/>
                <a:ea typeface="Cambria" pitchFamily="34" charset="-122"/>
                <a:cs typeface="Cambria" pitchFamily="34" charset="-120"/>
              </a:rPr>
              <a:t>a sentence</a:t>
            </a:r>
            <a:pPr indent="0" marL="0">
              <a:buNone/>
            </a:pPr>
            <a:r>
              <a:rPr lang="en-US" sz="3400" dirty="0">
                <a:solidFill>
                  <a:srgbClr val="ECE7DE"/>
                </a:solidFill>
                <a:latin typeface="Cambria" pitchFamily="34" charset="0"/>
                <a:ea typeface="Cambria" pitchFamily="34" charset="-122"/>
                <a:cs typeface="Cambria" pitchFamily="34" charset="-120"/>
              </a:rPr>
              <a:t> to </a:t>
            </a:r>
            <a:pPr indent="0" marL="0">
              <a:buNone/>
            </a:pPr>
            <a:r>
              <a:rPr lang="en-US" sz="3400" i="1" dirty="0">
                <a:solidFill>
                  <a:srgbClr val="F5A524"/>
                </a:solidFill>
                <a:latin typeface="Cambria" pitchFamily="34" charset="0"/>
                <a:ea typeface="Cambria" pitchFamily="34" charset="-122"/>
                <a:cs typeface="Cambria" pitchFamily="34" charset="-120"/>
              </a:rPr>
              <a:t>a swarm.</a:t>
            </a:r>
            <a:endParaRPr lang="en-US" sz="3400" dirty="0"/>
          </a:p>
        </p:txBody>
      </p:sp>
      <p:sp>
        <p:nvSpPr>
          <p:cNvPr id="4" name="Text 2"/>
          <p:cNvSpPr/>
          <p:nvPr/>
        </p:nvSpPr>
        <p:spPr>
          <a:xfrm>
            <a:off x="841248" y="2286000"/>
            <a:ext cx="2377440" cy="45720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01  ·  prompt</a:t>
            </a:r>
            <a:endParaRPr lang="en-US" sz="1200" dirty="0"/>
          </a:p>
        </p:txBody>
      </p:sp>
      <p:sp>
        <p:nvSpPr>
          <p:cNvPr id="5" name="Text 3"/>
          <p:cNvSpPr/>
          <p:nvPr/>
        </p:nvSpPr>
        <p:spPr>
          <a:xfrm>
            <a:off x="3383280" y="2286000"/>
            <a:ext cx="7772400" cy="457200"/>
          </a:xfrm>
          <a:prstGeom prst="rect">
            <a:avLst/>
          </a:prstGeom>
          <a:noFill/>
          <a:ln/>
        </p:spPr>
        <p:txBody>
          <a:bodyPr wrap="square" rtlCol="0" anchor="ctr"/>
          <a:lstStyle/>
          <a:p>
            <a:pPr indent="0" marL="0">
              <a:buNone/>
            </a:pPr>
            <a:r>
              <a:rPr lang="en-US" sz="1700" b="1" dirty="0">
                <a:solidFill>
                  <a:srgbClr val="ECE7DE"/>
                </a:solidFill>
                <a:latin typeface="Calibri" pitchFamily="34" charset="0"/>
                <a:ea typeface="Calibri" pitchFamily="34" charset="-122"/>
                <a:cs typeface="Calibri" pitchFamily="34" charset="-120"/>
              </a:rPr>
              <a:t>The atom. </a:t>
            </a:r>
            <a:pPr indent="0" marL="0">
              <a:buNone/>
            </a:pPr>
            <a:r>
              <a:rPr lang="en-US" sz="1700" dirty="0">
                <a:solidFill>
                  <a:srgbClr val="9297A8"/>
                </a:solidFill>
                <a:latin typeface="Calibri" pitchFamily="34" charset="0"/>
                <a:ea typeface="Calibri" pitchFamily="34" charset="-122"/>
                <a:cs typeface="Calibri" pitchFamily="34" charset="-120"/>
              </a:rPr>
              <a:t>What a prompt actually is.</a:t>
            </a:r>
            <a:endParaRPr lang="en-US" sz="1700" dirty="0"/>
          </a:p>
        </p:txBody>
      </p:sp>
      <p:sp>
        <p:nvSpPr>
          <p:cNvPr id="6" name="Text 4"/>
          <p:cNvSpPr/>
          <p:nvPr/>
        </p:nvSpPr>
        <p:spPr>
          <a:xfrm>
            <a:off x="841248" y="3035808"/>
            <a:ext cx="2377440" cy="45720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02  ·  agent</a:t>
            </a:r>
            <a:endParaRPr lang="en-US" sz="1200" dirty="0"/>
          </a:p>
        </p:txBody>
      </p:sp>
      <p:sp>
        <p:nvSpPr>
          <p:cNvPr id="7" name="Text 5"/>
          <p:cNvSpPr/>
          <p:nvPr/>
        </p:nvSpPr>
        <p:spPr>
          <a:xfrm>
            <a:off x="3383280" y="3035808"/>
            <a:ext cx="7772400" cy="457200"/>
          </a:xfrm>
          <a:prstGeom prst="rect">
            <a:avLst/>
          </a:prstGeom>
          <a:noFill/>
          <a:ln/>
        </p:spPr>
        <p:txBody>
          <a:bodyPr wrap="square" rtlCol="0" anchor="ctr"/>
          <a:lstStyle/>
          <a:p>
            <a:pPr indent="0" marL="0">
              <a:buNone/>
            </a:pPr>
            <a:r>
              <a:rPr lang="en-US" sz="1700" b="1" dirty="0">
                <a:solidFill>
                  <a:srgbClr val="ECE7DE"/>
                </a:solidFill>
                <a:latin typeface="Calibri" pitchFamily="34" charset="0"/>
                <a:ea typeface="Calibri" pitchFamily="34" charset="-122"/>
                <a:cs typeface="Calibri" pitchFamily="34" charset="-120"/>
              </a:rPr>
              <a:t>The loop </a:t>
            </a:r>
            <a:pPr indent="0" marL="0">
              <a:buNone/>
            </a:pPr>
            <a:r>
              <a:rPr lang="en-US" sz="1700" dirty="0">
                <a:solidFill>
                  <a:srgbClr val="9297A8"/>
                </a:solidFill>
                <a:latin typeface="Calibri" pitchFamily="34" charset="0"/>
                <a:ea typeface="Calibri" pitchFamily="34" charset="-122"/>
                <a:cs typeface="Calibri" pitchFamily="34" charset="-120"/>
              </a:rPr>
              <a:t>that turns talk into action.</a:t>
            </a:r>
            <a:endParaRPr lang="en-US" sz="1700" dirty="0"/>
          </a:p>
        </p:txBody>
      </p:sp>
      <p:sp>
        <p:nvSpPr>
          <p:cNvPr id="8" name="Text 6"/>
          <p:cNvSpPr/>
          <p:nvPr/>
        </p:nvSpPr>
        <p:spPr>
          <a:xfrm>
            <a:off x="841248" y="3785616"/>
            <a:ext cx="2377440" cy="45720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03  ·  stack</a:t>
            </a:r>
            <a:endParaRPr lang="en-US" sz="1200" dirty="0"/>
          </a:p>
        </p:txBody>
      </p:sp>
      <p:sp>
        <p:nvSpPr>
          <p:cNvPr id="9" name="Text 7"/>
          <p:cNvSpPr/>
          <p:nvPr/>
        </p:nvSpPr>
        <p:spPr>
          <a:xfrm>
            <a:off x="3383280" y="3785616"/>
            <a:ext cx="7772400" cy="457200"/>
          </a:xfrm>
          <a:prstGeom prst="rect">
            <a:avLst/>
          </a:prstGeom>
          <a:noFill/>
          <a:ln/>
        </p:spPr>
        <p:txBody>
          <a:bodyPr wrap="square" rtlCol="0" anchor="ctr"/>
          <a:lstStyle/>
          <a:p>
            <a:pPr indent="0" marL="0">
              <a:buNone/>
            </a:pPr>
            <a:r>
              <a:rPr lang="en-US" sz="1700" b="1" dirty="0">
                <a:solidFill>
                  <a:srgbClr val="ECE7DE"/>
                </a:solidFill>
                <a:latin typeface="Calibri" pitchFamily="34" charset="0"/>
                <a:ea typeface="Calibri" pitchFamily="34" charset="-122"/>
                <a:cs typeface="Calibri" pitchFamily="34" charset="-120"/>
              </a:rPr>
              <a:t>The infrastructure, </a:t>
            </a:r>
            <a:pPr indent="0" marL="0">
              <a:buNone/>
            </a:pPr>
            <a:r>
              <a:rPr lang="en-US" sz="1700" dirty="0">
                <a:solidFill>
                  <a:srgbClr val="9297A8"/>
                </a:solidFill>
                <a:latin typeface="Calibri" pitchFamily="34" charset="0"/>
                <a:ea typeface="Calibri" pitchFamily="34" charset="-122"/>
                <a:cs typeface="Calibri" pitchFamily="34" charset="-120"/>
              </a:rPr>
              <a:t>and why Java.</a:t>
            </a:r>
            <a:endParaRPr lang="en-US" sz="1700" dirty="0"/>
          </a:p>
        </p:txBody>
      </p:sp>
      <p:sp>
        <p:nvSpPr>
          <p:cNvPr id="10" name="Text 8"/>
          <p:cNvSpPr/>
          <p:nvPr/>
        </p:nvSpPr>
        <p:spPr>
          <a:xfrm>
            <a:off x="841248" y="4535424"/>
            <a:ext cx="2377440" cy="457200"/>
          </a:xfrm>
          <a:prstGeom prst="rect">
            <a:avLst/>
          </a:prstGeom>
          <a:noFill/>
          <a:ln/>
        </p:spPr>
        <p:txBody>
          <a:bodyPr wrap="square" rtlCol="0" anchor="ctr"/>
          <a:lstStyle/>
          <a:p>
            <a:pPr indent="0" marL="0">
              <a:buNone/>
            </a:pPr>
            <a:r>
              <a:rPr lang="en-US" sz="1200" spc="200" kern="0" dirty="0">
                <a:solidFill>
                  <a:srgbClr val="F5A524"/>
                </a:solidFill>
                <a:latin typeface="Consolas" pitchFamily="34" charset="0"/>
                <a:ea typeface="Consolas" pitchFamily="34" charset="-122"/>
                <a:cs typeface="Consolas" pitchFamily="34" charset="-120"/>
              </a:rPr>
              <a:t>04  ·  control</a:t>
            </a:r>
            <a:endParaRPr lang="en-US" sz="1200" dirty="0"/>
          </a:p>
        </p:txBody>
      </p:sp>
      <p:sp>
        <p:nvSpPr>
          <p:cNvPr id="11" name="Text 9"/>
          <p:cNvSpPr/>
          <p:nvPr/>
        </p:nvSpPr>
        <p:spPr>
          <a:xfrm>
            <a:off x="3383280" y="4535424"/>
            <a:ext cx="7772400" cy="457200"/>
          </a:xfrm>
          <a:prstGeom prst="rect">
            <a:avLst/>
          </a:prstGeom>
          <a:noFill/>
          <a:ln/>
        </p:spPr>
        <p:txBody>
          <a:bodyPr wrap="square" rtlCol="0" anchor="ctr"/>
          <a:lstStyle/>
          <a:p>
            <a:pPr indent="0" marL="0">
              <a:buNone/>
            </a:pPr>
            <a:r>
              <a:rPr lang="en-US" sz="1700" b="1" dirty="0">
                <a:solidFill>
                  <a:srgbClr val="ECE7DE"/>
                </a:solidFill>
                <a:latin typeface="Calibri" pitchFamily="34" charset="0"/>
                <a:ea typeface="Calibri" pitchFamily="34" charset="-122"/>
                <a:cs typeface="Calibri" pitchFamily="34" charset="-120"/>
              </a:rPr>
              <a:t>Six levers </a:t>
            </a:r>
            <a:pPr indent="0" marL="0">
              <a:buNone/>
            </a:pPr>
            <a:r>
              <a:rPr lang="en-US" sz="1700" dirty="0">
                <a:solidFill>
                  <a:srgbClr val="9297A8"/>
                </a:solidFill>
                <a:latin typeface="Calibri" pitchFamily="34" charset="0"/>
                <a:ea typeface="Calibri" pitchFamily="34" charset="-122"/>
                <a:cs typeface="Calibri" pitchFamily="34" charset="-120"/>
              </a:rPr>
              <a:t>beyond the prompt.</a:t>
            </a:r>
            <a:endParaRPr lang="en-US" sz="1700" dirty="0"/>
          </a:p>
        </p:txBody>
      </p:sp>
      <p:sp>
        <p:nvSpPr>
          <p:cNvPr id="12" name="Text 10"/>
          <p:cNvSpPr/>
          <p:nvPr/>
        </p:nvSpPr>
        <p:spPr>
          <a:xfrm>
            <a:off x="841248" y="5285232"/>
            <a:ext cx="2377440" cy="45720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05  ·  swarm</a:t>
            </a:r>
            <a:endParaRPr lang="en-US" sz="1200" dirty="0"/>
          </a:p>
        </p:txBody>
      </p:sp>
      <p:sp>
        <p:nvSpPr>
          <p:cNvPr id="13" name="Text 11"/>
          <p:cNvSpPr/>
          <p:nvPr/>
        </p:nvSpPr>
        <p:spPr>
          <a:xfrm>
            <a:off x="3383280" y="5285232"/>
            <a:ext cx="7772400" cy="457200"/>
          </a:xfrm>
          <a:prstGeom prst="rect">
            <a:avLst/>
          </a:prstGeom>
          <a:noFill/>
          <a:ln/>
        </p:spPr>
        <p:txBody>
          <a:bodyPr wrap="square" rtlCol="0" anchor="ctr"/>
          <a:lstStyle/>
          <a:p>
            <a:pPr indent="0" marL="0">
              <a:buNone/>
            </a:pPr>
            <a:r>
              <a:rPr lang="en-US" sz="1700" b="1" dirty="0">
                <a:solidFill>
                  <a:srgbClr val="ECE7DE"/>
                </a:solidFill>
                <a:latin typeface="Calibri" pitchFamily="34" charset="0"/>
                <a:ea typeface="Calibri" pitchFamily="34" charset="-122"/>
                <a:cs typeface="Calibri" pitchFamily="34" charset="-120"/>
              </a:rPr>
              <a:t>One prompt, many workers, </a:t>
            </a:r>
            <a:pPr indent="0" marL="0">
              <a:buNone/>
            </a:pPr>
            <a:r>
              <a:rPr lang="en-US" sz="1700" dirty="0">
                <a:solidFill>
                  <a:srgbClr val="9297A8"/>
                </a:solidFill>
                <a:latin typeface="Calibri" pitchFamily="34" charset="0"/>
                <a:ea typeface="Calibri" pitchFamily="34" charset="-122"/>
                <a:cs typeface="Calibri" pitchFamily="34" charset="-120"/>
              </a:rPr>
              <a:t>live.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5000"/>
          </a:blip>
          <a:stretch>
            <a:fillRect/>
          </a:stretch>
        </p:blipFill>
        <p:spPr>
          <a:xfrm>
            <a:off x="7955280" y="2834640"/>
            <a:ext cx="4023360" cy="4023360"/>
          </a:xfrm>
          <a:prstGeom prst="rect">
            <a:avLst/>
          </a:prstGeom>
        </p:spPr>
      </p:pic>
      <p:sp>
        <p:nvSpPr>
          <p:cNvPr id="3" name="Text 0"/>
          <p:cNvSpPr/>
          <p:nvPr/>
        </p:nvSpPr>
        <p:spPr>
          <a:xfrm>
            <a:off x="841248" y="1188720"/>
            <a:ext cx="3657600" cy="1463040"/>
          </a:xfrm>
          <a:prstGeom prst="rect">
            <a:avLst/>
          </a:prstGeom>
          <a:noFill/>
          <a:ln/>
        </p:spPr>
        <p:txBody>
          <a:bodyPr wrap="square" rtlCol="0" anchor="ctr"/>
          <a:lstStyle/>
          <a:p>
            <a:pPr indent="0" marL="0">
              <a:buNone/>
            </a:pPr>
            <a:r>
              <a:rPr lang="en-US" sz="9600" i="1" dirty="0">
                <a:solidFill>
                  <a:srgbClr val="2A3040"/>
                </a:solidFill>
                <a:latin typeface="Cambria" pitchFamily="34" charset="0"/>
                <a:ea typeface="Cambria" pitchFamily="34" charset="-122"/>
                <a:cs typeface="Cambria" pitchFamily="34" charset="-120"/>
              </a:rPr>
              <a:t>i.</a:t>
            </a:r>
            <a:endParaRPr lang="en-US" sz="9600" dirty="0"/>
          </a:p>
        </p:txBody>
      </p:sp>
      <p:sp>
        <p:nvSpPr>
          <p:cNvPr id="4" name="Text 1"/>
          <p:cNvSpPr/>
          <p:nvPr/>
        </p:nvSpPr>
        <p:spPr>
          <a:xfrm>
            <a:off x="841248" y="2880360"/>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ACT ONE</a:t>
            </a:r>
            <a:endParaRPr lang="en-US" sz="1100" dirty="0"/>
          </a:p>
        </p:txBody>
      </p:sp>
      <p:sp>
        <p:nvSpPr>
          <p:cNvPr id="5" name="Text 2"/>
          <p:cNvSpPr/>
          <p:nvPr/>
        </p:nvSpPr>
        <p:spPr>
          <a:xfrm>
            <a:off x="841248" y="3200400"/>
            <a:ext cx="8229600" cy="1371600"/>
          </a:xfrm>
          <a:prstGeom prst="rect">
            <a:avLst/>
          </a:prstGeom>
          <a:noFill/>
          <a:ln/>
        </p:spPr>
        <p:txBody>
          <a:bodyPr wrap="square" rtlCol="0" anchor="ctr"/>
          <a:lstStyle/>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The Prompt</a:t>
            </a:r>
            <a:endParaRPr lang="en-US" sz="5200" dirty="0"/>
          </a:p>
        </p:txBody>
      </p:sp>
      <p:sp>
        <p:nvSpPr>
          <p:cNvPr id="6" name="Text 3"/>
          <p:cNvSpPr/>
          <p:nvPr/>
        </p:nvSpPr>
        <p:spPr>
          <a:xfrm>
            <a:off x="841248" y="4572000"/>
            <a:ext cx="6858000" cy="822960"/>
          </a:xfrm>
          <a:prstGeom prst="rect">
            <a:avLst/>
          </a:prstGeom>
          <a:noFill/>
          <a:ln/>
        </p:spPr>
        <p:txBody>
          <a:bodyPr wrap="square" rtlCol="0" anchor="ctr"/>
          <a:lstStyle/>
          <a:p>
            <a:pPr indent="0" marL="0">
              <a:lnSpc>
                <a:spcPts val="2500"/>
              </a:lnSpc>
              <a:buNone/>
            </a:pPr>
            <a:r>
              <a:rPr lang="en-US" sz="1700" dirty="0">
                <a:solidFill>
                  <a:srgbClr val="9297A8"/>
                </a:solidFill>
                <a:latin typeface="Calibri" pitchFamily="34" charset="0"/>
                <a:ea typeface="Calibri" pitchFamily="34" charset="-122"/>
                <a:cs typeface="Calibri" pitchFamily="34" charset="-120"/>
              </a:rPr>
              <a:t>The smallest unit of the whole thing, and the most misunderstood.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ATOM</a:t>
            </a:r>
            <a:endParaRPr lang="en-US" sz="1100" dirty="0"/>
          </a:p>
        </p:txBody>
      </p:sp>
      <p:sp>
        <p:nvSpPr>
          <p:cNvPr id="3" name="Text 1"/>
          <p:cNvSpPr/>
          <p:nvPr/>
        </p:nvSpPr>
        <p:spPr>
          <a:xfrm>
            <a:off x="841248" y="1371600"/>
            <a:ext cx="5852160" cy="1463040"/>
          </a:xfrm>
          <a:prstGeom prst="rect">
            <a:avLst/>
          </a:prstGeom>
          <a:noFill/>
          <a:ln/>
        </p:spPr>
        <p:txBody>
          <a:bodyPr wrap="square" rtlCol="0" anchor="ctr"/>
          <a:lstStyle/>
          <a:p>
            <a:pPr indent="0" marL="0">
              <a:lnSpc>
                <a:spcPts val="4400"/>
              </a:lnSpc>
              <a:buNone/>
            </a:pPr>
            <a:r>
              <a:rPr lang="en-US" sz="4000" dirty="0">
                <a:solidFill>
                  <a:srgbClr val="ECE7DE"/>
                </a:solidFill>
                <a:latin typeface="Cambria" pitchFamily="34" charset="0"/>
                <a:ea typeface="Cambria" pitchFamily="34" charset="-122"/>
                <a:cs typeface="Cambria" pitchFamily="34" charset="-120"/>
              </a:rPr>
              <a:t>A model is just a </a:t>
            </a:r>
            <a:pPr indent="0" marL="0">
              <a:lnSpc>
                <a:spcPts val="4400"/>
              </a:lnSpc>
              <a:buNone/>
            </a:pPr>
            <a:r>
              <a:rPr lang="en-US" sz="4000" i="1" dirty="0">
                <a:solidFill>
                  <a:srgbClr val="F5A524"/>
                </a:solidFill>
                <a:latin typeface="Cambria" pitchFamily="34" charset="0"/>
                <a:ea typeface="Cambria" pitchFamily="34" charset="-122"/>
                <a:cs typeface="Cambria" pitchFamily="34" charset="-120"/>
              </a:rPr>
              <a:t>function.</a:t>
            </a:r>
            <a:endParaRPr lang="en-US" sz="4000" dirty="0"/>
          </a:p>
        </p:txBody>
      </p:sp>
      <p:sp>
        <p:nvSpPr>
          <p:cNvPr id="4" name="Text 2"/>
          <p:cNvSpPr/>
          <p:nvPr/>
        </p:nvSpPr>
        <p:spPr>
          <a:xfrm>
            <a:off x="841248" y="2926080"/>
            <a:ext cx="5212080" cy="1371600"/>
          </a:xfrm>
          <a:prstGeom prst="rect">
            <a:avLst/>
          </a:prstGeom>
          <a:noFill/>
          <a:ln/>
        </p:spPr>
        <p:txBody>
          <a:bodyPr wrap="square" rtlCol="0" anchor="ctr"/>
          <a:lstStyle/>
          <a:p>
            <a:pPr indent="0" marL="0">
              <a:lnSpc>
                <a:spcPts val="2800"/>
              </a:lnSpc>
              <a:buNone/>
            </a:pPr>
            <a:r>
              <a:rPr lang="en-US" sz="1800" dirty="0">
                <a:solidFill>
                  <a:srgbClr val="9297A8"/>
                </a:solidFill>
                <a:latin typeface="Calibri" pitchFamily="34" charset="0"/>
                <a:ea typeface="Calibri" pitchFamily="34" charset="-122"/>
                <a:cs typeface="Calibri" pitchFamily="34" charset="-120"/>
              </a:rPr>
              <a:t>Text goes in. Text comes out. No memory of a moment ago. No hands. No way to check its own work.</a:t>
            </a:r>
            <a:endParaRPr lang="en-US" sz="1800" dirty="0"/>
          </a:p>
        </p:txBody>
      </p:sp>
      <p:sp>
        <p:nvSpPr>
          <p:cNvPr id="5" name="Text 3"/>
          <p:cNvSpPr/>
          <p:nvPr/>
        </p:nvSpPr>
        <p:spPr>
          <a:xfrm>
            <a:off x="841248" y="4754880"/>
            <a:ext cx="5486400" cy="457200"/>
          </a:xfrm>
          <a:prstGeom prst="rect">
            <a:avLst/>
          </a:prstGeom>
          <a:noFill/>
          <a:ln/>
        </p:spPr>
        <p:txBody>
          <a:bodyPr wrap="square" rtlCol="0" anchor="ctr"/>
          <a:lstStyle/>
          <a:p>
            <a:pPr indent="0" marL="0">
              <a:buNone/>
            </a:pPr>
            <a:r>
              <a:rPr lang="en-US" sz="1300" spc="100" kern="0" dirty="0">
                <a:solidFill>
                  <a:srgbClr val="5A6072"/>
                </a:solidFill>
                <a:latin typeface="Consolas" pitchFamily="34" charset="0"/>
                <a:ea typeface="Consolas" pitchFamily="34" charset="-122"/>
                <a:cs typeface="Consolas" pitchFamily="34" charset="-120"/>
              </a:rPr>
              <a:t>A prompt is you calling that function.</a:t>
            </a:r>
            <a:endParaRPr lang="en-US" sz="1300" dirty="0"/>
          </a:p>
        </p:txBody>
      </p:sp>
      <p:sp>
        <p:nvSpPr>
          <p:cNvPr id="6" name="Shape 4"/>
          <p:cNvSpPr/>
          <p:nvPr/>
        </p:nvSpPr>
        <p:spPr>
          <a:xfrm>
            <a:off x="6766560" y="1554480"/>
            <a:ext cx="4572000" cy="3474720"/>
          </a:xfrm>
          <a:prstGeom prst="roundRect">
            <a:avLst>
              <a:gd name="adj" fmla="val 2895"/>
            </a:avLst>
          </a:prstGeom>
          <a:solidFill>
            <a:srgbClr val="0E1119"/>
          </a:solidFill>
          <a:ln w="12700">
            <a:solidFill>
              <a:srgbClr val="2A3040"/>
            </a:solidFill>
            <a:prstDash val="solid"/>
          </a:ln>
          <a:effectLst>
            <a:outerShdw sx="100000" sy="100000" kx="0" ky="0" algn="bl" rotWithShape="0" blurRad="177800" dist="50800" dir="5400000">
              <a:srgbClr val="000000">
                <a:alpha val="55000"/>
              </a:srgbClr>
            </a:outerShdw>
          </a:effectLst>
        </p:spPr>
      </p:sp>
      <p:sp>
        <p:nvSpPr>
          <p:cNvPr id="7" name="Text 5"/>
          <p:cNvSpPr/>
          <p:nvPr/>
        </p:nvSpPr>
        <p:spPr>
          <a:xfrm>
            <a:off x="7132320" y="1920240"/>
            <a:ext cx="3931920" cy="2743200"/>
          </a:xfrm>
          <a:prstGeom prst="rect">
            <a:avLst/>
          </a:prstGeom>
          <a:noFill/>
          <a:ln/>
        </p:spPr>
        <p:txBody>
          <a:bodyPr wrap="square" rtlCol="0" anchor="t"/>
          <a:lstStyle/>
          <a:p>
            <a:pPr indent="0" marL="0">
              <a:lnSpc>
                <a:spcPts val="3000"/>
              </a:lnSpc>
              <a:buNone/>
            </a:pPr>
            <a:r>
              <a:rPr lang="en-US" sz="1500" dirty="0">
                <a:solidFill>
                  <a:srgbClr val="8B5CF6"/>
                </a:solidFill>
                <a:latin typeface="Consolas" pitchFamily="34" charset="0"/>
                <a:ea typeface="Consolas" pitchFamily="34" charset="-122"/>
                <a:cs typeface="Consolas" pitchFamily="34" charset="-120"/>
              </a:rPr>
              <a:t>String</a:t>
            </a:r>
            <a:pPr indent="0" marL="0">
              <a:lnSpc>
                <a:spcPts val="3000"/>
              </a:lnSpc>
              <a:buNone/>
            </a:pPr>
            <a:r>
              <a:rPr lang="en-US" sz="1500" dirty="0">
                <a:solidFill>
                  <a:srgbClr val="5A6072"/>
                </a:solidFill>
                <a:latin typeface="Consolas" pitchFamily="34" charset="0"/>
                <a:ea typeface="Consolas" pitchFamily="34" charset="-122"/>
                <a:cs typeface="Consolas" pitchFamily="34" charset="-120"/>
              </a:rPr>
              <a:t> reply = </a:t>
            </a:r>
            <a:pPr indent="0" marL="0">
              <a:lnSpc>
                <a:spcPts val="3000"/>
              </a:lnSpc>
              <a:buNone/>
            </a:pPr>
            <a:endParaRPr lang="en-US" sz="1500" dirty="0"/>
          </a:p>
          <a:p>
            <a:pPr indent="0" marL="0">
              <a:lnSpc>
                <a:spcPts val="3000"/>
              </a:lnSpc>
              <a:buNone/>
            </a:pPr>
            <a:r>
              <a:rPr lang="en-US" sz="1500" dirty="0">
                <a:solidFill>
                  <a:srgbClr val="ECE7DE"/>
                </a:solidFill>
                <a:latin typeface="Consolas" pitchFamily="34" charset="0"/>
                <a:ea typeface="Consolas" pitchFamily="34" charset="-122"/>
                <a:cs typeface="Consolas" pitchFamily="34" charset="-120"/>
              </a:rPr>
              <a:t>   model.</a:t>
            </a:r>
            <a:endParaRPr lang="en-US" sz="1500" dirty="0"/>
          </a:p>
          <a:p>
            <a:pPr indent="0" marL="0">
              <a:lnSpc>
                <a:spcPts val="3000"/>
              </a:lnSpc>
              <a:buNone/>
            </a:pPr>
            <a:r>
              <a:rPr lang="en-US" sz="1500" dirty="0">
                <a:solidFill>
                  <a:srgbClr val="F5A524"/>
                </a:solidFill>
                <a:latin typeface="Consolas" pitchFamily="34" charset="0"/>
                <a:ea typeface="Consolas" pitchFamily="34" charset="-122"/>
                <a:cs typeface="Consolas" pitchFamily="34" charset="-120"/>
              </a:rPr>
              <a:t>chat</a:t>
            </a:r>
            <a:pPr indent="0" marL="0">
              <a:lnSpc>
                <a:spcPts val="3000"/>
              </a:lnSpc>
              <a:buNone/>
            </a:pPr>
            <a:r>
              <a:rPr lang="en-US" sz="1500" dirty="0">
                <a:solidFill>
                  <a:srgbClr val="5A6072"/>
                </a:solidFill>
                <a:latin typeface="Consolas" pitchFamily="34" charset="0"/>
                <a:ea typeface="Consolas" pitchFamily="34" charset="-122"/>
                <a:cs typeface="Consolas" pitchFamily="34" charset="-120"/>
              </a:rPr>
              <a:t>(</a:t>
            </a:r>
            <a:pPr indent="0" marL="0">
              <a:lnSpc>
                <a:spcPts val="3000"/>
              </a:lnSpc>
              <a:buNone/>
            </a:pPr>
            <a:r>
              <a:rPr lang="en-US" sz="1500" dirty="0">
                <a:solidFill>
                  <a:srgbClr val="2DD4BF"/>
                </a:solidFill>
                <a:latin typeface="Consolas" pitchFamily="34" charset="0"/>
                <a:ea typeface="Consolas" pitchFamily="34" charset="-122"/>
                <a:cs typeface="Consolas" pitchFamily="34" charset="-120"/>
              </a:rPr>
              <a:t>"summarise this"</a:t>
            </a:r>
            <a:pPr indent="0" marL="0">
              <a:lnSpc>
                <a:spcPts val="3000"/>
              </a:lnSpc>
              <a:buNone/>
            </a:pPr>
            <a:r>
              <a:rPr lang="en-US" sz="1500" dirty="0">
                <a:solidFill>
                  <a:srgbClr val="5A6072"/>
                </a:solidFill>
                <a:latin typeface="Consolas" pitchFamily="34" charset="0"/>
                <a:ea typeface="Consolas" pitchFamily="34" charset="-122"/>
                <a:cs typeface="Consolas" pitchFamily="34" charset="-120"/>
              </a:rPr>
              <a:t>);</a:t>
            </a:r>
            <a:pPr indent="0" marL="0">
              <a:lnSpc>
                <a:spcPts val="3000"/>
              </a:lnSpc>
              <a:buNone/>
            </a:pPr>
            <a:endParaRPr lang="en-US" sz="1500" dirty="0"/>
          </a:p>
          <a:p>
            <a:pPr indent="0" marL="0">
              <a:lnSpc>
                <a:spcPts val="3000"/>
              </a:lnSpc>
              <a:buNone/>
            </a:pPr>
            <a:endParaRPr lang="en-US" sz="1500" dirty="0"/>
          </a:p>
          <a:p>
            <a:pPr indent="0" marL="0">
              <a:lnSpc>
                <a:spcPts val="3000"/>
              </a:lnSpc>
              <a:buNone/>
            </a:pPr>
            <a:r>
              <a:rPr lang="en-US" sz="1500" dirty="0">
                <a:solidFill>
                  <a:srgbClr val="5A6072"/>
                </a:solidFill>
                <a:latin typeface="Consolas" pitchFamily="34" charset="0"/>
                <a:ea typeface="Consolas" pitchFamily="34" charset="-122"/>
                <a:cs typeface="Consolas" pitchFamily="34" charset="-120"/>
              </a:rPr>
              <a:t>// text in  -&gt;  text out</a:t>
            </a:r>
            <a:endParaRPr lang="en-US" sz="1500" dirty="0"/>
          </a:p>
          <a:p>
            <a:pPr indent="0" marL="0">
              <a:lnSpc>
                <a:spcPts val="3000"/>
              </a:lnSpc>
              <a:buNone/>
            </a:pPr>
            <a:endParaRPr lang="en-US" sz="1500" dirty="0"/>
          </a:p>
          <a:p>
            <a:pPr indent="0" marL="0">
              <a:lnSpc>
                <a:spcPts val="3000"/>
              </a:lnSpc>
              <a:buNone/>
            </a:pPr>
            <a:r>
              <a:rPr lang="en-US" sz="1500" dirty="0">
                <a:solidFill>
                  <a:srgbClr val="5A6072"/>
                </a:solidFill>
                <a:latin typeface="Consolas" pitchFamily="34" charset="0"/>
                <a:ea typeface="Consolas" pitchFamily="34" charset="-122"/>
                <a:cs typeface="Consolas" pitchFamily="34" charset="-120"/>
              </a:rPr>
              <a:t>// no memory. no hands.</a:t>
            </a:r>
            <a:endParaRPr lang="en-US" sz="1500" dirty="0"/>
          </a:p>
          <a:p>
            <a:pPr indent="0" marL="0">
              <a:lnSpc>
                <a:spcPts val="3000"/>
              </a:lnSpc>
              <a:buNone/>
            </a:pPr>
            <a:endParaRPr lang="en-US" sz="1500" dirty="0"/>
          </a:p>
          <a:p>
            <a:pPr indent="0" marL="0">
              <a:lnSpc>
                <a:spcPts val="3000"/>
              </a:lnSpc>
              <a:buNone/>
            </a:pPr>
            <a:r>
              <a:rPr lang="en-US" sz="1500" dirty="0">
                <a:solidFill>
                  <a:srgbClr val="5A6072"/>
                </a:solidFill>
                <a:latin typeface="Consolas" pitchFamily="34" charset="0"/>
                <a:ea typeface="Consolas" pitchFamily="34" charset="-122"/>
                <a:cs typeface="Consolas" pitchFamily="34" charset="-120"/>
              </a:rPr>
              <a:t>// ask twice -&gt; two answers.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CEILING</a:t>
            </a:r>
            <a:endParaRPr lang="en-US" sz="1100" dirty="0"/>
          </a:p>
        </p:txBody>
      </p:sp>
      <p:sp>
        <p:nvSpPr>
          <p:cNvPr id="3" name="Text 1"/>
          <p:cNvSpPr/>
          <p:nvPr/>
        </p:nvSpPr>
        <p:spPr>
          <a:xfrm>
            <a:off x="841248" y="1097280"/>
            <a:ext cx="10058400" cy="914400"/>
          </a:xfrm>
          <a:prstGeom prst="rect">
            <a:avLst/>
          </a:prstGeom>
          <a:noFill/>
          <a:ln/>
        </p:spPr>
        <p:txBody>
          <a:bodyPr wrap="square" rtlCol="0" anchor="ctr"/>
          <a:lstStyle/>
          <a:p>
            <a:pPr indent="0" marL="0">
              <a:buNone/>
            </a:pPr>
            <a:r>
              <a:rPr lang="en-US" sz="3400" dirty="0">
                <a:solidFill>
                  <a:srgbClr val="ECE7DE"/>
                </a:solidFill>
                <a:latin typeface="Cambria" pitchFamily="34" charset="0"/>
                <a:ea typeface="Cambria" pitchFamily="34" charset="-122"/>
                <a:cs typeface="Cambria" pitchFamily="34" charset="-120"/>
              </a:rPr>
              <a:t>A raw prompt hits </a:t>
            </a:r>
            <a:pPr indent="0" marL="0">
              <a:buNone/>
            </a:pPr>
            <a:r>
              <a:rPr lang="en-US" sz="3400" i="1" dirty="0">
                <a:solidFill>
                  <a:srgbClr val="F5A524"/>
                </a:solidFill>
                <a:latin typeface="Cambria" pitchFamily="34" charset="0"/>
                <a:ea typeface="Cambria" pitchFamily="34" charset="-122"/>
                <a:cs typeface="Cambria" pitchFamily="34" charset="-120"/>
              </a:rPr>
              <a:t>three walls.</a:t>
            </a:r>
            <a:endParaRPr lang="en-US" sz="3400" dirty="0"/>
          </a:p>
        </p:txBody>
      </p:sp>
      <p:sp>
        <p:nvSpPr>
          <p:cNvPr id="4" name="Shape 2"/>
          <p:cNvSpPr/>
          <p:nvPr/>
        </p:nvSpPr>
        <p:spPr>
          <a:xfrm>
            <a:off x="841248" y="2377440"/>
            <a:ext cx="3383280" cy="2926080"/>
          </a:xfrm>
          <a:prstGeom prst="roundRect">
            <a:avLst>
              <a:gd name="adj" fmla="val 3438"/>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5" name="Image 0" descr="preencoded.png">    </p:cNvPr>
          <p:cNvPicPr>
            <a:picLocks noChangeAspect="1"/>
          </p:cNvPicPr>
          <p:nvPr/>
        </p:nvPicPr>
        <p:blipFill>
          <a:blip r:embed="rId1"/>
          <a:stretch>
            <a:fillRect/>
          </a:stretch>
        </p:blipFill>
        <p:spPr>
          <a:xfrm>
            <a:off x="1207008" y="2788920"/>
            <a:ext cx="457200" cy="457200"/>
          </a:xfrm>
          <a:prstGeom prst="rect">
            <a:avLst/>
          </a:prstGeom>
        </p:spPr>
      </p:pic>
      <p:sp>
        <p:nvSpPr>
          <p:cNvPr id="6" name="Text 3"/>
          <p:cNvSpPr/>
          <p:nvPr/>
        </p:nvSpPr>
        <p:spPr>
          <a:xfrm>
            <a:off x="2852928" y="2834640"/>
            <a:ext cx="1097280" cy="274320"/>
          </a:xfrm>
          <a:prstGeom prst="rect">
            <a:avLst/>
          </a:prstGeom>
          <a:noFill/>
          <a:ln/>
        </p:spPr>
        <p:txBody>
          <a:bodyPr wrap="square" rtlCol="0" anchor="ctr"/>
          <a:lstStyle/>
          <a:p>
            <a:pPr algn="r" indent="0" marL="0">
              <a:buNone/>
            </a:pPr>
            <a:r>
              <a:rPr lang="en-US" sz="950" spc="200" kern="0" dirty="0">
                <a:solidFill>
                  <a:srgbClr val="FB7185"/>
                </a:solidFill>
                <a:latin typeface="Consolas" pitchFamily="34" charset="0"/>
                <a:ea typeface="Consolas" pitchFamily="34" charset="-122"/>
                <a:cs typeface="Consolas" pitchFamily="34" charset="-120"/>
              </a:rPr>
              <a:t>WALL 01</a:t>
            </a:r>
            <a:endParaRPr lang="en-US" sz="950" dirty="0"/>
          </a:p>
        </p:txBody>
      </p:sp>
      <p:sp>
        <p:nvSpPr>
          <p:cNvPr id="7" name="Text 4"/>
          <p:cNvSpPr/>
          <p:nvPr/>
        </p:nvSpPr>
        <p:spPr>
          <a:xfrm>
            <a:off x="1207008" y="3474720"/>
            <a:ext cx="2651760" cy="548640"/>
          </a:xfrm>
          <a:prstGeom prst="rect">
            <a:avLst/>
          </a:prstGeom>
          <a:noFill/>
          <a:ln/>
        </p:spPr>
        <p:txBody>
          <a:bodyPr wrap="square" rtlCol="0" anchor="ctr"/>
          <a:lstStyle/>
          <a:p>
            <a:pPr indent="0" marL="0">
              <a:buNone/>
            </a:pPr>
            <a:r>
              <a:rPr lang="en-US" sz="2300" dirty="0">
                <a:solidFill>
                  <a:srgbClr val="ECE7DE"/>
                </a:solidFill>
                <a:latin typeface="Cambria" pitchFamily="34" charset="0"/>
                <a:ea typeface="Cambria" pitchFamily="34" charset="-122"/>
                <a:cs typeface="Cambria" pitchFamily="34" charset="-120"/>
              </a:rPr>
              <a:t>No memory</a:t>
            </a:r>
            <a:endParaRPr lang="en-US" sz="2300" dirty="0"/>
          </a:p>
        </p:txBody>
      </p:sp>
      <p:sp>
        <p:nvSpPr>
          <p:cNvPr id="8" name="Text 5"/>
          <p:cNvSpPr/>
          <p:nvPr/>
        </p:nvSpPr>
        <p:spPr>
          <a:xfrm>
            <a:off x="1207008" y="4069080"/>
            <a:ext cx="2651760" cy="1005840"/>
          </a:xfrm>
          <a:prstGeom prst="rect">
            <a:avLst/>
          </a:prstGeom>
          <a:noFill/>
          <a:ln/>
        </p:spPr>
        <p:txBody>
          <a:bodyPr wrap="square" rtlCol="0" anchor="ctr"/>
          <a:lstStyle/>
          <a:p>
            <a:pPr indent="0" marL="0">
              <a:lnSpc>
                <a:spcPts val="2000"/>
              </a:lnSpc>
              <a:buNone/>
            </a:pPr>
            <a:r>
              <a:rPr lang="en-US" sz="1400" dirty="0">
                <a:solidFill>
                  <a:srgbClr val="9297A8"/>
                </a:solidFill>
                <a:latin typeface="Calibri" pitchFamily="34" charset="0"/>
                <a:ea typeface="Calibri" pitchFamily="34" charset="-122"/>
                <a:cs typeface="Calibri" pitchFamily="34" charset="-120"/>
              </a:rPr>
              <a:t>Every call starts from zero. It forgot the last sentence the instant it finished it.</a:t>
            </a:r>
            <a:endParaRPr lang="en-US" sz="1400" dirty="0"/>
          </a:p>
        </p:txBody>
      </p:sp>
      <p:sp>
        <p:nvSpPr>
          <p:cNvPr id="9" name="Shape 6"/>
          <p:cNvSpPr/>
          <p:nvPr/>
        </p:nvSpPr>
        <p:spPr>
          <a:xfrm>
            <a:off x="4544568" y="2377440"/>
            <a:ext cx="3383280" cy="2926080"/>
          </a:xfrm>
          <a:prstGeom prst="roundRect">
            <a:avLst>
              <a:gd name="adj" fmla="val 3438"/>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0" name="Image 1" descr="preencoded.png">    </p:cNvPr>
          <p:cNvPicPr>
            <a:picLocks noChangeAspect="1"/>
          </p:cNvPicPr>
          <p:nvPr/>
        </p:nvPicPr>
        <p:blipFill>
          <a:blip r:embed="rId2"/>
          <a:stretch>
            <a:fillRect/>
          </a:stretch>
        </p:blipFill>
        <p:spPr>
          <a:xfrm>
            <a:off x="4910328" y="2788920"/>
            <a:ext cx="457200" cy="457200"/>
          </a:xfrm>
          <a:prstGeom prst="rect">
            <a:avLst/>
          </a:prstGeom>
        </p:spPr>
      </p:pic>
      <p:sp>
        <p:nvSpPr>
          <p:cNvPr id="11" name="Text 7"/>
          <p:cNvSpPr/>
          <p:nvPr/>
        </p:nvSpPr>
        <p:spPr>
          <a:xfrm>
            <a:off x="6556248" y="2834640"/>
            <a:ext cx="1097280" cy="274320"/>
          </a:xfrm>
          <a:prstGeom prst="rect">
            <a:avLst/>
          </a:prstGeom>
          <a:noFill/>
          <a:ln/>
        </p:spPr>
        <p:txBody>
          <a:bodyPr wrap="square" rtlCol="0" anchor="ctr"/>
          <a:lstStyle/>
          <a:p>
            <a:pPr algn="r" indent="0" marL="0">
              <a:buNone/>
            </a:pPr>
            <a:r>
              <a:rPr lang="en-US" sz="950" spc="200" kern="0" dirty="0">
                <a:solidFill>
                  <a:srgbClr val="FB7185"/>
                </a:solidFill>
                <a:latin typeface="Consolas" pitchFamily="34" charset="0"/>
                <a:ea typeface="Consolas" pitchFamily="34" charset="-122"/>
                <a:cs typeface="Consolas" pitchFamily="34" charset="-120"/>
              </a:rPr>
              <a:t>WALL 02</a:t>
            </a:r>
            <a:endParaRPr lang="en-US" sz="950" dirty="0"/>
          </a:p>
        </p:txBody>
      </p:sp>
      <p:sp>
        <p:nvSpPr>
          <p:cNvPr id="12" name="Text 8"/>
          <p:cNvSpPr/>
          <p:nvPr/>
        </p:nvSpPr>
        <p:spPr>
          <a:xfrm>
            <a:off x="4910328" y="3474720"/>
            <a:ext cx="2651760" cy="548640"/>
          </a:xfrm>
          <a:prstGeom prst="rect">
            <a:avLst/>
          </a:prstGeom>
          <a:noFill/>
          <a:ln/>
        </p:spPr>
        <p:txBody>
          <a:bodyPr wrap="square" rtlCol="0" anchor="ctr"/>
          <a:lstStyle/>
          <a:p>
            <a:pPr indent="0" marL="0">
              <a:buNone/>
            </a:pPr>
            <a:r>
              <a:rPr lang="en-US" sz="2300" dirty="0">
                <a:solidFill>
                  <a:srgbClr val="ECE7DE"/>
                </a:solidFill>
                <a:latin typeface="Cambria" pitchFamily="34" charset="0"/>
                <a:ea typeface="Cambria" pitchFamily="34" charset="-122"/>
                <a:cs typeface="Cambria" pitchFamily="34" charset="-120"/>
              </a:rPr>
              <a:t>No hands</a:t>
            </a:r>
            <a:endParaRPr lang="en-US" sz="2300" dirty="0"/>
          </a:p>
        </p:txBody>
      </p:sp>
      <p:sp>
        <p:nvSpPr>
          <p:cNvPr id="13" name="Text 9"/>
          <p:cNvSpPr/>
          <p:nvPr/>
        </p:nvSpPr>
        <p:spPr>
          <a:xfrm>
            <a:off x="4910328" y="4069080"/>
            <a:ext cx="2651760" cy="1005840"/>
          </a:xfrm>
          <a:prstGeom prst="rect">
            <a:avLst/>
          </a:prstGeom>
          <a:noFill/>
          <a:ln/>
        </p:spPr>
        <p:txBody>
          <a:bodyPr wrap="square" rtlCol="0" anchor="ctr"/>
          <a:lstStyle/>
          <a:p>
            <a:pPr indent="0" marL="0">
              <a:lnSpc>
                <a:spcPts val="2000"/>
              </a:lnSpc>
              <a:buNone/>
            </a:pPr>
            <a:r>
              <a:rPr lang="en-US" sz="1400" dirty="0">
                <a:solidFill>
                  <a:srgbClr val="9297A8"/>
                </a:solidFill>
                <a:latin typeface="Calibri" pitchFamily="34" charset="0"/>
                <a:ea typeface="Calibri" pitchFamily="34" charset="-122"/>
                <a:cs typeface="Calibri" pitchFamily="34" charset="-120"/>
              </a:rPr>
              <a:t>It can describe sending the email in beautiful detail. It cannot send it.</a:t>
            </a:r>
            <a:endParaRPr lang="en-US" sz="1400" dirty="0"/>
          </a:p>
        </p:txBody>
      </p:sp>
      <p:sp>
        <p:nvSpPr>
          <p:cNvPr id="14" name="Shape 10"/>
          <p:cNvSpPr/>
          <p:nvPr/>
        </p:nvSpPr>
        <p:spPr>
          <a:xfrm>
            <a:off x="8247888" y="2377440"/>
            <a:ext cx="3383280" cy="2926080"/>
          </a:xfrm>
          <a:prstGeom prst="roundRect">
            <a:avLst>
              <a:gd name="adj" fmla="val 3438"/>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5" name="Image 2" descr="preencoded.png">    </p:cNvPr>
          <p:cNvPicPr>
            <a:picLocks noChangeAspect="1"/>
          </p:cNvPicPr>
          <p:nvPr/>
        </p:nvPicPr>
        <p:blipFill>
          <a:blip r:embed="rId3"/>
          <a:stretch>
            <a:fillRect/>
          </a:stretch>
        </p:blipFill>
        <p:spPr>
          <a:xfrm>
            <a:off x="8613648" y="2788920"/>
            <a:ext cx="457200" cy="457200"/>
          </a:xfrm>
          <a:prstGeom prst="rect">
            <a:avLst/>
          </a:prstGeom>
        </p:spPr>
      </p:pic>
      <p:sp>
        <p:nvSpPr>
          <p:cNvPr id="16" name="Text 11"/>
          <p:cNvSpPr/>
          <p:nvPr/>
        </p:nvSpPr>
        <p:spPr>
          <a:xfrm>
            <a:off x="10259568" y="2834640"/>
            <a:ext cx="1097280" cy="274320"/>
          </a:xfrm>
          <a:prstGeom prst="rect">
            <a:avLst/>
          </a:prstGeom>
          <a:noFill/>
          <a:ln/>
        </p:spPr>
        <p:txBody>
          <a:bodyPr wrap="square" rtlCol="0" anchor="ctr"/>
          <a:lstStyle/>
          <a:p>
            <a:pPr algn="r" indent="0" marL="0">
              <a:buNone/>
            </a:pPr>
            <a:r>
              <a:rPr lang="en-US" sz="950" spc="200" kern="0" dirty="0">
                <a:solidFill>
                  <a:srgbClr val="FB7185"/>
                </a:solidFill>
                <a:latin typeface="Consolas" pitchFamily="34" charset="0"/>
                <a:ea typeface="Consolas" pitchFamily="34" charset="-122"/>
                <a:cs typeface="Consolas" pitchFamily="34" charset="-120"/>
              </a:rPr>
              <a:t>WALL 03</a:t>
            </a:r>
            <a:endParaRPr lang="en-US" sz="950" dirty="0"/>
          </a:p>
        </p:txBody>
      </p:sp>
      <p:sp>
        <p:nvSpPr>
          <p:cNvPr id="17" name="Text 12"/>
          <p:cNvSpPr/>
          <p:nvPr/>
        </p:nvSpPr>
        <p:spPr>
          <a:xfrm>
            <a:off x="8613648" y="3474720"/>
            <a:ext cx="2651760" cy="548640"/>
          </a:xfrm>
          <a:prstGeom prst="rect">
            <a:avLst/>
          </a:prstGeom>
          <a:noFill/>
          <a:ln/>
        </p:spPr>
        <p:txBody>
          <a:bodyPr wrap="square" rtlCol="0" anchor="ctr"/>
          <a:lstStyle/>
          <a:p>
            <a:pPr indent="0" marL="0">
              <a:buNone/>
            </a:pPr>
            <a:r>
              <a:rPr lang="en-US" sz="2300" dirty="0">
                <a:solidFill>
                  <a:srgbClr val="ECE7DE"/>
                </a:solidFill>
                <a:latin typeface="Cambria" pitchFamily="34" charset="0"/>
                <a:ea typeface="Cambria" pitchFamily="34" charset="-122"/>
                <a:cs typeface="Cambria" pitchFamily="34" charset="-120"/>
              </a:rPr>
              <a:t>No proof</a:t>
            </a:r>
            <a:endParaRPr lang="en-US" sz="2300" dirty="0"/>
          </a:p>
        </p:txBody>
      </p:sp>
      <p:sp>
        <p:nvSpPr>
          <p:cNvPr id="18" name="Text 13"/>
          <p:cNvSpPr/>
          <p:nvPr/>
        </p:nvSpPr>
        <p:spPr>
          <a:xfrm>
            <a:off x="8613648" y="4069080"/>
            <a:ext cx="2651760" cy="1005840"/>
          </a:xfrm>
          <a:prstGeom prst="rect">
            <a:avLst/>
          </a:prstGeom>
          <a:noFill/>
          <a:ln/>
        </p:spPr>
        <p:txBody>
          <a:bodyPr wrap="square" rtlCol="0" anchor="ctr"/>
          <a:lstStyle/>
          <a:p>
            <a:pPr indent="0" marL="0">
              <a:lnSpc>
                <a:spcPts val="2000"/>
              </a:lnSpc>
              <a:buNone/>
            </a:pPr>
            <a:r>
              <a:rPr lang="en-US" sz="1400" dirty="0">
                <a:solidFill>
                  <a:srgbClr val="9297A8"/>
                </a:solidFill>
                <a:latin typeface="Calibri" pitchFamily="34" charset="0"/>
                <a:ea typeface="Calibri" pitchFamily="34" charset="-122"/>
                <a:cs typeface="Calibri" pitchFamily="34" charset="-120"/>
              </a:rPr>
              <a:t>It sounds equally sure when it is right and when it is making things up.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5000"/>
          </a:blip>
          <a:stretch>
            <a:fillRect/>
          </a:stretch>
        </p:blipFill>
        <p:spPr>
          <a:xfrm>
            <a:off x="7955280" y="2834640"/>
            <a:ext cx="4023360" cy="4023360"/>
          </a:xfrm>
          <a:prstGeom prst="rect">
            <a:avLst/>
          </a:prstGeom>
        </p:spPr>
      </p:pic>
      <p:sp>
        <p:nvSpPr>
          <p:cNvPr id="3" name="Text 0"/>
          <p:cNvSpPr/>
          <p:nvPr/>
        </p:nvSpPr>
        <p:spPr>
          <a:xfrm>
            <a:off x="841248" y="1188720"/>
            <a:ext cx="3657600" cy="1463040"/>
          </a:xfrm>
          <a:prstGeom prst="rect">
            <a:avLst/>
          </a:prstGeom>
          <a:noFill/>
          <a:ln/>
        </p:spPr>
        <p:txBody>
          <a:bodyPr wrap="square" rtlCol="0" anchor="ctr"/>
          <a:lstStyle/>
          <a:p>
            <a:pPr indent="0" marL="0">
              <a:buNone/>
            </a:pPr>
            <a:r>
              <a:rPr lang="en-US" sz="9600" i="1" dirty="0">
                <a:solidFill>
                  <a:srgbClr val="2A3040"/>
                </a:solidFill>
                <a:latin typeface="Cambria" pitchFamily="34" charset="0"/>
                <a:ea typeface="Cambria" pitchFamily="34" charset="-122"/>
                <a:cs typeface="Cambria" pitchFamily="34" charset="-120"/>
              </a:rPr>
              <a:t>ii.</a:t>
            </a:r>
            <a:endParaRPr lang="en-US" sz="9600" dirty="0"/>
          </a:p>
        </p:txBody>
      </p:sp>
      <p:sp>
        <p:nvSpPr>
          <p:cNvPr id="4" name="Text 1"/>
          <p:cNvSpPr/>
          <p:nvPr/>
        </p:nvSpPr>
        <p:spPr>
          <a:xfrm>
            <a:off x="841248" y="2880360"/>
            <a:ext cx="9144000" cy="292608"/>
          </a:xfrm>
          <a:prstGeom prst="rect">
            <a:avLst/>
          </a:prstGeom>
          <a:noFill/>
          <a:ln/>
        </p:spPr>
        <p:txBody>
          <a:bodyPr wrap="square" rtlCol="0" anchor="ctr"/>
          <a:lstStyle/>
          <a:p>
            <a:pPr algn="l" indent="0" marL="0">
              <a:buNone/>
            </a:pPr>
            <a:r>
              <a:rPr lang="en-US" sz="1100" b="1" spc="400" kern="0" dirty="0">
                <a:solidFill>
                  <a:srgbClr val="2DD4BF"/>
                </a:solidFill>
                <a:latin typeface="Calibri" pitchFamily="34" charset="0"/>
                <a:ea typeface="Calibri" pitchFamily="34" charset="-122"/>
                <a:cs typeface="Calibri" pitchFamily="34" charset="-120"/>
              </a:rPr>
              <a:t>ACT TWO</a:t>
            </a:r>
            <a:endParaRPr lang="en-US" sz="1100" dirty="0"/>
          </a:p>
        </p:txBody>
      </p:sp>
      <p:sp>
        <p:nvSpPr>
          <p:cNvPr id="5" name="Text 2"/>
          <p:cNvSpPr/>
          <p:nvPr/>
        </p:nvSpPr>
        <p:spPr>
          <a:xfrm>
            <a:off x="841248" y="3200400"/>
            <a:ext cx="8229600" cy="1371600"/>
          </a:xfrm>
          <a:prstGeom prst="rect">
            <a:avLst/>
          </a:prstGeom>
          <a:noFill/>
          <a:ln/>
        </p:spPr>
        <p:txBody>
          <a:bodyPr wrap="square" rtlCol="0" anchor="ctr"/>
          <a:lstStyle/>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The Agent</a:t>
            </a:r>
            <a:endParaRPr lang="en-US" sz="5200" dirty="0"/>
          </a:p>
        </p:txBody>
      </p:sp>
      <p:sp>
        <p:nvSpPr>
          <p:cNvPr id="6" name="Text 3"/>
          <p:cNvSpPr/>
          <p:nvPr/>
        </p:nvSpPr>
        <p:spPr>
          <a:xfrm>
            <a:off x="841248" y="4572000"/>
            <a:ext cx="6858000" cy="822960"/>
          </a:xfrm>
          <a:prstGeom prst="rect">
            <a:avLst/>
          </a:prstGeom>
          <a:noFill/>
          <a:ln/>
        </p:spPr>
        <p:txBody>
          <a:bodyPr wrap="square" rtlCol="0" anchor="ctr"/>
          <a:lstStyle/>
          <a:p>
            <a:pPr indent="0" marL="0">
              <a:lnSpc>
                <a:spcPts val="2500"/>
              </a:lnSpc>
              <a:buNone/>
            </a:pPr>
            <a:r>
              <a:rPr lang="en-US" sz="1700" dirty="0">
                <a:solidFill>
                  <a:srgbClr val="9297A8"/>
                </a:solidFill>
                <a:latin typeface="Calibri" pitchFamily="34" charset="0"/>
                <a:ea typeface="Calibri" pitchFamily="34" charset="-122"/>
                <a:cs typeface="Calibri" pitchFamily="34" charset="-120"/>
              </a:rPr>
              <a:t>Same model. Now it can remember, act, and try again.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EQUATION</a:t>
            </a:r>
            <a:endParaRPr lang="en-US" sz="1100" dirty="0"/>
          </a:p>
        </p:txBody>
      </p:sp>
      <p:sp>
        <p:nvSpPr>
          <p:cNvPr id="3" name="Shape 1"/>
          <p:cNvSpPr/>
          <p:nvPr/>
        </p:nvSpPr>
        <p:spPr>
          <a:xfrm>
            <a:off x="1615288" y="2011680"/>
            <a:ext cx="2286000" cy="2286000"/>
          </a:xfrm>
          <a:prstGeom prst="roundRect">
            <a:avLst>
              <a:gd name="adj" fmla="val 64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4" name="Image 0" descr="preencoded.png">    </p:cNvPr>
          <p:cNvPicPr>
            <a:picLocks noChangeAspect="1"/>
          </p:cNvPicPr>
          <p:nvPr/>
        </p:nvPicPr>
        <p:blipFill>
          <a:blip r:embed="rId1"/>
          <a:stretch>
            <a:fillRect/>
          </a:stretch>
        </p:blipFill>
        <p:spPr>
          <a:xfrm>
            <a:off x="2438248" y="2468880"/>
            <a:ext cx="640080" cy="640080"/>
          </a:xfrm>
          <a:prstGeom prst="rect">
            <a:avLst/>
          </a:prstGeom>
        </p:spPr>
      </p:pic>
      <p:sp>
        <p:nvSpPr>
          <p:cNvPr id="5" name="Text 2"/>
          <p:cNvSpPr/>
          <p:nvPr/>
        </p:nvSpPr>
        <p:spPr>
          <a:xfrm>
            <a:off x="1615288" y="3246120"/>
            <a:ext cx="2286000" cy="457200"/>
          </a:xfrm>
          <a:prstGeom prst="rect">
            <a:avLst/>
          </a:prstGeom>
          <a:noFill/>
          <a:ln/>
        </p:spPr>
        <p:txBody>
          <a:bodyPr wrap="square" rtlCol="0" anchor="ctr"/>
          <a:lstStyle/>
          <a:p>
            <a:pPr algn="ctr" indent="0" marL="0">
              <a:buNone/>
            </a:pPr>
            <a:r>
              <a:rPr lang="en-US" sz="2200" dirty="0">
                <a:solidFill>
                  <a:srgbClr val="38BDF8"/>
                </a:solidFill>
                <a:latin typeface="Cambria" pitchFamily="34" charset="0"/>
                <a:ea typeface="Cambria" pitchFamily="34" charset="-122"/>
                <a:cs typeface="Cambria" pitchFamily="34" charset="-120"/>
              </a:rPr>
              <a:t>model</a:t>
            </a:r>
            <a:endParaRPr lang="en-US" sz="2200" dirty="0"/>
          </a:p>
        </p:txBody>
      </p:sp>
      <p:sp>
        <p:nvSpPr>
          <p:cNvPr id="6" name="Text 3"/>
          <p:cNvSpPr/>
          <p:nvPr/>
        </p:nvSpPr>
        <p:spPr>
          <a:xfrm>
            <a:off x="1615288" y="3703320"/>
            <a:ext cx="2286000" cy="320040"/>
          </a:xfrm>
          <a:prstGeom prst="rect">
            <a:avLst/>
          </a:prstGeom>
          <a:noFill/>
          <a:ln/>
        </p:spPr>
        <p:txBody>
          <a:bodyPr wrap="square" rtlCol="0" anchor="ctr"/>
          <a:lstStyle/>
          <a:p>
            <a:pPr algn="ctr" indent="0" marL="0">
              <a:buNone/>
            </a:pPr>
            <a:r>
              <a:rPr lang="en-US" sz="1000" spc="200" kern="0" dirty="0">
                <a:solidFill>
                  <a:srgbClr val="9297A8"/>
                </a:solidFill>
                <a:latin typeface="Consolas" pitchFamily="34" charset="0"/>
                <a:ea typeface="Consolas" pitchFamily="34" charset="-122"/>
                <a:cs typeface="Consolas" pitchFamily="34" charset="-120"/>
              </a:rPr>
              <a:t>THE BRAIN</a:t>
            </a:r>
            <a:endParaRPr lang="en-US" sz="1000" dirty="0"/>
          </a:p>
        </p:txBody>
      </p:sp>
      <p:sp>
        <p:nvSpPr>
          <p:cNvPr id="7" name="Text 4"/>
          <p:cNvSpPr/>
          <p:nvPr/>
        </p:nvSpPr>
        <p:spPr>
          <a:xfrm>
            <a:off x="3901288" y="2788920"/>
            <a:ext cx="1051560" cy="731520"/>
          </a:xfrm>
          <a:prstGeom prst="rect">
            <a:avLst/>
          </a:prstGeom>
          <a:noFill/>
          <a:ln/>
        </p:spPr>
        <p:txBody>
          <a:bodyPr wrap="square" rtlCol="0" anchor="ctr"/>
          <a:lstStyle/>
          <a:p>
            <a:pPr algn="ctr" indent="0" marL="0">
              <a:buNone/>
            </a:pPr>
            <a:r>
              <a:rPr lang="en-US" sz="3400" dirty="0">
                <a:solidFill>
                  <a:srgbClr val="5A6072"/>
                </a:solidFill>
                <a:latin typeface="Cambria" pitchFamily="34" charset="0"/>
                <a:ea typeface="Cambria" pitchFamily="34" charset="-122"/>
                <a:cs typeface="Cambria" pitchFamily="34" charset="-120"/>
              </a:rPr>
              <a:t>+</a:t>
            </a:r>
            <a:endParaRPr lang="en-US" sz="3400" dirty="0"/>
          </a:p>
        </p:txBody>
      </p:sp>
      <p:sp>
        <p:nvSpPr>
          <p:cNvPr id="8" name="Shape 5"/>
          <p:cNvSpPr/>
          <p:nvPr/>
        </p:nvSpPr>
        <p:spPr>
          <a:xfrm>
            <a:off x="4952848" y="2011680"/>
            <a:ext cx="2286000" cy="2286000"/>
          </a:xfrm>
          <a:prstGeom prst="roundRect">
            <a:avLst>
              <a:gd name="adj" fmla="val 64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9" name="Image 1" descr="preencoded.png">    </p:cNvPr>
          <p:cNvPicPr>
            <a:picLocks noChangeAspect="1"/>
          </p:cNvPicPr>
          <p:nvPr/>
        </p:nvPicPr>
        <p:blipFill>
          <a:blip r:embed="rId2"/>
          <a:stretch>
            <a:fillRect/>
          </a:stretch>
        </p:blipFill>
        <p:spPr>
          <a:xfrm>
            <a:off x="5775808" y="2468880"/>
            <a:ext cx="640080" cy="640080"/>
          </a:xfrm>
          <a:prstGeom prst="rect">
            <a:avLst/>
          </a:prstGeom>
        </p:spPr>
      </p:pic>
      <p:sp>
        <p:nvSpPr>
          <p:cNvPr id="10" name="Text 6"/>
          <p:cNvSpPr/>
          <p:nvPr/>
        </p:nvSpPr>
        <p:spPr>
          <a:xfrm>
            <a:off x="4952848" y="3246120"/>
            <a:ext cx="2286000" cy="457200"/>
          </a:xfrm>
          <a:prstGeom prst="rect">
            <a:avLst/>
          </a:prstGeom>
          <a:noFill/>
          <a:ln/>
        </p:spPr>
        <p:txBody>
          <a:bodyPr wrap="square" rtlCol="0" anchor="ctr"/>
          <a:lstStyle/>
          <a:p>
            <a:pPr algn="ctr" indent="0" marL="0">
              <a:buNone/>
            </a:pPr>
            <a:r>
              <a:rPr lang="en-US" sz="2200" dirty="0">
                <a:solidFill>
                  <a:srgbClr val="8B5CF6"/>
                </a:solidFill>
                <a:latin typeface="Cambria" pitchFamily="34" charset="0"/>
                <a:ea typeface="Cambria" pitchFamily="34" charset="-122"/>
                <a:cs typeface="Cambria" pitchFamily="34" charset="-120"/>
              </a:rPr>
              <a:t>tools</a:t>
            </a:r>
            <a:endParaRPr lang="en-US" sz="2200" dirty="0"/>
          </a:p>
        </p:txBody>
      </p:sp>
      <p:sp>
        <p:nvSpPr>
          <p:cNvPr id="11" name="Text 7"/>
          <p:cNvSpPr/>
          <p:nvPr/>
        </p:nvSpPr>
        <p:spPr>
          <a:xfrm>
            <a:off x="4952848" y="3703320"/>
            <a:ext cx="2286000" cy="320040"/>
          </a:xfrm>
          <a:prstGeom prst="rect">
            <a:avLst/>
          </a:prstGeom>
          <a:noFill/>
          <a:ln/>
        </p:spPr>
        <p:txBody>
          <a:bodyPr wrap="square" rtlCol="0" anchor="ctr"/>
          <a:lstStyle/>
          <a:p>
            <a:pPr algn="ctr" indent="0" marL="0">
              <a:buNone/>
            </a:pPr>
            <a:r>
              <a:rPr lang="en-US" sz="1000" spc="200" kern="0" dirty="0">
                <a:solidFill>
                  <a:srgbClr val="9297A8"/>
                </a:solidFill>
                <a:latin typeface="Consolas" pitchFamily="34" charset="0"/>
                <a:ea typeface="Consolas" pitchFamily="34" charset="-122"/>
                <a:cs typeface="Consolas" pitchFamily="34" charset="-120"/>
              </a:rPr>
              <a:t>THE HANDS</a:t>
            </a:r>
            <a:endParaRPr lang="en-US" sz="1000" dirty="0"/>
          </a:p>
        </p:txBody>
      </p:sp>
      <p:sp>
        <p:nvSpPr>
          <p:cNvPr id="12" name="Text 8"/>
          <p:cNvSpPr/>
          <p:nvPr/>
        </p:nvSpPr>
        <p:spPr>
          <a:xfrm>
            <a:off x="7238848" y="2788920"/>
            <a:ext cx="1051560" cy="731520"/>
          </a:xfrm>
          <a:prstGeom prst="rect">
            <a:avLst/>
          </a:prstGeom>
          <a:noFill/>
          <a:ln/>
        </p:spPr>
        <p:txBody>
          <a:bodyPr wrap="square" rtlCol="0" anchor="ctr"/>
          <a:lstStyle/>
          <a:p>
            <a:pPr algn="ctr" indent="0" marL="0">
              <a:buNone/>
            </a:pPr>
            <a:r>
              <a:rPr lang="en-US" sz="3400" dirty="0">
                <a:solidFill>
                  <a:srgbClr val="5A6072"/>
                </a:solidFill>
                <a:latin typeface="Cambria" pitchFamily="34" charset="0"/>
                <a:ea typeface="Cambria" pitchFamily="34" charset="-122"/>
                <a:cs typeface="Cambria" pitchFamily="34" charset="-120"/>
              </a:rPr>
              <a:t>+</a:t>
            </a:r>
            <a:endParaRPr lang="en-US" sz="3400" dirty="0"/>
          </a:p>
        </p:txBody>
      </p:sp>
      <p:sp>
        <p:nvSpPr>
          <p:cNvPr id="13" name="Shape 9"/>
          <p:cNvSpPr/>
          <p:nvPr/>
        </p:nvSpPr>
        <p:spPr>
          <a:xfrm>
            <a:off x="8290408" y="2011680"/>
            <a:ext cx="2286000" cy="2286000"/>
          </a:xfrm>
          <a:prstGeom prst="roundRect">
            <a:avLst>
              <a:gd name="adj" fmla="val 6400"/>
            </a:avLst>
          </a:prstGeom>
          <a:solidFill>
            <a:srgbClr val="161B27"/>
          </a:solidFill>
          <a:ln w="12700">
            <a:solidFill>
              <a:srgbClr val="2DD4BF"/>
            </a:solidFill>
            <a:prstDash val="solid"/>
          </a:ln>
          <a:effectLst>
            <a:outerShdw sx="100000" sy="100000" kx="0" ky="0" algn="bl" rotWithShape="0" blurRad="177800" dist="50800" dir="5400000">
              <a:srgbClr val="000000">
                <a:alpha val="55000"/>
              </a:srgbClr>
            </a:outerShdw>
          </a:effectLst>
        </p:spPr>
      </p:sp>
      <p:pic>
        <p:nvPicPr>
          <p:cNvPr id="14" name="Image 2" descr="preencoded.png">    </p:cNvPr>
          <p:cNvPicPr>
            <a:picLocks noChangeAspect="1"/>
          </p:cNvPicPr>
          <p:nvPr/>
        </p:nvPicPr>
        <p:blipFill>
          <a:blip r:embed="rId3"/>
          <a:stretch>
            <a:fillRect/>
          </a:stretch>
        </p:blipFill>
        <p:spPr>
          <a:xfrm>
            <a:off x="9113368" y="2468880"/>
            <a:ext cx="640080" cy="640080"/>
          </a:xfrm>
          <a:prstGeom prst="rect">
            <a:avLst/>
          </a:prstGeom>
        </p:spPr>
      </p:pic>
      <p:sp>
        <p:nvSpPr>
          <p:cNvPr id="15" name="Text 10"/>
          <p:cNvSpPr/>
          <p:nvPr/>
        </p:nvSpPr>
        <p:spPr>
          <a:xfrm>
            <a:off x="8290408" y="3246120"/>
            <a:ext cx="2286000" cy="457200"/>
          </a:xfrm>
          <a:prstGeom prst="rect">
            <a:avLst/>
          </a:prstGeom>
          <a:noFill/>
          <a:ln/>
        </p:spPr>
        <p:txBody>
          <a:bodyPr wrap="square" rtlCol="0" anchor="ctr"/>
          <a:lstStyle/>
          <a:p>
            <a:pPr algn="ctr" indent="0" marL="0">
              <a:buNone/>
            </a:pPr>
            <a:r>
              <a:rPr lang="en-US" sz="2200" dirty="0">
                <a:solidFill>
                  <a:srgbClr val="2DD4BF"/>
                </a:solidFill>
                <a:latin typeface="Cambria" pitchFamily="34" charset="0"/>
                <a:ea typeface="Cambria" pitchFamily="34" charset="-122"/>
                <a:cs typeface="Cambria" pitchFamily="34" charset="-120"/>
              </a:rPr>
              <a:t>a loop</a:t>
            </a:r>
            <a:endParaRPr lang="en-US" sz="2200" dirty="0"/>
          </a:p>
        </p:txBody>
      </p:sp>
      <p:sp>
        <p:nvSpPr>
          <p:cNvPr id="16" name="Text 11"/>
          <p:cNvSpPr/>
          <p:nvPr/>
        </p:nvSpPr>
        <p:spPr>
          <a:xfrm>
            <a:off x="8290408" y="3703320"/>
            <a:ext cx="2286000" cy="320040"/>
          </a:xfrm>
          <a:prstGeom prst="rect">
            <a:avLst/>
          </a:prstGeom>
          <a:noFill/>
          <a:ln/>
        </p:spPr>
        <p:txBody>
          <a:bodyPr wrap="square" rtlCol="0" anchor="ctr"/>
          <a:lstStyle/>
          <a:p>
            <a:pPr algn="ctr" indent="0" marL="0">
              <a:buNone/>
            </a:pPr>
            <a:r>
              <a:rPr lang="en-US" sz="1000" spc="200" kern="0" dirty="0">
                <a:solidFill>
                  <a:srgbClr val="9297A8"/>
                </a:solidFill>
                <a:latin typeface="Consolas" pitchFamily="34" charset="0"/>
                <a:ea typeface="Consolas" pitchFamily="34" charset="-122"/>
                <a:cs typeface="Consolas" pitchFamily="34" charset="-120"/>
              </a:rPr>
              <a:t>THE MAGIC</a:t>
            </a:r>
            <a:endParaRPr lang="en-US" sz="1000" dirty="0"/>
          </a:p>
        </p:txBody>
      </p:sp>
      <p:sp>
        <p:nvSpPr>
          <p:cNvPr id="17" name="Text 12"/>
          <p:cNvSpPr/>
          <p:nvPr/>
        </p:nvSpPr>
        <p:spPr>
          <a:xfrm>
            <a:off x="2286000" y="4937760"/>
            <a:ext cx="7616952" cy="731520"/>
          </a:xfrm>
          <a:prstGeom prst="rect">
            <a:avLst/>
          </a:prstGeom>
          <a:noFill/>
          <a:ln/>
        </p:spPr>
        <p:txBody>
          <a:bodyPr wrap="square" rtlCol="0" anchor="ctr"/>
          <a:lstStyle/>
          <a:p>
            <a:pPr algn="ctr" indent="0" marL="0">
              <a:lnSpc>
                <a:spcPts val="2600"/>
              </a:lnSpc>
              <a:buNone/>
            </a:pPr>
            <a:r>
              <a:rPr lang="en-US" sz="1800" dirty="0">
                <a:solidFill>
                  <a:srgbClr val="9297A8"/>
                </a:solidFill>
                <a:latin typeface="Calibri" pitchFamily="34" charset="0"/>
                <a:ea typeface="Calibri" pitchFamily="34" charset="-122"/>
                <a:cs typeface="Calibri" pitchFamily="34" charset="-120"/>
              </a:rPr>
              <a:t>That is an agent. Everything else is decoration. The loop is where the magic actually lives.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2DD4BF"/>
                </a:solidFill>
                <a:latin typeface="Calibri" pitchFamily="34" charset="0"/>
                <a:ea typeface="Calibri" pitchFamily="34" charset="-122"/>
                <a:cs typeface="Calibri" pitchFamily="34" charset="-120"/>
              </a:rPr>
              <a:t>THE WHOLE TRICK</a:t>
            </a:r>
            <a:endParaRPr lang="en-US" sz="1100" dirty="0"/>
          </a:p>
        </p:txBody>
      </p:sp>
      <p:sp>
        <p:nvSpPr>
          <p:cNvPr id="3" name="Text 1"/>
          <p:cNvSpPr/>
          <p:nvPr/>
        </p:nvSpPr>
        <p:spPr>
          <a:xfrm>
            <a:off x="841248" y="1554480"/>
            <a:ext cx="5120640" cy="1645920"/>
          </a:xfrm>
          <a:prstGeom prst="rect">
            <a:avLst/>
          </a:prstGeom>
          <a:noFill/>
          <a:ln/>
        </p:spPr>
        <p:txBody>
          <a:bodyPr wrap="square" rtlCol="0" anchor="ctr"/>
          <a:lstStyle/>
          <a:p>
            <a:pPr indent="0" marL="0">
              <a:lnSpc>
                <a:spcPts val="4600"/>
              </a:lnSpc>
              <a:buNone/>
            </a:pPr>
            <a:r>
              <a:rPr lang="en-US" sz="4000" dirty="0">
                <a:solidFill>
                  <a:srgbClr val="ECE7DE"/>
                </a:solidFill>
                <a:latin typeface="Cambria" pitchFamily="34" charset="0"/>
                <a:ea typeface="Cambria" pitchFamily="34" charset="-122"/>
                <a:cs typeface="Cambria" pitchFamily="34" charset="-120"/>
              </a:rPr>
              <a:t>Reason. Act.</a:t>
            </a:r>
            <a:endParaRPr lang="en-US" sz="4000" dirty="0"/>
          </a:p>
          <a:p>
            <a:pPr indent="0" marL="0">
              <a:lnSpc>
                <a:spcPts val="4600"/>
              </a:lnSpc>
              <a:buNone/>
            </a:pPr>
            <a:r>
              <a:rPr lang="en-US" sz="4000" dirty="0">
                <a:solidFill>
                  <a:srgbClr val="ECE7DE"/>
                </a:solidFill>
                <a:latin typeface="Cambria" pitchFamily="34" charset="0"/>
                <a:ea typeface="Cambria" pitchFamily="34" charset="-122"/>
                <a:cs typeface="Cambria" pitchFamily="34" charset="-120"/>
              </a:rPr>
              <a:t>Observe. </a:t>
            </a:r>
            <a:endParaRPr lang="en-US" sz="4000" dirty="0"/>
          </a:p>
          <a:p>
            <a:pPr indent="0" marL="0">
              <a:lnSpc>
                <a:spcPts val="4600"/>
              </a:lnSpc>
              <a:buNone/>
            </a:pPr>
            <a:r>
              <a:rPr lang="en-US" sz="4000" i="1" dirty="0">
                <a:solidFill>
                  <a:srgbClr val="F5A524"/>
                </a:solidFill>
                <a:latin typeface="Cambria" pitchFamily="34" charset="0"/>
                <a:ea typeface="Cambria" pitchFamily="34" charset="-122"/>
                <a:cs typeface="Cambria" pitchFamily="34" charset="-120"/>
              </a:rPr>
              <a:t>Again.</a:t>
            </a:r>
            <a:endParaRPr lang="en-US" sz="4000" dirty="0"/>
          </a:p>
        </p:txBody>
      </p:sp>
      <p:sp>
        <p:nvSpPr>
          <p:cNvPr id="4" name="Text 2"/>
          <p:cNvSpPr/>
          <p:nvPr/>
        </p:nvSpPr>
        <p:spPr>
          <a:xfrm>
            <a:off x="841248" y="3383280"/>
            <a:ext cx="4846320" cy="1371600"/>
          </a:xfrm>
          <a:prstGeom prst="rect">
            <a:avLst/>
          </a:prstGeom>
          <a:noFill/>
          <a:ln/>
        </p:spPr>
        <p:txBody>
          <a:bodyPr wrap="square" rtlCol="0" anchor="ctr"/>
          <a:lstStyle/>
          <a:p>
            <a:pPr indent="0" marL="0">
              <a:lnSpc>
                <a:spcPts val="2600"/>
              </a:lnSpc>
              <a:buNone/>
            </a:pPr>
            <a:r>
              <a:rPr lang="en-US" sz="1700" dirty="0">
                <a:solidFill>
                  <a:srgbClr val="9297A8"/>
                </a:solidFill>
                <a:latin typeface="Calibri" pitchFamily="34" charset="0"/>
                <a:ea typeface="Calibri" pitchFamily="34" charset="-122"/>
                <a:cs typeface="Calibri" pitchFamily="34" charset="-120"/>
              </a:rPr>
              <a:t>The model does not answer once. It works in a loop until the job is actually done, checking its own output along the way.</a:t>
            </a:r>
            <a:endParaRPr lang="en-US" sz="1700" dirty="0"/>
          </a:p>
        </p:txBody>
      </p:sp>
      <p:sp>
        <p:nvSpPr>
          <p:cNvPr id="5" name="Text 3"/>
          <p:cNvSpPr/>
          <p:nvPr/>
        </p:nvSpPr>
        <p:spPr>
          <a:xfrm>
            <a:off x="841248" y="4937760"/>
            <a:ext cx="5120640" cy="457200"/>
          </a:xfrm>
          <a:prstGeom prst="rect">
            <a:avLst/>
          </a:prstGeom>
          <a:noFill/>
          <a:ln/>
        </p:spPr>
        <p:txBody>
          <a:bodyPr wrap="square" rtlCol="0" anchor="ctr"/>
          <a:lstStyle/>
          <a:p>
            <a:pPr indent="0" marL="0">
              <a:buNone/>
            </a:pPr>
            <a:r>
              <a:rPr lang="en-US" sz="1200" dirty="0">
                <a:solidFill>
                  <a:srgbClr val="5A6072"/>
                </a:solidFill>
                <a:latin typeface="Consolas" pitchFamily="34" charset="0"/>
                <a:ea typeface="Consolas" pitchFamily="34" charset="-122"/>
                <a:cs typeface="Consolas" pitchFamily="34" charset="-120"/>
              </a:rPr>
              <a:t>Take away the loop and you are back to a chatbot.</a:t>
            </a:r>
            <a:endParaRPr lang="en-US" sz="1200" dirty="0"/>
          </a:p>
        </p:txBody>
      </p:sp>
      <p:sp>
        <p:nvSpPr>
          <p:cNvPr id="6" name="Shape 4"/>
          <p:cNvSpPr/>
          <p:nvPr/>
        </p:nvSpPr>
        <p:spPr>
          <a:xfrm>
            <a:off x="8869680" y="2011680"/>
            <a:ext cx="1352398" cy="2331720"/>
          </a:xfrm>
          <a:prstGeom prst="line">
            <a:avLst/>
          </a:prstGeom>
          <a:noFill/>
          <a:ln w="25400">
            <a:solidFill>
              <a:srgbClr val="2DD4BF"/>
            </a:solidFill>
            <a:prstDash val="solid"/>
            <a:tailEnd type="triangle"/>
          </a:ln>
        </p:spPr>
      </p:sp>
      <p:sp>
        <p:nvSpPr>
          <p:cNvPr id="7" name="Shape 5"/>
          <p:cNvSpPr/>
          <p:nvPr/>
        </p:nvSpPr>
        <p:spPr>
          <a:xfrm flipH="1">
            <a:off x="7517282" y="4343400"/>
            <a:ext cx="2704795" cy="0"/>
          </a:xfrm>
          <a:prstGeom prst="line">
            <a:avLst/>
          </a:prstGeom>
          <a:noFill/>
          <a:ln w="25400">
            <a:solidFill>
              <a:srgbClr val="8B5CF6"/>
            </a:solidFill>
            <a:prstDash val="solid"/>
            <a:tailEnd type="triangle"/>
          </a:ln>
        </p:spPr>
      </p:sp>
      <p:sp>
        <p:nvSpPr>
          <p:cNvPr id="8" name="Shape 6"/>
          <p:cNvSpPr/>
          <p:nvPr/>
        </p:nvSpPr>
        <p:spPr>
          <a:xfrm flipV="1">
            <a:off x="7517282" y="2011680"/>
            <a:ext cx="1352398" cy="2331720"/>
          </a:xfrm>
          <a:prstGeom prst="line">
            <a:avLst/>
          </a:prstGeom>
          <a:noFill/>
          <a:ln w="25400">
            <a:solidFill>
              <a:srgbClr val="F5A524"/>
            </a:solidFill>
            <a:prstDash val="solid"/>
            <a:tailEnd type="triangle"/>
          </a:ln>
        </p:spPr>
      </p:sp>
      <p:sp>
        <p:nvSpPr>
          <p:cNvPr id="9" name="Shape 7"/>
          <p:cNvSpPr/>
          <p:nvPr/>
        </p:nvSpPr>
        <p:spPr>
          <a:xfrm>
            <a:off x="8750808" y="1892808"/>
            <a:ext cx="237744" cy="237744"/>
          </a:xfrm>
          <a:prstGeom prst="ellipse">
            <a:avLst/>
          </a:prstGeom>
          <a:solidFill>
            <a:srgbClr val="2DD4BF"/>
          </a:solidFill>
          <a:ln w="12700">
            <a:solidFill>
              <a:srgbClr val="2DD4BF"/>
            </a:solidFill>
            <a:prstDash val="solid"/>
          </a:ln>
        </p:spPr>
      </p:sp>
      <p:sp>
        <p:nvSpPr>
          <p:cNvPr id="10" name="Shape 8"/>
          <p:cNvSpPr/>
          <p:nvPr/>
        </p:nvSpPr>
        <p:spPr>
          <a:xfrm>
            <a:off x="10103206" y="4224528"/>
            <a:ext cx="237744" cy="237744"/>
          </a:xfrm>
          <a:prstGeom prst="ellipse">
            <a:avLst/>
          </a:prstGeom>
          <a:solidFill>
            <a:srgbClr val="8B5CF6"/>
          </a:solidFill>
          <a:ln w="12700">
            <a:solidFill>
              <a:srgbClr val="8B5CF6"/>
            </a:solidFill>
            <a:prstDash val="solid"/>
          </a:ln>
        </p:spPr>
      </p:sp>
      <p:sp>
        <p:nvSpPr>
          <p:cNvPr id="11" name="Shape 9"/>
          <p:cNvSpPr/>
          <p:nvPr/>
        </p:nvSpPr>
        <p:spPr>
          <a:xfrm>
            <a:off x="7398410" y="4224528"/>
            <a:ext cx="237744" cy="237744"/>
          </a:xfrm>
          <a:prstGeom prst="ellipse">
            <a:avLst/>
          </a:prstGeom>
          <a:solidFill>
            <a:srgbClr val="F5A524"/>
          </a:solidFill>
          <a:ln w="12700">
            <a:solidFill>
              <a:srgbClr val="F5A524"/>
            </a:solidFill>
            <a:prstDash val="solid"/>
          </a:ln>
        </p:spPr>
      </p:sp>
      <p:sp>
        <p:nvSpPr>
          <p:cNvPr id="12" name="Text 10"/>
          <p:cNvSpPr/>
          <p:nvPr/>
        </p:nvSpPr>
        <p:spPr>
          <a:xfrm>
            <a:off x="7955280" y="1508760"/>
            <a:ext cx="1828800" cy="274320"/>
          </a:xfrm>
          <a:prstGeom prst="rect">
            <a:avLst/>
          </a:prstGeom>
          <a:noFill/>
          <a:ln/>
        </p:spPr>
        <p:txBody>
          <a:bodyPr wrap="square" rtlCol="0" anchor="ctr"/>
          <a:lstStyle/>
          <a:p>
            <a:pPr algn="ctr" indent="0" marL="0">
              <a:buNone/>
            </a:pPr>
            <a:r>
              <a:rPr lang="en-US" sz="1100" spc="100" kern="0" dirty="0">
                <a:solidFill>
                  <a:srgbClr val="ECE7DE"/>
                </a:solidFill>
                <a:latin typeface="Consolas" pitchFamily="34" charset="0"/>
                <a:ea typeface="Consolas" pitchFamily="34" charset="-122"/>
                <a:cs typeface="Consolas" pitchFamily="34" charset="-120"/>
              </a:rPr>
              <a:t>REASON</a:t>
            </a:r>
            <a:endParaRPr lang="en-US" sz="1100" dirty="0"/>
          </a:p>
        </p:txBody>
      </p:sp>
      <p:sp>
        <p:nvSpPr>
          <p:cNvPr id="13" name="Text 11"/>
          <p:cNvSpPr/>
          <p:nvPr/>
        </p:nvSpPr>
        <p:spPr>
          <a:xfrm>
            <a:off x="10359238" y="4206240"/>
            <a:ext cx="1280160" cy="274320"/>
          </a:xfrm>
          <a:prstGeom prst="rect">
            <a:avLst/>
          </a:prstGeom>
          <a:noFill/>
          <a:ln/>
        </p:spPr>
        <p:txBody>
          <a:bodyPr wrap="square" rtlCol="0" anchor="ctr"/>
          <a:lstStyle/>
          <a:p>
            <a:pPr indent="0" marL="0">
              <a:buNone/>
            </a:pPr>
            <a:r>
              <a:rPr lang="en-US" sz="1100" spc="100" kern="0" dirty="0">
                <a:solidFill>
                  <a:srgbClr val="ECE7DE"/>
                </a:solidFill>
                <a:latin typeface="Consolas" pitchFamily="34" charset="0"/>
                <a:ea typeface="Consolas" pitchFamily="34" charset="-122"/>
                <a:cs typeface="Consolas" pitchFamily="34" charset="-120"/>
              </a:rPr>
              <a:t>ACT</a:t>
            </a:r>
            <a:endParaRPr lang="en-US" sz="1100" dirty="0"/>
          </a:p>
        </p:txBody>
      </p:sp>
      <p:sp>
        <p:nvSpPr>
          <p:cNvPr id="14" name="Text 12"/>
          <p:cNvSpPr/>
          <p:nvPr/>
        </p:nvSpPr>
        <p:spPr>
          <a:xfrm>
            <a:off x="6099962" y="4206240"/>
            <a:ext cx="1280160" cy="274320"/>
          </a:xfrm>
          <a:prstGeom prst="rect">
            <a:avLst/>
          </a:prstGeom>
          <a:noFill/>
          <a:ln/>
        </p:spPr>
        <p:txBody>
          <a:bodyPr wrap="square" rtlCol="0" anchor="ctr"/>
          <a:lstStyle/>
          <a:p>
            <a:pPr algn="r" indent="0" marL="0">
              <a:buNone/>
            </a:pPr>
            <a:r>
              <a:rPr lang="en-US" sz="1100" spc="100" kern="0" dirty="0">
                <a:solidFill>
                  <a:srgbClr val="ECE7DE"/>
                </a:solidFill>
                <a:latin typeface="Consolas" pitchFamily="34" charset="0"/>
                <a:ea typeface="Consolas" pitchFamily="34" charset="-122"/>
                <a:cs typeface="Consolas" pitchFamily="34" charset="-120"/>
              </a:rPr>
              <a:t>OBSERVE</a:t>
            </a:r>
            <a:endParaRPr lang="en-US" sz="1100" dirty="0"/>
          </a:p>
        </p:txBody>
      </p:sp>
      <p:sp>
        <p:nvSpPr>
          <p:cNvPr id="15" name="Text 13"/>
          <p:cNvSpPr/>
          <p:nvPr/>
        </p:nvSpPr>
        <p:spPr>
          <a:xfrm>
            <a:off x="8229600" y="3429000"/>
            <a:ext cx="1280160" cy="274320"/>
          </a:xfrm>
          <a:prstGeom prst="rect">
            <a:avLst/>
          </a:prstGeom>
          <a:noFill/>
          <a:ln/>
        </p:spPr>
        <p:txBody>
          <a:bodyPr wrap="square" rtlCol="0" anchor="ctr"/>
          <a:lstStyle/>
          <a:p>
            <a:pPr algn="ctr" indent="0" marL="0">
              <a:buNone/>
            </a:pPr>
            <a:r>
              <a:rPr lang="en-US" sz="1000" dirty="0">
                <a:solidFill>
                  <a:srgbClr val="5A6072"/>
                </a:solidFill>
                <a:latin typeface="Consolas" pitchFamily="34" charset="0"/>
                <a:ea typeface="Consolas" pitchFamily="34" charset="-122"/>
                <a:cs typeface="Consolas" pitchFamily="34" charset="-120"/>
              </a:rPr>
              <a:t>done?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5000"/>
          </a:blip>
          <a:stretch>
            <a:fillRect/>
          </a:stretch>
        </p:blipFill>
        <p:spPr>
          <a:xfrm>
            <a:off x="7955280" y="2834640"/>
            <a:ext cx="4023360" cy="4023360"/>
          </a:xfrm>
          <a:prstGeom prst="rect">
            <a:avLst/>
          </a:prstGeom>
        </p:spPr>
      </p:pic>
      <p:sp>
        <p:nvSpPr>
          <p:cNvPr id="3" name="Text 0"/>
          <p:cNvSpPr/>
          <p:nvPr/>
        </p:nvSpPr>
        <p:spPr>
          <a:xfrm>
            <a:off x="841248" y="1188720"/>
            <a:ext cx="3657600" cy="1463040"/>
          </a:xfrm>
          <a:prstGeom prst="rect">
            <a:avLst/>
          </a:prstGeom>
          <a:noFill/>
          <a:ln/>
        </p:spPr>
        <p:txBody>
          <a:bodyPr wrap="square" rtlCol="0" anchor="ctr"/>
          <a:lstStyle/>
          <a:p>
            <a:pPr indent="0" marL="0">
              <a:buNone/>
            </a:pPr>
            <a:r>
              <a:rPr lang="en-US" sz="9600" i="1" dirty="0">
                <a:solidFill>
                  <a:srgbClr val="2A3040"/>
                </a:solidFill>
                <a:latin typeface="Cambria" pitchFamily="34" charset="0"/>
                <a:ea typeface="Cambria" pitchFamily="34" charset="-122"/>
                <a:cs typeface="Cambria" pitchFamily="34" charset="-120"/>
              </a:rPr>
              <a:t>iii.</a:t>
            </a:r>
            <a:endParaRPr lang="en-US" sz="9600" dirty="0"/>
          </a:p>
        </p:txBody>
      </p:sp>
      <p:sp>
        <p:nvSpPr>
          <p:cNvPr id="4" name="Text 1"/>
          <p:cNvSpPr/>
          <p:nvPr/>
        </p:nvSpPr>
        <p:spPr>
          <a:xfrm>
            <a:off x="841248" y="2880360"/>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ACT THREE</a:t>
            </a:r>
            <a:endParaRPr lang="en-US" sz="1100" dirty="0"/>
          </a:p>
        </p:txBody>
      </p:sp>
      <p:sp>
        <p:nvSpPr>
          <p:cNvPr id="5" name="Text 2"/>
          <p:cNvSpPr/>
          <p:nvPr/>
        </p:nvSpPr>
        <p:spPr>
          <a:xfrm>
            <a:off x="841248" y="3200400"/>
            <a:ext cx="8229600" cy="1371600"/>
          </a:xfrm>
          <a:prstGeom prst="rect">
            <a:avLst/>
          </a:prstGeom>
          <a:noFill/>
          <a:ln/>
        </p:spPr>
        <p:txBody>
          <a:bodyPr wrap="square" rtlCol="0" anchor="ctr"/>
          <a:lstStyle/>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The Infrastructure</a:t>
            </a:r>
            <a:endParaRPr lang="en-US" sz="5200" dirty="0"/>
          </a:p>
        </p:txBody>
      </p:sp>
      <p:sp>
        <p:nvSpPr>
          <p:cNvPr id="6" name="Text 3"/>
          <p:cNvSpPr/>
          <p:nvPr/>
        </p:nvSpPr>
        <p:spPr>
          <a:xfrm>
            <a:off x="841248" y="4572000"/>
            <a:ext cx="6858000" cy="822960"/>
          </a:xfrm>
          <a:prstGeom prst="rect">
            <a:avLst/>
          </a:prstGeom>
          <a:noFill/>
          <a:ln/>
        </p:spPr>
        <p:txBody>
          <a:bodyPr wrap="square" rtlCol="0" anchor="ctr"/>
          <a:lstStyle/>
          <a:p>
            <a:pPr indent="0" marL="0">
              <a:lnSpc>
                <a:spcPts val="2500"/>
              </a:lnSpc>
              <a:buNone/>
            </a:pPr>
            <a:r>
              <a:rPr lang="en-US" sz="1700" dirty="0">
                <a:solidFill>
                  <a:srgbClr val="9297A8"/>
                </a:solidFill>
                <a:latin typeface="Calibri" pitchFamily="34" charset="0"/>
                <a:ea typeface="Calibri" pitchFamily="34" charset="-122"/>
                <a:cs typeface="Calibri" pitchFamily="34" charset="-120"/>
              </a:rPr>
              <a:t>What you actually need underneath, and why the JVM is a great place to put it.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ANATOMY</a:t>
            </a:r>
            <a:endParaRPr lang="en-US" sz="1100" dirty="0"/>
          </a:p>
        </p:txBody>
      </p:sp>
      <p:sp>
        <p:nvSpPr>
          <p:cNvPr id="3" name="Text 1"/>
          <p:cNvSpPr/>
          <p:nvPr/>
        </p:nvSpPr>
        <p:spPr>
          <a:xfrm>
            <a:off x="841248" y="1051560"/>
            <a:ext cx="10058400" cy="914400"/>
          </a:xfrm>
          <a:prstGeom prst="rect">
            <a:avLst/>
          </a:prstGeom>
          <a:noFill/>
          <a:ln/>
        </p:spPr>
        <p:txBody>
          <a:bodyPr wrap="square" rtlCol="0" anchor="ctr"/>
          <a:lstStyle/>
          <a:p>
            <a:pPr indent="0" marL="0">
              <a:buNone/>
            </a:pPr>
            <a:r>
              <a:rPr lang="en-US" sz="3400" dirty="0">
                <a:solidFill>
                  <a:srgbClr val="ECE7DE"/>
                </a:solidFill>
                <a:latin typeface="Cambria" pitchFamily="34" charset="0"/>
                <a:ea typeface="Cambria" pitchFamily="34" charset="-122"/>
                <a:cs typeface="Cambria" pitchFamily="34" charset="-120"/>
              </a:rPr>
              <a:t>Five layers under every </a:t>
            </a:r>
            <a:pPr indent="0" marL="0">
              <a:buNone/>
            </a:pPr>
            <a:r>
              <a:rPr lang="en-US" sz="3400" i="1" dirty="0">
                <a:solidFill>
                  <a:srgbClr val="F5A524"/>
                </a:solidFill>
                <a:latin typeface="Cambria" pitchFamily="34" charset="0"/>
                <a:ea typeface="Cambria" pitchFamily="34" charset="-122"/>
                <a:cs typeface="Cambria" pitchFamily="34" charset="-120"/>
              </a:rPr>
              <a:t>agent.</a:t>
            </a:r>
            <a:endParaRPr lang="en-US" sz="3400" dirty="0"/>
          </a:p>
        </p:txBody>
      </p:sp>
      <p:pic>
        <p:nvPicPr>
          <p:cNvPr id="4" name="Image 0" descr="preencoded.png">    </p:cNvPr>
          <p:cNvPicPr>
            <a:picLocks noChangeAspect="1"/>
          </p:cNvPicPr>
          <p:nvPr/>
        </p:nvPicPr>
        <p:blipFill>
          <a:blip r:embed="rId1"/>
          <a:stretch>
            <a:fillRect/>
          </a:stretch>
        </p:blipFill>
        <p:spPr>
          <a:xfrm>
            <a:off x="841248" y="2304288"/>
            <a:ext cx="310896" cy="310896"/>
          </a:xfrm>
          <a:prstGeom prst="rect">
            <a:avLst/>
          </a:prstGeom>
        </p:spPr>
      </p:pic>
      <p:sp>
        <p:nvSpPr>
          <p:cNvPr id="5" name="Text 2"/>
          <p:cNvSpPr/>
          <p:nvPr/>
        </p:nvSpPr>
        <p:spPr>
          <a:xfrm>
            <a:off x="1344168" y="2286000"/>
            <a:ext cx="2286000" cy="36576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runtime</a:t>
            </a:r>
            <a:endParaRPr lang="en-US" sz="1200" dirty="0"/>
          </a:p>
        </p:txBody>
      </p:sp>
      <p:sp>
        <p:nvSpPr>
          <p:cNvPr id="6" name="Text 3"/>
          <p:cNvSpPr/>
          <p:nvPr/>
        </p:nvSpPr>
        <p:spPr>
          <a:xfrm>
            <a:off x="3931920" y="2286000"/>
            <a:ext cx="7315200" cy="365760"/>
          </a:xfrm>
          <a:prstGeom prst="rect">
            <a:avLst/>
          </a:prstGeom>
          <a:noFill/>
          <a:ln/>
        </p:spPr>
        <p:txBody>
          <a:bodyPr wrap="square" rtlCol="0" anchor="ctr"/>
          <a:lstStyle/>
          <a:p>
            <a:pPr indent="0" marL="0">
              <a:buNone/>
            </a:pPr>
            <a:r>
              <a:rPr lang="en-US" sz="1650" b="1" dirty="0">
                <a:solidFill>
                  <a:srgbClr val="ECE7DE"/>
                </a:solidFill>
                <a:latin typeface="Calibri" pitchFamily="34" charset="0"/>
                <a:ea typeface="Calibri" pitchFamily="34" charset="-122"/>
                <a:cs typeface="Calibri" pitchFamily="34" charset="-120"/>
              </a:rPr>
              <a:t>The model host. </a:t>
            </a:r>
            <a:pPr indent="0" marL="0">
              <a:buNone/>
            </a:pPr>
            <a:r>
              <a:rPr lang="en-US" sz="1650" dirty="0">
                <a:solidFill>
                  <a:srgbClr val="9297A8"/>
                </a:solidFill>
                <a:latin typeface="Calibri" pitchFamily="34" charset="0"/>
                <a:ea typeface="Calibri" pitchFamily="34" charset="-122"/>
                <a:cs typeface="Calibri" pitchFamily="34" charset="-120"/>
              </a:rPr>
              <a:t>Ollama, running Qwen on your machine.</a:t>
            </a:r>
            <a:endParaRPr lang="en-US" sz="1650" dirty="0"/>
          </a:p>
        </p:txBody>
      </p:sp>
      <p:pic>
        <p:nvPicPr>
          <p:cNvPr id="7" name="Image 1" descr="preencoded.png">    </p:cNvPr>
          <p:cNvPicPr>
            <a:picLocks noChangeAspect="1"/>
          </p:cNvPicPr>
          <p:nvPr/>
        </p:nvPicPr>
        <p:blipFill>
          <a:blip r:embed="rId2"/>
          <a:stretch>
            <a:fillRect/>
          </a:stretch>
        </p:blipFill>
        <p:spPr>
          <a:xfrm>
            <a:off x="841248" y="3090672"/>
            <a:ext cx="310896" cy="310896"/>
          </a:xfrm>
          <a:prstGeom prst="rect">
            <a:avLst/>
          </a:prstGeom>
        </p:spPr>
      </p:pic>
      <p:sp>
        <p:nvSpPr>
          <p:cNvPr id="8" name="Text 4"/>
          <p:cNvSpPr/>
          <p:nvPr/>
        </p:nvSpPr>
        <p:spPr>
          <a:xfrm>
            <a:off x="1344168" y="3072384"/>
            <a:ext cx="2286000" cy="36576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orchestration</a:t>
            </a:r>
            <a:endParaRPr lang="en-US" sz="1200" dirty="0"/>
          </a:p>
        </p:txBody>
      </p:sp>
      <p:sp>
        <p:nvSpPr>
          <p:cNvPr id="9" name="Text 5"/>
          <p:cNvSpPr/>
          <p:nvPr/>
        </p:nvSpPr>
        <p:spPr>
          <a:xfrm>
            <a:off x="3931920" y="3072384"/>
            <a:ext cx="7315200" cy="365760"/>
          </a:xfrm>
          <a:prstGeom prst="rect">
            <a:avLst/>
          </a:prstGeom>
          <a:noFill/>
          <a:ln/>
        </p:spPr>
        <p:txBody>
          <a:bodyPr wrap="square" rtlCol="0" anchor="ctr"/>
          <a:lstStyle/>
          <a:p>
            <a:pPr indent="0" marL="0">
              <a:buNone/>
            </a:pPr>
            <a:r>
              <a:rPr lang="en-US" sz="1650" b="1" dirty="0">
                <a:solidFill>
                  <a:srgbClr val="ECE7DE"/>
                </a:solidFill>
                <a:latin typeface="Calibri" pitchFamily="34" charset="0"/>
                <a:ea typeface="Calibri" pitchFamily="34" charset="-122"/>
                <a:cs typeface="Calibri" pitchFamily="34" charset="-120"/>
              </a:rPr>
              <a:t>The loop and wiring. </a:t>
            </a:r>
            <a:pPr indent="0" marL="0">
              <a:buNone/>
            </a:pPr>
            <a:r>
              <a:rPr lang="en-US" sz="1650" dirty="0">
                <a:solidFill>
                  <a:srgbClr val="9297A8"/>
                </a:solidFill>
                <a:latin typeface="Calibri" pitchFamily="34" charset="0"/>
                <a:ea typeface="Calibri" pitchFamily="34" charset="-122"/>
                <a:cs typeface="Calibri" pitchFamily="34" charset="-120"/>
              </a:rPr>
              <a:t>LangChain4j or Spring AI.</a:t>
            </a:r>
            <a:endParaRPr lang="en-US" sz="1650" dirty="0"/>
          </a:p>
        </p:txBody>
      </p:sp>
      <p:pic>
        <p:nvPicPr>
          <p:cNvPr id="10" name="Image 2" descr="preencoded.png">    </p:cNvPr>
          <p:cNvPicPr>
            <a:picLocks noChangeAspect="1"/>
          </p:cNvPicPr>
          <p:nvPr/>
        </p:nvPicPr>
        <p:blipFill>
          <a:blip r:embed="rId3"/>
          <a:stretch>
            <a:fillRect/>
          </a:stretch>
        </p:blipFill>
        <p:spPr>
          <a:xfrm>
            <a:off x="841248" y="3877056"/>
            <a:ext cx="310896" cy="310896"/>
          </a:xfrm>
          <a:prstGeom prst="rect">
            <a:avLst/>
          </a:prstGeom>
        </p:spPr>
      </p:pic>
      <p:sp>
        <p:nvSpPr>
          <p:cNvPr id="11" name="Text 6"/>
          <p:cNvSpPr/>
          <p:nvPr/>
        </p:nvSpPr>
        <p:spPr>
          <a:xfrm>
            <a:off x="1344168" y="3858768"/>
            <a:ext cx="2286000" cy="36576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tools</a:t>
            </a:r>
            <a:endParaRPr lang="en-US" sz="1200" dirty="0"/>
          </a:p>
        </p:txBody>
      </p:sp>
      <p:sp>
        <p:nvSpPr>
          <p:cNvPr id="12" name="Text 7"/>
          <p:cNvSpPr/>
          <p:nvPr/>
        </p:nvSpPr>
        <p:spPr>
          <a:xfrm>
            <a:off x="3931920" y="3858768"/>
            <a:ext cx="7315200" cy="365760"/>
          </a:xfrm>
          <a:prstGeom prst="rect">
            <a:avLst/>
          </a:prstGeom>
          <a:noFill/>
          <a:ln/>
        </p:spPr>
        <p:txBody>
          <a:bodyPr wrap="square" rtlCol="0" anchor="ctr"/>
          <a:lstStyle/>
          <a:p>
            <a:pPr indent="0" marL="0">
              <a:buNone/>
            </a:pPr>
            <a:r>
              <a:rPr lang="en-US" sz="1650" b="1" dirty="0">
                <a:solidFill>
                  <a:srgbClr val="ECE7DE"/>
                </a:solidFill>
                <a:latin typeface="Calibri" pitchFamily="34" charset="0"/>
                <a:ea typeface="Calibri" pitchFamily="34" charset="-122"/>
                <a:cs typeface="Calibri" pitchFamily="34" charset="-120"/>
              </a:rPr>
              <a:t>The hands. </a:t>
            </a:r>
            <a:pPr indent="0" marL="0">
              <a:buNone/>
            </a:pPr>
            <a:r>
              <a:rPr lang="en-US" sz="1650" dirty="0">
                <a:solidFill>
                  <a:srgbClr val="9297A8"/>
                </a:solidFill>
                <a:latin typeface="Calibri" pitchFamily="34" charset="0"/>
                <a:ea typeface="Calibri" pitchFamily="34" charset="-122"/>
                <a:cs typeface="Calibri" pitchFamily="34" charset="-120"/>
              </a:rPr>
              <a:t>Java methods the model may call.</a:t>
            </a:r>
            <a:endParaRPr lang="en-US" sz="1650" dirty="0"/>
          </a:p>
        </p:txBody>
      </p:sp>
      <p:pic>
        <p:nvPicPr>
          <p:cNvPr id="13" name="Image 3" descr="preencoded.png">    </p:cNvPr>
          <p:cNvPicPr>
            <a:picLocks noChangeAspect="1"/>
          </p:cNvPicPr>
          <p:nvPr/>
        </p:nvPicPr>
        <p:blipFill>
          <a:blip r:embed="rId4"/>
          <a:stretch>
            <a:fillRect/>
          </a:stretch>
        </p:blipFill>
        <p:spPr>
          <a:xfrm>
            <a:off x="841248" y="4663440"/>
            <a:ext cx="310896" cy="310896"/>
          </a:xfrm>
          <a:prstGeom prst="rect">
            <a:avLst/>
          </a:prstGeom>
        </p:spPr>
      </p:pic>
      <p:sp>
        <p:nvSpPr>
          <p:cNvPr id="14" name="Text 8"/>
          <p:cNvSpPr/>
          <p:nvPr/>
        </p:nvSpPr>
        <p:spPr>
          <a:xfrm>
            <a:off x="1344168" y="4645152"/>
            <a:ext cx="2286000" cy="36576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memory</a:t>
            </a:r>
            <a:endParaRPr lang="en-US" sz="1200" dirty="0"/>
          </a:p>
        </p:txBody>
      </p:sp>
      <p:sp>
        <p:nvSpPr>
          <p:cNvPr id="15" name="Text 9"/>
          <p:cNvSpPr/>
          <p:nvPr/>
        </p:nvSpPr>
        <p:spPr>
          <a:xfrm>
            <a:off x="3931920" y="4645152"/>
            <a:ext cx="7315200" cy="365760"/>
          </a:xfrm>
          <a:prstGeom prst="rect">
            <a:avLst/>
          </a:prstGeom>
          <a:noFill/>
          <a:ln/>
        </p:spPr>
        <p:txBody>
          <a:bodyPr wrap="square" rtlCol="0" anchor="ctr"/>
          <a:lstStyle/>
          <a:p>
            <a:pPr indent="0" marL="0">
              <a:buNone/>
            </a:pPr>
            <a:r>
              <a:rPr lang="en-US" sz="1650" b="1" dirty="0">
                <a:solidFill>
                  <a:srgbClr val="ECE7DE"/>
                </a:solidFill>
                <a:latin typeface="Calibri" pitchFamily="34" charset="0"/>
                <a:ea typeface="Calibri" pitchFamily="34" charset="-122"/>
                <a:cs typeface="Calibri" pitchFamily="34" charset="-120"/>
              </a:rPr>
              <a:t>The notebook. </a:t>
            </a:r>
            <a:pPr indent="0" marL="0">
              <a:buNone/>
            </a:pPr>
            <a:r>
              <a:rPr lang="en-US" sz="1650" dirty="0">
                <a:solidFill>
                  <a:srgbClr val="9297A8"/>
                </a:solidFill>
                <a:latin typeface="Calibri" pitchFamily="34" charset="0"/>
                <a:ea typeface="Calibri" pitchFamily="34" charset="-122"/>
                <a:cs typeface="Calibri" pitchFamily="34" charset="-120"/>
              </a:rPr>
              <a:t>What it carries between turns.</a:t>
            </a:r>
            <a:endParaRPr lang="en-US" sz="1650" dirty="0"/>
          </a:p>
        </p:txBody>
      </p:sp>
      <p:pic>
        <p:nvPicPr>
          <p:cNvPr id="16" name="Image 4" descr="preencoded.png">    </p:cNvPr>
          <p:cNvPicPr>
            <a:picLocks noChangeAspect="1"/>
          </p:cNvPicPr>
          <p:nvPr/>
        </p:nvPicPr>
        <p:blipFill>
          <a:blip r:embed="rId5"/>
          <a:stretch>
            <a:fillRect/>
          </a:stretch>
        </p:blipFill>
        <p:spPr>
          <a:xfrm>
            <a:off x="841248" y="5449824"/>
            <a:ext cx="310896" cy="310896"/>
          </a:xfrm>
          <a:prstGeom prst="rect">
            <a:avLst/>
          </a:prstGeom>
        </p:spPr>
      </p:pic>
      <p:sp>
        <p:nvSpPr>
          <p:cNvPr id="17" name="Text 10"/>
          <p:cNvSpPr/>
          <p:nvPr/>
        </p:nvSpPr>
        <p:spPr>
          <a:xfrm>
            <a:off x="1344168" y="5431536"/>
            <a:ext cx="2286000" cy="365760"/>
          </a:xfrm>
          <a:prstGeom prst="rect">
            <a:avLst/>
          </a:prstGeom>
          <a:noFill/>
          <a:ln/>
        </p:spPr>
        <p:txBody>
          <a:bodyPr wrap="square" rtlCol="0" anchor="ctr"/>
          <a:lstStyle/>
          <a:p>
            <a:pPr indent="0" marL="0">
              <a:buNone/>
            </a:pPr>
            <a:r>
              <a:rPr lang="en-US" sz="1200" spc="200" kern="0" dirty="0">
                <a:solidFill>
                  <a:srgbClr val="9297A8"/>
                </a:solidFill>
                <a:latin typeface="Consolas" pitchFamily="34" charset="0"/>
                <a:ea typeface="Consolas" pitchFamily="34" charset="-122"/>
                <a:cs typeface="Consolas" pitchFamily="34" charset="-120"/>
              </a:rPr>
              <a:t>structure</a:t>
            </a:r>
            <a:endParaRPr lang="en-US" sz="1200" dirty="0"/>
          </a:p>
        </p:txBody>
      </p:sp>
      <p:sp>
        <p:nvSpPr>
          <p:cNvPr id="18" name="Text 11"/>
          <p:cNvSpPr/>
          <p:nvPr/>
        </p:nvSpPr>
        <p:spPr>
          <a:xfrm>
            <a:off x="3931920" y="5431536"/>
            <a:ext cx="7315200" cy="365760"/>
          </a:xfrm>
          <a:prstGeom prst="rect">
            <a:avLst/>
          </a:prstGeom>
          <a:noFill/>
          <a:ln/>
        </p:spPr>
        <p:txBody>
          <a:bodyPr wrap="square" rtlCol="0" anchor="ctr"/>
          <a:lstStyle/>
          <a:p>
            <a:pPr indent="0" marL="0">
              <a:buNone/>
            </a:pPr>
            <a:r>
              <a:rPr lang="en-US" sz="1650" b="1" dirty="0">
                <a:solidFill>
                  <a:srgbClr val="ECE7DE"/>
                </a:solidFill>
                <a:latin typeface="Calibri" pitchFamily="34" charset="0"/>
                <a:ea typeface="Calibri" pitchFamily="34" charset="-122"/>
                <a:cs typeface="Calibri" pitchFamily="34" charset="-120"/>
              </a:rPr>
              <a:t>Typed output. </a:t>
            </a:r>
            <a:pPr indent="0" marL="0">
              <a:buNone/>
            </a:pPr>
            <a:r>
              <a:rPr lang="en-US" sz="1650" dirty="0">
                <a:solidFill>
                  <a:srgbClr val="9297A8"/>
                </a:solidFill>
                <a:latin typeface="Calibri" pitchFamily="34" charset="0"/>
                <a:ea typeface="Calibri" pitchFamily="34" charset="-122"/>
                <a:cs typeface="Calibri" pitchFamily="34" charset="-120"/>
              </a:rPr>
              <a:t>Answers as objects, not prose.</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OBVIOUS QUESTION</a:t>
            </a:r>
            <a:endParaRPr lang="en-US" sz="1100" dirty="0"/>
          </a:p>
        </p:txBody>
      </p:sp>
      <p:sp>
        <p:nvSpPr>
          <p:cNvPr id="3" name="Text 1"/>
          <p:cNvSpPr/>
          <p:nvPr/>
        </p:nvSpPr>
        <p:spPr>
          <a:xfrm>
            <a:off x="841248" y="1371600"/>
            <a:ext cx="5486400" cy="1097280"/>
          </a:xfrm>
          <a:prstGeom prst="rect">
            <a:avLst/>
          </a:prstGeom>
          <a:noFill/>
          <a:ln/>
        </p:spPr>
        <p:txBody>
          <a:bodyPr wrap="square" rtlCol="0" anchor="ctr"/>
          <a:lstStyle/>
          <a:p>
            <a:pPr indent="0" marL="0">
              <a:buNone/>
            </a:pPr>
            <a:r>
              <a:rPr lang="en-US" sz="4400" dirty="0">
                <a:solidFill>
                  <a:srgbClr val="ECE7DE"/>
                </a:solidFill>
                <a:latin typeface="Cambria" pitchFamily="34" charset="0"/>
                <a:ea typeface="Cambria" pitchFamily="34" charset="-122"/>
                <a:cs typeface="Cambria" pitchFamily="34" charset="-120"/>
              </a:rPr>
              <a:t>Why </a:t>
            </a:r>
            <a:pPr indent="0" marL="0">
              <a:buNone/>
            </a:pPr>
            <a:r>
              <a:rPr lang="en-US" sz="4400" i="1" dirty="0">
                <a:solidFill>
                  <a:srgbClr val="F5A524"/>
                </a:solidFill>
                <a:latin typeface="Cambria" pitchFamily="34" charset="0"/>
                <a:ea typeface="Cambria" pitchFamily="34" charset="-122"/>
                <a:cs typeface="Cambria" pitchFamily="34" charset="-120"/>
              </a:rPr>
              <a:t>Java?</a:t>
            </a:r>
            <a:endParaRPr lang="en-US" sz="4400" dirty="0"/>
          </a:p>
        </p:txBody>
      </p:sp>
      <p:sp>
        <p:nvSpPr>
          <p:cNvPr id="4" name="Text 2"/>
          <p:cNvSpPr/>
          <p:nvPr/>
        </p:nvSpPr>
        <p:spPr>
          <a:xfrm>
            <a:off x="841248" y="2651760"/>
            <a:ext cx="5212080" cy="1828800"/>
          </a:xfrm>
          <a:prstGeom prst="rect">
            <a:avLst/>
          </a:prstGeom>
          <a:noFill/>
          <a:ln/>
        </p:spPr>
        <p:txBody>
          <a:bodyPr wrap="square" rtlCol="0" anchor="ctr"/>
          <a:lstStyle/>
          <a:p>
            <a:pPr indent="0" marL="0">
              <a:lnSpc>
                <a:spcPts val="2700"/>
              </a:lnSpc>
              <a:buNone/>
            </a:pPr>
            <a:r>
              <a:rPr lang="en-US" sz="1700" dirty="0">
                <a:solidFill>
                  <a:srgbClr val="9297A8"/>
                </a:solidFill>
                <a:latin typeface="Calibri" pitchFamily="34" charset="0"/>
                <a:ea typeface="Calibri" pitchFamily="34" charset="-122"/>
                <a:cs typeface="Calibri" pitchFamily="34" charset="-120"/>
              </a:rPr>
              <a:t>Because the systems your clients trust with real money already run on the JVM. The agent should live </a:t>
            </a:r>
            <a:pPr indent="0" marL="0">
              <a:lnSpc>
                <a:spcPts val="2700"/>
              </a:lnSpc>
              <a:buNone/>
            </a:pPr>
            <a:r>
              <a:rPr lang="en-US" sz="1700" b="1" dirty="0">
                <a:solidFill>
                  <a:srgbClr val="ECE7DE"/>
                </a:solidFill>
                <a:latin typeface="Calibri" pitchFamily="34" charset="0"/>
                <a:ea typeface="Calibri" pitchFamily="34" charset="-122"/>
                <a:cs typeface="Calibri" pitchFamily="34" charset="-120"/>
              </a:rPr>
              <a:t>next to the business</a:t>
            </a:r>
            <a:pPr indent="0" marL="0">
              <a:lnSpc>
                <a:spcPts val="2700"/>
              </a:lnSpc>
              <a:buNone/>
            </a:pPr>
            <a:r>
              <a:rPr lang="en-US" sz="1700" dirty="0">
                <a:solidFill>
                  <a:srgbClr val="9297A8"/>
                </a:solidFill>
                <a:latin typeface="Calibri" pitchFamily="34" charset="0"/>
                <a:ea typeface="Calibri" pitchFamily="34" charset="-122"/>
                <a:cs typeface="Calibri" pitchFamily="34" charset="-120"/>
              </a:rPr>
              <a:t>, not in a Python service bolted on the side.</a:t>
            </a:r>
            <a:endParaRPr lang="en-US" sz="1700" dirty="0"/>
          </a:p>
        </p:txBody>
      </p:sp>
      <p:sp>
        <p:nvSpPr>
          <p:cNvPr id="5" name="Text 3"/>
          <p:cNvSpPr/>
          <p:nvPr/>
        </p:nvSpPr>
        <p:spPr>
          <a:xfrm>
            <a:off x="841248" y="4754880"/>
            <a:ext cx="5212080" cy="731520"/>
          </a:xfrm>
          <a:prstGeom prst="rect">
            <a:avLst/>
          </a:prstGeom>
          <a:noFill/>
          <a:ln/>
        </p:spPr>
        <p:txBody>
          <a:bodyPr wrap="square" rtlCol="0" anchor="ctr"/>
          <a:lstStyle/>
          <a:p>
            <a:pPr indent="0" marL="0">
              <a:lnSpc>
                <a:spcPts val="2000"/>
              </a:lnSpc>
              <a:buNone/>
            </a:pPr>
            <a:r>
              <a:rPr lang="en-US" sz="1200" dirty="0">
                <a:solidFill>
                  <a:srgbClr val="5A6072"/>
                </a:solidFill>
                <a:latin typeface="Consolas" pitchFamily="34" charset="0"/>
                <a:ea typeface="Consolas" pitchFamily="34" charset="-122"/>
                <a:cs typeface="Consolas" pitchFamily="34" charset="-120"/>
              </a:rPr>
              <a:t>Behind Spring Security. Inside your transactions. Beside your data.</a:t>
            </a:r>
            <a:endParaRPr lang="en-US" sz="1200" dirty="0"/>
          </a:p>
        </p:txBody>
      </p:sp>
      <p:sp>
        <p:nvSpPr>
          <p:cNvPr id="6" name="Shape 4"/>
          <p:cNvSpPr/>
          <p:nvPr/>
        </p:nvSpPr>
        <p:spPr>
          <a:xfrm>
            <a:off x="6675120" y="2011680"/>
            <a:ext cx="4663440" cy="868680"/>
          </a:xfrm>
          <a:prstGeom prst="roundRect">
            <a:avLst>
              <a:gd name="adj" fmla="val 11579"/>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7" name="Image 0" descr="preencoded.png">    </p:cNvPr>
          <p:cNvPicPr>
            <a:picLocks noChangeAspect="1"/>
          </p:cNvPicPr>
          <p:nvPr/>
        </p:nvPicPr>
        <p:blipFill>
          <a:blip r:embed="rId1"/>
          <a:stretch>
            <a:fillRect/>
          </a:stretch>
        </p:blipFill>
        <p:spPr>
          <a:xfrm>
            <a:off x="6995160" y="2286000"/>
            <a:ext cx="329184" cy="329184"/>
          </a:xfrm>
          <a:prstGeom prst="rect">
            <a:avLst/>
          </a:prstGeom>
        </p:spPr>
      </p:pic>
      <p:sp>
        <p:nvSpPr>
          <p:cNvPr id="8" name="Text 5"/>
          <p:cNvSpPr/>
          <p:nvPr/>
        </p:nvSpPr>
        <p:spPr>
          <a:xfrm>
            <a:off x="7543800" y="2139696"/>
            <a:ext cx="3566160" cy="320040"/>
          </a:xfrm>
          <a:prstGeom prst="rect">
            <a:avLst/>
          </a:prstGeom>
          <a:noFill/>
          <a:ln/>
        </p:spPr>
        <p:txBody>
          <a:bodyPr wrap="square" rtlCol="0" anchor="ctr"/>
          <a:lstStyle/>
          <a:p>
            <a:pPr indent="0" marL="0">
              <a:buNone/>
            </a:pPr>
            <a:r>
              <a:rPr lang="en-US" sz="1200" spc="100" kern="0" dirty="0">
                <a:solidFill>
                  <a:srgbClr val="F5A524"/>
                </a:solidFill>
                <a:latin typeface="Consolas" pitchFamily="34" charset="0"/>
                <a:ea typeface="Consolas" pitchFamily="34" charset="-122"/>
                <a:cs typeface="Consolas" pitchFamily="34" charset="-120"/>
              </a:rPr>
              <a:t>LangChain4j</a:t>
            </a:r>
            <a:endParaRPr lang="en-US" sz="1200" dirty="0"/>
          </a:p>
        </p:txBody>
      </p:sp>
      <p:sp>
        <p:nvSpPr>
          <p:cNvPr id="9" name="Text 6"/>
          <p:cNvSpPr/>
          <p:nvPr/>
        </p:nvSpPr>
        <p:spPr>
          <a:xfrm>
            <a:off x="7543800" y="2432304"/>
            <a:ext cx="3611880" cy="365760"/>
          </a:xfrm>
          <a:prstGeom prst="rect">
            <a:avLst/>
          </a:prstGeom>
          <a:noFill/>
          <a:ln/>
        </p:spPr>
        <p:txBody>
          <a:bodyPr wrap="square" rtlCol="0" anchor="ctr"/>
          <a:lstStyle/>
          <a:p>
            <a:pPr indent="0" marL="0">
              <a:buNone/>
            </a:pPr>
            <a:r>
              <a:rPr lang="en-US" sz="1350" dirty="0">
                <a:solidFill>
                  <a:srgbClr val="9297A8"/>
                </a:solidFill>
                <a:latin typeface="Calibri" pitchFamily="34" charset="0"/>
                <a:ea typeface="Calibri" pitchFamily="34" charset="-122"/>
                <a:cs typeface="Calibri" pitchFamily="34" charset="-120"/>
              </a:rPr>
              <a:t>agents, tools and AI Services, the idiomatic way</a:t>
            </a:r>
            <a:endParaRPr lang="en-US" sz="1350" dirty="0"/>
          </a:p>
        </p:txBody>
      </p:sp>
      <p:sp>
        <p:nvSpPr>
          <p:cNvPr id="10" name="Shape 7"/>
          <p:cNvSpPr/>
          <p:nvPr/>
        </p:nvSpPr>
        <p:spPr>
          <a:xfrm>
            <a:off x="6675120" y="3063240"/>
            <a:ext cx="4663440" cy="868680"/>
          </a:xfrm>
          <a:prstGeom prst="roundRect">
            <a:avLst>
              <a:gd name="adj" fmla="val 11579"/>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1" name="Image 1" descr="preencoded.png">    </p:cNvPr>
          <p:cNvPicPr>
            <a:picLocks noChangeAspect="1"/>
          </p:cNvPicPr>
          <p:nvPr/>
        </p:nvPicPr>
        <p:blipFill>
          <a:blip r:embed="rId2"/>
          <a:stretch>
            <a:fillRect/>
          </a:stretch>
        </p:blipFill>
        <p:spPr>
          <a:xfrm>
            <a:off x="6995160" y="3337560"/>
            <a:ext cx="329184" cy="329184"/>
          </a:xfrm>
          <a:prstGeom prst="rect">
            <a:avLst/>
          </a:prstGeom>
        </p:spPr>
      </p:pic>
      <p:sp>
        <p:nvSpPr>
          <p:cNvPr id="12" name="Text 8"/>
          <p:cNvSpPr/>
          <p:nvPr/>
        </p:nvSpPr>
        <p:spPr>
          <a:xfrm>
            <a:off x="7543800" y="3191256"/>
            <a:ext cx="3566160" cy="320040"/>
          </a:xfrm>
          <a:prstGeom prst="rect">
            <a:avLst/>
          </a:prstGeom>
          <a:noFill/>
          <a:ln/>
        </p:spPr>
        <p:txBody>
          <a:bodyPr wrap="square" rtlCol="0" anchor="ctr"/>
          <a:lstStyle/>
          <a:p>
            <a:pPr indent="0" marL="0">
              <a:buNone/>
            </a:pPr>
            <a:r>
              <a:rPr lang="en-US" sz="1200" spc="100" kern="0" dirty="0">
                <a:solidFill>
                  <a:srgbClr val="F5A524"/>
                </a:solidFill>
                <a:latin typeface="Consolas" pitchFamily="34" charset="0"/>
                <a:ea typeface="Consolas" pitchFamily="34" charset="-122"/>
                <a:cs typeface="Consolas" pitchFamily="34" charset="-120"/>
              </a:rPr>
              <a:t>Spring AI</a:t>
            </a:r>
            <a:endParaRPr lang="en-US" sz="1200" dirty="0"/>
          </a:p>
        </p:txBody>
      </p:sp>
      <p:sp>
        <p:nvSpPr>
          <p:cNvPr id="13" name="Text 9"/>
          <p:cNvSpPr/>
          <p:nvPr/>
        </p:nvSpPr>
        <p:spPr>
          <a:xfrm>
            <a:off x="7543800" y="3483864"/>
            <a:ext cx="3611880" cy="365760"/>
          </a:xfrm>
          <a:prstGeom prst="rect">
            <a:avLst/>
          </a:prstGeom>
          <a:noFill/>
          <a:ln/>
        </p:spPr>
        <p:txBody>
          <a:bodyPr wrap="square" rtlCol="0" anchor="ctr"/>
          <a:lstStyle/>
          <a:p>
            <a:pPr indent="0" marL="0">
              <a:buNone/>
            </a:pPr>
            <a:r>
              <a:rPr lang="en-US" sz="1350" dirty="0">
                <a:solidFill>
                  <a:srgbClr val="9297A8"/>
                </a:solidFill>
                <a:latin typeface="Calibri" pitchFamily="34" charset="0"/>
                <a:ea typeface="Calibri" pitchFamily="34" charset="-122"/>
                <a:cs typeface="Calibri" pitchFamily="34" charset="-120"/>
              </a:rPr>
              <a:t>the same, wired into Spring Boot</a:t>
            </a:r>
            <a:endParaRPr lang="en-US" sz="1350" dirty="0"/>
          </a:p>
        </p:txBody>
      </p:sp>
      <p:sp>
        <p:nvSpPr>
          <p:cNvPr id="14" name="Shape 10"/>
          <p:cNvSpPr/>
          <p:nvPr/>
        </p:nvSpPr>
        <p:spPr>
          <a:xfrm>
            <a:off x="6675120" y="4114800"/>
            <a:ext cx="4663440" cy="868680"/>
          </a:xfrm>
          <a:prstGeom prst="roundRect">
            <a:avLst>
              <a:gd name="adj" fmla="val 11579"/>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5" name="Image 2" descr="preencoded.png">    </p:cNvPr>
          <p:cNvPicPr>
            <a:picLocks noChangeAspect="1"/>
          </p:cNvPicPr>
          <p:nvPr/>
        </p:nvPicPr>
        <p:blipFill>
          <a:blip r:embed="rId3"/>
          <a:stretch>
            <a:fillRect/>
          </a:stretch>
        </p:blipFill>
        <p:spPr>
          <a:xfrm>
            <a:off x="6995160" y="4389120"/>
            <a:ext cx="329184" cy="329184"/>
          </a:xfrm>
          <a:prstGeom prst="rect">
            <a:avLst/>
          </a:prstGeom>
        </p:spPr>
      </p:pic>
      <p:sp>
        <p:nvSpPr>
          <p:cNvPr id="16" name="Text 11"/>
          <p:cNvSpPr/>
          <p:nvPr/>
        </p:nvSpPr>
        <p:spPr>
          <a:xfrm>
            <a:off x="7543800" y="4242816"/>
            <a:ext cx="3566160" cy="320040"/>
          </a:xfrm>
          <a:prstGeom prst="rect">
            <a:avLst/>
          </a:prstGeom>
          <a:noFill/>
          <a:ln/>
        </p:spPr>
        <p:txBody>
          <a:bodyPr wrap="square" rtlCol="0" anchor="ctr"/>
          <a:lstStyle/>
          <a:p>
            <a:pPr indent="0" marL="0">
              <a:buNone/>
            </a:pPr>
            <a:r>
              <a:rPr lang="en-US" sz="1200" spc="100" kern="0" dirty="0">
                <a:solidFill>
                  <a:srgbClr val="2DD4BF"/>
                </a:solidFill>
                <a:latin typeface="Consolas" pitchFamily="34" charset="0"/>
                <a:ea typeface="Consolas" pitchFamily="34" charset="-122"/>
                <a:cs typeface="Consolas" pitchFamily="34" charset="-120"/>
              </a:rPr>
              <a:t>the point</a:t>
            </a:r>
            <a:endParaRPr lang="en-US" sz="1200" dirty="0"/>
          </a:p>
        </p:txBody>
      </p:sp>
      <p:sp>
        <p:nvSpPr>
          <p:cNvPr id="17" name="Text 12"/>
          <p:cNvSpPr/>
          <p:nvPr/>
        </p:nvSpPr>
        <p:spPr>
          <a:xfrm>
            <a:off x="7543800" y="4535424"/>
            <a:ext cx="3611880" cy="365760"/>
          </a:xfrm>
          <a:prstGeom prst="rect">
            <a:avLst/>
          </a:prstGeom>
          <a:noFill/>
          <a:ln/>
        </p:spPr>
        <p:txBody>
          <a:bodyPr wrap="square" rtlCol="0" anchor="ctr"/>
          <a:lstStyle/>
          <a:p>
            <a:pPr indent="0" marL="0">
              <a:buNone/>
            </a:pPr>
            <a:r>
              <a:rPr lang="en-US" sz="1350" dirty="0">
                <a:solidFill>
                  <a:srgbClr val="9297A8"/>
                </a:solidFill>
                <a:latin typeface="Calibri" pitchFamily="34" charset="0"/>
                <a:ea typeface="Calibri" pitchFamily="34" charset="-122"/>
                <a:cs typeface="Calibri" pitchFamily="34" charset="-120"/>
              </a:rPr>
              <a:t>type-safe, testable, production-grade agents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MODEL, TONIGHT</a:t>
            </a:r>
            <a:endParaRPr lang="en-US" sz="1100" dirty="0"/>
          </a:p>
        </p:txBody>
      </p:sp>
      <p:sp>
        <p:nvSpPr>
          <p:cNvPr id="3" name="Text 1"/>
          <p:cNvSpPr/>
          <p:nvPr/>
        </p:nvSpPr>
        <p:spPr>
          <a:xfrm>
            <a:off x="841248" y="1463040"/>
            <a:ext cx="5486400" cy="1828800"/>
          </a:xfrm>
          <a:prstGeom prst="rect">
            <a:avLst/>
          </a:prstGeom>
          <a:noFill/>
          <a:ln/>
        </p:spPr>
        <p:txBody>
          <a:bodyPr wrap="square" rtlCol="0" anchor="ctr"/>
          <a:lstStyle/>
          <a:p>
            <a:pPr indent="0" marL="0">
              <a:lnSpc>
                <a:spcPts val="4400"/>
              </a:lnSpc>
              <a:buNone/>
            </a:pPr>
            <a:r>
              <a:rPr lang="en-US" sz="3800" i="1" dirty="0">
                <a:solidFill>
                  <a:srgbClr val="F5A524"/>
                </a:solidFill>
                <a:latin typeface="Cambria" pitchFamily="34" charset="0"/>
                <a:ea typeface="Cambria" pitchFamily="34" charset="-122"/>
                <a:cs typeface="Cambria" pitchFamily="34" charset="-120"/>
              </a:rPr>
              <a:t>Qwen.</a:t>
            </a:r>
            <a:pPr indent="0" marL="0">
              <a:lnSpc>
                <a:spcPts val="4400"/>
              </a:lnSpc>
              <a:buNone/>
            </a:pPr>
            <a:r>
              <a:rPr lang="en-US" sz="3800" dirty="0">
                <a:solidFill>
                  <a:srgbClr val="ECE7DE"/>
                </a:solidFill>
                <a:latin typeface="Cambria" pitchFamily="34" charset="0"/>
                <a:ea typeface="Cambria" pitchFamily="34" charset="-122"/>
                <a:cs typeface="Cambria" pitchFamily="34" charset="-120"/>
              </a:rPr>
              <a:t> Local. Free.</a:t>
            </a:r>
            <a:endParaRPr lang="en-US" sz="3800" dirty="0"/>
          </a:p>
          <a:p>
            <a:pPr indent="0" marL="0">
              <a:lnSpc>
                <a:spcPts val="4400"/>
              </a:lnSpc>
              <a:buNone/>
            </a:pPr>
            <a:r>
              <a:rPr lang="en-US" sz="3800" dirty="0">
                <a:solidFill>
                  <a:srgbClr val="ECE7DE"/>
                </a:solidFill>
                <a:latin typeface="Cambria" pitchFamily="34" charset="0"/>
                <a:ea typeface="Cambria" pitchFamily="34" charset="-122"/>
                <a:cs typeface="Cambria" pitchFamily="34" charset="-120"/>
              </a:rPr>
              <a:t>Never leaves the room.</a:t>
            </a:r>
            <a:endParaRPr lang="en-US" sz="3800" dirty="0"/>
          </a:p>
        </p:txBody>
      </p:sp>
      <p:sp>
        <p:nvSpPr>
          <p:cNvPr id="4" name="Text 2"/>
          <p:cNvSpPr/>
          <p:nvPr/>
        </p:nvSpPr>
        <p:spPr>
          <a:xfrm>
            <a:off x="841248" y="3566160"/>
            <a:ext cx="5120640" cy="1645920"/>
          </a:xfrm>
          <a:prstGeom prst="rect">
            <a:avLst/>
          </a:prstGeom>
          <a:noFill/>
          <a:ln/>
        </p:spPr>
        <p:txBody>
          <a:bodyPr wrap="square" rtlCol="0" anchor="ctr"/>
          <a:lstStyle/>
          <a:p>
            <a:pPr indent="0" marL="0">
              <a:lnSpc>
                <a:spcPts val="2700"/>
              </a:lnSpc>
              <a:buNone/>
            </a:pPr>
            <a:r>
              <a:rPr lang="en-US" sz="1700" dirty="0">
                <a:solidFill>
                  <a:srgbClr val="9297A8"/>
                </a:solidFill>
                <a:latin typeface="Calibri" pitchFamily="34" charset="0"/>
                <a:ea typeface="Calibri" pitchFamily="34" charset="-122"/>
                <a:cs typeface="Calibri" pitchFamily="34" charset="-120"/>
              </a:rPr>
              <a:t>Ollama serves the model from this laptop. No cloud call, no per-token bill, no data leaving the building. That last part is what your regulated clients care about most.</a:t>
            </a:r>
            <a:endParaRPr lang="en-US" sz="1700" dirty="0"/>
          </a:p>
        </p:txBody>
      </p:sp>
      <p:sp>
        <p:nvSpPr>
          <p:cNvPr id="5" name="Shape 3"/>
          <p:cNvSpPr/>
          <p:nvPr/>
        </p:nvSpPr>
        <p:spPr>
          <a:xfrm>
            <a:off x="7040880" y="1554480"/>
            <a:ext cx="3840480" cy="3566160"/>
          </a:xfrm>
          <a:prstGeom prst="roundRect">
            <a:avLst>
              <a:gd name="adj" fmla="val 3077"/>
            </a:avLst>
          </a:prstGeom>
          <a:solidFill>
            <a:srgbClr val="000000">
              <a:alpha val="0"/>
            </a:srgbClr>
          </a:solidFill>
          <a:ln w="15240">
            <a:solidFill>
              <a:srgbClr val="2A3040"/>
            </a:solidFill>
            <a:prstDash val="dash"/>
          </a:ln>
        </p:spPr>
      </p:sp>
      <p:sp>
        <p:nvSpPr>
          <p:cNvPr id="6" name="Text 4"/>
          <p:cNvSpPr/>
          <p:nvPr/>
        </p:nvSpPr>
        <p:spPr>
          <a:xfrm>
            <a:off x="7315200" y="1755648"/>
            <a:ext cx="2743200" cy="274320"/>
          </a:xfrm>
          <a:prstGeom prst="rect">
            <a:avLst/>
          </a:prstGeom>
          <a:noFill/>
          <a:ln/>
        </p:spPr>
        <p:txBody>
          <a:bodyPr wrap="square" rtlCol="0" anchor="ctr"/>
          <a:lstStyle/>
          <a:p>
            <a:pPr indent="0" marL="0">
              <a:buNone/>
            </a:pPr>
            <a:r>
              <a:rPr lang="en-US" sz="1000" spc="200" kern="0" dirty="0">
                <a:solidFill>
                  <a:srgbClr val="2DD4BF"/>
                </a:solidFill>
                <a:latin typeface="Consolas" pitchFamily="34" charset="0"/>
                <a:ea typeface="Consolas" pitchFamily="34" charset="-122"/>
                <a:cs typeface="Consolas" pitchFamily="34" charset="-120"/>
              </a:rPr>
              <a:t>YOUR BUILDING</a:t>
            </a:r>
            <a:endParaRPr lang="en-US" sz="1000" dirty="0"/>
          </a:p>
        </p:txBody>
      </p:sp>
      <p:sp>
        <p:nvSpPr>
          <p:cNvPr id="7" name="Shape 5"/>
          <p:cNvSpPr/>
          <p:nvPr/>
        </p:nvSpPr>
        <p:spPr>
          <a:xfrm>
            <a:off x="7726680" y="2423160"/>
            <a:ext cx="2468880" cy="1554480"/>
          </a:xfrm>
          <a:prstGeom prst="roundRect">
            <a:avLst>
              <a:gd name="adj" fmla="val 4706"/>
            </a:avLst>
          </a:prstGeom>
          <a:solidFill>
            <a:srgbClr val="0E1119"/>
          </a:solidFill>
          <a:ln w="15240">
            <a:solidFill>
              <a:srgbClr val="9297A8"/>
            </a:solidFill>
            <a:prstDash val="solid"/>
          </a:ln>
        </p:spPr>
      </p:sp>
      <p:sp>
        <p:nvSpPr>
          <p:cNvPr id="8" name="Shape 6"/>
          <p:cNvSpPr/>
          <p:nvPr/>
        </p:nvSpPr>
        <p:spPr>
          <a:xfrm rot="10800000">
            <a:off x="7452360" y="3977640"/>
            <a:ext cx="3017520" cy="256032"/>
          </a:xfrm>
          <a:prstGeom prst="trapezoid">
            <a:avLst/>
          </a:prstGeom>
          <a:solidFill>
            <a:srgbClr val="12151E"/>
          </a:solidFill>
          <a:ln w="15240">
            <a:solidFill>
              <a:srgbClr val="9297A8"/>
            </a:solidFill>
            <a:prstDash val="solid"/>
          </a:ln>
        </p:spPr>
      </p:sp>
      <p:pic>
        <p:nvPicPr>
          <p:cNvPr id="9" name="Image 0" descr="preencoded.png">    </p:cNvPr>
          <p:cNvPicPr>
            <a:picLocks noChangeAspect="1"/>
          </p:cNvPicPr>
          <p:nvPr/>
        </p:nvPicPr>
        <p:blipFill>
          <a:blip r:embed="rId1"/>
          <a:stretch>
            <a:fillRect/>
          </a:stretch>
        </p:blipFill>
        <p:spPr>
          <a:xfrm>
            <a:off x="8668512" y="2834640"/>
            <a:ext cx="585216" cy="585216"/>
          </a:xfrm>
          <a:prstGeom prst="rect">
            <a:avLst/>
          </a:prstGeom>
        </p:spPr>
      </p:pic>
      <p:sp>
        <p:nvSpPr>
          <p:cNvPr id="10" name="Text 7"/>
          <p:cNvSpPr/>
          <p:nvPr/>
        </p:nvSpPr>
        <p:spPr>
          <a:xfrm>
            <a:off x="8668512" y="2926080"/>
            <a:ext cx="585216" cy="457200"/>
          </a:xfrm>
          <a:prstGeom prst="rect">
            <a:avLst/>
          </a:prstGeom>
          <a:noFill/>
          <a:ln/>
        </p:spPr>
        <p:txBody>
          <a:bodyPr wrap="square" rtlCol="0" anchor="ctr"/>
          <a:lstStyle/>
          <a:p>
            <a:pPr algn="ctr" indent="0" marL="0">
              <a:buNone/>
            </a:pPr>
            <a:r>
              <a:rPr lang="en-US" sz="1600" b="1" dirty="0">
                <a:solidFill>
                  <a:srgbClr val="F5A524"/>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7973568" y="2715768"/>
            <a:ext cx="146304" cy="146304"/>
          </a:xfrm>
          <a:prstGeom prst="ellipse">
            <a:avLst/>
          </a:prstGeom>
          <a:solidFill>
            <a:srgbClr val="2DD4BF"/>
          </a:solidFill>
          <a:ln w="12700">
            <a:solidFill>
              <a:srgbClr val="2DD4BF"/>
            </a:solidFill>
            <a:prstDash val="solid"/>
          </a:ln>
        </p:spPr>
      </p:sp>
      <p:sp>
        <p:nvSpPr>
          <p:cNvPr id="12" name="Shape 9"/>
          <p:cNvSpPr/>
          <p:nvPr/>
        </p:nvSpPr>
        <p:spPr>
          <a:xfrm>
            <a:off x="9802368" y="2715768"/>
            <a:ext cx="146304" cy="146304"/>
          </a:xfrm>
          <a:prstGeom prst="ellipse">
            <a:avLst/>
          </a:prstGeom>
          <a:solidFill>
            <a:srgbClr val="8B5CF6"/>
          </a:solidFill>
          <a:ln w="12700">
            <a:solidFill>
              <a:srgbClr val="8B5CF6"/>
            </a:solidFill>
            <a:prstDash val="solid"/>
          </a:ln>
        </p:spPr>
      </p:sp>
      <p:sp>
        <p:nvSpPr>
          <p:cNvPr id="13" name="Shape 10"/>
          <p:cNvSpPr/>
          <p:nvPr/>
        </p:nvSpPr>
        <p:spPr>
          <a:xfrm>
            <a:off x="7973568" y="3538728"/>
            <a:ext cx="146304" cy="146304"/>
          </a:xfrm>
          <a:prstGeom prst="ellipse">
            <a:avLst/>
          </a:prstGeom>
          <a:solidFill>
            <a:srgbClr val="38BDF8"/>
          </a:solidFill>
          <a:ln w="12700">
            <a:solidFill>
              <a:srgbClr val="38BDF8"/>
            </a:solidFill>
            <a:prstDash val="solid"/>
          </a:ln>
        </p:spPr>
      </p:sp>
      <p:sp>
        <p:nvSpPr>
          <p:cNvPr id="14" name="Shape 11"/>
          <p:cNvSpPr/>
          <p:nvPr/>
        </p:nvSpPr>
        <p:spPr>
          <a:xfrm>
            <a:off x="9802368" y="3538728"/>
            <a:ext cx="146304" cy="146304"/>
          </a:xfrm>
          <a:prstGeom prst="ellipse">
            <a:avLst/>
          </a:prstGeom>
          <a:solidFill>
            <a:srgbClr val="FB7185"/>
          </a:solidFill>
          <a:ln w="12700">
            <a:solidFill>
              <a:srgbClr val="FB7185"/>
            </a:solidFill>
            <a:prstDash val="solid"/>
          </a:ln>
        </p:spPr>
      </p:sp>
      <p:sp>
        <p:nvSpPr>
          <p:cNvPr id="15" name="Text 12"/>
          <p:cNvSpPr/>
          <p:nvPr/>
        </p:nvSpPr>
        <p:spPr>
          <a:xfrm>
            <a:off x="7040880" y="4663440"/>
            <a:ext cx="3840480" cy="274320"/>
          </a:xfrm>
          <a:prstGeom prst="rect">
            <a:avLst/>
          </a:prstGeom>
          <a:noFill/>
          <a:ln/>
        </p:spPr>
        <p:txBody>
          <a:bodyPr wrap="square" rtlCol="0" anchor="ctr"/>
          <a:lstStyle/>
          <a:p>
            <a:pPr algn="ctr" indent="0" marL="0">
              <a:buNone/>
            </a:pPr>
            <a:r>
              <a:rPr lang="en-US" sz="1000" spc="100" kern="0" dirty="0">
                <a:solidFill>
                  <a:srgbClr val="9297A8"/>
                </a:solidFill>
                <a:latin typeface="Consolas" pitchFamily="34" charset="0"/>
                <a:ea typeface="Consolas" pitchFamily="34" charset="-122"/>
                <a:cs typeface="Consolas" pitchFamily="34" charset="-120"/>
              </a:rPr>
              <a:t>every token stays inside</a:t>
            </a:r>
            <a:endParaRPr lang="en-US" sz="1000" dirty="0"/>
          </a:p>
        </p:txBody>
      </p:sp>
      <p:pic>
        <p:nvPicPr>
          <p:cNvPr id="16" name="Image 1" descr="preencoded.png">    </p:cNvPr>
          <p:cNvPicPr>
            <a:picLocks noChangeAspect="1"/>
          </p:cNvPicPr>
          <p:nvPr/>
        </p:nvPicPr>
        <p:blipFill>
          <a:blip r:embed="rId2"/>
          <a:stretch>
            <a:fillRect/>
          </a:stretch>
        </p:blipFill>
        <p:spPr>
          <a:xfrm>
            <a:off x="11109960" y="1600200"/>
            <a:ext cx="777240" cy="777240"/>
          </a:xfrm>
          <a:prstGeom prst="rect">
            <a:avLst/>
          </a:prstGeom>
        </p:spPr>
      </p:pic>
      <p:sp>
        <p:nvSpPr>
          <p:cNvPr id="17" name="Shape 13"/>
          <p:cNvSpPr/>
          <p:nvPr/>
        </p:nvSpPr>
        <p:spPr>
          <a:xfrm>
            <a:off x="11064240" y="1554480"/>
            <a:ext cx="868680" cy="868680"/>
          </a:xfrm>
          <a:prstGeom prst="line">
            <a:avLst/>
          </a:prstGeom>
          <a:noFill/>
          <a:ln w="25400">
            <a:solidFill>
              <a:srgbClr val="FB7185"/>
            </a:solidFill>
            <a:prstDash val="solid"/>
          </a:ln>
        </p:spPr>
      </p:sp>
      <p:sp>
        <p:nvSpPr>
          <p:cNvPr id="18" name="Text 14"/>
          <p:cNvSpPr/>
          <p:nvPr/>
        </p:nvSpPr>
        <p:spPr>
          <a:xfrm>
            <a:off x="10835640" y="2468880"/>
            <a:ext cx="1325880" cy="274320"/>
          </a:xfrm>
          <a:prstGeom prst="rect">
            <a:avLst/>
          </a:prstGeom>
          <a:noFill/>
          <a:ln/>
        </p:spPr>
        <p:txBody>
          <a:bodyPr wrap="square" rtlCol="0" anchor="ctr"/>
          <a:lstStyle/>
          <a:p>
            <a:pPr algn="ctr" indent="0" marL="0">
              <a:buNone/>
            </a:pPr>
            <a:r>
              <a:rPr lang="en-US" sz="1000" dirty="0">
                <a:solidFill>
                  <a:srgbClr val="5A6072"/>
                </a:solidFill>
                <a:latin typeface="Consolas" pitchFamily="34" charset="0"/>
                <a:ea typeface="Consolas" pitchFamily="34" charset="-122"/>
                <a:cs typeface="Consolas" pitchFamily="34" charset="-120"/>
              </a:rPr>
              <a:t>no cloud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5000"/>
          </a:blip>
          <a:stretch>
            <a:fillRect/>
          </a:stretch>
        </p:blipFill>
        <p:spPr>
          <a:xfrm>
            <a:off x="7955280" y="2834640"/>
            <a:ext cx="4023360" cy="4023360"/>
          </a:xfrm>
          <a:prstGeom prst="rect">
            <a:avLst/>
          </a:prstGeom>
        </p:spPr>
      </p:pic>
      <p:sp>
        <p:nvSpPr>
          <p:cNvPr id="3" name="Text 0"/>
          <p:cNvSpPr/>
          <p:nvPr/>
        </p:nvSpPr>
        <p:spPr>
          <a:xfrm>
            <a:off x="841248" y="1188720"/>
            <a:ext cx="3657600" cy="1463040"/>
          </a:xfrm>
          <a:prstGeom prst="rect">
            <a:avLst/>
          </a:prstGeom>
          <a:noFill/>
          <a:ln/>
        </p:spPr>
        <p:txBody>
          <a:bodyPr wrap="square" rtlCol="0" anchor="ctr"/>
          <a:lstStyle/>
          <a:p>
            <a:pPr indent="0" marL="0">
              <a:buNone/>
            </a:pPr>
            <a:r>
              <a:rPr lang="en-US" sz="9600" i="1" dirty="0">
                <a:solidFill>
                  <a:srgbClr val="2A3040"/>
                </a:solidFill>
                <a:latin typeface="Cambria" pitchFamily="34" charset="0"/>
                <a:ea typeface="Cambria" pitchFamily="34" charset="-122"/>
                <a:cs typeface="Cambria" pitchFamily="34" charset="-120"/>
              </a:rPr>
              <a:t>iv.</a:t>
            </a:r>
            <a:endParaRPr lang="en-US" sz="9600" dirty="0"/>
          </a:p>
        </p:txBody>
      </p:sp>
      <p:sp>
        <p:nvSpPr>
          <p:cNvPr id="4" name="Text 1"/>
          <p:cNvSpPr/>
          <p:nvPr/>
        </p:nvSpPr>
        <p:spPr>
          <a:xfrm>
            <a:off x="841248" y="2880360"/>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ACT FOUR</a:t>
            </a:r>
            <a:endParaRPr lang="en-US" sz="1100" dirty="0"/>
          </a:p>
        </p:txBody>
      </p:sp>
      <p:sp>
        <p:nvSpPr>
          <p:cNvPr id="5" name="Text 2"/>
          <p:cNvSpPr/>
          <p:nvPr/>
        </p:nvSpPr>
        <p:spPr>
          <a:xfrm>
            <a:off x="841248" y="3200400"/>
            <a:ext cx="8229600" cy="1371600"/>
          </a:xfrm>
          <a:prstGeom prst="rect">
            <a:avLst/>
          </a:prstGeom>
          <a:noFill/>
          <a:ln/>
        </p:spPr>
        <p:txBody>
          <a:bodyPr wrap="square" rtlCol="0" anchor="ctr"/>
          <a:lstStyle/>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Control Beyond</a:t>
            </a:r>
            <a:endParaRPr lang="en-US" sz="5200" dirty="0"/>
          </a:p>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the Prompt</a:t>
            </a:r>
            <a:endParaRPr lang="en-US" sz="5200" dirty="0"/>
          </a:p>
        </p:txBody>
      </p:sp>
      <p:sp>
        <p:nvSpPr>
          <p:cNvPr id="6" name="Text 3"/>
          <p:cNvSpPr/>
          <p:nvPr/>
        </p:nvSpPr>
        <p:spPr>
          <a:xfrm>
            <a:off x="841248" y="5029200"/>
            <a:ext cx="6858000" cy="822960"/>
          </a:xfrm>
          <a:prstGeom prst="rect">
            <a:avLst/>
          </a:prstGeom>
          <a:noFill/>
          <a:ln/>
        </p:spPr>
        <p:txBody>
          <a:bodyPr wrap="square" rtlCol="0" anchor="ctr"/>
          <a:lstStyle/>
          <a:p>
            <a:pPr indent="0" marL="0">
              <a:lnSpc>
                <a:spcPts val="2500"/>
              </a:lnSpc>
              <a:buNone/>
            </a:pPr>
            <a:r>
              <a:rPr lang="en-US" sz="1700" dirty="0">
                <a:solidFill>
                  <a:srgbClr val="9297A8"/>
                </a:solidFill>
                <a:latin typeface="Calibri" pitchFamily="34" charset="0"/>
                <a:ea typeface="Calibri" pitchFamily="34" charset="-122"/>
                <a:cs typeface="Calibri" pitchFamily="34" charset="-120"/>
              </a:rPr>
              <a:t>The prompt is one lever. There are five more, and they are where reliability comes from.</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COCKPIT</a:t>
            </a:r>
            <a:endParaRPr lang="en-US" sz="1100" dirty="0"/>
          </a:p>
        </p:txBody>
      </p:sp>
      <p:sp>
        <p:nvSpPr>
          <p:cNvPr id="3" name="Text 1"/>
          <p:cNvSpPr/>
          <p:nvPr/>
        </p:nvSpPr>
        <p:spPr>
          <a:xfrm>
            <a:off x="841248" y="1005840"/>
            <a:ext cx="10058400" cy="822960"/>
          </a:xfrm>
          <a:prstGeom prst="rect">
            <a:avLst/>
          </a:prstGeom>
          <a:noFill/>
          <a:ln/>
        </p:spPr>
        <p:txBody>
          <a:bodyPr wrap="square" rtlCol="0" anchor="ctr"/>
          <a:lstStyle/>
          <a:p>
            <a:pPr indent="0" marL="0">
              <a:buNone/>
            </a:pPr>
            <a:r>
              <a:rPr lang="en-US" sz="3200" dirty="0">
                <a:solidFill>
                  <a:srgbClr val="ECE7DE"/>
                </a:solidFill>
                <a:latin typeface="Cambria" pitchFamily="34" charset="0"/>
                <a:ea typeface="Cambria" pitchFamily="34" charset="-122"/>
                <a:cs typeface="Cambria" pitchFamily="34" charset="-120"/>
              </a:rPr>
              <a:t>Six ways to steer. Only </a:t>
            </a:r>
            <a:pPr indent="0" marL="0">
              <a:buNone/>
            </a:pPr>
            <a:r>
              <a:rPr lang="en-US" sz="3200" i="1" dirty="0">
                <a:solidFill>
                  <a:srgbClr val="F5A524"/>
                </a:solidFill>
                <a:latin typeface="Cambria" pitchFamily="34" charset="0"/>
                <a:ea typeface="Cambria" pitchFamily="34" charset="-122"/>
                <a:cs typeface="Cambria" pitchFamily="34" charset="-120"/>
              </a:rPr>
              <a:t>one</a:t>
            </a:r>
            <a:pPr indent="0" marL="0">
              <a:buNone/>
            </a:pPr>
            <a:r>
              <a:rPr lang="en-US" sz="3200" dirty="0">
                <a:solidFill>
                  <a:srgbClr val="ECE7DE"/>
                </a:solidFill>
                <a:latin typeface="Cambria" pitchFamily="34" charset="0"/>
                <a:ea typeface="Cambria" pitchFamily="34" charset="-122"/>
                <a:cs typeface="Cambria" pitchFamily="34" charset="-120"/>
              </a:rPr>
              <a:t> is the prompt.</a:t>
            </a:r>
            <a:endParaRPr lang="en-US" sz="3200" dirty="0"/>
          </a:p>
        </p:txBody>
      </p:sp>
      <p:sp>
        <p:nvSpPr>
          <p:cNvPr id="4" name="Shape 2"/>
          <p:cNvSpPr/>
          <p:nvPr/>
        </p:nvSpPr>
        <p:spPr>
          <a:xfrm>
            <a:off x="841248" y="2057400"/>
            <a:ext cx="3401568" cy="1828800"/>
          </a:xfrm>
          <a:prstGeom prst="roundRect">
            <a:avLst>
              <a:gd name="adj" fmla="val 55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5" name="Image 0" descr="preencoded.png">    </p:cNvPr>
          <p:cNvPicPr>
            <a:picLocks noChangeAspect="1"/>
          </p:cNvPicPr>
          <p:nvPr/>
        </p:nvPicPr>
        <p:blipFill>
          <a:blip r:embed="rId1"/>
          <a:stretch>
            <a:fillRect/>
          </a:stretch>
        </p:blipFill>
        <p:spPr>
          <a:xfrm>
            <a:off x="3584448" y="2350008"/>
            <a:ext cx="365760" cy="365760"/>
          </a:xfrm>
          <a:prstGeom prst="rect">
            <a:avLst/>
          </a:prstGeom>
        </p:spPr>
      </p:pic>
      <p:sp>
        <p:nvSpPr>
          <p:cNvPr id="6" name="Text 3"/>
          <p:cNvSpPr/>
          <p:nvPr/>
        </p:nvSpPr>
        <p:spPr>
          <a:xfrm>
            <a:off x="1161288" y="2313432"/>
            <a:ext cx="2194560" cy="274320"/>
          </a:xfrm>
          <a:prstGeom prst="rect">
            <a:avLst/>
          </a:prstGeom>
          <a:noFill/>
          <a:ln/>
        </p:spPr>
        <p:txBody>
          <a:bodyPr wrap="square" rtlCol="0" anchor="ctr"/>
          <a:lstStyle/>
          <a:p>
            <a:pPr indent="0" marL="0">
              <a:buNone/>
            </a:pPr>
            <a:r>
              <a:rPr lang="en-US" sz="950" spc="200" kern="0" dirty="0">
                <a:solidFill>
                  <a:srgbClr val="9297A8"/>
                </a:solidFill>
                <a:latin typeface="Consolas" pitchFamily="34" charset="0"/>
                <a:ea typeface="Consolas" pitchFamily="34" charset="-122"/>
                <a:cs typeface="Consolas" pitchFamily="34" charset="-120"/>
              </a:rPr>
              <a:t>LEVER 01</a:t>
            </a:r>
            <a:endParaRPr lang="en-US" sz="950" dirty="0"/>
          </a:p>
        </p:txBody>
      </p:sp>
      <p:sp>
        <p:nvSpPr>
          <p:cNvPr id="7" name="Text 4"/>
          <p:cNvSpPr/>
          <p:nvPr/>
        </p:nvSpPr>
        <p:spPr>
          <a:xfrm>
            <a:off x="1161288" y="2606040"/>
            <a:ext cx="2761488" cy="457200"/>
          </a:xfrm>
          <a:prstGeom prst="rect">
            <a:avLst/>
          </a:prstGeom>
          <a:noFill/>
          <a:ln/>
        </p:spPr>
        <p:txBody>
          <a:bodyPr wrap="square" rtlCol="0" anchor="ctr"/>
          <a:lstStyle/>
          <a:p>
            <a:pPr indent="0" marL="0">
              <a:buNone/>
            </a:pPr>
            <a:r>
              <a:rPr lang="en-US" sz="2100" dirty="0">
                <a:solidFill>
                  <a:srgbClr val="F7B84E"/>
                </a:solidFill>
                <a:latin typeface="Cambria" pitchFamily="34" charset="0"/>
                <a:ea typeface="Cambria" pitchFamily="34" charset="-122"/>
                <a:cs typeface="Cambria" pitchFamily="34" charset="-120"/>
              </a:rPr>
              <a:t>The prompt</a:t>
            </a:r>
            <a:endParaRPr lang="en-US" sz="2100" dirty="0"/>
          </a:p>
        </p:txBody>
      </p:sp>
      <p:sp>
        <p:nvSpPr>
          <p:cNvPr id="8" name="Text 5"/>
          <p:cNvSpPr/>
          <p:nvPr/>
        </p:nvSpPr>
        <p:spPr>
          <a:xfrm>
            <a:off x="1161288" y="3108960"/>
            <a:ext cx="2761488" cy="685800"/>
          </a:xfrm>
          <a:prstGeom prst="rect">
            <a:avLst/>
          </a:prstGeom>
          <a:noFill/>
          <a:ln/>
        </p:spPr>
        <p:txBody>
          <a:bodyPr wrap="square" rtlCol="0" anchor="ctr"/>
          <a:lstStyle/>
          <a:p>
            <a:pPr indent="0" marL="0">
              <a:lnSpc>
                <a:spcPts val="1700"/>
              </a:lnSpc>
              <a:buNone/>
            </a:pPr>
            <a:r>
              <a:rPr lang="en-US" sz="1250" dirty="0">
                <a:solidFill>
                  <a:srgbClr val="9297A8"/>
                </a:solidFill>
                <a:latin typeface="Calibri" pitchFamily="34" charset="0"/>
                <a:ea typeface="Calibri" pitchFamily="34" charset="-122"/>
                <a:cs typeface="Calibri" pitchFamily="34" charset="-120"/>
              </a:rPr>
              <a:t>What you want. The instruction everyone knows.</a:t>
            </a:r>
            <a:endParaRPr lang="en-US" sz="1250" dirty="0"/>
          </a:p>
        </p:txBody>
      </p:sp>
      <p:sp>
        <p:nvSpPr>
          <p:cNvPr id="9" name="Shape 6"/>
          <p:cNvSpPr/>
          <p:nvPr/>
        </p:nvSpPr>
        <p:spPr>
          <a:xfrm>
            <a:off x="4498848" y="2057400"/>
            <a:ext cx="3401568" cy="1828800"/>
          </a:xfrm>
          <a:prstGeom prst="roundRect">
            <a:avLst>
              <a:gd name="adj" fmla="val 55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0" name="Image 1" descr="preencoded.png">    </p:cNvPr>
          <p:cNvPicPr>
            <a:picLocks noChangeAspect="1"/>
          </p:cNvPicPr>
          <p:nvPr/>
        </p:nvPicPr>
        <p:blipFill>
          <a:blip r:embed="rId2"/>
          <a:stretch>
            <a:fillRect/>
          </a:stretch>
        </p:blipFill>
        <p:spPr>
          <a:xfrm>
            <a:off x="7242048" y="2350008"/>
            <a:ext cx="365760" cy="365760"/>
          </a:xfrm>
          <a:prstGeom prst="rect">
            <a:avLst/>
          </a:prstGeom>
        </p:spPr>
      </p:pic>
      <p:sp>
        <p:nvSpPr>
          <p:cNvPr id="11" name="Text 7"/>
          <p:cNvSpPr/>
          <p:nvPr/>
        </p:nvSpPr>
        <p:spPr>
          <a:xfrm>
            <a:off x="4818888" y="2313432"/>
            <a:ext cx="2194560" cy="274320"/>
          </a:xfrm>
          <a:prstGeom prst="rect">
            <a:avLst/>
          </a:prstGeom>
          <a:noFill/>
          <a:ln/>
        </p:spPr>
        <p:txBody>
          <a:bodyPr wrap="square" rtlCol="0" anchor="ctr"/>
          <a:lstStyle/>
          <a:p>
            <a:pPr indent="0" marL="0">
              <a:buNone/>
            </a:pPr>
            <a:r>
              <a:rPr lang="en-US" sz="950" spc="200" kern="0" dirty="0">
                <a:solidFill>
                  <a:srgbClr val="9297A8"/>
                </a:solidFill>
                <a:latin typeface="Consolas" pitchFamily="34" charset="0"/>
                <a:ea typeface="Consolas" pitchFamily="34" charset="-122"/>
                <a:cs typeface="Consolas" pitchFamily="34" charset="-120"/>
              </a:rPr>
              <a:t>LEVER 02</a:t>
            </a:r>
            <a:endParaRPr lang="en-US" sz="950" dirty="0"/>
          </a:p>
        </p:txBody>
      </p:sp>
      <p:sp>
        <p:nvSpPr>
          <p:cNvPr id="12" name="Text 8"/>
          <p:cNvSpPr/>
          <p:nvPr/>
        </p:nvSpPr>
        <p:spPr>
          <a:xfrm>
            <a:off x="4818888" y="2606040"/>
            <a:ext cx="2761488" cy="457200"/>
          </a:xfrm>
          <a:prstGeom prst="rect">
            <a:avLst/>
          </a:prstGeom>
          <a:noFill/>
          <a:ln/>
        </p:spPr>
        <p:txBody>
          <a:bodyPr wrap="square" rtlCol="0" anchor="ctr"/>
          <a:lstStyle/>
          <a:p>
            <a:pPr indent="0" marL="0">
              <a:buNone/>
            </a:pPr>
            <a:r>
              <a:rPr lang="en-US" sz="2100" dirty="0">
                <a:solidFill>
                  <a:srgbClr val="ECE7DE"/>
                </a:solidFill>
                <a:latin typeface="Cambria" pitchFamily="34" charset="0"/>
                <a:ea typeface="Cambria" pitchFamily="34" charset="-122"/>
                <a:cs typeface="Cambria" pitchFamily="34" charset="-120"/>
              </a:rPr>
              <a:t>Tools</a:t>
            </a:r>
            <a:endParaRPr lang="en-US" sz="2100" dirty="0"/>
          </a:p>
        </p:txBody>
      </p:sp>
      <p:sp>
        <p:nvSpPr>
          <p:cNvPr id="13" name="Text 9"/>
          <p:cNvSpPr/>
          <p:nvPr/>
        </p:nvSpPr>
        <p:spPr>
          <a:xfrm>
            <a:off x="4818888" y="3108960"/>
            <a:ext cx="2761488" cy="685800"/>
          </a:xfrm>
          <a:prstGeom prst="rect">
            <a:avLst/>
          </a:prstGeom>
          <a:noFill/>
          <a:ln/>
        </p:spPr>
        <p:txBody>
          <a:bodyPr wrap="square" rtlCol="0" anchor="ctr"/>
          <a:lstStyle/>
          <a:p>
            <a:pPr indent="0" marL="0">
              <a:lnSpc>
                <a:spcPts val="1700"/>
              </a:lnSpc>
              <a:buNone/>
            </a:pPr>
            <a:r>
              <a:rPr lang="en-US" sz="1250" dirty="0">
                <a:solidFill>
                  <a:srgbClr val="9297A8"/>
                </a:solidFill>
                <a:latin typeface="Calibri" pitchFamily="34" charset="0"/>
                <a:ea typeface="Calibri" pitchFamily="34" charset="-122"/>
                <a:cs typeface="Calibri" pitchFamily="34" charset="-120"/>
              </a:rPr>
              <a:t>What it is allowed to touch. The capability boundary.</a:t>
            </a:r>
            <a:endParaRPr lang="en-US" sz="1250" dirty="0"/>
          </a:p>
        </p:txBody>
      </p:sp>
      <p:sp>
        <p:nvSpPr>
          <p:cNvPr id="14" name="Shape 10"/>
          <p:cNvSpPr/>
          <p:nvPr/>
        </p:nvSpPr>
        <p:spPr>
          <a:xfrm>
            <a:off x="8156448" y="2057400"/>
            <a:ext cx="3401568" cy="1828800"/>
          </a:xfrm>
          <a:prstGeom prst="roundRect">
            <a:avLst>
              <a:gd name="adj" fmla="val 55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5" name="Image 2" descr="preencoded.png">    </p:cNvPr>
          <p:cNvPicPr>
            <a:picLocks noChangeAspect="1"/>
          </p:cNvPicPr>
          <p:nvPr/>
        </p:nvPicPr>
        <p:blipFill>
          <a:blip r:embed="rId3"/>
          <a:stretch>
            <a:fillRect/>
          </a:stretch>
        </p:blipFill>
        <p:spPr>
          <a:xfrm>
            <a:off x="10899648" y="2350008"/>
            <a:ext cx="365760" cy="365760"/>
          </a:xfrm>
          <a:prstGeom prst="rect">
            <a:avLst/>
          </a:prstGeom>
        </p:spPr>
      </p:pic>
      <p:sp>
        <p:nvSpPr>
          <p:cNvPr id="16" name="Text 11"/>
          <p:cNvSpPr/>
          <p:nvPr/>
        </p:nvSpPr>
        <p:spPr>
          <a:xfrm>
            <a:off x="8476488" y="2313432"/>
            <a:ext cx="2194560" cy="274320"/>
          </a:xfrm>
          <a:prstGeom prst="rect">
            <a:avLst/>
          </a:prstGeom>
          <a:noFill/>
          <a:ln/>
        </p:spPr>
        <p:txBody>
          <a:bodyPr wrap="square" rtlCol="0" anchor="ctr"/>
          <a:lstStyle/>
          <a:p>
            <a:pPr indent="0" marL="0">
              <a:buNone/>
            </a:pPr>
            <a:r>
              <a:rPr lang="en-US" sz="950" spc="200" kern="0" dirty="0">
                <a:solidFill>
                  <a:srgbClr val="9297A8"/>
                </a:solidFill>
                <a:latin typeface="Consolas" pitchFamily="34" charset="0"/>
                <a:ea typeface="Consolas" pitchFamily="34" charset="-122"/>
                <a:cs typeface="Consolas" pitchFamily="34" charset="-120"/>
              </a:rPr>
              <a:t>LEVER 03</a:t>
            </a:r>
            <a:endParaRPr lang="en-US" sz="950" dirty="0"/>
          </a:p>
        </p:txBody>
      </p:sp>
      <p:sp>
        <p:nvSpPr>
          <p:cNvPr id="17" name="Text 12"/>
          <p:cNvSpPr/>
          <p:nvPr/>
        </p:nvSpPr>
        <p:spPr>
          <a:xfrm>
            <a:off x="8476488" y="2606040"/>
            <a:ext cx="2761488" cy="457200"/>
          </a:xfrm>
          <a:prstGeom prst="rect">
            <a:avLst/>
          </a:prstGeom>
          <a:noFill/>
          <a:ln/>
        </p:spPr>
        <p:txBody>
          <a:bodyPr wrap="square" rtlCol="0" anchor="ctr"/>
          <a:lstStyle/>
          <a:p>
            <a:pPr indent="0" marL="0">
              <a:buNone/>
            </a:pPr>
            <a:r>
              <a:rPr lang="en-US" sz="2100" dirty="0">
                <a:solidFill>
                  <a:srgbClr val="ECE7DE"/>
                </a:solidFill>
                <a:latin typeface="Cambria" pitchFamily="34" charset="0"/>
                <a:ea typeface="Cambria" pitchFamily="34" charset="-122"/>
                <a:cs typeface="Cambria" pitchFamily="34" charset="-120"/>
              </a:rPr>
              <a:t>Schema</a:t>
            </a:r>
            <a:endParaRPr lang="en-US" sz="2100" dirty="0"/>
          </a:p>
        </p:txBody>
      </p:sp>
      <p:sp>
        <p:nvSpPr>
          <p:cNvPr id="18" name="Text 13"/>
          <p:cNvSpPr/>
          <p:nvPr/>
        </p:nvSpPr>
        <p:spPr>
          <a:xfrm>
            <a:off x="8476488" y="3108960"/>
            <a:ext cx="2761488" cy="685800"/>
          </a:xfrm>
          <a:prstGeom prst="rect">
            <a:avLst/>
          </a:prstGeom>
          <a:noFill/>
          <a:ln/>
        </p:spPr>
        <p:txBody>
          <a:bodyPr wrap="square" rtlCol="0" anchor="ctr"/>
          <a:lstStyle/>
          <a:p>
            <a:pPr indent="0" marL="0">
              <a:lnSpc>
                <a:spcPts val="1700"/>
              </a:lnSpc>
              <a:buNone/>
            </a:pPr>
            <a:r>
              <a:rPr lang="en-US" sz="1250" dirty="0">
                <a:solidFill>
                  <a:srgbClr val="9297A8"/>
                </a:solidFill>
                <a:latin typeface="Calibri" pitchFamily="34" charset="0"/>
                <a:ea typeface="Calibri" pitchFamily="34" charset="-122"/>
                <a:cs typeface="Calibri" pitchFamily="34" charset="-120"/>
              </a:rPr>
              <a:t>The shape of the answer. A typed object, not prose.</a:t>
            </a:r>
            <a:endParaRPr lang="en-US" sz="1250" dirty="0"/>
          </a:p>
        </p:txBody>
      </p:sp>
      <p:sp>
        <p:nvSpPr>
          <p:cNvPr id="19" name="Shape 14"/>
          <p:cNvSpPr/>
          <p:nvPr/>
        </p:nvSpPr>
        <p:spPr>
          <a:xfrm>
            <a:off x="841248" y="4142232"/>
            <a:ext cx="3401568" cy="1828800"/>
          </a:xfrm>
          <a:prstGeom prst="roundRect">
            <a:avLst>
              <a:gd name="adj" fmla="val 55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20" name="Image 3" descr="preencoded.png">    </p:cNvPr>
          <p:cNvPicPr>
            <a:picLocks noChangeAspect="1"/>
          </p:cNvPicPr>
          <p:nvPr/>
        </p:nvPicPr>
        <p:blipFill>
          <a:blip r:embed="rId4"/>
          <a:stretch>
            <a:fillRect/>
          </a:stretch>
        </p:blipFill>
        <p:spPr>
          <a:xfrm>
            <a:off x="3584448" y="4434840"/>
            <a:ext cx="365760" cy="365760"/>
          </a:xfrm>
          <a:prstGeom prst="rect">
            <a:avLst/>
          </a:prstGeom>
        </p:spPr>
      </p:pic>
      <p:sp>
        <p:nvSpPr>
          <p:cNvPr id="21" name="Text 15"/>
          <p:cNvSpPr/>
          <p:nvPr/>
        </p:nvSpPr>
        <p:spPr>
          <a:xfrm>
            <a:off x="1161288" y="4398264"/>
            <a:ext cx="2194560" cy="274320"/>
          </a:xfrm>
          <a:prstGeom prst="rect">
            <a:avLst/>
          </a:prstGeom>
          <a:noFill/>
          <a:ln/>
        </p:spPr>
        <p:txBody>
          <a:bodyPr wrap="square" rtlCol="0" anchor="ctr"/>
          <a:lstStyle/>
          <a:p>
            <a:pPr indent="0" marL="0">
              <a:buNone/>
            </a:pPr>
            <a:r>
              <a:rPr lang="en-US" sz="950" spc="200" kern="0" dirty="0">
                <a:solidFill>
                  <a:srgbClr val="9297A8"/>
                </a:solidFill>
                <a:latin typeface="Consolas" pitchFamily="34" charset="0"/>
                <a:ea typeface="Consolas" pitchFamily="34" charset="-122"/>
                <a:cs typeface="Consolas" pitchFamily="34" charset="-120"/>
              </a:rPr>
              <a:t>LEVER 04</a:t>
            </a:r>
            <a:endParaRPr lang="en-US" sz="950" dirty="0"/>
          </a:p>
        </p:txBody>
      </p:sp>
      <p:sp>
        <p:nvSpPr>
          <p:cNvPr id="22" name="Text 16"/>
          <p:cNvSpPr/>
          <p:nvPr/>
        </p:nvSpPr>
        <p:spPr>
          <a:xfrm>
            <a:off x="1161288" y="4690872"/>
            <a:ext cx="2761488" cy="457200"/>
          </a:xfrm>
          <a:prstGeom prst="rect">
            <a:avLst/>
          </a:prstGeom>
          <a:noFill/>
          <a:ln/>
        </p:spPr>
        <p:txBody>
          <a:bodyPr wrap="square" rtlCol="0" anchor="ctr"/>
          <a:lstStyle/>
          <a:p>
            <a:pPr indent="0" marL="0">
              <a:buNone/>
            </a:pPr>
            <a:r>
              <a:rPr lang="en-US" sz="2100" dirty="0">
                <a:solidFill>
                  <a:srgbClr val="ECE7DE"/>
                </a:solidFill>
                <a:latin typeface="Cambria" pitchFamily="34" charset="0"/>
                <a:ea typeface="Cambria" pitchFamily="34" charset="-122"/>
                <a:cs typeface="Cambria" pitchFamily="34" charset="-120"/>
              </a:rPr>
              <a:t>Guardrails</a:t>
            </a:r>
            <a:endParaRPr lang="en-US" sz="2100" dirty="0"/>
          </a:p>
        </p:txBody>
      </p:sp>
      <p:sp>
        <p:nvSpPr>
          <p:cNvPr id="23" name="Text 17"/>
          <p:cNvSpPr/>
          <p:nvPr/>
        </p:nvSpPr>
        <p:spPr>
          <a:xfrm>
            <a:off x="1161288" y="5193792"/>
            <a:ext cx="2761488" cy="685800"/>
          </a:xfrm>
          <a:prstGeom prst="rect">
            <a:avLst/>
          </a:prstGeom>
          <a:noFill/>
          <a:ln/>
        </p:spPr>
        <p:txBody>
          <a:bodyPr wrap="square" rtlCol="0" anchor="ctr"/>
          <a:lstStyle/>
          <a:p>
            <a:pPr indent="0" marL="0">
              <a:lnSpc>
                <a:spcPts val="1700"/>
              </a:lnSpc>
              <a:buNone/>
            </a:pPr>
            <a:r>
              <a:rPr lang="en-US" sz="1250" dirty="0">
                <a:solidFill>
                  <a:srgbClr val="9297A8"/>
                </a:solidFill>
                <a:latin typeface="Calibri" pitchFamily="34" charset="0"/>
                <a:ea typeface="Calibri" pitchFamily="34" charset="-122"/>
                <a:cs typeface="Calibri" pitchFamily="34" charset="-120"/>
              </a:rPr>
              <a:t>Validation that rejects bad output before it escapes.</a:t>
            </a:r>
            <a:endParaRPr lang="en-US" sz="1250" dirty="0"/>
          </a:p>
        </p:txBody>
      </p:sp>
      <p:sp>
        <p:nvSpPr>
          <p:cNvPr id="24" name="Shape 18"/>
          <p:cNvSpPr/>
          <p:nvPr/>
        </p:nvSpPr>
        <p:spPr>
          <a:xfrm>
            <a:off x="4498848" y="4142232"/>
            <a:ext cx="3401568" cy="1828800"/>
          </a:xfrm>
          <a:prstGeom prst="roundRect">
            <a:avLst>
              <a:gd name="adj" fmla="val 55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25" name="Image 4" descr="preencoded.png">    </p:cNvPr>
          <p:cNvPicPr>
            <a:picLocks noChangeAspect="1"/>
          </p:cNvPicPr>
          <p:nvPr/>
        </p:nvPicPr>
        <p:blipFill>
          <a:blip r:embed="rId5"/>
          <a:stretch>
            <a:fillRect/>
          </a:stretch>
        </p:blipFill>
        <p:spPr>
          <a:xfrm>
            <a:off x="7242048" y="4434840"/>
            <a:ext cx="365760" cy="365760"/>
          </a:xfrm>
          <a:prstGeom prst="rect">
            <a:avLst/>
          </a:prstGeom>
        </p:spPr>
      </p:pic>
      <p:sp>
        <p:nvSpPr>
          <p:cNvPr id="26" name="Text 19"/>
          <p:cNvSpPr/>
          <p:nvPr/>
        </p:nvSpPr>
        <p:spPr>
          <a:xfrm>
            <a:off x="4818888" y="4398264"/>
            <a:ext cx="2194560" cy="274320"/>
          </a:xfrm>
          <a:prstGeom prst="rect">
            <a:avLst/>
          </a:prstGeom>
          <a:noFill/>
          <a:ln/>
        </p:spPr>
        <p:txBody>
          <a:bodyPr wrap="square" rtlCol="0" anchor="ctr"/>
          <a:lstStyle/>
          <a:p>
            <a:pPr indent="0" marL="0">
              <a:buNone/>
            </a:pPr>
            <a:r>
              <a:rPr lang="en-US" sz="950" spc="200" kern="0" dirty="0">
                <a:solidFill>
                  <a:srgbClr val="9297A8"/>
                </a:solidFill>
                <a:latin typeface="Consolas" pitchFamily="34" charset="0"/>
                <a:ea typeface="Consolas" pitchFamily="34" charset="-122"/>
                <a:cs typeface="Consolas" pitchFamily="34" charset="-120"/>
              </a:rPr>
              <a:t>LEVER 05</a:t>
            </a:r>
            <a:endParaRPr lang="en-US" sz="950" dirty="0"/>
          </a:p>
        </p:txBody>
      </p:sp>
      <p:sp>
        <p:nvSpPr>
          <p:cNvPr id="27" name="Text 20"/>
          <p:cNvSpPr/>
          <p:nvPr/>
        </p:nvSpPr>
        <p:spPr>
          <a:xfrm>
            <a:off x="4818888" y="4690872"/>
            <a:ext cx="2761488" cy="457200"/>
          </a:xfrm>
          <a:prstGeom prst="rect">
            <a:avLst/>
          </a:prstGeom>
          <a:noFill/>
          <a:ln/>
        </p:spPr>
        <p:txBody>
          <a:bodyPr wrap="square" rtlCol="0" anchor="ctr"/>
          <a:lstStyle/>
          <a:p>
            <a:pPr indent="0" marL="0">
              <a:buNone/>
            </a:pPr>
            <a:r>
              <a:rPr lang="en-US" sz="2100" dirty="0">
                <a:solidFill>
                  <a:srgbClr val="ECE7DE"/>
                </a:solidFill>
                <a:latin typeface="Cambria" pitchFamily="34" charset="0"/>
                <a:ea typeface="Cambria" pitchFamily="34" charset="-122"/>
                <a:cs typeface="Cambria" pitchFamily="34" charset="-120"/>
              </a:rPr>
              <a:t>Memory</a:t>
            </a:r>
            <a:endParaRPr lang="en-US" sz="2100" dirty="0"/>
          </a:p>
        </p:txBody>
      </p:sp>
      <p:sp>
        <p:nvSpPr>
          <p:cNvPr id="28" name="Text 21"/>
          <p:cNvSpPr/>
          <p:nvPr/>
        </p:nvSpPr>
        <p:spPr>
          <a:xfrm>
            <a:off x="4818888" y="5193792"/>
            <a:ext cx="2761488" cy="685800"/>
          </a:xfrm>
          <a:prstGeom prst="rect">
            <a:avLst/>
          </a:prstGeom>
          <a:noFill/>
          <a:ln/>
        </p:spPr>
        <p:txBody>
          <a:bodyPr wrap="square" rtlCol="0" anchor="ctr"/>
          <a:lstStyle/>
          <a:p>
            <a:pPr indent="0" marL="0">
              <a:lnSpc>
                <a:spcPts val="1700"/>
              </a:lnSpc>
              <a:buNone/>
            </a:pPr>
            <a:r>
              <a:rPr lang="en-US" sz="1250" dirty="0">
                <a:solidFill>
                  <a:srgbClr val="9297A8"/>
                </a:solidFill>
                <a:latin typeface="Calibri" pitchFamily="34" charset="0"/>
                <a:ea typeface="Calibri" pitchFamily="34" charset="-122"/>
                <a:cs typeface="Calibri" pitchFamily="34" charset="-120"/>
              </a:rPr>
              <a:t>What it remembers, and pointedly what it forgets.</a:t>
            </a:r>
            <a:endParaRPr lang="en-US" sz="1250" dirty="0"/>
          </a:p>
        </p:txBody>
      </p:sp>
      <p:sp>
        <p:nvSpPr>
          <p:cNvPr id="29" name="Shape 22"/>
          <p:cNvSpPr/>
          <p:nvPr/>
        </p:nvSpPr>
        <p:spPr>
          <a:xfrm>
            <a:off x="8156448" y="4142232"/>
            <a:ext cx="3401568" cy="1828800"/>
          </a:xfrm>
          <a:prstGeom prst="roundRect">
            <a:avLst>
              <a:gd name="adj" fmla="val 5500"/>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30" name="Image 5" descr="preencoded.png">    </p:cNvPr>
          <p:cNvPicPr>
            <a:picLocks noChangeAspect="1"/>
          </p:cNvPicPr>
          <p:nvPr/>
        </p:nvPicPr>
        <p:blipFill>
          <a:blip r:embed="rId6"/>
          <a:stretch>
            <a:fillRect/>
          </a:stretch>
        </p:blipFill>
        <p:spPr>
          <a:xfrm>
            <a:off x="10899648" y="4434840"/>
            <a:ext cx="365760" cy="365760"/>
          </a:xfrm>
          <a:prstGeom prst="rect">
            <a:avLst/>
          </a:prstGeom>
        </p:spPr>
      </p:pic>
      <p:sp>
        <p:nvSpPr>
          <p:cNvPr id="31" name="Text 23"/>
          <p:cNvSpPr/>
          <p:nvPr/>
        </p:nvSpPr>
        <p:spPr>
          <a:xfrm>
            <a:off x="8476488" y="4398264"/>
            <a:ext cx="2194560" cy="274320"/>
          </a:xfrm>
          <a:prstGeom prst="rect">
            <a:avLst/>
          </a:prstGeom>
          <a:noFill/>
          <a:ln/>
        </p:spPr>
        <p:txBody>
          <a:bodyPr wrap="square" rtlCol="0" anchor="ctr"/>
          <a:lstStyle/>
          <a:p>
            <a:pPr indent="0" marL="0">
              <a:buNone/>
            </a:pPr>
            <a:r>
              <a:rPr lang="en-US" sz="950" spc="200" kern="0" dirty="0">
                <a:solidFill>
                  <a:srgbClr val="9297A8"/>
                </a:solidFill>
                <a:latin typeface="Consolas" pitchFamily="34" charset="0"/>
                <a:ea typeface="Consolas" pitchFamily="34" charset="-122"/>
                <a:cs typeface="Consolas" pitchFamily="34" charset="-120"/>
              </a:rPr>
              <a:t>LEVER 06</a:t>
            </a:r>
            <a:endParaRPr lang="en-US" sz="950" dirty="0"/>
          </a:p>
        </p:txBody>
      </p:sp>
      <p:sp>
        <p:nvSpPr>
          <p:cNvPr id="32" name="Text 24"/>
          <p:cNvSpPr/>
          <p:nvPr/>
        </p:nvSpPr>
        <p:spPr>
          <a:xfrm>
            <a:off x="8476488" y="4690872"/>
            <a:ext cx="2761488" cy="457200"/>
          </a:xfrm>
          <a:prstGeom prst="rect">
            <a:avLst/>
          </a:prstGeom>
          <a:noFill/>
          <a:ln/>
        </p:spPr>
        <p:txBody>
          <a:bodyPr wrap="square" rtlCol="0" anchor="ctr"/>
          <a:lstStyle/>
          <a:p>
            <a:pPr indent="0" marL="0">
              <a:buNone/>
            </a:pPr>
            <a:r>
              <a:rPr lang="en-US" sz="2100" dirty="0">
                <a:solidFill>
                  <a:srgbClr val="ECE7DE"/>
                </a:solidFill>
                <a:latin typeface="Cambria" pitchFamily="34" charset="0"/>
                <a:ea typeface="Cambria" pitchFamily="34" charset="-122"/>
                <a:cs typeface="Cambria" pitchFamily="34" charset="-120"/>
              </a:rPr>
              <a:t>Orchestration</a:t>
            </a:r>
            <a:endParaRPr lang="en-US" sz="2100" dirty="0"/>
          </a:p>
        </p:txBody>
      </p:sp>
      <p:sp>
        <p:nvSpPr>
          <p:cNvPr id="33" name="Text 25"/>
          <p:cNvSpPr/>
          <p:nvPr/>
        </p:nvSpPr>
        <p:spPr>
          <a:xfrm>
            <a:off x="8476488" y="5193792"/>
            <a:ext cx="2761488" cy="685800"/>
          </a:xfrm>
          <a:prstGeom prst="rect">
            <a:avLst/>
          </a:prstGeom>
          <a:noFill/>
          <a:ln/>
        </p:spPr>
        <p:txBody>
          <a:bodyPr wrap="square" rtlCol="0" anchor="ctr"/>
          <a:lstStyle/>
          <a:p>
            <a:pPr indent="0" marL="0">
              <a:lnSpc>
                <a:spcPts val="1700"/>
              </a:lnSpc>
              <a:buNone/>
            </a:pPr>
            <a:r>
              <a:rPr lang="en-US" sz="1250" dirty="0">
                <a:solidFill>
                  <a:srgbClr val="9297A8"/>
                </a:solidFill>
                <a:latin typeface="Calibri" pitchFamily="34" charset="0"/>
                <a:ea typeface="Calibri" pitchFamily="34" charset="-122"/>
                <a:cs typeface="Calibri" pitchFamily="34" charset="-120"/>
              </a:rPr>
              <a:t>Who talks to whom. Tonight, a crew.</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SHIFT</a:t>
            </a:r>
            <a:endParaRPr lang="en-US" sz="1100" dirty="0"/>
          </a:p>
        </p:txBody>
      </p:sp>
      <p:sp>
        <p:nvSpPr>
          <p:cNvPr id="3" name="Text 1"/>
          <p:cNvSpPr/>
          <p:nvPr/>
        </p:nvSpPr>
        <p:spPr>
          <a:xfrm>
            <a:off x="1097280" y="1280160"/>
            <a:ext cx="10058400" cy="1645920"/>
          </a:xfrm>
          <a:prstGeom prst="rect">
            <a:avLst/>
          </a:prstGeom>
          <a:noFill/>
          <a:ln/>
        </p:spPr>
        <p:txBody>
          <a:bodyPr wrap="square" rtlCol="0" anchor="ctr"/>
          <a:lstStyle/>
          <a:p>
            <a:pPr algn="ctr" indent="0" marL="0">
              <a:lnSpc>
                <a:spcPts val="5200"/>
              </a:lnSpc>
              <a:buNone/>
            </a:pPr>
            <a:r>
              <a:rPr lang="en-US" sz="4600" dirty="0">
                <a:solidFill>
                  <a:srgbClr val="ECE7DE"/>
                </a:solidFill>
                <a:latin typeface="Cambria" pitchFamily="34" charset="0"/>
                <a:ea typeface="Cambria" pitchFamily="34" charset="-122"/>
                <a:cs typeface="Cambria" pitchFamily="34" charset="-120"/>
              </a:rPr>
              <a:t>You don't </a:t>
            </a:r>
            <a:pPr algn="ctr" indent="0" marL="0">
              <a:lnSpc>
                <a:spcPts val="5200"/>
              </a:lnSpc>
              <a:buNone/>
            </a:pPr>
            <a:r>
              <a:rPr lang="en-US" sz="4600" i="1" dirty="0">
                <a:solidFill>
                  <a:srgbClr val="F5A524"/>
                </a:solidFill>
                <a:latin typeface="Cambria" pitchFamily="34" charset="0"/>
                <a:ea typeface="Cambria" pitchFamily="34" charset="-122"/>
                <a:cs typeface="Cambria" pitchFamily="34" charset="-120"/>
              </a:rPr>
              <a:t>program</a:t>
            </a:r>
            <a:pPr algn="ctr" indent="0" marL="0">
              <a:lnSpc>
                <a:spcPts val="5200"/>
              </a:lnSpc>
              <a:buNone/>
            </a:pPr>
            <a:r>
              <a:rPr lang="en-US" sz="4600" dirty="0">
                <a:solidFill>
                  <a:srgbClr val="ECE7DE"/>
                </a:solidFill>
                <a:latin typeface="Cambria" pitchFamily="34" charset="0"/>
                <a:ea typeface="Cambria" pitchFamily="34" charset="-122"/>
                <a:cs typeface="Cambria" pitchFamily="34" charset="-120"/>
              </a:rPr>
              <a:t> an agent.</a:t>
            </a:r>
            <a:endParaRPr lang="en-US" sz="4600" dirty="0"/>
          </a:p>
          <a:p>
            <a:pPr algn="ctr" indent="0" marL="0">
              <a:lnSpc>
                <a:spcPts val="5200"/>
              </a:lnSpc>
              <a:buNone/>
            </a:pPr>
            <a:r>
              <a:rPr lang="en-US" sz="4600" dirty="0">
                <a:solidFill>
                  <a:srgbClr val="ECE7DE"/>
                </a:solidFill>
                <a:latin typeface="Cambria" pitchFamily="34" charset="0"/>
                <a:ea typeface="Cambria" pitchFamily="34" charset="-122"/>
                <a:cs typeface="Cambria" pitchFamily="34" charset="-120"/>
              </a:rPr>
              <a:t>You </a:t>
            </a:r>
            <a:endParaRPr lang="en-US" sz="4600" dirty="0"/>
          </a:p>
          <a:p>
            <a:pPr algn="ctr" indent="0" marL="0">
              <a:lnSpc>
                <a:spcPts val="5200"/>
              </a:lnSpc>
              <a:buNone/>
            </a:pPr>
            <a:r>
              <a:rPr lang="en-US" sz="4600" i="1" dirty="0">
                <a:solidFill>
                  <a:srgbClr val="F5A524"/>
                </a:solidFill>
                <a:latin typeface="Cambria" pitchFamily="34" charset="0"/>
                <a:ea typeface="Cambria" pitchFamily="34" charset="-122"/>
                <a:cs typeface="Cambria" pitchFamily="34" charset="-120"/>
              </a:rPr>
              <a:t>constrain</a:t>
            </a:r>
            <a:pPr algn="ctr" indent="0" marL="0">
              <a:lnSpc>
                <a:spcPts val="5200"/>
              </a:lnSpc>
              <a:buNone/>
            </a:pPr>
            <a:r>
              <a:rPr lang="en-US" sz="4600" dirty="0">
                <a:solidFill>
                  <a:srgbClr val="ECE7DE"/>
                </a:solidFill>
                <a:latin typeface="Cambria" pitchFamily="34" charset="0"/>
                <a:ea typeface="Cambria" pitchFamily="34" charset="-122"/>
                <a:cs typeface="Cambria" pitchFamily="34" charset="-120"/>
              </a:rPr>
              <a:t> it.</a:t>
            </a:r>
            <a:endParaRPr lang="en-US" sz="4600" dirty="0"/>
          </a:p>
        </p:txBody>
      </p:sp>
      <p:sp>
        <p:nvSpPr>
          <p:cNvPr id="4" name="Shape 2"/>
          <p:cNvSpPr/>
          <p:nvPr/>
        </p:nvSpPr>
        <p:spPr>
          <a:xfrm>
            <a:off x="5410048" y="3977640"/>
            <a:ext cx="1371600" cy="914400"/>
          </a:xfrm>
          <a:prstGeom prst="roundRect">
            <a:avLst>
              <a:gd name="adj" fmla="val 12000"/>
            </a:avLst>
          </a:prstGeom>
          <a:solidFill>
            <a:srgbClr val="000000">
              <a:alpha val="0"/>
            </a:srgbClr>
          </a:solidFill>
          <a:ln w="19050">
            <a:solidFill>
              <a:srgbClr val="F5A524"/>
            </a:solidFill>
            <a:prstDash val="dash"/>
          </a:ln>
        </p:spPr>
      </p:sp>
      <p:sp>
        <p:nvSpPr>
          <p:cNvPr id="5" name="Shape 3"/>
          <p:cNvSpPr/>
          <p:nvPr/>
        </p:nvSpPr>
        <p:spPr>
          <a:xfrm>
            <a:off x="5967832" y="4306824"/>
            <a:ext cx="256032" cy="256032"/>
          </a:xfrm>
          <a:prstGeom prst="ellipse">
            <a:avLst/>
          </a:prstGeom>
          <a:solidFill>
            <a:srgbClr val="F5A524"/>
          </a:solidFill>
          <a:ln w="12700">
            <a:solidFill>
              <a:srgbClr val="F5A524"/>
            </a:solidFill>
            <a:prstDash val="solid"/>
          </a:ln>
          <a:effectLst>
            <a:outerShdw sx="100000" sy="100000" kx="0" ky="0" algn="bl" rotWithShape="0" blurRad="152400" dist="50800" dir="16200000">
              <a:srgbClr val="F5A524">
                <a:alpha val="60000"/>
              </a:srgbClr>
            </a:outerShdw>
          </a:effectLst>
        </p:spPr>
      </p:sp>
      <p:sp>
        <p:nvSpPr>
          <p:cNvPr id="6" name="Text 4"/>
          <p:cNvSpPr/>
          <p:nvPr/>
        </p:nvSpPr>
        <p:spPr>
          <a:xfrm>
            <a:off x="4632808" y="3474720"/>
            <a:ext cx="2926080" cy="292608"/>
          </a:xfrm>
          <a:prstGeom prst="rect">
            <a:avLst/>
          </a:prstGeom>
          <a:noFill/>
          <a:ln/>
        </p:spPr>
        <p:txBody>
          <a:bodyPr wrap="square" rtlCol="0" anchor="ctr"/>
          <a:lstStyle/>
          <a:p>
            <a:pPr algn="ctr" indent="0" marL="0">
              <a:buNone/>
            </a:pPr>
            <a:r>
              <a:rPr lang="en-US" sz="1100" b="1" spc="100" kern="0" dirty="0">
                <a:solidFill>
                  <a:srgbClr val="2DD4BF"/>
                </a:solidFill>
                <a:latin typeface="Consolas" pitchFamily="34" charset="0"/>
                <a:ea typeface="Consolas" pitchFamily="34" charset="-122"/>
                <a:cs typeface="Consolas" pitchFamily="34" charset="-120"/>
              </a:rPr>
              <a:t>PROMPT  </a:t>
            </a:r>
            <a:pPr algn="ctr" indent="0" marL="0">
              <a:buNone/>
            </a:pPr>
            <a:r>
              <a:rPr lang="en-US" sz="1100" spc="100" kern="0" dirty="0">
                <a:solidFill>
                  <a:srgbClr val="5A6072"/>
                </a:solidFill>
                <a:latin typeface="Consolas" pitchFamily="34" charset="0"/>
                <a:ea typeface="Consolas" pitchFamily="34" charset="-122"/>
                <a:cs typeface="Consolas" pitchFamily="34" charset="-120"/>
              </a:rPr>
              <a:t>says what</a:t>
            </a:r>
            <a:endParaRPr lang="en-US" sz="1100" dirty="0"/>
          </a:p>
        </p:txBody>
      </p:sp>
      <p:sp>
        <p:nvSpPr>
          <p:cNvPr id="7" name="Text 5"/>
          <p:cNvSpPr/>
          <p:nvPr/>
        </p:nvSpPr>
        <p:spPr>
          <a:xfrm>
            <a:off x="7101688" y="4288536"/>
            <a:ext cx="2926080" cy="292608"/>
          </a:xfrm>
          <a:prstGeom prst="rect">
            <a:avLst/>
          </a:prstGeom>
          <a:noFill/>
          <a:ln/>
        </p:spPr>
        <p:txBody>
          <a:bodyPr wrap="square" rtlCol="0" anchor="ctr"/>
          <a:lstStyle/>
          <a:p>
            <a:pPr algn="l" indent="0" marL="0">
              <a:buNone/>
            </a:pPr>
            <a:r>
              <a:rPr lang="en-US" sz="1100" b="1" spc="100" kern="0" dirty="0">
                <a:solidFill>
                  <a:srgbClr val="8B5CF6"/>
                </a:solidFill>
                <a:latin typeface="Consolas" pitchFamily="34" charset="0"/>
                <a:ea typeface="Consolas" pitchFamily="34" charset="-122"/>
                <a:cs typeface="Consolas" pitchFamily="34" charset="-120"/>
              </a:rPr>
              <a:t>TOOLS  </a:t>
            </a:r>
            <a:pPr algn="l" indent="0" marL="0">
              <a:buNone/>
            </a:pPr>
            <a:r>
              <a:rPr lang="en-US" sz="1100" spc="100" kern="0" dirty="0">
                <a:solidFill>
                  <a:srgbClr val="5A6072"/>
                </a:solidFill>
                <a:latin typeface="Consolas" pitchFamily="34" charset="0"/>
                <a:ea typeface="Consolas" pitchFamily="34" charset="-122"/>
                <a:cs typeface="Consolas" pitchFamily="34" charset="-120"/>
              </a:rPr>
              <a:t>say how far</a:t>
            </a:r>
            <a:endParaRPr lang="en-US" sz="1100" dirty="0"/>
          </a:p>
        </p:txBody>
      </p:sp>
      <p:sp>
        <p:nvSpPr>
          <p:cNvPr id="8" name="Text 6"/>
          <p:cNvSpPr/>
          <p:nvPr/>
        </p:nvSpPr>
        <p:spPr>
          <a:xfrm>
            <a:off x="4632808" y="5148072"/>
            <a:ext cx="2926080" cy="292608"/>
          </a:xfrm>
          <a:prstGeom prst="rect">
            <a:avLst/>
          </a:prstGeom>
          <a:noFill/>
          <a:ln/>
        </p:spPr>
        <p:txBody>
          <a:bodyPr wrap="square" rtlCol="0" anchor="ctr"/>
          <a:lstStyle/>
          <a:p>
            <a:pPr algn="ctr" indent="0" marL="0">
              <a:buNone/>
            </a:pPr>
            <a:r>
              <a:rPr lang="en-US" sz="1100" b="1" spc="100" kern="0" dirty="0">
                <a:solidFill>
                  <a:srgbClr val="38BDF8"/>
                </a:solidFill>
                <a:latin typeface="Consolas" pitchFamily="34" charset="0"/>
                <a:ea typeface="Consolas" pitchFamily="34" charset="-122"/>
                <a:cs typeface="Consolas" pitchFamily="34" charset="-120"/>
              </a:rPr>
              <a:t>SCHEMA  </a:t>
            </a:r>
            <a:pPr algn="ctr" indent="0" marL="0">
              <a:buNone/>
            </a:pPr>
            <a:r>
              <a:rPr lang="en-US" sz="1100" spc="100" kern="0" dirty="0">
                <a:solidFill>
                  <a:srgbClr val="5A6072"/>
                </a:solidFill>
                <a:latin typeface="Consolas" pitchFamily="34" charset="0"/>
                <a:ea typeface="Consolas" pitchFamily="34" charset="-122"/>
                <a:cs typeface="Consolas" pitchFamily="34" charset="-120"/>
              </a:rPr>
              <a:t>says what shape</a:t>
            </a:r>
            <a:endParaRPr lang="en-US" sz="1100" dirty="0"/>
          </a:p>
        </p:txBody>
      </p:sp>
      <p:sp>
        <p:nvSpPr>
          <p:cNvPr id="9" name="Text 7"/>
          <p:cNvSpPr/>
          <p:nvPr/>
        </p:nvSpPr>
        <p:spPr>
          <a:xfrm>
            <a:off x="2163928" y="4288536"/>
            <a:ext cx="2926080" cy="292608"/>
          </a:xfrm>
          <a:prstGeom prst="rect">
            <a:avLst/>
          </a:prstGeom>
          <a:noFill/>
          <a:ln/>
        </p:spPr>
        <p:txBody>
          <a:bodyPr wrap="square" rtlCol="0" anchor="ctr"/>
          <a:lstStyle/>
          <a:p>
            <a:pPr algn="r" indent="0" marL="0">
              <a:buNone/>
            </a:pPr>
            <a:r>
              <a:rPr lang="en-US" sz="1100" b="1" spc="100" kern="0" dirty="0">
                <a:solidFill>
                  <a:srgbClr val="FB7185"/>
                </a:solidFill>
                <a:latin typeface="Consolas" pitchFamily="34" charset="0"/>
                <a:ea typeface="Consolas" pitchFamily="34" charset="-122"/>
                <a:cs typeface="Consolas" pitchFamily="34" charset="-120"/>
              </a:rPr>
              <a:t>ORCHESTRATION  </a:t>
            </a:r>
            <a:pPr algn="r" indent="0" marL="0">
              <a:buNone/>
            </a:pPr>
            <a:r>
              <a:rPr lang="en-US" sz="1100" spc="100" kern="0" dirty="0">
                <a:solidFill>
                  <a:srgbClr val="5A6072"/>
                </a:solidFill>
                <a:latin typeface="Consolas" pitchFamily="34" charset="0"/>
                <a:ea typeface="Consolas" pitchFamily="34" charset="-122"/>
                <a:cs typeface="Consolas" pitchFamily="34" charset="-120"/>
              </a:rPr>
              <a:t>says who</a:t>
            </a:r>
            <a:endParaRPr lang="en-US" sz="1100" dirty="0"/>
          </a:p>
        </p:txBody>
      </p:sp>
      <p:sp>
        <p:nvSpPr>
          <p:cNvPr id="10" name="Text 8"/>
          <p:cNvSpPr/>
          <p:nvPr/>
        </p:nvSpPr>
        <p:spPr>
          <a:xfrm>
            <a:off x="2286000" y="5943600"/>
            <a:ext cx="7616952" cy="457200"/>
          </a:xfrm>
          <a:prstGeom prst="rect">
            <a:avLst/>
          </a:prstGeom>
          <a:noFill/>
          <a:ln/>
        </p:spPr>
        <p:txBody>
          <a:bodyPr wrap="square" rtlCol="0" anchor="ctr"/>
          <a:lstStyle/>
          <a:p>
            <a:pPr algn="ctr" indent="0" marL="0">
              <a:buNone/>
            </a:pPr>
            <a:r>
              <a:rPr lang="en-US" sz="1700" dirty="0">
                <a:solidFill>
                  <a:srgbClr val="9297A8"/>
                </a:solidFill>
                <a:latin typeface="Calibri" pitchFamily="34" charset="0"/>
                <a:ea typeface="Calibri" pitchFamily="34" charset="-122"/>
                <a:cs typeface="Calibri" pitchFamily="34" charset="-120"/>
              </a:rPr>
              <a:t>Good agent design is good constraint design.</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D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5000"/>
          </a:blip>
          <a:stretch>
            <a:fillRect/>
          </a:stretch>
        </p:blipFill>
        <p:spPr>
          <a:xfrm>
            <a:off x="7955280" y="2834640"/>
            <a:ext cx="4023360" cy="4023360"/>
          </a:xfrm>
          <a:prstGeom prst="rect">
            <a:avLst/>
          </a:prstGeom>
        </p:spPr>
      </p:pic>
      <p:sp>
        <p:nvSpPr>
          <p:cNvPr id="3" name="Text 0"/>
          <p:cNvSpPr/>
          <p:nvPr/>
        </p:nvSpPr>
        <p:spPr>
          <a:xfrm>
            <a:off x="841248" y="1188720"/>
            <a:ext cx="3657600" cy="1463040"/>
          </a:xfrm>
          <a:prstGeom prst="rect">
            <a:avLst/>
          </a:prstGeom>
          <a:noFill/>
          <a:ln/>
        </p:spPr>
        <p:txBody>
          <a:bodyPr wrap="square" rtlCol="0" anchor="ctr"/>
          <a:lstStyle/>
          <a:p>
            <a:pPr indent="0" marL="0">
              <a:buNone/>
            </a:pPr>
            <a:r>
              <a:rPr lang="en-US" sz="9600" i="1" dirty="0">
                <a:solidFill>
                  <a:srgbClr val="2A3040"/>
                </a:solidFill>
                <a:latin typeface="Cambria" pitchFamily="34" charset="0"/>
                <a:ea typeface="Cambria" pitchFamily="34" charset="-122"/>
                <a:cs typeface="Cambria" pitchFamily="34" charset="-120"/>
              </a:rPr>
              <a:t>v.</a:t>
            </a:r>
            <a:endParaRPr lang="en-US" sz="9600" dirty="0"/>
          </a:p>
        </p:txBody>
      </p:sp>
      <p:sp>
        <p:nvSpPr>
          <p:cNvPr id="4" name="Text 1"/>
          <p:cNvSpPr/>
          <p:nvPr/>
        </p:nvSpPr>
        <p:spPr>
          <a:xfrm>
            <a:off x="841248" y="2880360"/>
            <a:ext cx="9144000" cy="292608"/>
          </a:xfrm>
          <a:prstGeom prst="rect">
            <a:avLst/>
          </a:prstGeom>
          <a:noFill/>
          <a:ln/>
        </p:spPr>
        <p:txBody>
          <a:bodyPr wrap="square" rtlCol="0" anchor="ctr"/>
          <a:lstStyle/>
          <a:p>
            <a:pPr algn="l" indent="0" marL="0">
              <a:buNone/>
            </a:pPr>
            <a:r>
              <a:rPr lang="en-US" sz="1100" b="1" spc="400" kern="0" dirty="0">
                <a:solidFill>
                  <a:srgbClr val="2DD4BF"/>
                </a:solidFill>
                <a:latin typeface="Calibri" pitchFamily="34" charset="0"/>
                <a:ea typeface="Calibri" pitchFamily="34" charset="-122"/>
                <a:cs typeface="Calibri" pitchFamily="34" charset="-120"/>
              </a:rPr>
              <a:t>ACT FIVE</a:t>
            </a:r>
            <a:endParaRPr lang="en-US" sz="1100" dirty="0"/>
          </a:p>
        </p:txBody>
      </p:sp>
      <p:sp>
        <p:nvSpPr>
          <p:cNvPr id="5" name="Text 2"/>
          <p:cNvSpPr/>
          <p:nvPr/>
        </p:nvSpPr>
        <p:spPr>
          <a:xfrm>
            <a:off x="841248" y="3200400"/>
            <a:ext cx="8229600" cy="1371600"/>
          </a:xfrm>
          <a:prstGeom prst="rect">
            <a:avLst/>
          </a:prstGeom>
          <a:noFill/>
          <a:ln/>
        </p:spPr>
        <p:txBody>
          <a:bodyPr wrap="square" rtlCol="0" anchor="ctr"/>
          <a:lstStyle/>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One Prompt.</a:t>
            </a:r>
            <a:endParaRPr lang="en-US" sz="5200" dirty="0"/>
          </a:p>
          <a:p>
            <a:pPr indent="0" marL="0">
              <a:lnSpc>
                <a:spcPts val="5000"/>
              </a:lnSpc>
              <a:buNone/>
            </a:pPr>
            <a:r>
              <a:rPr lang="en-US" sz="5200" dirty="0">
                <a:solidFill>
                  <a:srgbClr val="ECE7DE"/>
                </a:solidFill>
                <a:latin typeface="Cambria" pitchFamily="34" charset="0"/>
                <a:ea typeface="Cambria" pitchFamily="34" charset="-122"/>
                <a:cs typeface="Cambria" pitchFamily="34" charset="-120"/>
              </a:rPr>
              <a:t>Many Workers.</a:t>
            </a:r>
            <a:endParaRPr lang="en-US" sz="5200" dirty="0"/>
          </a:p>
        </p:txBody>
      </p:sp>
      <p:sp>
        <p:nvSpPr>
          <p:cNvPr id="6" name="Text 3"/>
          <p:cNvSpPr/>
          <p:nvPr/>
        </p:nvSpPr>
        <p:spPr>
          <a:xfrm>
            <a:off x="841248" y="5029200"/>
            <a:ext cx="6858000" cy="822960"/>
          </a:xfrm>
          <a:prstGeom prst="rect">
            <a:avLst/>
          </a:prstGeom>
          <a:noFill/>
          <a:ln/>
        </p:spPr>
        <p:txBody>
          <a:bodyPr wrap="square" rtlCol="0" anchor="ctr"/>
          <a:lstStyle/>
          <a:p>
            <a:pPr indent="0" marL="0">
              <a:lnSpc>
                <a:spcPts val="2500"/>
              </a:lnSpc>
              <a:buNone/>
            </a:pPr>
            <a:r>
              <a:rPr lang="en-US" sz="1700" dirty="0">
                <a:solidFill>
                  <a:srgbClr val="9297A8"/>
                </a:solidFill>
                <a:latin typeface="Calibri" pitchFamily="34" charset="0"/>
                <a:ea typeface="Calibri" pitchFamily="34" charset="-122"/>
                <a:cs typeface="Calibri" pitchFamily="34" charset="-120"/>
              </a:rPr>
              <a:t>The orchestrator-worker pattern. Then we run it, live.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2DD4BF"/>
                </a:solidFill>
                <a:latin typeface="Calibri" pitchFamily="34" charset="0"/>
                <a:ea typeface="Calibri" pitchFamily="34" charset="-122"/>
                <a:cs typeface="Calibri" pitchFamily="34" charset="-120"/>
              </a:rPr>
              <a:t>THE PATTERN</a:t>
            </a:r>
            <a:endParaRPr lang="en-US" sz="1100" dirty="0"/>
          </a:p>
        </p:txBody>
      </p:sp>
      <p:sp>
        <p:nvSpPr>
          <p:cNvPr id="3" name="Text 1"/>
          <p:cNvSpPr/>
          <p:nvPr/>
        </p:nvSpPr>
        <p:spPr>
          <a:xfrm>
            <a:off x="841248" y="1051560"/>
            <a:ext cx="10058400" cy="822960"/>
          </a:xfrm>
          <a:prstGeom prst="rect">
            <a:avLst/>
          </a:prstGeom>
          <a:noFill/>
          <a:ln/>
        </p:spPr>
        <p:txBody>
          <a:bodyPr wrap="square" rtlCol="0" anchor="ctr"/>
          <a:lstStyle/>
          <a:p>
            <a:pPr indent="0" marL="0">
              <a:buNone/>
            </a:pPr>
            <a:r>
              <a:rPr lang="en-US" sz="3400" dirty="0">
                <a:solidFill>
                  <a:srgbClr val="ECE7DE"/>
                </a:solidFill>
                <a:latin typeface="Cambria" pitchFamily="34" charset="0"/>
                <a:ea typeface="Cambria" pitchFamily="34" charset="-122"/>
                <a:cs typeface="Cambria" pitchFamily="34" charset="-120"/>
              </a:rPr>
              <a:t>Plan. Dispatch. </a:t>
            </a:r>
            <a:pPr indent="0" marL="0">
              <a:buNone/>
            </a:pPr>
            <a:r>
              <a:rPr lang="en-US" sz="3400" i="1" dirty="0">
                <a:solidFill>
                  <a:srgbClr val="F5A524"/>
                </a:solidFill>
                <a:latin typeface="Cambria" pitchFamily="34" charset="0"/>
                <a:ea typeface="Cambria" pitchFamily="34" charset="-122"/>
                <a:cs typeface="Cambria" pitchFamily="34" charset="-120"/>
              </a:rPr>
              <a:t>Synthesize.</a:t>
            </a:r>
            <a:endParaRPr lang="en-US" sz="3400" dirty="0"/>
          </a:p>
        </p:txBody>
      </p:sp>
      <p:sp>
        <p:nvSpPr>
          <p:cNvPr id="4" name="Shape 2"/>
          <p:cNvSpPr/>
          <p:nvPr/>
        </p:nvSpPr>
        <p:spPr>
          <a:xfrm>
            <a:off x="841248" y="2971800"/>
            <a:ext cx="1554480" cy="822960"/>
          </a:xfrm>
          <a:prstGeom prst="roundRect">
            <a:avLst>
              <a:gd name="adj" fmla="val 11111"/>
            </a:avLst>
          </a:prstGeom>
          <a:solidFill>
            <a:srgbClr val="161B27"/>
          </a:solidFill>
          <a:ln w="15240">
            <a:solidFill>
              <a:srgbClr val="F5A524"/>
            </a:solidFill>
            <a:prstDash val="solid"/>
          </a:ln>
          <a:effectLst>
            <a:outerShdw sx="100000" sy="100000" kx="0" ky="0" algn="bl" rotWithShape="0" blurRad="177800" dist="50800" dir="5400000">
              <a:srgbClr val="000000">
                <a:alpha val="55000"/>
              </a:srgbClr>
            </a:outerShdw>
          </a:effectLst>
        </p:spPr>
      </p:sp>
      <p:sp>
        <p:nvSpPr>
          <p:cNvPr id="5" name="Text 3"/>
          <p:cNvSpPr/>
          <p:nvPr/>
        </p:nvSpPr>
        <p:spPr>
          <a:xfrm>
            <a:off x="841248" y="3090672"/>
            <a:ext cx="1554480" cy="365760"/>
          </a:xfrm>
          <a:prstGeom prst="rect">
            <a:avLst/>
          </a:prstGeom>
          <a:noFill/>
          <a:ln/>
        </p:spPr>
        <p:txBody>
          <a:bodyPr wrap="square" rtlCol="0" anchor="ctr"/>
          <a:lstStyle/>
          <a:p>
            <a:pPr algn="ctr" indent="0" marL="0">
              <a:buNone/>
            </a:pPr>
            <a:r>
              <a:rPr lang="en-US" sz="1300" dirty="0">
                <a:solidFill>
                  <a:srgbClr val="F5A524"/>
                </a:solidFill>
                <a:latin typeface="Consolas" pitchFamily="34" charset="0"/>
                <a:ea typeface="Consolas" pitchFamily="34" charset="-122"/>
                <a:cs typeface="Consolas" pitchFamily="34" charset="-120"/>
              </a:rPr>
              <a:t>one prompt</a:t>
            </a:r>
            <a:endParaRPr lang="en-US" sz="1300" dirty="0"/>
          </a:p>
        </p:txBody>
      </p:sp>
      <p:sp>
        <p:nvSpPr>
          <p:cNvPr id="6" name="Text 4"/>
          <p:cNvSpPr/>
          <p:nvPr/>
        </p:nvSpPr>
        <p:spPr>
          <a:xfrm>
            <a:off x="841248" y="3429000"/>
            <a:ext cx="155448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ENGLISH</a:t>
            </a:r>
            <a:endParaRPr lang="en-US" sz="850" dirty="0"/>
          </a:p>
        </p:txBody>
      </p:sp>
      <p:sp>
        <p:nvSpPr>
          <p:cNvPr id="7" name="Shape 5"/>
          <p:cNvSpPr/>
          <p:nvPr/>
        </p:nvSpPr>
        <p:spPr>
          <a:xfrm>
            <a:off x="2487168" y="3383280"/>
            <a:ext cx="457200" cy="0"/>
          </a:xfrm>
          <a:prstGeom prst="line">
            <a:avLst/>
          </a:prstGeom>
          <a:noFill/>
          <a:ln w="20320">
            <a:solidFill>
              <a:srgbClr val="5A6072"/>
            </a:solidFill>
            <a:prstDash val="solid"/>
            <a:tailEnd type="triangle"/>
          </a:ln>
        </p:spPr>
      </p:sp>
      <p:sp>
        <p:nvSpPr>
          <p:cNvPr id="8" name="Shape 6"/>
          <p:cNvSpPr/>
          <p:nvPr/>
        </p:nvSpPr>
        <p:spPr>
          <a:xfrm>
            <a:off x="3035808" y="2971800"/>
            <a:ext cx="1737360" cy="822960"/>
          </a:xfrm>
          <a:prstGeom prst="roundRect">
            <a:avLst>
              <a:gd name="adj" fmla="val 11111"/>
            </a:avLst>
          </a:prstGeom>
          <a:solidFill>
            <a:srgbClr val="161B27"/>
          </a:solidFill>
          <a:ln w="15240">
            <a:solidFill>
              <a:srgbClr val="F5A524"/>
            </a:solidFill>
            <a:prstDash val="solid"/>
          </a:ln>
          <a:effectLst>
            <a:outerShdw sx="100000" sy="100000" kx="0" ky="0" algn="bl" rotWithShape="0" blurRad="177800" dist="50800" dir="5400000">
              <a:srgbClr val="000000">
                <a:alpha val="55000"/>
              </a:srgbClr>
            </a:outerShdw>
          </a:effectLst>
        </p:spPr>
      </p:sp>
      <p:sp>
        <p:nvSpPr>
          <p:cNvPr id="9" name="Text 7"/>
          <p:cNvSpPr/>
          <p:nvPr/>
        </p:nvSpPr>
        <p:spPr>
          <a:xfrm>
            <a:off x="3035808" y="3090672"/>
            <a:ext cx="1737360" cy="365760"/>
          </a:xfrm>
          <a:prstGeom prst="rect">
            <a:avLst/>
          </a:prstGeom>
          <a:noFill/>
          <a:ln/>
        </p:spPr>
        <p:txBody>
          <a:bodyPr wrap="square" rtlCol="0" anchor="ctr"/>
          <a:lstStyle/>
          <a:p>
            <a:pPr algn="ctr" indent="0" marL="0">
              <a:buNone/>
            </a:pPr>
            <a:r>
              <a:rPr lang="en-US" sz="1300" dirty="0">
                <a:solidFill>
                  <a:srgbClr val="F5A524"/>
                </a:solidFill>
                <a:latin typeface="Consolas" pitchFamily="34" charset="0"/>
                <a:ea typeface="Consolas" pitchFamily="34" charset="-122"/>
                <a:cs typeface="Consolas" pitchFamily="34" charset="-120"/>
              </a:rPr>
              <a:t>Planner</a:t>
            </a:r>
            <a:endParaRPr lang="en-US" sz="1300" dirty="0"/>
          </a:p>
        </p:txBody>
      </p:sp>
      <p:sp>
        <p:nvSpPr>
          <p:cNvPr id="10" name="Text 8"/>
          <p:cNvSpPr/>
          <p:nvPr/>
        </p:nvSpPr>
        <p:spPr>
          <a:xfrm>
            <a:off x="3035808" y="3429000"/>
            <a:ext cx="173736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STRUCTURED</a:t>
            </a:r>
            <a:endParaRPr lang="en-US" sz="850" dirty="0"/>
          </a:p>
        </p:txBody>
      </p:sp>
      <p:sp>
        <p:nvSpPr>
          <p:cNvPr id="11" name="Shape 9"/>
          <p:cNvSpPr/>
          <p:nvPr/>
        </p:nvSpPr>
        <p:spPr>
          <a:xfrm>
            <a:off x="4864608" y="3383280"/>
            <a:ext cx="457200" cy="0"/>
          </a:xfrm>
          <a:prstGeom prst="line">
            <a:avLst/>
          </a:prstGeom>
          <a:noFill/>
          <a:ln w="20320">
            <a:solidFill>
              <a:srgbClr val="5A6072"/>
            </a:solidFill>
            <a:prstDash val="solid"/>
            <a:tailEnd type="triangle"/>
          </a:ln>
        </p:spPr>
      </p:sp>
      <p:sp>
        <p:nvSpPr>
          <p:cNvPr id="12" name="Shape 10"/>
          <p:cNvSpPr/>
          <p:nvPr/>
        </p:nvSpPr>
        <p:spPr>
          <a:xfrm>
            <a:off x="5413248" y="2148840"/>
            <a:ext cx="1691640" cy="658368"/>
          </a:xfrm>
          <a:prstGeom prst="roundRect">
            <a:avLst>
              <a:gd name="adj" fmla="val 13889"/>
            </a:avLst>
          </a:prstGeom>
          <a:solidFill>
            <a:srgbClr val="161B27"/>
          </a:solidFill>
          <a:ln w="15240">
            <a:solidFill>
              <a:srgbClr val="2DD4BF"/>
            </a:solidFill>
            <a:prstDash val="solid"/>
          </a:ln>
          <a:effectLst>
            <a:outerShdw sx="100000" sy="100000" kx="0" ky="0" algn="bl" rotWithShape="0" blurRad="177800" dist="50800" dir="5400000">
              <a:srgbClr val="000000">
                <a:alpha val="55000"/>
              </a:srgbClr>
            </a:outerShdw>
          </a:effectLst>
        </p:spPr>
      </p:sp>
      <p:sp>
        <p:nvSpPr>
          <p:cNvPr id="13" name="Text 11"/>
          <p:cNvSpPr/>
          <p:nvPr/>
        </p:nvSpPr>
        <p:spPr>
          <a:xfrm>
            <a:off x="5413248" y="2185416"/>
            <a:ext cx="1691640" cy="365760"/>
          </a:xfrm>
          <a:prstGeom prst="rect">
            <a:avLst/>
          </a:prstGeom>
          <a:noFill/>
          <a:ln/>
        </p:spPr>
        <p:txBody>
          <a:bodyPr wrap="square" rtlCol="0" anchor="ctr"/>
          <a:lstStyle/>
          <a:p>
            <a:pPr algn="ctr" indent="0" marL="0">
              <a:buNone/>
            </a:pPr>
            <a:r>
              <a:rPr lang="en-US" sz="1300" dirty="0">
                <a:solidFill>
                  <a:srgbClr val="2DD4BF"/>
                </a:solidFill>
                <a:latin typeface="Consolas" pitchFamily="34" charset="0"/>
                <a:ea typeface="Consolas" pitchFamily="34" charset="-122"/>
                <a:cs typeface="Consolas" pitchFamily="34" charset="-120"/>
              </a:rPr>
              <a:t>Worker</a:t>
            </a:r>
            <a:endParaRPr lang="en-US" sz="1300" dirty="0"/>
          </a:p>
        </p:txBody>
      </p:sp>
      <p:sp>
        <p:nvSpPr>
          <p:cNvPr id="14" name="Text 12"/>
          <p:cNvSpPr/>
          <p:nvPr/>
        </p:nvSpPr>
        <p:spPr>
          <a:xfrm>
            <a:off x="5413248" y="2523744"/>
            <a:ext cx="169164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ENGINEER</a:t>
            </a:r>
            <a:endParaRPr lang="en-US" sz="850" dirty="0"/>
          </a:p>
        </p:txBody>
      </p:sp>
      <p:sp>
        <p:nvSpPr>
          <p:cNvPr id="15" name="Shape 13"/>
          <p:cNvSpPr/>
          <p:nvPr/>
        </p:nvSpPr>
        <p:spPr>
          <a:xfrm>
            <a:off x="5413248" y="3054096"/>
            <a:ext cx="1691640" cy="658368"/>
          </a:xfrm>
          <a:prstGeom prst="roundRect">
            <a:avLst>
              <a:gd name="adj" fmla="val 13889"/>
            </a:avLst>
          </a:prstGeom>
          <a:solidFill>
            <a:srgbClr val="161B27"/>
          </a:solidFill>
          <a:ln w="15240">
            <a:solidFill>
              <a:srgbClr val="8B5CF6"/>
            </a:solidFill>
            <a:prstDash val="solid"/>
          </a:ln>
          <a:effectLst>
            <a:outerShdw sx="100000" sy="100000" kx="0" ky="0" algn="bl" rotWithShape="0" blurRad="177800" dist="50800" dir="5400000">
              <a:srgbClr val="000000">
                <a:alpha val="55000"/>
              </a:srgbClr>
            </a:outerShdw>
          </a:effectLst>
        </p:spPr>
      </p:sp>
      <p:sp>
        <p:nvSpPr>
          <p:cNvPr id="16" name="Text 14"/>
          <p:cNvSpPr/>
          <p:nvPr/>
        </p:nvSpPr>
        <p:spPr>
          <a:xfrm>
            <a:off x="5413248" y="3090672"/>
            <a:ext cx="1691640" cy="365760"/>
          </a:xfrm>
          <a:prstGeom prst="rect">
            <a:avLst/>
          </a:prstGeom>
          <a:noFill/>
          <a:ln/>
        </p:spPr>
        <p:txBody>
          <a:bodyPr wrap="square" rtlCol="0" anchor="ctr"/>
          <a:lstStyle/>
          <a:p>
            <a:pPr algn="ctr" indent="0" marL="0">
              <a:buNone/>
            </a:pPr>
            <a:r>
              <a:rPr lang="en-US" sz="1300" dirty="0">
                <a:solidFill>
                  <a:srgbClr val="8B5CF6"/>
                </a:solidFill>
                <a:latin typeface="Consolas" pitchFamily="34" charset="0"/>
                <a:ea typeface="Consolas" pitchFamily="34" charset="-122"/>
                <a:cs typeface="Consolas" pitchFamily="34" charset="-120"/>
              </a:rPr>
              <a:t>Worker</a:t>
            </a:r>
            <a:endParaRPr lang="en-US" sz="1300" dirty="0"/>
          </a:p>
        </p:txBody>
      </p:sp>
      <p:sp>
        <p:nvSpPr>
          <p:cNvPr id="17" name="Text 15"/>
          <p:cNvSpPr/>
          <p:nvPr/>
        </p:nvSpPr>
        <p:spPr>
          <a:xfrm>
            <a:off x="5413248" y="3429000"/>
            <a:ext cx="169164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MARKETER</a:t>
            </a:r>
            <a:endParaRPr lang="en-US" sz="850" dirty="0"/>
          </a:p>
        </p:txBody>
      </p:sp>
      <p:sp>
        <p:nvSpPr>
          <p:cNvPr id="18" name="Shape 16"/>
          <p:cNvSpPr/>
          <p:nvPr/>
        </p:nvSpPr>
        <p:spPr>
          <a:xfrm>
            <a:off x="5413248" y="3959352"/>
            <a:ext cx="1691640" cy="658368"/>
          </a:xfrm>
          <a:prstGeom prst="roundRect">
            <a:avLst>
              <a:gd name="adj" fmla="val 13889"/>
            </a:avLst>
          </a:prstGeom>
          <a:solidFill>
            <a:srgbClr val="161B27"/>
          </a:solidFill>
          <a:ln w="15240">
            <a:solidFill>
              <a:srgbClr val="FB7185"/>
            </a:solidFill>
            <a:prstDash val="solid"/>
          </a:ln>
          <a:effectLst>
            <a:outerShdw sx="100000" sy="100000" kx="0" ky="0" algn="bl" rotWithShape="0" blurRad="177800" dist="50800" dir="5400000">
              <a:srgbClr val="000000">
                <a:alpha val="55000"/>
              </a:srgbClr>
            </a:outerShdw>
          </a:effectLst>
        </p:spPr>
      </p:sp>
      <p:sp>
        <p:nvSpPr>
          <p:cNvPr id="19" name="Text 17"/>
          <p:cNvSpPr/>
          <p:nvPr/>
        </p:nvSpPr>
        <p:spPr>
          <a:xfrm>
            <a:off x="5413248" y="3995928"/>
            <a:ext cx="1691640" cy="365760"/>
          </a:xfrm>
          <a:prstGeom prst="rect">
            <a:avLst/>
          </a:prstGeom>
          <a:noFill/>
          <a:ln/>
        </p:spPr>
        <p:txBody>
          <a:bodyPr wrap="square" rtlCol="0" anchor="ctr"/>
          <a:lstStyle/>
          <a:p>
            <a:pPr algn="ctr" indent="0" marL="0">
              <a:buNone/>
            </a:pPr>
            <a:r>
              <a:rPr lang="en-US" sz="1300" dirty="0">
                <a:solidFill>
                  <a:srgbClr val="FB7185"/>
                </a:solidFill>
                <a:latin typeface="Consolas" pitchFamily="34" charset="0"/>
                <a:ea typeface="Consolas" pitchFamily="34" charset="-122"/>
                <a:cs typeface="Consolas" pitchFamily="34" charset="-120"/>
              </a:rPr>
              <a:t>Worker</a:t>
            </a:r>
            <a:endParaRPr lang="en-US" sz="1300" dirty="0"/>
          </a:p>
        </p:txBody>
      </p:sp>
      <p:sp>
        <p:nvSpPr>
          <p:cNvPr id="20" name="Text 18"/>
          <p:cNvSpPr/>
          <p:nvPr/>
        </p:nvSpPr>
        <p:spPr>
          <a:xfrm>
            <a:off x="5413248" y="4334256"/>
            <a:ext cx="169164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LEGAL</a:t>
            </a:r>
            <a:endParaRPr lang="en-US" sz="850" dirty="0"/>
          </a:p>
        </p:txBody>
      </p:sp>
      <p:sp>
        <p:nvSpPr>
          <p:cNvPr id="21" name="Shape 19"/>
          <p:cNvSpPr/>
          <p:nvPr/>
        </p:nvSpPr>
        <p:spPr>
          <a:xfrm>
            <a:off x="7196328" y="3383280"/>
            <a:ext cx="457200" cy="0"/>
          </a:xfrm>
          <a:prstGeom prst="line">
            <a:avLst/>
          </a:prstGeom>
          <a:noFill/>
          <a:ln w="20320">
            <a:solidFill>
              <a:srgbClr val="5A6072"/>
            </a:solidFill>
            <a:prstDash val="solid"/>
            <a:tailEnd type="triangle"/>
          </a:ln>
        </p:spPr>
      </p:sp>
      <p:sp>
        <p:nvSpPr>
          <p:cNvPr id="22" name="Shape 20"/>
          <p:cNvSpPr/>
          <p:nvPr/>
        </p:nvSpPr>
        <p:spPr>
          <a:xfrm>
            <a:off x="7744968" y="2971800"/>
            <a:ext cx="1737360" cy="822960"/>
          </a:xfrm>
          <a:prstGeom prst="roundRect">
            <a:avLst>
              <a:gd name="adj" fmla="val 11111"/>
            </a:avLst>
          </a:prstGeom>
          <a:solidFill>
            <a:srgbClr val="161B27"/>
          </a:solidFill>
          <a:ln w="15240">
            <a:solidFill>
              <a:srgbClr val="F5A524"/>
            </a:solidFill>
            <a:prstDash val="solid"/>
          </a:ln>
          <a:effectLst>
            <a:outerShdw sx="100000" sy="100000" kx="0" ky="0" algn="bl" rotWithShape="0" blurRad="177800" dist="50800" dir="5400000">
              <a:srgbClr val="000000">
                <a:alpha val="55000"/>
              </a:srgbClr>
            </a:outerShdw>
          </a:effectLst>
        </p:spPr>
      </p:sp>
      <p:sp>
        <p:nvSpPr>
          <p:cNvPr id="23" name="Text 21"/>
          <p:cNvSpPr/>
          <p:nvPr/>
        </p:nvSpPr>
        <p:spPr>
          <a:xfrm>
            <a:off x="7744968" y="3090672"/>
            <a:ext cx="1737360" cy="365760"/>
          </a:xfrm>
          <a:prstGeom prst="rect">
            <a:avLst/>
          </a:prstGeom>
          <a:noFill/>
          <a:ln/>
        </p:spPr>
        <p:txBody>
          <a:bodyPr wrap="square" rtlCol="0" anchor="ctr"/>
          <a:lstStyle/>
          <a:p>
            <a:pPr algn="ctr" indent="0" marL="0">
              <a:buNone/>
            </a:pPr>
            <a:r>
              <a:rPr lang="en-US" sz="1300" dirty="0">
                <a:solidFill>
                  <a:srgbClr val="F5A524"/>
                </a:solidFill>
                <a:latin typeface="Consolas" pitchFamily="34" charset="0"/>
                <a:ea typeface="Consolas" pitchFamily="34" charset="-122"/>
                <a:cs typeface="Consolas" pitchFamily="34" charset="-120"/>
              </a:rPr>
              <a:t>Synthesizer</a:t>
            </a:r>
            <a:endParaRPr lang="en-US" sz="1300" dirty="0"/>
          </a:p>
        </p:txBody>
      </p:sp>
      <p:sp>
        <p:nvSpPr>
          <p:cNvPr id="24" name="Text 22"/>
          <p:cNvSpPr/>
          <p:nvPr/>
        </p:nvSpPr>
        <p:spPr>
          <a:xfrm>
            <a:off x="7744968" y="3429000"/>
            <a:ext cx="173736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FAN-IN</a:t>
            </a:r>
            <a:endParaRPr lang="en-US" sz="850" dirty="0"/>
          </a:p>
        </p:txBody>
      </p:sp>
      <p:sp>
        <p:nvSpPr>
          <p:cNvPr id="25" name="Shape 23"/>
          <p:cNvSpPr/>
          <p:nvPr/>
        </p:nvSpPr>
        <p:spPr>
          <a:xfrm>
            <a:off x="9573768" y="3383280"/>
            <a:ext cx="457200" cy="0"/>
          </a:xfrm>
          <a:prstGeom prst="line">
            <a:avLst/>
          </a:prstGeom>
          <a:noFill/>
          <a:ln w="20320">
            <a:solidFill>
              <a:srgbClr val="5A6072"/>
            </a:solidFill>
            <a:prstDash val="solid"/>
            <a:tailEnd type="triangle"/>
          </a:ln>
        </p:spPr>
      </p:sp>
      <p:sp>
        <p:nvSpPr>
          <p:cNvPr id="26" name="Shape 24"/>
          <p:cNvSpPr/>
          <p:nvPr/>
        </p:nvSpPr>
        <p:spPr>
          <a:xfrm>
            <a:off x="10122408" y="2971800"/>
            <a:ext cx="1463040" cy="822960"/>
          </a:xfrm>
          <a:prstGeom prst="roundRect">
            <a:avLst>
              <a:gd name="adj" fmla="val 11111"/>
            </a:avLst>
          </a:prstGeom>
          <a:solidFill>
            <a:srgbClr val="161B27"/>
          </a:solidFill>
          <a:ln w="15240">
            <a:solidFill>
              <a:srgbClr val="F5A524"/>
            </a:solidFill>
            <a:prstDash val="solid"/>
          </a:ln>
          <a:effectLst>
            <a:outerShdw sx="100000" sy="100000" kx="0" ky="0" algn="bl" rotWithShape="0" blurRad="177800" dist="50800" dir="5400000">
              <a:srgbClr val="000000">
                <a:alpha val="55000"/>
              </a:srgbClr>
            </a:outerShdw>
          </a:effectLst>
        </p:spPr>
      </p:sp>
      <p:sp>
        <p:nvSpPr>
          <p:cNvPr id="27" name="Text 25"/>
          <p:cNvSpPr/>
          <p:nvPr/>
        </p:nvSpPr>
        <p:spPr>
          <a:xfrm>
            <a:off x="10122408" y="3090672"/>
            <a:ext cx="1463040" cy="365760"/>
          </a:xfrm>
          <a:prstGeom prst="rect">
            <a:avLst/>
          </a:prstGeom>
          <a:noFill/>
          <a:ln/>
        </p:spPr>
        <p:txBody>
          <a:bodyPr wrap="square" rtlCol="0" anchor="ctr"/>
          <a:lstStyle/>
          <a:p>
            <a:pPr algn="ctr" indent="0" marL="0">
              <a:buNone/>
            </a:pPr>
            <a:r>
              <a:rPr lang="en-US" sz="1300" dirty="0">
                <a:solidFill>
                  <a:srgbClr val="F5A524"/>
                </a:solidFill>
                <a:latin typeface="Consolas" pitchFamily="34" charset="0"/>
                <a:ea typeface="Consolas" pitchFamily="34" charset="-122"/>
                <a:cs typeface="Consolas" pitchFamily="34" charset="-120"/>
              </a:rPr>
              <a:t>one plan</a:t>
            </a:r>
            <a:endParaRPr lang="en-US" sz="1300" dirty="0"/>
          </a:p>
        </p:txBody>
      </p:sp>
      <p:sp>
        <p:nvSpPr>
          <p:cNvPr id="28" name="Text 26"/>
          <p:cNvSpPr/>
          <p:nvPr/>
        </p:nvSpPr>
        <p:spPr>
          <a:xfrm>
            <a:off x="10122408" y="3429000"/>
            <a:ext cx="1463040" cy="274320"/>
          </a:xfrm>
          <a:prstGeom prst="rect">
            <a:avLst/>
          </a:prstGeom>
          <a:noFill/>
          <a:ln/>
        </p:spPr>
        <p:txBody>
          <a:bodyPr wrap="square" rtlCol="0" anchor="ctr"/>
          <a:lstStyle/>
          <a:p>
            <a:pPr algn="ctr" indent="0" marL="0">
              <a:buNone/>
            </a:pPr>
            <a:r>
              <a:rPr lang="en-US" sz="850" spc="150" kern="0" dirty="0">
                <a:solidFill>
                  <a:srgbClr val="5A6072"/>
                </a:solidFill>
                <a:latin typeface="Consolas" pitchFamily="34" charset="0"/>
                <a:ea typeface="Consolas" pitchFamily="34" charset="-122"/>
                <a:cs typeface="Consolas" pitchFamily="34" charset="-120"/>
              </a:rPr>
              <a:t>RESULT</a:t>
            </a:r>
            <a:endParaRPr lang="en-US" sz="850" dirty="0"/>
          </a:p>
        </p:txBody>
      </p:sp>
      <p:sp>
        <p:nvSpPr>
          <p:cNvPr id="29" name="Text 27"/>
          <p:cNvSpPr/>
          <p:nvPr/>
        </p:nvSpPr>
        <p:spPr>
          <a:xfrm>
            <a:off x="2286000" y="5669280"/>
            <a:ext cx="7616952" cy="457200"/>
          </a:xfrm>
          <a:prstGeom prst="rect">
            <a:avLst/>
          </a:prstGeom>
          <a:noFill/>
          <a:ln/>
        </p:spPr>
        <p:txBody>
          <a:bodyPr wrap="square" rtlCol="0" anchor="ctr"/>
          <a:lstStyle/>
          <a:p>
            <a:pPr algn="ctr" indent="0" marL="0">
              <a:buNone/>
            </a:pPr>
            <a:r>
              <a:rPr lang="en-US" sz="1600" dirty="0">
                <a:solidFill>
                  <a:srgbClr val="9297A8"/>
                </a:solidFill>
                <a:latin typeface="Calibri" pitchFamily="34" charset="0"/>
                <a:ea typeface="Calibri" pitchFamily="34" charset="-122"/>
                <a:cs typeface="Calibri" pitchFamily="34" charset="-120"/>
              </a:rPr>
              <a:t>The planner </a:t>
            </a:r>
            <a:pPr algn="ctr" indent="0" marL="0">
              <a:buNone/>
            </a:pPr>
            <a:r>
              <a:rPr lang="en-US" sz="1600" dirty="0">
                <a:solidFill>
                  <a:srgbClr val="F5A524"/>
                </a:solidFill>
                <a:latin typeface="Calibri" pitchFamily="34" charset="0"/>
                <a:ea typeface="Calibri" pitchFamily="34" charset="-122"/>
                <a:cs typeface="Calibri" pitchFamily="34" charset="-120"/>
              </a:rPr>
              <a:t>invents</a:t>
            </a:r>
            <a:pPr algn="ctr" indent="0" marL="0">
              <a:buNone/>
            </a:pPr>
            <a:r>
              <a:rPr lang="en-US" sz="1600" dirty="0">
                <a:solidFill>
                  <a:srgbClr val="9297A8"/>
                </a:solidFill>
                <a:latin typeface="Calibri" pitchFamily="34" charset="0"/>
                <a:ea typeface="Calibri" pitchFamily="34" charset="-122"/>
                <a:cs typeface="Calibri" pitchFamily="34" charset="-120"/>
              </a:rPr>
              <a:t> the crew. Nobody hardcoded those roles.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WHAT'S REALLY STEERING</a:t>
            </a:r>
            <a:endParaRPr lang="en-US" sz="1100" dirty="0"/>
          </a:p>
        </p:txBody>
      </p:sp>
      <p:sp>
        <p:nvSpPr>
          <p:cNvPr id="3" name="Text 1"/>
          <p:cNvSpPr/>
          <p:nvPr/>
        </p:nvSpPr>
        <p:spPr>
          <a:xfrm>
            <a:off x="841248" y="1463040"/>
            <a:ext cx="5486400" cy="1097280"/>
          </a:xfrm>
          <a:prstGeom prst="rect">
            <a:avLst/>
          </a:prstGeom>
          <a:noFill/>
          <a:ln/>
        </p:spPr>
        <p:txBody>
          <a:bodyPr wrap="square" rtlCol="0" anchor="ctr"/>
          <a:lstStyle/>
          <a:p>
            <a:pPr indent="0" marL="0">
              <a:buNone/>
            </a:pPr>
            <a:r>
              <a:rPr lang="en-US" sz="3800" dirty="0">
                <a:solidFill>
                  <a:srgbClr val="ECE7DE"/>
                </a:solidFill>
                <a:latin typeface="Cambria" pitchFamily="34" charset="0"/>
                <a:ea typeface="Cambria" pitchFamily="34" charset="-122"/>
                <a:cs typeface="Cambria" pitchFamily="34" charset="-120"/>
              </a:rPr>
              <a:t>The prompt barely </a:t>
            </a:r>
            <a:pPr indent="0" marL="0">
              <a:buNone/>
            </a:pPr>
            <a:r>
              <a:rPr lang="en-US" sz="3800" i="1" dirty="0">
                <a:solidFill>
                  <a:srgbClr val="F5A524"/>
                </a:solidFill>
                <a:latin typeface="Cambria" pitchFamily="34" charset="0"/>
                <a:ea typeface="Cambria" pitchFamily="34" charset="-122"/>
                <a:cs typeface="Cambria" pitchFamily="34" charset="-120"/>
              </a:rPr>
              <a:t>changed.</a:t>
            </a:r>
            <a:endParaRPr lang="en-US" sz="3800" dirty="0"/>
          </a:p>
        </p:txBody>
      </p:sp>
      <p:sp>
        <p:nvSpPr>
          <p:cNvPr id="4" name="Text 2"/>
          <p:cNvSpPr/>
          <p:nvPr/>
        </p:nvSpPr>
        <p:spPr>
          <a:xfrm>
            <a:off x="841248" y="2834640"/>
            <a:ext cx="4937760" cy="1097280"/>
          </a:xfrm>
          <a:prstGeom prst="rect">
            <a:avLst/>
          </a:prstGeom>
          <a:noFill/>
          <a:ln/>
        </p:spPr>
        <p:txBody>
          <a:bodyPr wrap="square" rtlCol="0" anchor="ctr"/>
          <a:lstStyle/>
          <a:p>
            <a:pPr indent="0" marL="0">
              <a:lnSpc>
                <a:spcPts val="2700"/>
              </a:lnSpc>
              <a:buNone/>
            </a:pPr>
            <a:r>
              <a:rPr lang="en-US" sz="1800" dirty="0">
                <a:solidFill>
                  <a:srgbClr val="9297A8"/>
                </a:solidFill>
                <a:latin typeface="Calibri" pitchFamily="34" charset="0"/>
                <a:ea typeface="Calibri" pitchFamily="34" charset="-122"/>
                <a:cs typeface="Calibri" pitchFamily="34" charset="-120"/>
              </a:rPr>
              <a:t>The power came from the levers around it, not from a cleverer sentence.</a:t>
            </a:r>
            <a:endParaRPr lang="en-US" sz="1800" dirty="0"/>
          </a:p>
        </p:txBody>
      </p:sp>
      <p:sp>
        <p:nvSpPr>
          <p:cNvPr id="5" name="Shape 3"/>
          <p:cNvSpPr/>
          <p:nvPr/>
        </p:nvSpPr>
        <p:spPr>
          <a:xfrm>
            <a:off x="6583680" y="1920240"/>
            <a:ext cx="4754880" cy="868680"/>
          </a:xfrm>
          <a:prstGeom prst="roundRect">
            <a:avLst>
              <a:gd name="adj" fmla="val 11579"/>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sp>
        <p:nvSpPr>
          <p:cNvPr id="6" name="Text 4"/>
          <p:cNvSpPr/>
          <p:nvPr/>
        </p:nvSpPr>
        <p:spPr>
          <a:xfrm>
            <a:off x="6903720" y="2194560"/>
            <a:ext cx="1737360" cy="320040"/>
          </a:xfrm>
          <a:prstGeom prst="rect">
            <a:avLst/>
          </a:prstGeom>
          <a:noFill/>
          <a:ln/>
        </p:spPr>
        <p:txBody>
          <a:bodyPr wrap="square" rtlCol="0" anchor="ctr"/>
          <a:lstStyle/>
          <a:p>
            <a:pPr indent="0" marL="0">
              <a:buNone/>
            </a:pPr>
            <a:r>
              <a:rPr lang="en-US" sz="1050" spc="200" kern="0" dirty="0">
                <a:solidFill>
                  <a:srgbClr val="9297A8"/>
                </a:solidFill>
                <a:latin typeface="Consolas" pitchFamily="34" charset="0"/>
                <a:ea typeface="Consolas" pitchFamily="34" charset="-122"/>
                <a:cs typeface="Consolas" pitchFamily="34" charset="-120"/>
              </a:rPr>
              <a:t>LEVER 01</a:t>
            </a:r>
            <a:endParaRPr lang="en-US" sz="1050" dirty="0"/>
          </a:p>
        </p:txBody>
      </p:sp>
      <p:sp>
        <p:nvSpPr>
          <p:cNvPr id="7" name="Text 5"/>
          <p:cNvSpPr/>
          <p:nvPr/>
        </p:nvSpPr>
        <p:spPr>
          <a:xfrm>
            <a:off x="8595360" y="2194560"/>
            <a:ext cx="2606040" cy="320040"/>
          </a:xfrm>
          <a:prstGeom prst="rect">
            <a:avLst/>
          </a:prstGeom>
          <a:noFill/>
          <a:ln/>
        </p:spPr>
        <p:txBody>
          <a:bodyPr wrap="square" rtlCol="0" anchor="ctr"/>
          <a:lstStyle/>
          <a:p>
            <a:pPr indent="0" marL="0">
              <a:buNone/>
            </a:pPr>
            <a:r>
              <a:rPr lang="en-US" sz="1450" b="1" dirty="0">
                <a:solidFill>
                  <a:srgbClr val="ECE7DE"/>
                </a:solidFill>
                <a:latin typeface="Calibri" pitchFamily="34" charset="0"/>
                <a:ea typeface="Calibri" pitchFamily="34" charset="-122"/>
                <a:cs typeface="Calibri" pitchFamily="34" charset="-120"/>
              </a:rPr>
              <a:t>Prompt:  </a:t>
            </a:r>
            <a:pPr indent="0" marL="0">
              <a:buNone/>
            </a:pPr>
            <a:r>
              <a:rPr lang="en-US" sz="1450" dirty="0">
                <a:solidFill>
                  <a:srgbClr val="9297A8"/>
                </a:solidFill>
                <a:latin typeface="Calibri" pitchFamily="34" charset="0"/>
                <a:ea typeface="Calibri" pitchFamily="34" charset="-122"/>
                <a:cs typeface="Calibri" pitchFamily="34" charset="-120"/>
              </a:rPr>
              <a:t>one plain English line</a:t>
            </a:r>
            <a:endParaRPr lang="en-US" sz="1450" dirty="0"/>
          </a:p>
        </p:txBody>
      </p:sp>
      <p:sp>
        <p:nvSpPr>
          <p:cNvPr id="8" name="Shape 6"/>
          <p:cNvSpPr/>
          <p:nvPr/>
        </p:nvSpPr>
        <p:spPr>
          <a:xfrm>
            <a:off x="6583680" y="2971800"/>
            <a:ext cx="4754880" cy="868680"/>
          </a:xfrm>
          <a:prstGeom prst="roundRect">
            <a:avLst>
              <a:gd name="adj" fmla="val 11579"/>
            </a:avLst>
          </a:prstGeom>
          <a:solidFill>
            <a:srgbClr val="161B27"/>
          </a:solidFill>
          <a:ln w="12700">
            <a:solidFill>
              <a:srgbClr val="F5A524"/>
            </a:solidFill>
            <a:prstDash val="solid"/>
          </a:ln>
          <a:effectLst>
            <a:outerShdw sx="100000" sy="100000" kx="0" ky="0" algn="bl" rotWithShape="0" blurRad="177800" dist="50800" dir="5400000">
              <a:srgbClr val="000000">
                <a:alpha val="55000"/>
              </a:srgbClr>
            </a:outerShdw>
          </a:effectLst>
        </p:spPr>
      </p:sp>
      <p:sp>
        <p:nvSpPr>
          <p:cNvPr id="9" name="Text 7"/>
          <p:cNvSpPr/>
          <p:nvPr/>
        </p:nvSpPr>
        <p:spPr>
          <a:xfrm>
            <a:off x="6903720" y="3246120"/>
            <a:ext cx="1737360" cy="320040"/>
          </a:xfrm>
          <a:prstGeom prst="rect">
            <a:avLst/>
          </a:prstGeom>
          <a:noFill/>
          <a:ln/>
        </p:spPr>
        <p:txBody>
          <a:bodyPr wrap="square" rtlCol="0" anchor="ctr"/>
          <a:lstStyle/>
          <a:p>
            <a:pPr indent="0" marL="0">
              <a:buNone/>
            </a:pPr>
            <a:r>
              <a:rPr lang="en-US" sz="1050" spc="200" kern="0" dirty="0">
                <a:solidFill>
                  <a:srgbClr val="F5A524"/>
                </a:solidFill>
                <a:latin typeface="Consolas" pitchFamily="34" charset="0"/>
                <a:ea typeface="Consolas" pitchFamily="34" charset="-122"/>
                <a:cs typeface="Consolas" pitchFamily="34" charset="-120"/>
              </a:rPr>
              <a:t>LEVER 03</a:t>
            </a:r>
            <a:endParaRPr lang="en-US" sz="1050" dirty="0"/>
          </a:p>
        </p:txBody>
      </p:sp>
      <p:sp>
        <p:nvSpPr>
          <p:cNvPr id="10" name="Text 8"/>
          <p:cNvSpPr/>
          <p:nvPr/>
        </p:nvSpPr>
        <p:spPr>
          <a:xfrm>
            <a:off x="8595360" y="3246120"/>
            <a:ext cx="2606040" cy="320040"/>
          </a:xfrm>
          <a:prstGeom prst="rect">
            <a:avLst/>
          </a:prstGeom>
          <a:noFill/>
          <a:ln/>
        </p:spPr>
        <p:txBody>
          <a:bodyPr wrap="square" rtlCol="0" anchor="ctr"/>
          <a:lstStyle/>
          <a:p>
            <a:pPr indent="0" marL="0">
              <a:buNone/>
            </a:pPr>
            <a:r>
              <a:rPr lang="en-US" sz="1450" b="1" dirty="0">
                <a:solidFill>
                  <a:srgbClr val="ECE7DE"/>
                </a:solidFill>
                <a:latin typeface="Calibri" pitchFamily="34" charset="0"/>
                <a:ea typeface="Calibri" pitchFamily="34" charset="-122"/>
                <a:cs typeface="Calibri" pitchFamily="34" charset="-120"/>
              </a:rPr>
              <a:t>Schema:  </a:t>
            </a:r>
            <a:pPr indent="0" marL="0">
              <a:buNone/>
            </a:pPr>
            <a:r>
              <a:rPr lang="en-US" sz="1450" dirty="0">
                <a:solidFill>
                  <a:srgbClr val="9297A8"/>
                </a:solidFill>
                <a:latin typeface="Calibri" pitchFamily="34" charset="0"/>
                <a:ea typeface="Calibri" pitchFamily="34" charset="-122"/>
                <a:cs typeface="Calibri" pitchFamily="34" charset="-120"/>
              </a:rPr>
              <a:t>a sentence becomes a typed crew</a:t>
            </a:r>
            <a:endParaRPr lang="en-US" sz="1450" dirty="0"/>
          </a:p>
        </p:txBody>
      </p:sp>
      <p:sp>
        <p:nvSpPr>
          <p:cNvPr id="11" name="Shape 9"/>
          <p:cNvSpPr/>
          <p:nvPr/>
        </p:nvSpPr>
        <p:spPr>
          <a:xfrm>
            <a:off x="6583680" y="4023360"/>
            <a:ext cx="4754880" cy="868680"/>
          </a:xfrm>
          <a:prstGeom prst="roundRect">
            <a:avLst>
              <a:gd name="adj" fmla="val 11579"/>
            </a:avLst>
          </a:prstGeom>
          <a:solidFill>
            <a:srgbClr val="161B27"/>
          </a:solidFill>
          <a:ln w="12700">
            <a:solidFill>
              <a:srgbClr val="F5A524"/>
            </a:solidFill>
            <a:prstDash val="solid"/>
          </a:ln>
          <a:effectLst>
            <a:outerShdw sx="100000" sy="100000" kx="0" ky="0" algn="bl" rotWithShape="0" blurRad="177800" dist="50800" dir="5400000">
              <a:srgbClr val="000000">
                <a:alpha val="55000"/>
              </a:srgbClr>
            </a:outerShdw>
          </a:effectLst>
        </p:spPr>
      </p:sp>
      <p:sp>
        <p:nvSpPr>
          <p:cNvPr id="12" name="Text 10"/>
          <p:cNvSpPr/>
          <p:nvPr/>
        </p:nvSpPr>
        <p:spPr>
          <a:xfrm>
            <a:off x="6903720" y="4297680"/>
            <a:ext cx="1737360" cy="320040"/>
          </a:xfrm>
          <a:prstGeom prst="rect">
            <a:avLst/>
          </a:prstGeom>
          <a:noFill/>
          <a:ln/>
        </p:spPr>
        <p:txBody>
          <a:bodyPr wrap="square" rtlCol="0" anchor="ctr"/>
          <a:lstStyle/>
          <a:p>
            <a:pPr indent="0" marL="0">
              <a:buNone/>
            </a:pPr>
            <a:r>
              <a:rPr lang="en-US" sz="1050" spc="200" kern="0" dirty="0">
                <a:solidFill>
                  <a:srgbClr val="F5A524"/>
                </a:solidFill>
                <a:latin typeface="Consolas" pitchFamily="34" charset="0"/>
                <a:ea typeface="Consolas" pitchFamily="34" charset="-122"/>
                <a:cs typeface="Consolas" pitchFamily="34" charset="-120"/>
              </a:rPr>
              <a:t>LEVER 06</a:t>
            </a:r>
            <a:endParaRPr lang="en-US" sz="1050" dirty="0"/>
          </a:p>
        </p:txBody>
      </p:sp>
      <p:sp>
        <p:nvSpPr>
          <p:cNvPr id="13" name="Text 11"/>
          <p:cNvSpPr/>
          <p:nvPr/>
        </p:nvSpPr>
        <p:spPr>
          <a:xfrm>
            <a:off x="8595360" y="4297680"/>
            <a:ext cx="2606040" cy="320040"/>
          </a:xfrm>
          <a:prstGeom prst="rect">
            <a:avLst/>
          </a:prstGeom>
          <a:noFill/>
          <a:ln/>
        </p:spPr>
        <p:txBody>
          <a:bodyPr wrap="square" rtlCol="0" anchor="ctr"/>
          <a:lstStyle/>
          <a:p>
            <a:pPr indent="0" marL="0">
              <a:buNone/>
            </a:pPr>
            <a:r>
              <a:rPr lang="en-US" sz="1450" b="1" dirty="0">
                <a:solidFill>
                  <a:srgbClr val="ECE7DE"/>
                </a:solidFill>
                <a:latin typeface="Calibri" pitchFamily="34" charset="0"/>
                <a:ea typeface="Calibri" pitchFamily="34" charset="-122"/>
                <a:cs typeface="Calibri" pitchFamily="34" charset="-120"/>
              </a:rPr>
              <a:t>Orchestration:  </a:t>
            </a:r>
            <a:pPr indent="0" marL="0">
              <a:buNone/>
            </a:pPr>
            <a:r>
              <a:rPr lang="en-US" sz="1450" dirty="0">
                <a:solidFill>
                  <a:srgbClr val="9297A8"/>
                </a:solidFill>
                <a:latin typeface="Calibri" pitchFamily="34" charset="0"/>
                <a:ea typeface="Calibri" pitchFamily="34" charset="-122"/>
                <a:cs typeface="Calibri" pitchFamily="34" charset="-120"/>
              </a:rPr>
              <a:t>they run as a team</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LIVE CODE  ·  1 OF 2</a:t>
            </a:r>
            <a:endParaRPr lang="en-US" sz="1100" dirty="0"/>
          </a:p>
        </p:txBody>
      </p:sp>
      <p:sp>
        <p:nvSpPr>
          <p:cNvPr id="3" name="Text 1"/>
          <p:cNvSpPr/>
          <p:nvPr/>
        </p:nvSpPr>
        <p:spPr>
          <a:xfrm>
            <a:off x="841248" y="960120"/>
            <a:ext cx="10058400" cy="640080"/>
          </a:xfrm>
          <a:prstGeom prst="rect">
            <a:avLst/>
          </a:prstGeom>
          <a:noFill/>
          <a:ln/>
        </p:spPr>
        <p:txBody>
          <a:bodyPr wrap="square" rtlCol="0" anchor="ctr"/>
          <a:lstStyle/>
          <a:p>
            <a:pPr indent="0" marL="0">
              <a:buNone/>
            </a:pPr>
            <a:r>
              <a:rPr lang="en-US" sz="2800" dirty="0">
                <a:solidFill>
                  <a:srgbClr val="ECE7DE"/>
                </a:solidFill>
                <a:latin typeface="Cambria" pitchFamily="34" charset="0"/>
                <a:ea typeface="Cambria" pitchFamily="34" charset="-122"/>
                <a:cs typeface="Cambria" pitchFamily="34" charset="-120"/>
              </a:rPr>
              <a:t>One interface. </a:t>
            </a:r>
            <a:pPr indent="0" marL="0">
              <a:buNone/>
            </a:pPr>
            <a:r>
              <a:rPr lang="en-US" sz="2800" i="1" dirty="0">
                <a:solidFill>
                  <a:srgbClr val="F5A524"/>
                </a:solidFill>
                <a:latin typeface="Cambria" pitchFamily="34" charset="0"/>
                <a:ea typeface="Cambria" pitchFamily="34" charset="-122"/>
                <a:cs typeface="Cambria" pitchFamily="34" charset="-120"/>
              </a:rPr>
              <a:t>Every worker.</a:t>
            </a:r>
            <a:endParaRPr lang="en-US" sz="2800" dirty="0"/>
          </a:p>
        </p:txBody>
      </p:sp>
      <p:sp>
        <p:nvSpPr>
          <p:cNvPr id="4" name="Shape 2"/>
          <p:cNvSpPr/>
          <p:nvPr/>
        </p:nvSpPr>
        <p:spPr>
          <a:xfrm>
            <a:off x="841248" y="1828800"/>
            <a:ext cx="10509199" cy="3383280"/>
          </a:xfrm>
          <a:prstGeom prst="roundRect">
            <a:avLst>
              <a:gd name="adj" fmla="val 2973"/>
            </a:avLst>
          </a:prstGeom>
          <a:solidFill>
            <a:srgbClr val="0E1119"/>
          </a:solidFill>
          <a:ln w="12700">
            <a:solidFill>
              <a:srgbClr val="2A3040"/>
            </a:solidFill>
            <a:prstDash val="solid"/>
          </a:ln>
          <a:effectLst>
            <a:outerShdw sx="100000" sy="100000" kx="0" ky="0" algn="bl" rotWithShape="0" blurRad="177800" dist="50800" dir="5400000">
              <a:srgbClr val="000000">
                <a:alpha val="55000"/>
              </a:srgbClr>
            </a:outerShdw>
          </a:effectLst>
        </p:spPr>
      </p:sp>
      <p:sp>
        <p:nvSpPr>
          <p:cNvPr id="5" name="Text 3"/>
          <p:cNvSpPr/>
          <p:nvPr/>
        </p:nvSpPr>
        <p:spPr>
          <a:xfrm>
            <a:off x="1298448" y="2148840"/>
            <a:ext cx="9594799" cy="2743200"/>
          </a:xfrm>
          <a:prstGeom prst="rect">
            <a:avLst/>
          </a:prstGeom>
          <a:noFill/>
          <a:ln/>
        </p:spPr>
        <p:txBody>
          <a:bodyPr wrap="square" rtlCol="0" anchor="t"/>
          <a:lstStyle/>
          <a:p>
            <a:pPr indent="0" marL="0">
              <a:lnSpc>
                <a:spcPts val="3000"/>
              </a:lnSpc>
              <a:buNone/>
            </a:pPr>
            <a:r>
              <a:rPr lang="en-US" sz="1550" dirty="0">
                <a:solidFill>
                  <a:srgbClr val="5A6072"/>
                </a:solidFill>
                <a:latin typeface="Consolas" pitchFamily="34" charset="0"/>
                <a:ea typeface="Consolas" pitchFamily="34" charset="-122"/>
                <a:cs typeface="Consolas" pitchFamily="34" charset="-120"/>
              </a:rPr>
              <a:t>// No implementation. The annotations are the program.</a:t>
            </a:r>
            <a:endParaRPr lang="en-US" sz="1550" dirty="0"/>
          </a:p>
          <a:p>
            <a:pPr indent="0" marL="0">
              <a:lnSpc>
                <a:spcPts val="3000"/>
              </a:lnSpc>
              <a:buNone/>
            </a:pPr>
            <a:r>
              <a:rPr lang="en-US" sz="1550" dirty="0">
                <a:solidFill>
                  <a:srgbClr val="8B5CF6"/>
                </a:solidFill>
                <a:latin typeface="Consolas" pitchFamily="34" charset="0"/>
                <a:ea typeface="Consolas" pitchFamily="34" charset="-122"/>
                <a:cs typeface="Consolas" pitchFamily="34" charset="-120"/>
              </a:rPr>
              <a:t>interface </a:t>
            </a:r>
            <a:pPr indent="0" marL="0">
              <a:lnSpc>
                <a:spcPts val="3000"/>
              </a:lnSpc>
              <a:buNone/>
            </a:pPr>
            <a:r>
              <a:rPr lang="en-US" sz="1550" dirty="0">
                <a:solidFill>
                  <a:srgbClr val="38BDF8"/>
                </a:solidFill>
                <a:latin typeface="Consolas" pitchFamily="34" charset="0"/>
                <a:ea typeface="Consolas" pitchFamily="34" charset="-122"/>
                <a:cs typeface="Consolas" pitchFamily="34" charset="-120"/>
              </a:rPr>
              <a:t>Worker</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a:t>
            </a:r>
            <a:endParaRPr lang="en-US" sz="1550" dirty="0"/>
          </a:p>
          <a:p>
            <a:pPr indent="0" marL="0">
              <a:lnSpc>
                <a:spcPts val="3000"/>
              </a:lnSpc>
              <a:buNone/>
            </a:pPr>
            <a:endParaRPr lang="en-US" sz="1550" dirty="0"/>
          </a:p>
          <a:p>
            <a:pPr indent="0" marL="0">
              <a:lnSpc>
                <a:spcPts val="3000"/>
              </a:lnSpc>
              <a:buNone/>
            </a:pPr>
            <a:r>
              <a:rPr lang="en-US" sz="1550" dirty="0">
                <a:solidFill>
                  <a:srgbClr val="F5A524"/>
                </a:solidFill>
                <a:latin typeface="Consolas" pitchFamily="34" charset="0"/>
                <a:ea typeface="Consolas" pitchFamily="34" charset="-122"/>
                <a:cs typeface="Consolas" pitchFamily="34" charset="-120"/>
              </a:rPr>
              <a:t>  @SystemMessage</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a:t>
            </a:r>
            <a:pPr indent="0" marL="0">
              <a:lnSpc>
                <a:spcPts val="3000"/>
              </a:lnSpc>
              <a:buNone/>
            </a:pPr>
            <a:r>
              <a:rPr lang="en-US" sz="1550" dirty="0">
                <a:solidFill>
                  <a:srgbClr val="2DD4BF"/>
                </a:solidFill>
                <a:latin typeface="Consolas" pitchFamily="34" charset="0"/>
                <a:ea typeface="Consolas" pitchFamily="34" charset="-122"/>
                <a:cs typeface="Consolas" pitchFamily="34" charset="-120"/>
              </a:rPr>
              <a:t>"You are a {{role}}.</a:t>
            </a:r>
            <a:pPr indent="0" marL="0">
              <a:lnSpc>
                <a:spcPts val="3000"/>
              </a:lnSpc>
              <a:buNone/>
            </a:pPr>
            <a:endParaRPr lang="en-US" sz="1550" dirty="0"/>
          </a:p>
          <a:p>
            <a:pPr indent="0" marL="0">
              <a:lnSpc>
                <a:spcPts val="3000"/>
              </a:lnSpc>
              <a:buNone/>
            </a:pPr>
            <a:r>
              <a:rPr lang="en-US" sz="1550" dirty="0">
                <a:solidFill>
                  <a:srgbClr val="2DD4BF"/>
                </a:solidFill>
                <a:latin typeface="Consolas" pitchFamily="34" charset="0"/>
                <a:ea typeface="Consolas" pitchFamily="34" charset="-122"/>
                <a:cs typeface="Consolas" pitchFamily="34" charset="-120"/>
              </a:rPr>
              <a:t>                 Answer only from that view."</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a:t>
            </a:r>
            <a:endParaRPr lang="en-US" sz="1550" dirty="0"/>
          </a:p>
          <a:p>
            <a:pPr indent="0" marL="0">
              <a:lnSpc>
                <a:spcPts val="3000"/>
              </a:lnSpc>
              <a:buNone/>
            </a:pPr>
            <a:r>
              <a:rPr lang="en-US" sz="1550" dirty="0">
                <a:solidFill>
                  <a:srgbClr val="F5A524"/>
                </a:solidFill>
                <a:latin typeface="Consolas" pitchFamily="34" charset="0"/>
                <a:ea typeface="Consolas" pitchFamily="34" charset="-122"/>
                <a:cs typeface="Consolas" pitchFamily="34" charset="-120"/>
              </a:rPr>
              <a:t>  @UserMessage</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a:t>
            </a:r>
            <a:pPr indent="0" marL="0">
              <a:lnSpc>
                <a:spcPts val="3000"/>
              </a:lnSpc>
              <a:buNone/>
            </a:pPr>
            <a:r>
              <a:rPr lang="en-US" sz="1550" dirty="0">
                <a:solidFill>
                  <a:srgbClr val="2DD4BF"/>
                </a:solidFill>
                <a:latin typeface="Consolas" pitchFamily="34" charset="0"/>
                <a:ea typeface="Consolas" pitchFamily="34" charset="-122"/>
                <a:cs typeface="Consolas" pitchFamily="34" charset="-120"/>
              </a:rPr>
              <a:t>"{{task}}"</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a:t>
            </a:r>
            <a:endParaRPr lang="en-US" sz="1550" dirty="0"/>
          </a:p>
          <a:p>
            <a:pPr indent="0" marL="0">
              <a:lnSpc>
                <a:spcPts val="3000"/>
              </a:lnSpc>
              <a:buNone/>
            </a:pPr>
            <a:r>
              <a:rPr lang="en-US" sz="1550" dirty="0">
                <a:solidFill>
                  <a:srgbClr val="38BDF8"/>
                </a:solidFill>
                <a:latin typeface="Consolas" pitchFamily="34" charset="0"/>
                <a:ea typeface="Consolas" pitchFamily="34" charset="-122"/>
                <a:cs typeface="Consolas" pitchFamily="34" charset="-120"/>
              </a:rPr>
              <a:t>  String </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work(</a:t>
            </a:r>
            <a:pPr indent="0" marL="0">
              <a:lnSpc>
                <a:spcPts val="3000"/>
              </a:lnSpc>
              <a:buNone/>
            </a:pPr>
            <a:r>
              <a:rPr lang="en-US" sz="1550" dirty="0">
                <a:solidFill>
                  <a:srgbClr val="F5A524"/>
                </a:solidFill>
                <a:latin typeface="Consolas" pitchFamily="34" charset="0"/>
                <a:ea typeface="Consolas" pitchFamily="34" charset="-122"/>
                <a:cs typeface="Consolas" pitchFamily="34" charset="-120"/>
              </a:rPr>
              <a:t>@V</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("role") String role,</a:t>
            </a:r>
            <a:endParaRPr lang="en-US" sz="1550" dirty="0"/>
          </a:p>
          <a:p>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a:t>
            </a:r>
            <a:pPr indent="0" marL="0">
              <a:lnSpc>
                <a:spcPts val="3000"/>
              </a:lnSpc>
              <a:buNone/>
            </a:pPr>
            <a:r>
              <a:rPr lang="en-US" sz="1550" dirty="0">
                <a:solidFill>
                  <a:srgbClr val="F5A524"/>
                </a:solidFill>
                <a:latin typeface="Consolas" pitchFamily="34" charset="0"/>
                <a:ea typeface="Consolas" pitchFamily="34" charset="-122"/>
                <a:cs typeface="Consolas" pitchFamily="34" charset="-120"/>
              </a:rPr>
              <a:t>@V</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("task") String task);</a:t>
            </a:r>
            <a:endParaRPr lang="en-US" sz="1550" dirty="0"/>
          </a:p>
          <a:p>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LIVE CODE  ·  2 OF 2</a:t>
            </a:r>
            <a:endParaRPr lang="en-US" sz="1100" dirty="0"/>
          </a:p>
        </p:txBody>
      </p:sp>
      <p:sp>
        <p:nvSpPr>
          <p:cNvPr id="3" name="Text 1"/>
          <p:cNvSpPr/>
          <p:nvPr/>
        </p:nvSpPr>
        <p:spPr>
          <a:xfrm>
            <a:off x="841248" y="960120"/>
            <a:ext cx="10058400" cy="640080"/>
          </a:xfrm>
          <a:prstGeom prst="rect">
            <a:avLst/>
          </a:prstGeom>
          <a:noFill/>
          <a:ln/>
        </p:spPr>
        <p:txBody>
          <a:bodyPr wrap="square" rtlCol="0" anchor="ctr"/>
          <a:lstStyle/>
          <a:p>
            <a:pPr indent="0" marL="0">
              <a:buNone/>
            </a:pPr>
            <a:r>
              <a:rPr lang="en-US" sz="2800" dirty="0">
                <a:solidFill>
                  <a:srgbClr val="ECE7DE"/>
                </a:solidFill>
                <a:latin typeface="Cambria" pitchFamily="34" charset="0"/>
                <a:ea typeface="Cambria" pitchFamily="34" charset="-122"/>
                <a:cs typeface="Cambria" pitchFamily="34" charset="-120"/>
              </a:rPr>
              <a:t>Plan, dispatch, </a:t>
            </a:r>
            <a:pPr indent="0" marL="0">
              <a:buNone/>
            </a:pPr>
            <a:r>
              <a:rPr lang="en-US" sz="2800" i="1" dirty="0">
                <a:solidFill>
                  <a:srgbClr val="F5A524"/>
                </a:solidFill>
                <a:latin typeface="Cambria" pitchFamily="34" charset="0"/>
                <a:ea typeface="Cambria" pitchFamily="34" charset="-122"/>
                <a:cs typeface="Cambria" pitchFamily="34" charset="-120"/>
              </a:rPr>
              <a:t>synthesize.</a:t>
            </a:r>
            <a:endParaRPr lang="en-US" sz="2800" dirty="0"/>
          </a:p>
        </p:txBody>
      </p:sp>
      <p:sp>
        <p:nvSpPr>
          <p:cNvPr id="4" name="Shape 2"/>
          <p:cNvSpPr/>
          <p:nvPr/>
        </p:nvSpPr>
        <p:spPr>
          <a:xfrm>
            <a:off x="841248" y="1828800"/>
            <a:ext cx="10509199" cy="3383280"/>
          </a:xfrm>
          <a:prstGeom prst="roundRect">
            <a:avLst>
              <a:gd name="adj" fmla="val 2973"/>
            </a:avLst>
          </a:prstGeom>
          <a:solidFill>
            <a:srgbClr val="0E1119"/>
          </a:solidFill>
          <a:ln w="12700">
            <a:solidFill>
              <a:srgbClr val="2A3040"/>
            </a:solidFill>
            <a:prstDash val="solid"/>
          </a:ln>
          <a:effectLst>
            <a:outerShdw sx="100000" sy="100000" kx="0" ky="0" algn="bl" rotWithShape="0" blurRad="177800" dist="50800" dir="5400000">
              <a:srgbClr val="000000">
                <a:alpha val="55000"/>
              </a:srgbClr>
            </a:outerShdw>
          </a:effectLst>
        </p:spPr>
      </p:sp>
      <p:sp>
        <p:nvSpPr>
          <p:cNvPr id="5" name="Text 3"/>
          <p:cNvSpPr/>
          <p:nvPr/>
        </p:nvSpPr>
        <p:spPr>
          <a:xfrm>
            <a:off x="1298448" y="2148840"/>
            <a:ext cx="9594799" cy="2743200"/>
          </a:xfrm>
          <a:prstGeom prst="rect">
            <a:avLst/>
          </a:prstGeom>
          <a:noFill/>
          <a:ln/>
        </p:spPr>
        <p:txBody>
          <a:bodyPr wrap="square" rtlCol="0" anchor="t"/>
          <a:lstStyle/>
          <a:p>
            <a:pPr indent="0" marL="0">
              <a:lnSpc>
                <a:spcPts val="3000"/>
              </a:lnSpc>
              <a:buNone/>
            </a:pPr>
            <a:r>
              <a:rPr lang="en-US" sz="1550" dirty="0">
                <a:solidFill>
                  <a:srgbClr val="38BDF8"/>
                </a:solidFill>
                <a:latin typeface="Consolas" pitchFamily="34" charset="0"/>
                <a:ea typeface="Consolas" pitchFamily="34" charset="-122"/>
                <a:cs typeface="Consolas" pitchFamily="34" charset="-120"/>
              </a:rPr>
              <a:t>Plan</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plan = planner.assemble(prompt);</a:t>
            </a:r>
            <a:pPr indent="0" marL="0">
              <a:lnSpc>
                <a:spcPts val="3000"/>
              </a:lnSpc>
              <a:buNone/>
            </a:pPr>
            <a:r>
              <a:rPr lang="en-US" sz="1550" dirty="0">
                <a:solidFill>
                  <a:srgbClr val="5A6072"/>
                </a:solidFill>
                <a:latin typeface="Consolas" pitchFamily="34" charset="0"/>
                <a:ea typeface="Consolas" pitchFamily="34" charset="-122"/>
                <a:cs typeface="Consolas" pitchFamily="34" charset="-120"/>
              </a:rPr>
              <a:t>   // 1 prompt -&gt; a crew</a:t>
            </a:r>
            <a:endParaRPr lang="en-US" sz="1550" dirty="0"/>
          </a:p>
          <a:p>
            <a:pPr indent="0" marL="0">
              <a:lnSpc>
                <a:spcPts val="3000"/>
              </a:lnSpc>
              <a:buNone/>
            </a:pPr>
            <a:endParaRPr lang="en-US" sz="1550" dirty="0"/>
          </a:p>
          <a:p>
            <a:pPr indent="0" marL="0">
              <a:lnSpc>
                <a:spcPts val="3000"/>
              </a:lnSpc>
              <a:buNone/>
            </a:pPr>
            <a:r>
              <a:rPr lang="en-US" sz="1550" dirty="0">
                <a:solidFill>
                  <a:srgbClr val="8B5CF6"/>
                </a:solidFill>
                <a:latin typeface="Consolas" pitchFamily="34" charset="0"/>
                <a:ea typeface="Consolas" pitchFamily="34" charset="-122"/>
                <a:cs typeface="Consolas" pitchFamily="34" charset="-120"/>
              </a:rPr>
              <a:t>var</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notes = </a:t>
            </a:r>
            <a:pPr indent="0" marL="0">
              <a:lnSpc>
                <a:spcPts val="3000"/>
              </a:lnSpc>
              <a:buNone/>
            </a:pPr>
            <a:r>
              <a:rPr lang="en-US" sz="1550" dirty="0">
                <a:solidFill>
                  <a:srgbClr val="8B5CF6"/>
                </a:solidFill>
                <a:latin typeface="Consolas" pitchFamily="34" charset="0"/>
                <a:ea typeface="Consolas" pitchFamily="34" charset="-122"/>
                <a:cs typeface="Consolas" pitchFamily="34" charset="-120"/>
              </a:rPr>
              <a:t>new</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StringBuilder();</a:t>
            </a:r>
            <a:endParaRPr lang="en-US" sz="1550" dirty="0"/>
          </a:p>
          <a:p>
            <a:pPr indent="0" marL="0">
              <a:lnSpc>
                <a:spcPts val="3000"/>
              </a:lnSpc>
              <a:buNone/>
            </a:pPr>
            <a:r>
              <a:rPr lang="en-US" sz="1550" dirty="0">
                <a:solidFill>
                  <a:srgbClr val="8B5CF6"/>
                </a:solidFill>
                <a:latin typeface="Consolas" pitchFamily="34" charset="0"/>
                <a:ea typeface="Consolas" pitchFamily="34" charset="-122"/>
                <a:cs typeface="Consolas" pitchFamily="34" charset="-120"/>
              </a:rPr>
              <a:t>for</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a:t>
            </a:r>
            <a:pPr indent="0" marL="0">
              <a:lnSpc>
                <a:spcPts val="3000"/>
              </a:lnSpc>
              <a:buNone/>
            </a:pPr>
            <a:r>
              <a:rPr lang="en-US" sz="1550" dirty="0">
                <a:solidFill>
                  <a:srgbClr val="8B5CF6"/>
                </a:solidFill>
                <a:latin typeface="Consolas" pitchFamily="34" charset="0"/>
                <a:ea typeface="Consolas" pitchFamily="34" charset="-122"/>
                <a:cs typeface="Consolas" pitchFamily="34" charset="-120"/>
              </a:rPr>
              <a:t>var</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a : plan.crew()) {</a:t>
            </a:r>
            <a:pPr indent="0" marL="0">
              <a:lnSpc>
                <a:spcPts val="3000"/>
              </a:lnSpc>
              <a:buNone/>
            </a:pPr>
            <a:r>
              <a:rPr lang="en-US" sz="1550" dirty="0">
                <a:solidFill>
                  <a:srgbClr val="5A6072"/>
                </a:solidFill>
                <a:latin typeface="Consolas" pitchFamily="34" charset="0"/>
                <a:ea typeface="Consolas" pitchFamily="34" charset="-122"/>
                <a:cs typeface="Consolas" pitchFamily="34" charset="-120"/>
              </a:rPr>
              <a:t>        // fan out</a:t>
            </a:r>
            <a:endParaRPr lang="en-US" sz="1550" dirty="0"/>
          </a:p>
          <a:p>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String answer = worker.work(a.role(), a.task());</a:t>
            </a:r>
            <a:endParaRPr lang="en-US" sz="1550" dirty="0"/>
          </a:p>
          <a:p>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notes.append(a.role()).append(answer);</a:t>
            </a:r>
            <a:endParaRPr lang="en-US" sz="1550" dirty="0"/>
          </a:p>
          <a:p>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a:t>
            </a:r>
            <a:endParaRPr lang="en-US" sz="1550" dirty="0"/>
          </a:p>
          <a:p>
            <a:pPr indent="0" marL="0">
              <a:lnSpc>
                <a:spcPts val="3000"/>
              </a:lnSpc>
              <a:buNone/>
            </a:pPr>
            <a:endParaRPr lang="en-US" sz="1550" dirty="0"/>
          </a:p>
          <a:p>
            <a:pPr indent="0" marL="0">
              <a:lnSpc>
                <a:spcPts val="3000"/>
              </a:lnSpc>
              <a:buNone/>
            </a:pPr>
            <a:r>
              <a:rPr lang="en-US" sz="1550" dirty="0">
                <a:solidFill>
                  <a:srgbClr val="38BDF8"/>
                </a:solidFill>
                <a:latin typeface="Consolas" pitchFamily="34" charset="0"/>
                <a:ea typeface="Consolas" pitchFamily="34" charset="-122"/>
                <a:cs typeface="Consolas" pitchFamily="34" charset="-120"/>
              </a:rPr>
              <a:t>String</a:t>
            </a:r>
            <a:pPr indent="0" marL="0">
              <a:lnSpc>
                <a:spcPts val="3000"/>
              </a:lnSpc>
              <a:buNone/>
            </a:pPr>
            <a:r>
              <a:rPr lang="en-US" sz="1550" dirty="0">
                <a:solidFill>
                  <a:srgbClr val="ECE7DE"/>
                </a:solidFill>
                <a:latin typeface="Consolas" pitchFamily="34" charset="0"/>
                <a:ea typeface="Consolas" pitchFamily="34" charset="-122"/>
                <a:cs typeface="Consolas" pitchFamily="34" charset="-120"/>
              </a:rPr>
              <a:t> result = synthesizer.synthesize(notes);</a:t>
            </a:r>
            <a:pPr indent="0" marL="0">
              <a:lnSpc>
                <a:spcPts val="3000"/>
              </a:lnSpc>
              <a:buNone/>
            </a:pPr>
            <a:r>
              <a:rPr lang="en-US" sz="1550" dirty="0">
                <a:solidFill>
                  <a:srgbClr val="5A6072"/>
                </a:solidFill>
                <a:latin typeface="Consolas" pitchFamily="34" charset="0"/>
                <a:ea typeface="Consolas" pitchFamily="34" charset="-122"/>
                <a:cs typeface="Consolas" pitchFamily="34" charset="-120"/>
              </a:rPr>
              <a:t>  // fan in</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859536" y="621792"/>
            <a:ext cx="182880" cy="182880"/>
          </a:xfrm>
          <a:prstGeom prst="ellipse">
            <a:avLst/>
          </a:prstGeom>
          <a:solidFill>
            <a:srgbClr val="F5A524"/>
          </a:solidFill>
          <a:ln w="12700">
            <a:solidFill>
              <a:srgbClr val="F5A524"/>
            </a:solidFill>
            <a:prstDash val="solid"/>
          </a:ln>
          <a:effectLst>
            <a:outerShdw sx="100000" sy="100000" kx="0" ky="0" algn="bl" rotWithShape="0" blurRad="152400" dist="50800" dir="16200000">
              <a:srgbClr val="F5A524">
                <a:alpha val="60000"/>
              </a:srgbClr>
            </a:outerShdw>
          </a:effectLst>
        </p:spPr>
      </p:sp>
      <p:sp>
        <p:nvSpPr>
          <p:cNvPr id="3" name="Text 1"/>
          <p:cNvSpPr/>
          <p:nvPr/>
        </p:nvSpPr>
        <p:spPr>
          <a:xfrm>
            <a:off x="1207008" y="566928"/>
            <a:ext cx="3657600" cy="292608"/>
          </a:xfrm>
          <a:prstGeom prst="rect">
            <a:avLst/>
          </a:prstGeom>
          <a:noFill/>
          <a:ln/>
        </p:spPr>
        <p:txBody>
          <a:bodyPr wrap="square" rtlCol="0" anchor="ctr"/>
          <a:lstStyle/>
          <a:p>
            <a:pPr indent="0" marL="0">
              <a:buNone/>
            </a:pPr>
            <a:r>
              <a:rPr lang="en-US" sz="1200" spc="400" kern="0" dirty="0">
                <a:solidFill>
                  <a:srgbClr val="F5A524"/>
                </a:solidFill>
                <a:latin typeface="Consolas" pitchFamily="34" charset="0"/>
                <a:ea typeface="Consolas" pitchFamily="34" charset="-122"/>
                <a:cs typeface="Consolas" pitchFamily="34" charset="-120"/>
              </a:rPr>
              <a:t>LIVE NOW</a:t>
            </a:r>
            <a:endParaRPr lang="en-US" sz="1200" dirty="0"/>
          </a:p>
        </p:txBody>
      </p:sp>
      <p:sp>
        <p:nvSpPr>
          <p:cNvPr id="4" name="Text 2"/>
          <p:cNvSpPr/>
          <p:nvPr/>
        </p:nvSpPr>
        <p:spPr>
          <a:xfrm>
            <a:off x="0" y="2103120"/>
            <a:ext cx="12191695" cy="1280160"/>
          </a:xfrm>
          <a:prstGeom prst="rect">
            <a:avLst/>
          </a:prstGeom>
          <a:noFill/>
          <a:ln/>
        </p:spPr>
        <p:txBody>
          <a:bodyPr wrap="square" rtlCol="0" anchor="ctr"/>
          <a:lstStyle/>
          <a:p>
            <a:pPr algn="ctr" indent="0" marL="0">
              <a:buNone/>
            </a:pPr>
            <a:r>
              <a:rPr lang="en-US" sz="7200" dirty="0">
                <a:solidFill>
                  <a:srgbClr val="ECE7DE"/>
                </a:solidFill>
                <a:latin typeface="Cambria" pitchFamily="34" charset="0"/>
                <a:ea typeface="Cambria" pitchFamily="34" charset="-122"/>
                <a:cs typeface="Cambria" pitchFamily="34" charset="-120"/>
              </a:rPr>
              <a:t>Let's run it.</a:t>
            </a:r>
            <a:endParaRPr lang="en-US" sz="7200" dirty="0"/>
          </a:p>
        </p:txBody>
      </p:sp>
      <p:sp>
        <p:nvSpPr>
          <p:cNvPr id="5" name="Shape 3"/>
          <p:cNvSpPr/>
          <p:nvPr/>
        </p:nvSpPr>
        <p:spPr>
          <a:xfrm>
            <a:off x="3078328" y="3657600"/>
            <a:ext cx="6035040" cy="777240"/>
          </a:xfrm>
          <a:prstGeom prst="roundRect">
            <a:avLst>
              <a:gd name="adj" fmla="val 12941"/>
            </a:avLst>
          </a:prstGeom>
          <a:solidFill>
            <a:srgbClr val="0E1119"/>
          </a:solidFill>
          <a:ln w="12700">
            <a:solidFill>
              <a:srgbClr val="2A3040"/>
            </a:solidFill>
            <a:prstDash val="solid"/>
          </a:ln>
          <a:effectLst>
            <a:outerShdw sx="100000" sy="100000" kx="0" ky="0" algn="bl" rotWithShape="0" blurRad="177800" dist="50800" dir="5400000">
              <a:srgbClr val="000000">
                <a:alpha val="55000"/>
              </a:srgbClr>
            </a:outerShdw>
          </a:effectLst>
        </p:spPr>
      </p:sp>
      <p:sp>
        <p:nvSpPr>
          <p:cNvPr id="6" name="Text 4"/>
          <p:cNvSpPr/>
          <p:nvPr/>
        </p:nvSpPr>
        <p:spPr>
          <a:xfrm>
            <a:off x="3078328" y="3657600"/>
            <a:ext cx="6035040" cy="777240"/>
          </a:xfrm>
          <a:prstGeom prst="rect">
            <a:avLst/>
          </a:prstGeom>
          <a:noFill/>
          <a:ln/>
        </p:spPr>
        <p:txBody>
          <a:bodyPr wrap="square" rtlCol="0" anchor="ctr"/>
          <a:lstStyle/>
          <a:p>
            <a:pPr algn="ctr" indent="0" marL="0">
              <a:buNone/>
            </a:pPr>
            <a:r>
              <a:rPr lang="en-US" sz="1800" dirty="0">
                <a:solidFill>
                  <a:srgbClr val="5A6072"/>
                </a:solidFill>
                <a:latin typeface="Consolas" pitchFamily="34" charset="0"/>
                <a:ea typeface="Consolas" pitchFamily="34" charset="-122"/>
                <a:cs typeface="Consolas" pitchFamily="34" charset="-120"/>
              </a:rPr>
              <a:t>$ </a:t>
            </a:r>
            <a:pPr algn="ctr" indent="0" marL="0">
              <a:buNone/>
            </a:pPr>
            <a:r>
              <a:rPr lang="en-US" sz="1800" dirty="0">
                <a:solidFill>
                  <a:srgbClr val="ECE7DE"/>
                </a:solidFill>
                <a:latin typeface="Consolas" pitchFamily="34" charset="0"/>
                <a:ea typeface="Consolas" pitchFamily="34" charset="-122"/>
                <a:cs typeface="Consolas" pitchFamily="34" charset="-120"/>
              </a:rPr>
              <a:t>mvn -q compile exec:java</a:t>
            </a:r>
            <a:endParaRPr lang="en-US" sz="1800" dirty="0"/>
          </a:p>
        </p:txBody>
      </p:sp>
      <p:sp>
        <p:nvSpPr>
          <p:cNvPr id="7" name="Text 5"/>
          <p:cNvSpPr/>
          <p:nvPr/>
        </p:nvSpPr>
        <p:spPr>
          <a:xfrm>
            <a:off x="2286000" y="4846320"/>
            <a:ext cx="7616952" cy="731520"/>
          </a:xfrm>
          <a:prstGeom prst="rect">
            <a:avLst/>
          </a:prstGeom>
          <a:noFill/>
          <a:ln/>
        </p:spPr>
        <p:txBody>
          <a:bodyPr wrap="square" rtlCol="0" anchor="ctr"/>
          <a:lstStyle/>
          <a:p>
            <a:pPr algn="ctr" indent="0" marL="0">
              <a:lnSpc>
                <a:spcPts val="2500"/>
              </a:lnSpc>
              <a:buNone/>
            </a:pPr>
            <a:r>
              <a:rPr lang="en-US" sz="1700" dirty="0">
                <a:solidFill>
                  <a:srgbClr val="9297A8"/>
                </a:solidFill>
                <a:latin typeface="Calibri" pitchFamily="34" charset="0"/>
                <a:ea typeface="Calibri" pitchFamily="34" charset="-122"/>
                <a:cs typeface="Calibri" pitchFamily="34" charset="-120"/>
              </a:rPr>
              <a:t>One sentence in. Watch a crew assemble itself and hand back one plan, on this laptop, offline.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841248" y="566928"/>
            <a:ext cx="9144000" cy="292608"/>
          </a:xfrm>
          <a:prstGeom prst="rect">
            <a:avLst/>
          </a:prstGeom>
          <a:noFill/>
          <a:ln/>
        </p:spPr>
        <p:txBody>
          <a:bodyPr wrap="square" rtlCol="0" anchor="ctr"/>
          <a:lstStyle/>
          <a:p>
            <a:pPr algn="l" indent="0" marL="0">
              <a:buNone/>
            </a:pPr>
            <a:r>
              <a:rPr lang="en-US" sz="1100" b="1" spc="400" kern="0" dirty="0">
                <a:solidFill>
                  <a:srgbClr val="2DD4BF"/>
                </a:solidFill>
                <a:latin typeface="Calibri" pitchFamily="34" charset="0"/>
                <a:ea typeface="Calibri" pitchFamily="34" charset="-122"/>
                <a:cs typeface="Calibri" pitchFamily="34" charset="-120"/>
              </a:rPr>
              <a:t>WHAT JUST HAPPENED</a:t>
            </a:r>
            <a:endParaRPr lang="en-US" sz="1100" dirty="0"/>
          </a:p>
        </p:txBody>
      </p:sp>
      <p:sp>
        <p:nvSpPr>
          <p:cNvPr id="3" name="Text 1"/>
          <p:cNvSpPr/>
          <p:nvPr/>
        </p:nvSpPr>
        <p:spPr>
          <a:xfrm>
            <a:off x="841248" y="1051560"/>
            <a:ext cx="10058400" cy="822960"/>
          </a:xfrm>
          <a:prstGeom prst="rect">
            <a:avLst/>
          </a:prstGeom>
          <a:noFill/>
          <a:ln/>
        </p:spPr>
        <p:txBody>
          <a:bodyPr wrap="square" rtlCol="0" anchor="ctr"/>
          <a:lstStyle/>
          <a:p>
            <a:pPr indent="0" marL="0">
              <a:buNone/>
            </a:pPr>
            <a:r>
              <a:rPr lang="en-US" sz="3400" dirty="0">
                <a:solidFill>
                  <a:srgbClr val="ECE7DE"/>
                </a:solidFill>
                <a:latin typeface="Cambria" pitchFamily="34" charset="0"/>
                <a:ea typeface="Cambria" pitchFamily="34" charset="-122"/>
                <a:cs typeface="Cambria" pitchFamily="34" charset="-120"/>
              </a:rPr>
              <a:t>One sentence became a </a:t>
            </a:r>
            <a:pPr indent="0" marL="0">
              <a:buNone/>
            </a:pPr>
            <a:r>
              <a:rPr lang="en-US" sz="3400" i="1" dirty="0">
                <a:solidFill>
                  <a:srgbClr val="F5A524"/>
                </a:solidFill>
                <a:latin typeface="Cambria" pitchFamily="34" charset="0"/>
                <a:ea typeface="Cambria" pitchFamily="34" charset="-122"/>
                <a:cs typeface="Cambria" pitchFamily="34" charset="-120"/>
              </a:rPr>
              <a:t>team.</a:t>
            </a:r>
            <a:endParaRPr lang="en-US" sz="3400" dirty="0"/>
          </a:p>
        </p:txBody>
      </p:sp>
      <p:sp>
        <p:nvSpPr>
          <p:cNvPr id="4" name="Shape 2"/>
          <p:cNvSpPr/>
          <p:nvPr/>
        </p:nvSpPr>
        <p:spPr>
          <a:xfrm>
            <a:off x="841248" y="2377440"/>
            <a:ext cx="3383280" cy="2743200"/>
          </a:xfrm>
          <a:prstGeom prst="roundRect">
            <a:avLst>
              <a:gd name="adj" fmla="val 3667"/>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5" name="Image 0" descr="preencoded.png">    </p:cNvPr>
          <p:cNvPicPr>
            <a:picLocks noChangeAspect="1"/>
          </p:cNvPicPr>
          <p:nvPr/>
        </p:nvPicPr>
        <p:blipFill>
          <a:blip r:embed="rId1"/>
          <a:stretch>
            <a:fillRect/>
          </a:stretch>
        </p:blipFill>
        <p:spPr>
          <a:xfrm>
            <a:off x="1207008" y="2788920"/>
            <a:ext cx="457200" cy="457200"/>
          </a:xfrm>
          <a:prstGeom prst="rect">
            <a:avLst/>
          </a:prstGeom>
        </p:spPr>
      </p:pic>
      <p:sp>
        <p:nvSpPr>
          <p:cNvPr id="6" name="Text 3"/>
          <p:cNvSpPr/>
          <p:nvPr/>
        </p:nvSpPr>
        <p:spPr>
          <a:xfrm>
            <a:off x="1207008" y="3474720"/>
            <a:ext cx="2651760" cy="548640"/>
          </a:xfrm>
          <a:prstGeom prst="rect">
            <a:avLst/>
          </a:prstGeom>
          <a:noFill/>
          <a:ln/>
        </p:spPr>
        <p:txBody>
          <a:bodyPr wrap="square" rtlCol="0" anchor="ctr"/>
          <a:lstStyle/>
          <a:p>
            <a:pPr indent="0" marL="0">
              <a:buNone/>
            </a:pPr>
            <a:r>
              <a:rPr lang="en-US" sz="2200" dirty="0">
                <a:solidFill>
                  <a:srgbClr val="ECE7DE"/>
                </a:solidFill>
                <a:latin typeface="Cambria" pitchFamily="34" charset="0"/>
                <a:ea typeface="Cambria" pitchFamily="34" charset="-122"/>
                <a:cs typeface="Cambria" pitchFamily="34" charset="-120"/>
              </a:rPr>
              <a:t>It self-assembled</a:t>
            </a:r>
            <a:endParaRPr lang="en-US" sz="2200" dirty="0"/>
          </a:p>
        </p:txBody>
      </p:sp>
      <p:sp>
        <p:nvSpPr>
          <p:cNvPr id="7" name="Text 4"/>
          <p:cNvSpPr/>
          <p:nvPr/>
        </p:nvSpPr>
        <p:spPr>
          <a:xfrm>
            <a:off x="1207008" y="4069080"/>
            <a:ext cx="2651760" cy="914400"/>
          </a:xfrm>
          <a:prstGeom prst="rect">
            <a:avLst/>
          </a:prstGeom>
          <a:noFill/>
          <a:ln/>
        </p:spPr>
        <p:txBody>
          <a:bodyPr wrap="square" rtlCol="0" anchor="ctr"/>
          <a:lstStyle/>
          <a:p>
            <a:pPr indent="0" marL="0">
              <a:lnSpc>
                <a:spcPts val="2000"/>
              </a:lnSpc>
              <a:buNone/>
            </a:pPr>
            <a:r>
              <a:rPr lang="en-US" sz="1400" dirty="0">
                <a:solidFill>
                  <a:srgbClr val="9297A8"/>
                </a:solidFill>
                <a:latin typeface="Calibri" pitchFamily="34" charset="0"/>
                <a:ea typeface="Calibri" pitchFamily="34" charset="-122"/>
                <a:cs typeface="Calibri" pitchFamily="34" charset="-120"/>
              </a:rPr>
              <a:t>You never named the crew. The planner chose who to hire.</a:t>
            </a:r>
            <a:endParaRPr lang="en-US" sz="1400" dirty="0"/>
          </a:p>
        </p:txBody>
      </p:sp>
      <p:sp>
        <p:nvSpPr>
          <p:cNvPr id="8" name="Shape 5"/>
          <p:cNvSpPr/>
          <p:nvPr/>
        </p:nvSpPr>
        <p:spPr>
          <a:xfrm>
            <a:off x="4544568" y="2377440"/>
            <a:ext cx="3383280" cy="2743200"/>
          </a:xfrm>
          <a:prstGeom prst="roundRect">
            <a:avLst>
              <a:gd name="adj" fmla="val 3667"/>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9" name="Image 1" descr="preencoded.png">    </p:cNvPr>
          <p:cNvPicPr>
            <a:picLocks noChangeAspect="1"/>
          </p:cNvPicPr>
          <p:nvPr/>
        </p:nvPicPr>
        <p:blipFill>
          <a:blip r:embed="rId2"/>
          <a:stretch>
            <a:fillRect/>
          </a:stretch>
        </p:blipFill>
        <p:spPr>
          <a:xfrm>
            <a:off x="4910328" y="2788920"/>
            <a:ext cx="457200" cy="457200"/>
          </a:xfrm>
          <a:prstGeom prst="rect">
            <a:avLst/>
          </a:prstGeom>
        </p:spPr>
      </p:pic>
      <p:sp>
        <p:nvSpPr>
          <p:cNvPr id="10" name="Text 6"/>
          <p:cNvSpPr/>
          <p:nvPr/>
        </p:nvSpPr>
        <p:spPr>
          <a:xfrm>
            <a:off x="4910328" y="3474720"/>
            <a:ext cx="2651760" cy="548640"/>
          </a:xfrm>
          <a:prstGeom prst="rect">
            <a:avLst/>
          </a:prstGeom>
          <a:noFill/>
          <a:ln/>
        </p:spPr>
        <p:txBody>
          <a:bodyPr wrap="square" rtlCol="0" anchor="ctr"/>
          <a:lstStyle/>
          <a:p>
            <a:pPr indent="0" marL="0">
              <a:buNone/>
            </a:pPr>
            <a:r>
              <a:rPr lang="en-US" sz="2200" dirty="0">
                <a:solidFill>
                  <a:srgbClr val="ECE7DE"/>
                </a:solidFill>
                <a:latin typeface="Cambria" pitchFamily="34" charset="0"/>
                <a:ea typeface="Cambria" pitchFamily="34" charset="-122"/>
                <a:cs typeface="Cambria" pitchFamily="34" charset="-120"/>
              </a:rPr>
              <a:t>It stayed home</a:t>
            </a:r>
            <a:endParaRPr lang="en-US" sz="2200" dirty="0"/>
          </a:p>
        </p:txBody>
      </p:sp>
      <p:sp>
        <p:nvSpPr>
          <p:cNvPr id="11" name="Text 7"/>
          <p:cNvSpPr/>
          <p:nvPr/>
        </p:nvSpPr>
        <p:spPr>
          <a:xfrm>
            <a:off x="4910328" y="4069080"/>
            <a:ext cx="2651760" cy="914400"/>
          </a:xfrm>
          <a:prstGeom prst="rect">
            <a:avLst/>
          </a:prstGeom>
          <a:noFill/>
          <a:ln/>
        </p:spPr>
        <p:txBody>
          <a:bodyPr wrap="square" rtlCol="0" anchor="ctr"/>
          <a:lstStyle/>
          <a:p>
            <a:pPr indent="0" marL="0">
              <a:lnSpc>
                <a:spcPts val="2000"/>
              </a:lnSpc>
              <a:buNone/>
            </a:pPr>
            <a:r>
              <a:rPr lang="en-US" sz="1400" dirty="0">
                <a:solidFill>
                  <a:srgbClr val="9297A8"/>
                </a:solidFill>
                <a:latin typeface="Calibri" pitchFamily="34" charset="0"/>
                <a:ea typeface="Calibri" pitchFamily="34" charset="-122"/>
                <a:cs typeface="Calibri" pitchFamily="34" charset="-120"/>
              </a:rPr>
              <a:t>Every token ran on this laptop. Nothing left the room.</a:t>
            </a:r>
            <a:endParaRPr lang="en-US" sz="1400" dirty="0"/>
          </a:p>
        </p:txBody>
      </p:sp>
      <p:sp>
        <p:nvSpPr>
          <p:cNvPr id="12" name="Shape 8"/>
          <p:cNvSpPr/>
          <p:nvPr/>
        </p:nvSpPr>
        <p:spPr>
          <a:xfrm>
            <a:off x="8247888" y="2377440"/>
            <a:ext cx="3383280" cy="2743200"/>
          </a:xfrm>
          <a:prstGeom prst="roundRect">
            <a:avLst>
              <a:gd name="adj" fmla="val 3667"/>
            </a:avLst>
          </a:prstGeom>
          <a:solidFill>
            <a:srgbClr val="161B27"/>
          </a:solidFill>
          <a:ln w="12700">
            <a:solidFill>
              <a:srgbClr val="2A3040"/>
            </a:solidFill>
            <a:prstDash val="solid"/>
          </a:ln>
          <a:effectLst>
            <a:outerShdw sx="100000" sy="100000" kx="0" ky="0" algn="bl" rotWithShape="0" blurRad="177800" dist="50800" dir="5400000">
              <a:srgbClr val="000000">
                <a:alpha val="55000"/>
              </a:srgbClr>
            </a:outerShdw>
          </a:effectLst>
        </p:spPr>
      </p:sp>
      <p:pic>
        <p:nvPicPr>
          <p:cNvPr id="13" name="Image 2" descr="preencoded.png">    </p:cNvPr>
          <p:cNvPicPr>
            <a:picLocks noChangeAspect="1"/>
          </p:cNvPicPr>
          <p:nvPr/>
        </p:nvPicPr>
        <p:blipFill>
          <a:blip r:embed="rId3"/>
          <a:stretch>
            <a:fillRect/>
          </a:stretch>
        </p:blipFill>
        <p:spPr>
          <a:xfrm>
            <a:off x="8613648" y="2788920"/>
            <a:ext cx="457200" cy="457200"/>
          </a:xfrm>
          <a:prstGeom prst="rect">
            <a:avLst/>
          </a:prstGeom>
        </p:spPr>
      </p:pic>
      <p:sp>
        <p:nvSpPr>
          <p:cNvPr id="14" name="Text 9"/>
          <p:cNvSpPr/>
          <p:nvPr/>
        </p:nvSpPr>
        <p:spPr>
          <a:xfrm>
            <a:off x="8613648" y="3474720"/>
            <a:ext cx="2651760" cy="548640"/>
          </a:xfrm>
          <a:prstGeom prst="rect">
            <a:avLst/>
          </a:prstGeom>
          <a:noFill/>
          <a:ln/>
        </p:spPr>
        <p:txBody>
          <a:bodyPr wrap="square" rtlCol="0" anchor="ctr"/>
          <a:lstStyle/>
          <a:p>
            <a:pPr indent="0" marL="0">
              <a:buNone/>
            </a:pPr>
            <a:r>
              <a:rPr lang="en-US" sz="2200" dirty="0">
                <a:solidFill>
                  <a:srgbClr val="ECE7DE"/>
                </a:solidFill>
                <a:latin typeface="Cambria" pitchFamily="34" charset="0"/>
                <a:ea typeface="Cambria" pitchFamily="34" charset="-122"/>
                <a:cs typeface="Cambria" pitchFamily="34" charset="-120"/>
              </a:rPr>
              <a:t>It was small</a:t>
            </a:r>
            <a:endParaRPr lang="en-US" sz="2200" dirty="0"/>
          </a:p>
        </p:txBody>
      </p:sp>
      <p:sp>
        <p:nvSpPr>
          <p:cNvPr id="15" name="Text 10"/>
          <p:cNvSpPr/>
          <p:nvPr/>
        </p:nvSpPr>
        <p:spPr>
          <a:xfrm>
            <a:off x="8613648" y="4069080"/>
            <a:ext cx="2651760" cy="914400"/>
          </a:xfrm>
          <a:prstGeom prst="rect">
            <a:avLst/>
          </a:prstGeom>
          <a:noFill/>
          <a:ln/>
        </p:spPr>
        <p:txBody>
          <a:bodyPr wrap="square" rtlCol="0" anchor="ctr"/>
          <a:lstStyle/>
          <a:p>
            <a:pPr indent="0" marL="0">
              <a:lnSpc>
                <a:spcPts val="2000"/>
              </a:lnSpc>
              <a:buNone/>
            </a:pPr>
            <a:r>
              <a:rPr lang="en-US" sz="1400" dirty="0">
                <a:solidFill>
                  <a:srgbClr val="9297A8"/>
                </a:solidFill>
                <a:latin typeface="Calibri" pitchFamily="34" charset="0"/>
                <a:ea typeface="Calibri" pitchFamily="34" charset="-122"/>
                <a:cs typeface="Calibri" pitchFamily="34" charset="-120"/>
              </a:rPr>
              <a:t>Roughly a hundred lines of Java. That's the scary part.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D12"/>
        </a:solidFill>
      </p:bgPr>
    </p:bg>
    <p:spTree>
      <p:nvGrpSpPr>
        <p:cNvPr id="1" name=""/>
        <p:cNvGrpSpPr/>
        <p:nvPr/>
      </p:nvGrpSpPr>
      <p:grpSpPr>
        <a:xfrm>
          <a:off x="0" y="0"/>
          <a:ext cx="0" cy="0"/>
          <a:chOff x="0" y="0"/>
          <a:chExt cx="0" cy="0"/>
        </a:xfrm>
      </p:grpSpPr>
      <p:sp>
        <p:nvSpPr>
          <p:cNvPr id="2" name="Shape 0"/>
          <p:cNvSpPr/>
          <p:nvPr/>
        </p:nvSpPr>
        <p:spPr>
          <a:xfrm flipV="1">
            <a:off x="10424160" y="2011680"/>
            <a:ext cx="1188720" cy="1097280"/>
          </a:xfrm>
          <a:prstGeom prst="line">
            <a:avLst/>
          </a:prstGeom>
          <a:noFill/>
          <a:ln w="19050">
            <a:solidFill>
              <a:srgbClr val="2DD4BF"/>
            </a:solidFill>
            <a:prstDash val="solid"/>
          </a:ln>
        </p:spPr>
      </p:sp>
      <p:sp>
        <p:nvSpPr>
          <p:cNvPr id="3" name="Shape 1"/>
          <p:cNvSpPr/>
          <p:nvPr/>
        </p:nvSpPr>
        <p:spPr>
          <a:xfrm flipV="1">
            <a:off x="10424160" y="2560320"/>
            <a:ext cx="1188720" cy="548640"/>
          </a:xfrm>
          <a:prstGeom prst="line">
            <a:avLst/>
          </a:prstGeom>
          <a:noFill/>
          <a:ln w="19050">
            <a:solidFill>
              <a:srgbClr val="8B5CF6"/>
            </a:solidFill>
            <a:prstDash val="solid"/>
          </a:ln>
        </p:spPr>
      </p:sp>
      <p:sp>
        <p:nvSpPr>
          <p:cNvPr id="4" name="Shape 2"/>
          <p:cNvSpPr/>
          <p:nvPr/>
        </p:nvSpPr>
        <p:spPr>
          <a:xfrm>
            <a:off x="10424160" y="3108960"/>
            <a:ext cx="1188720" cy="0"/>
          </a:xfrm>
          <a:prstGeom prst="line">
            <a:avLst/>
          </a:prstGeom>
          <a:noFill/>
          <a:ln w="19050">
            <a:solidFill>
              <a:srgbClr val="F5A524"/>
            </a:solidFill>
            <a:prstDash val="solid"/>
          </a:ln>
        </p:spPr>
      </p:sp>
      <p:sp>
        <p:nvSpPr>
          <p:cNvPr id="5" name="Shape 3"/>
          <p:cNvSpPr/>
          <p:nvPr/>
        </p:nvSpPr>
        <p:spPr>
          <a:xfrm>
            <a:off x="10424160" y="3108960"/>
            <a:ext cx="1188720" cy="548640"/>
          </a:xfrm>
          <a:prstGeom prst="line">
            <a:avLst/>
          </a:prstGeom>
          <a:noFill/>
          <a:ln w="19050">
            <a:solidFill>
              <a:srgbClr val="FB7185"/>
            </a:solidFill>
            <a:prstDash val="solid"/>
          </a:ln>
        </p:spPr>
      </p:sp>
      <p:sp>
        <p:nvSpPr>
          <p:cNvPr id="6" name="Shape 4"/>
          <p:cNvSpPr/>
          <p:nvPr/>
        </p:nvSpPr>
        <p:spPr>
          <a:xfrm>
            <a:off x="10424160" y="3108960"/>
            <a:ext cx="1188720" cy="1097280"/>
          </a:xfrm>
          <a:prstGeom prst="line">
            <a:avLst/>
          </a:prstGeom>
          <a:noFill/>
          <a:ln w="19050">
            <a:solidFill>
              <a:srgbClr val="38BDF8"/>
            </a:solidFill>
            <a:prstDash val="solid"/>
          </a:ln>
        </p:spPr>
      </p:sp>
      <p:sp>
        <p:nvSpPr>
          <p:cNvPr id="7" name="Text 5"/>
          <p:cNvSpPr/>
          <p:nvPr/>
        </p:nvSpPr>
        <p:spPr>
          <a:xfrm>
            <a:off x="841248" y="822960"/>
            <a:ext cx="9144000" cy="292608"/>
          </a:xfrm>
          <a:prstGeom prst="rect">
            <a:avLst/>
          </a:prstGeom>
          <a:noFill/>
          <a:ln/>
        </p:spPr>
        <p:txBody>
          <a:bodyPr wrap="square" rtlCol="0" anchor="ctr"/>
          <a:lstStyle/>
          <a:p>
            <a:pPr algn="l" indent="0" marL="0">
              <a:buNone/>
            </a:pPr>
            <a:r>
              <a:rPr lang="en-US" sz="1100" b="1" spc="400" kern="0" dirty="0">
                <a:solidFill>
                  <a:srgbClr val="F5A524"/>
                </a:solidFill>
                <a:latin typeface="Calibri" pitchFamily="34" charset="0"/>
                <a:ea typeface="Calibri" pitchFamily="34" charset="-122"/>
                <a:cs typeface="Calibri" pitchFamily="34" charset="-120"/>
              </a:rPr>
              <a:t>THE TAKEAWAY</a:t>
            </a:r>
            <a:endParaRPr lang="en-US" sz="1100" dirty="0"/>
          </a:p>
        </p:txBody>
      </p:sp>
      <p:sp>
        <p:nvSpPr>
          <p:cNvPr id="8" name="Text 6"/>
          <p:cNvSpPr/>
          <p:nvPr/>
        </p:nvSpPr>
        <p:spPr>
          <a:xfrm>
            <a:off x="841248" y="1737360"/>
            <a:ext cx="9601200" cy="1737360"/>
          </a:xfrm>
          <a:prstGeom prst="rect">
            <a:avLst/>
          </a:prstGeom>
          <a:noFill/>
          <a:ln/>
        </p:spPr>
        <p:txBody>
          <a:bodyPr wrap="square" rtlCol="0" anchor="ctr"/>
          <a:lstStyle/>
          <a:p>
            <a:pPr indent="0" marL="0">
              <a:lnSpc>
                <a:spcPts val="5000"/>
              </a:lnSpc>
              <a:buNone/>
            </a:pPr>
            <a:r>
              <a:rPr lang="en-US" sz="4400" dirty="0">
                <a:solidFill>
                  <a:srgbClr val="ECE7DE"/>
                </a:solidFill>
                <a:latin typeface="Cambria" pitchFamily="34" charset="0"/>
                <a:ea typeface="Cambria" pitchFamily="34" charset="-122"/>
                <a:cs typeface="Cambria" pitchFamily="34" charset="-120"/>
              </a:rPr>
              <a:t>Your codebase becomes</a:t>
            </a:r>
            <a:endParaRPr lang="en-US" sz="4400" dirty="0"/>
          </a:p>
          <a:p>
            <a:pPr indent="0" marL="0">
              <a:lnSpc>
                <a:spcPts val="5000"/>
              </a:lnSpc>
              <a:buNone/>
            </a:pPr>
            <a:r>
              <a:rPr lang="en-US" sz="4400" dirty="0">
                <a:solidFill>
                  <a:srgbClr val="ECE7DE"/>
                </a:solidFill>
                <a:latin typeface="Cambria" pitchFamily="34" charset="0"/>
                <a:ea typeface="Cambria" pitchFamily="34" charset="-122"/>
                <a:cs typeface="Cambria" pitchFamily="34" charset="-120"/>
              </a:rPr>
              <a:t>a </a:t>
            </a:r>
            <a:endParaRPr lang="en-US" sz="4400" dirty="0"/>
          </a:p>
          <a:p>
            <a:pPr indent="0" marL="0">
              <a:lnSpc>
                <a:spcPts val="5000"/>
              </a:lnSpc>
              <a:buNone/>
            </a:pPr>
            <a:r>
              <a:rPr lang="en-US" sz="4400" i="1" dirty="0">
                <a:solidFill>
                  <a:srgbClr val="F5A524"/>
                </a:solidFill>
                <a:latin typeface="Cambria" pitchFamily="34" charset="0"/>
                <a:ea typeface="Cambria" pitchFamily="34" charset="-122"/>
                <a:cs typeface="Cambria" pitchFamily="34" charset="-120"/>
              </a:rPr>
              <a:t>team you direct</a:t>
            </a:r>
            <a:pPr indent="0" marL="0">
              <a:lnSpc>
                <a:spcPts val="5000"/>
              </a:lnSpc>
              <a:buNone/>
            </a:pPr>
            <a:r>
              <a:rPr lang="en-US" sz="4400" dirty="0">
                <a:solidFill>
                  <a:srgbClr val="ECE7DE"/>
                </a:solidFill>
                <a:latin typeface="Cambria" pitchFamily="34" charset="0"/>
                <a:ea typeface="Cambria" pitchFamily="34" charset="-122"/>
                <a:cs typeface="Cambria" pitchFamily="34" charset="-120"/>
              </a:rPr>
              <a:t> in English.</a:t>
            </a:r>
            <a:endParaRPr lang="en-US" sz="4400" dirty="0"/>
          </a:p>
        </p:txBody>
      </p:sp>
      <p:sp>
        <p:nvSpPr>
          <p:cNvPr id="9" name="Text 7"/>
          <p:cNvSpPr/>
          <p:nvPr/>
        </p:nvSpPr>
        <p:spPr>
          <a:xfrm>
            <a:off x="841248" y="3840480"/>
            <a:ext cx="7498080" cy="1188720"/>
          </a:xfrm>
          <a:prstGeom prst="rect">
            <a:avLst/>
          </a:prstGeom>
          <a:noFill/>
          <a:ln/>
        </p:spPr>
        <p:txBody>
          <a:bodyPr wrap="square" rtlCol="0" anchor="ctr"/>
          <a:lstStyle/>
          <a:p>
            <a:pPr indent="0" marL="0">
              <a:lnSpc>
                <a:spcPts val="2800"/>
              </a:lnSpc>
              <a:buNone/>
            </a:pPr>
            <a:r>
              <a:rPr lang="en-US" sz="1800" dirty="0">
                <a:solidFill>
                  <a:srgbClr val="9297A8"/>
                </a:solidFill>
                <a:latin typeface="Calibri" pitchFamily="34" charset="0"/>
                <a:ea typeface="Calibri" pitchFamily="34" charset="-122"/>
                <a:cs typeface="Calibri" pitchFamily="34" charset="-120"/>
              </a:rPr>
              <a:t>One prompt. Many workers. In Java, on your own machine. The skill ahead is not writing every line, it is knowing what to ask, and how to constrain the answer.</a:t>
            </a:r>
            <a:endParaRPr lang="en-US" sz="1800" dirty="0"/>
          </a:p>
        </p:txBody>
      </p:sp>
      <p:sp>
        <p:nvSpPr>
          <p:cNvPr id="10" name="Text 8"/>
          <p:cNvSpPr/>
          <p:nvPr/>
        </p:nvSpPr>
        <p:spPr>
          <a:xfrm>
            <a:off x="841248" y="5394960"/>
            <a:ext cx="8229600" cy="822960"/>
          </a:xfrm>
          <a:prstGeom prst="rect">
            <a:avLst/>
          </a:prstGeom>
          <a:noFill/>
          <a:ln/>
        </p:spPr>
        <p:txBody>
          <a:bodyPr wrap="square" rtlCol="0" anchor="ctr"/>
          <a:lstStyle/>
          <a:p>
            <a:pPr indent="0" marL="0">
              <a:lnSpc>
                <a:spcPts val="2400"/>
              </a:lnSpc>
              <a:buNone/>
            </a:pPr>
            <a:r>
              <a:rPr lang="en-US" sz="1300" b="1" dirty="0">
                <a:solidFill>
                  <a:srgbClr val="ECE7DE"/>
                </a:solidFill>
                <a:latin typeface="Consolas" pitchFamily="34" charset="0"/>
                <a:ea typeface="Consolas" pitchFamily="34" charset="-122"/>
                <a:cs typeface="Consolas" pitchFamily="34" charset="-120"/>
              </a:rPr>
              <a:t>Nevin Tom</a:t>
            </a:r>
            <a:pPr indent="0" marL="0">
              <a:lnSpc>
                <a:spcPts val="2400"/>
              </a:lnSpc>
              <a:buNone/>
            </a:pPr>
            <a:r>
              <a:rPr lang="en-US" sz="1300" dirty="0">
                <a:solidFill>
                  <a:srgbClr val="F5A524"/>
                </a:solidFill>
                <a:latin typeface="Consolas" pitchFamily="34" charset="0"/>
                <a:ea typeface="Consolas" pitchFamily="34" charset="-122"/>
                <a:cs typeface="Consolas" pitchFamily="34" charset="-120"/>
              </a:rPr>
              <a:t>  @  BBD    ·    thank you</a:t>
            </a:r>
            <a:pPr indent="0" marL="0">
              <a:lnSpc>
                <a:spcPts val="2400"/>
              </a:lnSpc>
              <a:buNone/>
            </a:pPr>
            <a:endParaRPr lang="en-US" sz="1300" dirty="0"/>
          </a:p>
          <a:p>
            <a:pPr indent="0" marL="0">
              <a:lnSpc>
                <a:spcPts val="2400"/>
              </a:lnSpc>
              <a:buNone/>
            </a:pPr>
            <a:r>
              <a:rPr lang="en-US" sz="1300" dirty="0">
                <a:solidFill>
                  <a:srgbClr val="5A6072"/>
                </a:solidFill>
                <a:latin typeface="Consolas" pitchFamily="34" charset="0"/>
                <a:ea typeface="Consolas" pitchFamily="34" charset="-122"/>
                <a:cs typeface="Consolas" pitchFamily="34" charset="-120"/>
              </a:rPr>
              <a:t>questions: what do you want to break first?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2026-08-05T06:16:00Z</dcterms:created>
  <dcterms:modified xsi:type="dcterms:W3CDTF">2026-08-05T06:16:00Z</dcterms:modified>
</cp:coreProperties>
</file>