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Wait for the room. That fan is the whole talk: one thing becoming a team. Tonight we build it for real, in Java, on this laptop, with a model that never phones home. Name, thank BBD.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slow. Last week I typed one sentence, fourteen words, and my laptop assembled a team of five, split the work, handed me back a plan. No cloud, no bill, no internet. That is magic, then, that is horrifying, because it was so little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up early and leave it up. 'This talk has a live build. Scan that, hop on the wifi, and send my agents a product idea, anything, the sillier the better. Later we pick one and build a real landing page for it, live, on this screen. It all runs on this laptop.' Then carry on. Submissions pile up while you teach.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map. A prompt, an agent, the infrastructure, the control panel almost nobody talks about, and then we point one prompt at a whole crew and run it live. Promise the demo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Reset. Slow down. Rung one, the prompt, and almost everyone misunderstands what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Strip the marketing, a model is a function. Text in, text out. No memory, no hands, no way to check itself. Ask twice, get two answers. A very good guesser, but a guesser. A prompt is you calling that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walls, fast. No memory, every call from zero. No hands, describes the email but cannot send it. No proof, equally sure when right and when inventing. A brilliant intern who forgets your name and invents a co-worker.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give the function a memory, some hands, and a loop. It stops being a chatbot. It becomes an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definition: an agent is a model, plus tools it can call, wrapped in a loop. Everything else is a flavour of this. Model is the brain, tools the hands, the loop is where the magic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idea. It reasons, acts by calling a tool, observes what came back, asks am I done. If not, around again. That circle is the difference between a model that talks and a system that finishes.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loop on a slide is easy. A loop you can run at BBD, that a client trusts, needs a stack. Let's build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layers. Runtime, Ollama with Qwen. Orchestration, LangChain4j or Spring AI. Tools, the hands. Memory, the notebook. Structured output, so the answer comes back as data, not a paragraph. Hold that last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AI tutorial online is Python, and Python is lovely. But your systems of record run on the JVM. You do not rewrite any of it. LangChain4j and Spring AI put the AI next to the business, behind Spring Security, inside your transactions, next to your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Qwen through Ollama, entirely on this laptop. The client's data never leaves the building. No token bill that scales with success. Works on a plane. For a bank, it never leaves the building is the whole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Most people think the prompt is the steering wheel. It is one control out of six. Here is the whole cockpit.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says what. Tools decide what it can touch. Schema decides shape. Guardrails reject bad output. Memory decides what it knows and forgets. Orchestration decides who talks to whom. You barely touch the prompt, you change the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to remember, then stop for two seconds. You don't program an agent, you constrain it. Prompt says what, tools say how far, schema says what shape, orchestration says who. Good agent engineering is good constraint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Lift the energy. Lever six, orchestration, is the fun one. Instead of one agent doing everything, we point a single prompt at a whole crew. One becomes many.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shape of tonight's crew, and it is not a line. Copy and design start together. Design finishes first, and instead of sitting idle it helps: it hands the copywriter a tone hint. Both feed the builder. The builder hands the page to the skeptic. And then the important edge, the dashed one: the skeptic's critique loops all the way back to the copywriter, who rewrites the headline. You will watch that happen on the screen in a minute. Output from one agent becoming input to another, including backwards. That is the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what steers the crew. The prompt barely changes. The real control is structured output turning a sentence into a typed crew, and orchestration deciding they run as a team. Two levers you could never reach from the prompt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demo's plumbing, all boring reliable Java. Their phone posts one line to a Spring Boot server on my hotspot. LangChain4j runs the crew on the local Qwen model. Each event, an agent starting, a headline, a palette, streams to the stage over server-sent events. No internet anywhere in that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Structured output made concrete. The Copywriter does not hand back a wall of text I have to scrape. It returns a typed Copy object. Same for the Designer's palette. The stage builds the page field by field. When you control the shape of the answer, you control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worker in LangChain4j is an interface. No implementation. The annotations are the program. The system message makes it a specialist, role and task get slotted in. One interface backs every worker, that is the many workers line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orchestrator is the whole talk in fifteen lines. The planner turns one prompt into a crew, a typed Plan. We loop, each worker does its job, we collect notes, the synthesizer folds them into one answer. Fan out, fan in. Now, let's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moment. Switch the projector to the stage view and keep the control panel on your laptop. 'Right, let's see what you gave me.' Pick a fun submission, hit Run. Narrate as the crew lights up: copywriter writing the hero, designer choosing colours, the page recolouring live, then the skeptic's one-liner, read it out loud. If Qwen wobbles the house crew covers it, and mock mode is your parachute.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 while the awe is warm. One sentence became a team that split the work and reported back. It self-assembled, it stayed home, it was a hundred lines. The scary part is not that it worked, it is how little it took.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plane. A function that guesses, given a loop, a stack, six levers, and a crew, learns to command a team, in Java, offline. The real skill is knowing what to ask and how to constrain the answer. Scan to connect on LinkedIn and grab the code on GitHub. What do you want to break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indent="0" marL="0">
              <a:buNone/>
            </a:pPr>
            <a:r>
              <a:rPr lang="en-US" sz="1100" b="1" spc="300" kern="0" dirty="0">
                <a:solidFill>
                  <a:srgbClr val="4F46E5"/>
                </a:solidFill>
                <a:latin typeface="Arial" pitchFamily="34" charset="0"/>
                <a:ea typeface="Arial" pitchFamily="34" charset="-122"/>
                <a:cs typeface="Arial" pitchFamily="34" charset="-120"/>
              </a:rPr>
              <a:t>BBD TECH TALK  /  JAVA</a:t>
            </a:r>
            <a:endParaRPr lang="en-US" sz="1100" dirty="0"/>
          </a:p>
        </p:txBody>
      </p:sp>
      <p:sp>
        <p:nvSpPr>
          <p:cNvPr id="3" name="Text 1"/>
          <p:cNvSpPr/>
          <p:nvPr/>
        </p:nvSpPr>
        <p:spPr>
          <a:xfrm>
            <a:off x="841248" y="1417320"/>
            <a:ext cx="7315200" cy="2286000"/>
          </a:xfrm>
          <a:prstGeom prst="rect">
            <a:avLst/>
          </a:prstGeom>
          <a:noFill/>
          <a:ln/>
        </p:spPr>
        <p:txBody>
          <a:bodyPr wrap="square" rtlCol="0" anchor="ctr"/>
          <a:lstStyle/>
          <a:p>
            <a:pPr indent="0" marL="0">
              <a:lnSpc>
                <a:spcPts val="6200"/>
              </a:lnSpc>
              <a:buNone/>
            </a:pPr>
            <a:r>
              <a:rPr lang="en-US" sz="6000" b="1" spc="-50" kern="0" dirty="0">
                <a:solidFill>
                  <a:srgbClr val="16181D"/>
                </a:solidFill>
                <a:latin typeface="Arial" pitchFamily="34" charset="0"/>
                <a:ea typeface="Arial" pitchFamily="34" charset="-122"/>
                <a:cs typeface="Arial" pitchFamily="34" charset="-120"/>
              </a:rPr>
              <a:t>One Prompt.</a:t>
            </a:r>
            <a:endParaRPr lang="en-US" sz="6000" dirty="0"/>
          </a:p>
          <a:p>
            <a:pPr indent="0" marL="0">
              <a:lnSpc>
                <a:spcPts val="6200"/>
              </a:lnSpc>
              <a:buNone/>
            </a:pPr>
            <a:r>
              <a:rPr lang="en-US" sz="6000" b="1" spc="-50" kern="0" dirty="0">
                <a:solidFill>
                  <a:srgbClr val="16181D"/>
                </a:solidFill>
                <a:latin typeface="Arial" pitchFamily="34" charset="0"/>
                <a:ea typeface="Arial" pitchFamily="34" charset="-122"/>
                <a:cs typeface="Arial" pitchFamily="34" charset="-120"/>
              </a:rPr>
              <a:t>Many Workers</a:t>
            </a:r>
            <a:pPr indent="0" marL="0">
              <a:lnSpc>
                <a:spcPts val="6200"/>
              </a:lnSpc>
              <a:buNone/>
            </a:pPr>
            <a:r>
              <a:rPr lang="en-US" sz="6000" b="1" spc="-50" kern="0" dirty="0">
                <a:solidFill>
                  <a:srgbClr val="4F46E5"/>
                </a:solidFill>
                <a:latin typeface="Arial" pitchFamily="34" charset="0"/>
                <a:ea typeface="Arial" pitchFamily="34" charset="-122"/>
                <a:cs typeface="Arial" pitchFamily="34" charset="-120"/>
              </a:rPr>
              <a:t>.</a:t>
            </a:r>
            <a:endParaRPr lang="en-US" sz="6000" dirty="0"/>
          </a:p>
        </p:txBody>
      </p:sp>
      <p:sp>
        <p:nvSpPr>
          <p:cNvPr id="4" name="Text 2"/>
          <p:cNvSpPr/>
          <p:nvPr/>
        </p:nvSpPr>
        <p:spPr>
          <a:xfrm>
            <a:off x="841248" y="3886200"/>
            <a:ext cx="5760720" cy="914400"/>
          </a:xfrm>
          <a:prstGeom prst="rect">
            <a:avLst/>
          </a:prstGeom>
          <a:noFill/>
          <a:ln/>
        </p:spPr>
        <p:txBody>
          <a:bodyPr wrap="square" rtlCol="0" anchor="ctr"/>
          <a:lstStyle/>
          <a:p>
            <a:pPr indent="0" marL="0">
              <a:lnSpc>
                <a:spcPts val="2600"/>
              </a:lnSpc>
              <a:buNone/>
            </a:pPr>
            <a:r>
              <a:rPr lang="en-US" sz="1700" dirty="0">
                <a:solidFill>
                  <a:srgbClr val="666C7A"/>
                </a:solidFill>
                <a:latin typeface="Calibri" pitchFamily="34" charset="0"/>
                <a:ea typeface="Calibri" pitchFamily="34" charset="-122"/>
                <a:cs typeface="Calibri" pitchFamily="34" charset="-120"/>
              </a:rPr>
              <a:t>Building multi-agent AI systems in Java, where a single sentence commands a whole crew.</a:t>
            </a:r>
            <a:endParaRPr lang="en-US" sz="1700" dirty="0"/>
          </a:p>
        </p:txBody>
      </p:sp>
      <p:sp>
        <p:nvSpPr>
          <p:cNvPr id="5" name="Text 3"/>
          <p:cNvSpPr/>
          <p:nvPr/>
        </p:nvSpPr>
        <p:spPr>
          <a:xfrm>
            <a:off x="841248" y="5074920"/>
            <a:ext cx="6400800" cy="822960"/>
          </a:xfrm>
          <a:prstGeom prst="rect">
            <a:avLst/>
          </a:prstGeom>
          <a:noFill/>
          <a:ln/>
        </p:spPr>
        <p:txBody>
          <a:bodyPr wrap="square" rtlCol="0" anchor="ctr"/>
          <a:lstStyle/>
          <a:p>
            <a:pPr indent="0" marL="0">
              <a:lnSpc>
                <a:spcPts val="2400"/>
              </a:lnSpc>
              <a:buNone/>
            </a:pPr>
            <a:r>
              <a:rPr lang="en-US" sz="1250" b="1" dirty="0">
                <a:solidFill>
                  <a:srgbClr val="16181D"/>
                </a:solidFill>
                <a:latin typeface="Consolas" pitchFamily="34" charset="0"/>
                <a:ea typeface="Consolas" pitchFamily="34" charset="-122"/>
                <a:cs typeface="Consolas" pitchFamily="34" charset="-120"/>
              </a:rPr>
              <a:t>Nevin Tom</a:t>
            </a:r>
            <a:pPr indent="0" marL="0">
              <a:lnSpc>
                <a:spcPts val="2400"/>
              </a:lnSpc>
              <a:buNone/>
            </a:pPr>
            <a:r>
              <a:rPr lang="en-US" sz="1250" b="1" dirty="0">
                <a:solidFill>
                  <a:srgbClr val="4F46E5"/>
                </a:solidFill>
                <a:latin typeface="Consolas" pitchFamily="34" charset="0"/>
                <a:ea typeface="Consolas" pitchFamily="34" charset="-122"/>
                <a:cs typeface="Consolas" pitchFamily="34" charset="-120"/>
              </a:rPr>
              <a:t>  /  BBD</a:t>
            </a:r>
            <a:pPr indent="0" marL="0">
              <a:lnSpc>
                <a:spcPts val="2400"/>
              </a:lnSpc>
              <a:buNone/>
            </a:pPr>
            <a:endParaRPr lang="en-US" sz="1250" dirty="0"/>
          </a:p>
          <a:p>
            <a:pPr indent="0" marL="0">
              <a:lnSpc>
                <a:spcPts val="2400"/>
              </a:lnSpc>
              <a:buNone/>
            </a:pPr>
            <a:r>
              <a:rPr lang="en-US" sz="1250" dirty="0">
                <a:solidFill>
                  <a:srgbClr val="666C7A"/>
                </a:solidFill>
                <a:latin typeface="Consolas" pitchFamily="34" charset="0"/>
                <a:ea typeface="Consolas" pitchFamily="34" charset="-122"/>
                <a:cs typeface="Consolas" pitchFamily="34" charset="-120"/>
              </a:rPr>
              <a:t>local model   ·   no cloud   ·   live code</a:t>
            </a:r>
            <a:endParaRPr lang="en-US" sz="1250" dirty="0"/>
          </a:p>
        </p:txBody>
      </p:sp>
      <p:sp>
        <p:nvSpPr>
          <p:cNvPr id="6" name="Shape 4"/>
          <p:cNvSpPr/>
          <p:nvPr/>
        </p:nvSpPr>
        <p:spPr>
          <a:xfrm flipV="1">
            <a:off x="8366760" y="1280160"/>
            <a:ext cx="2377440" cy="2148840"/>
          </a:xfrm>
          <a:prstGeom prst="line">
            <a:avLst/>
          </a:prstGeom>
          <a:noFill/>
          <a:ln w="22225">
            <a:solidFill>
              <a:srgbClr val="0F9E8E"/>
            </a:solidFill>
            <a:prstDash val="solid"/>
          </a:ln>
        </p:spPr>
      </p:sp>
      <p:sp>
        <p:nvSpPr>
          <p:cNvPr id="7" name="Shape 5"/>
          <p:cNvSpPr/>
          <p:nvPr/>
        </p:nvSpPr>
        <p:spPr>
          <a:xfrm flipV="1">
            <a:off x="8366760" y="2331720"/>
            <a:ext cx="2377440" cy="1097280"/>
          </a:xfrm>
          <a:prstGeom prst="line">
            <a:avLst/>
          </a:prstGeom>
          <a:noFill/>
          <a:ln w="22225">
            <a:solidFill>
              <a:srgbClr val="7C3AED"/>
            </a:solidFill>
            <a:prstDash val="solid"/>
          </a:ln>
        </p:spPr>
      </p:sp>
      <p:sp>
        <p:nvSpPr>
          <p:cNvPr id="8" name="Shape 6"/>
          <p:cNvSpPr/>
          <p:nvPr/>
        </p:nvSpPr>
        <p:spPr>
          <a:xfrm>
            <a:off x="8366760" y="3429000"/>
            <a:ext cx="2377440" cy="0"/>
          </a:xfrm>
          <a:prstGeom prst="line">
            <a:avLst/>
          </a:prstGeom>
          <a:noFill/>
          <a:ln w="22225">
            <a:solidFill>
              <a:srgbClr val="4F46E5"/>
            </a:solidFill>
            <a:prstDash val="solid"/>
          </a:ln>
        </p:spPr>
      </p:sp>
      <p:sp>
        <p:nvSpPr>
          <p:cNvPr id="9" name="Shape 7"/>
          <p:cNvSpPr/>
          <p:nvPr/>
        </p:nvSpPr>
        <p:spPr>
          <a:xfrm>
            <a:off x="8366760" y="3429000"/>
            <a:ext cx="2377440" cy="1097280"/>
          </a:xfrm>
          <a:prstGeom prst="line">
            <a:avLst/>
          </a:prstGeom>
          <a:noFill/>
          <a:ln w="22225">
            <a:solidFill>
              <a:srgbClr val="E11D48"/>
            </a:solidFill>
            <a:prstDash val="solid"/>
          </a:ln>
        </p:spPr>
      </p:sp>
      <p:sp>
        <p:nvSpPr>
          <p:cNvPr id="10" name="Shape 8"/>
          <p:cNvSpPr/>
          <p:nvPr/>
        </p:nvSpPr>
        <p:spPr>
          <a:xfrm>
            <a:off x="8366760" y="3429000"/>
            <a:ext cx="2377440" cy="2148840"/>
          </a:xfrm>
          <a:prstGeom prst="line">
            <a:avLst/>
          </a:prstGeom>
          <a:noFill/>
          <a:ln w="22225">
            <a:solidFill>
              <a:srgbClr val="0284C7"/>
            </a:solidFill>
            <a:prstDash val="solid"/>
          </a:ln>
        </p:spPr>
      </p:sp>
      <p:sp>
        <p:nvSpPr>
          <p:cNvPr id="11" name="Shape 9"/>
          <p:cNvSpPr/>
          <p:nvPr/>
        </p:nvSpPr>
        <p:spPr>
          <a:xfrm>
            <a:off x="10634472" y="1170432"/>
            <a:ext cx="219456" cy="219456"/>
          </a:xfrm>
          <a:prstGeom prst="ellipse">
            <a:avLst/>
          </a:prstGeom>
          <a:solidFill>
            <a:srgbClr val="0F9E8E"/>
          </a:solidFill>
          <a:ln/>
        </p:spPr>
      </p:sp>
      <p:sp>
        <p:nvSpPr>
          <p:cNvPr id="12" name="Shape 10"/>
          <p:cNvSpPr/>
          <p:nvPr/>
        </p:nvSpPr>
        <p:spPr>
          <a:xfrm>
            <a:off x="10634472" y="2221992"/>
            <a:ext cx="219456" cy="219456"/>
          </a:xfrm>
          <a:prstGeom prst="ellipse">
            <a:avLst/>
          </a:prstGeom>
          <a:solidFill>
            <a:srgbClr val="7C3AED"/>
          </a:solidFill>
          <a:ln/>
        </p:spPr>
      </p:sp>
      <p:sp>
        <p:nvSpPr>
          <p:cNvPr id="13" name="Shape 11"/>
          <p:cNvSpPr/>
          <p:nvPr/>
        </p:nvSpPr>
        <p:spPr>
          <a:xfrm>
            <a:off x="10634472" y="3319272"/>
            <a:ext cx="219456" cy="219456"/>
          </a:xfrm>
          <a:prstGeom prst="ellipse">
            <a:avLst/>
          </a:prstGeom>
          <a:solidFill>
            <a:srgbClr val="4F46E5"/>
          </a:solidFill>
          <a:ln/>
        </p:spPr>
      </p:sp>
      <p:sp>
        <p:nvSpPr>
          <p:cNvPr id="14" name="Shape 12"/>
          <p:cNvSpPr/>
          <p:nvPr/>
        </p:nvSpPr>
        <p:spPr>
          <a:xfrm>
            <a:off x="10634472" y="4416552"/>
            <a:ext cx="219456" cy="219456"/>
          </a:xfrm>
          <a:prstGeom prst="ellipse">
            <a:avLst/>
          </a:prstGeom>
          <a:solidFill>
            <a:srgbClr val="E11D48"/>
          </a:solidFill>
          <a:ln/>
        </p:spPr>
      </p:sp>
      <p:sp>
        <p:nvSpPr>
          <p:cNvPr id="15" name="Shape 13"/>
          <p:cNvSpPr/>
          <p:nvPr/>
        </p:nvSpPr>
        <p:spPr>
          <a:xfrm>
            <a:off x="10634472" y="5468112"/>
            <a:ext cx="219456" cy="219456"/>
          </a:xfrm>
          <a:prstGeom prst="ellipse">
            <a:avLst/>
          </a:prstGeom>
          <a:solidFill>
            <a:srgbClr val="0284C7"/>
          </a:solidFill>
          <a:ln/>
        </p:spPr>
      </p:sp>
      <p:sp>
        <p:nvSpPr>
          <p:cNvPr id="16" name="Shape 14"/>
          <p:cNvSpPr/>
          <p:nvPr/>
        </p:nvSpPr>
        <p:spPr>
          <a:xfrm>
            <a:off x="8156448" y="3218688"/>
            <a:ext cx="420624" cy="420624"/>
          </a:xfrm>
          <a:prstGeom prst="ellipse">
            <a:avLst/>
          </a:prstGeom>
          <a:solidFill>
            <a:srgbClr val="4F46E5"/>
          </a:solidFill>
          <a:ln/>
        </p:spPr>
      </p:sp>
      <p:pic>
        <p:nvPicPr>
          <p:cNvPr id="17" name="Image 0" descr="preencoded.png">    </p:cNvPr>
          <p:cNvPicPr>
            <a:picLocks noChangeAspect="1"/>
          </p:cNvPicPr>
          <p:nvPr/>
        </p:nvPicPr>
        <p:blipFill>
          <a:blip r:embed="rId1"/>
          <a:stretch>
            <a:fillRect/>
          </a:stretch>
        </p:blipFill>
        <p:spPr>
          <a:xfrm>
            <a:off x="8247888" y="3319272"/>
            <a:ext cx="237744" cy="237744"/>
          </a:xfrm>
          <a:prstGeom prst="rect">
            <a:avLst/>
          </a:prstGeom>
        </p:spPr>
      </p:pic>
      <p:sp>
        <p:nvSpPr>
          <p:cNvPr id="18" name="Text 15"/>
          <p:cNvSpPr/>
          <p:nvPr/>
        </p:nvSpPr>
        <p:spPr>
          <a:xfrm>
            <a:off x="7543800" y="3721608"/>
            <a:ext cx="1645920" cy="274320"/>
          </a:xfrm>
          <a:prstGeom prst="rect">
            <a:avLst/>
          </a:prstGeom>
          <a:noFill/>
          <a:ln/>
        </p:spPr>
        <p:txBody>
          <a:bodyPr wrap="square" rtlCol="0" anchor="ctr"/>
          <a:lstStyle/>
          <a:p>
            <a:pPr algn="ctr" indent="0" marL="0">
              <a:buNone/>
            </a:pPr>
            <a:r>
              <a:rPr lang="en-US" sz="900" spc="200" kern="0" dirty="0">
                <a:solidFill>
                  <a:srgbClr val="4F46E5"/>
                </a:solidFill>
                <a:latin typeface="Consolas" pitchFamily="34" charset="0"/>
                <a:ea typeface="Consolas" pitchFamily="34" charset="-122"/>
                <a:cs typeface="Consolas" pitchFamily="34" charset="-120"/>
              </a:rPr>
              <a:t>PROMPT</a:t>
            </a:r>
            <a:endParaRPr lang="en-US" sz="900" dirty="0"/>
          </a:p>
        </p:txBody>
      </p:sp>
      <p:sp>
        <p:nvSpPr>
          <p:cNvPr id="19" name="Text 16"/>
          <p:cNvSpPr/>
          <p:nvPr/>
        </p:nvSpPr>
        <p:spPr>
          <a:xfrm>
            <a:off x="10195560" y="5760720"/>
            <a:ext cx="1554480" cy="274320"/>
          </a:xfrm>
          <a:prstGeom prst="rect">
            <a:avLst/>
          </a:prstGeom>
          <a:noFill/>
          <a:ln/>
        </p:spPr>
        <p:txBody>
          <a:bodyPr wrap="square" rtlCol="0" anchor="ctr"/>
          <a:lstStyle/>
          <a:p>
            <a:pPr algn="ctr" indent="0" marL="0">
              <a:buNone/>
            </a:pPr>
            <a:r>
              <a:rPr lang="en-US" sz="900" spc="200" kern="0" dirty="0">
                <a:solidFill>
                  <a:srgbClr val="666C7A"/>
                </a:solidFill>
                <a:latin typeface="Consolas" pitchFamily="34" charset="0"/>
                <a:ea typeface="Consolas" pitchFamily="34" charset="-122"/>
                <a:cs typeface="Consolas" pitchFamily="34" charset="-120"/>
              </a:rPr>
              <a:t>WORKERS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indent="0" marL="0">
              <a:buNone/>
            </a:pPr>
            <a:r>
              <a:rPr lang="en-US" sz="1100" b="1" spc="300" kern="0" dirty="0">
                <a:solidFill>
                  <a:srgbClr val="4F46E5"/>
                </a:solidFill>
                <a:latin typeface="Arial" pitchFamily="34" charset="0"/>
                <a:ea typeface="Arial" pitchFamily="34" charset="-122"/>
                <a:cs typeface="Arial" pitchFamily="34" charset="-120"/>
              </a:rPr>
              <a:t>THE PROMISE</a:t>
            </a:r>
            <a:endParaRPr lang="en-US" sz="1100" dirty="0"/>
          </a:p>
        </p:txBody>
      </p:sp>
      <p:sp>
        <p:nvSpPr>
          <p:cNvPr id="3" name="Text 1"/>
          <p:cNvSpPr/>
          <p:nvPr/>
        </p:nvSpPr>
        <p:spPr>
          <a:xfrm>
            <a:off x="841248" y="1737360"/>
            <a:ext cx="6583680" cy="2103120"/>
          </a:xfrm>
          <a:prstGeom prst="rect">
            <a:avLst/>
          </a:prstGeom>
          <a:noFill/>
          <a:ln/>
        </p:spPr>
        <p:txBody>
          <a:bodyPr wrap="square" rtlCol="0" anchor="ctr"/>
          <a:lstStyle/>
          <a:p>
            <a:pPr indent="0" marL="0">
              <a:lnSpc>
                <a:spcPts val="4800"/>
              </a:lnSpc>
              <a:buNone/>
            </a:pPr>
            <a:r>
              <a:rPr lang="en-US" sz="3800" b="1" dirty="0">
                <a:solidFill>
                  <a:srgbClr val="16181D"/>
                </a:solidFill>
                <a:latin typeface="Arial" pitchFamily="34" charset="0"/>
                <a:ea typeface="Arial" pitchFamily="34" charset="-122"/>
                <a:cs typeface="Arial" pitchFamily="34" charset="-120"/>
              </a:rPr>
              <a:t>I typed </a:t>
            </a:r>
            <a:pPr indent="0" marL="0">
              <a:lnSpc>
                <a:spcPts val="4800"/>
              </a:lnSpc>
              <a:buNone/>
            </a:pPr>
            <a:r>
              <a:rPr lang="en-US" sz="3800" b="1" dirty="0">
                <a:solidFill>
                  <a:srgbClr val="4F46E5"/>
                </a:solidFill>
                <a:latin typeface="Arial" pitchFamily="34" charset="0"/>
                <a:ea typeface="Arial" pitchFamily="34" charset="-122"/>
                <a:cs typeface="Arial" pitchFamily="34" charset="-120"/>
              </a:rPr>
              <a:t>one sentence.</a:t>
            </a:r>
            <a:pPr indent="0" marL="0">
              <a:lnSpc>
                <a:spcPts val="4800"/>
              </a:lnSpc>
              <a:buNone/>
            </a:pPr>
            <a:endParaRPr lang="en-US" sz="3800" dirty="0"/>
          </a:p>
          <a:p>
            <a:pPr indent="0" marL="0">
              <a:lnSpc>
                <a:spcPts val="4800"/>
              </a:lnSpc>
              <a:buNone/>
            </a:pPr>
            <a:r>
              <a:rPr lang="en-US" sz="3800" b="1" dirty="0">
                <a:solidFill>
                  <a:srgbClr val="16181D"/>
                </a:solidFill>
                <a:latin typeface="Arial" pitchFamily="34" charset="0"/>
                <a:ea typeface="Arial" pitchFamily="34" charset="-122"/>
                <a:cs typeface="Arial" pitchFamily="34" charset="-120"/>
              </a:rPr>
              <a:t>My laptop hired </a:t>
            </a:r>
            <a:endParaRPr lang="en-US" sz="3800" dirty="0"/>
          </a:p>
          <a:p>
            <a:pPr indent="0" marL="0">
              <a:lnSpc>
                <a:spcPts val="4800"/>
              </a:lnSpc>
              <a:buNone/>
            </a:pPr>
            <a:r>
              <a:rPr lang="en-US" sz="3800" b="1" dirty="0">
                <a:solidFill>
                  <a:srgbClr val="4F46E5"/>
                </a:solidFill>
                <a:latin typeface="Arial" pitchFamily="34" charset="0"/>
                <a:ea typeface="Arial" pitchFamily="34" charset="-122"/>
                <a:cs typeface="Arial" pitchFamily="34" charset="-120"/>
              </a:rPr>
              <a:t>five workers.</a:t>
            </a:r>
            <a:endParaRPr lang="en-US" sz="3800" dirty="0"/>
          </a:p>
        </p:txBody>
      </p:sp>
      <p:sp>
        <p:nvSpPr>
          <p:cNvPr id="4" name="Text 2"/>
          <p:cNvSpPr/>
          <p:nvPr/>
        </p:nvSpPr>
        <p:spPr>
          <a:xfrm>
            <a:off x="841248" y="3977640"/>
            <a:ext cx="5669280" cy="1005840"/>
          </a:xfrm>
          <a:prstGeom prst="rect">
            <a:avLst/>
          </a:prstGeom>
          <a:noFill/>
          <a:ln/>
        </p:spPr>
        <p:txBody>
          <a:bodyPr wrap="square" rtlCol="0" anchor="ctr"/>
          <a:lstStyle/>
          <a:p>
            <a:pPr indent="0" marL="0">
              <a:lnSpc>
                <a:spcPts val="2600"/>
              </a:lnSpc>
              <a:buNone/>
            </a:pPr>
            <a:r>
              <a:rPr lang="en-US" sz="1700" dirty="0">
                <a:solidFill>
                  <a:srgbClr val="666C7A"/>
                </a:solidFill>
                <a:latin typeface="Calibri" pitchFamily="34" charset="0"/>
                <a:ea typeface="Calibri" pitchFamily="34" charset="-122"/>
                <a:cs typeface="Calibri" pitchFamily="34" charset="-120"/>
              </a:rPr>
              <a:t>No cloud. No API bill. It never touched the internet. By the end of tonight you will have built it yourself.</a:t>
            </a:r>
            <a:endParaRPr lang="en-US" sz="1700" dirty="0"/>
          </a:p>
        </p:txBody>
      </p:sp>
      <p:sp>
        <p:nvSpPr>
          <p:cNvPr id="5" name="Text 3"/>
          <p:cNvSpPr/>
          <p:nvPr/>
        </p:nvSpPr>
        <p:spPr>
          <a:xfrm>
            <a:off x="841248" y="5257800"/>
            <a:ext cx="1828800" cy="685800"/>
          </a:xfrm>
          <a:prstGeom prst="rect">
            <a:avLst/>
          </a:prstGeom>
          <a:noFill/>
          <a:ln/>
        </p:spPr>
        <p:txBody>
          <a:bodyPr wrap="square" rtlCol="0" anchor="ctr"/>
          <a:lstStyle/>
          <a:p>
            <a:pPr indent="0" marL="0">
              <a:buNone/>
            </a:pPr>
            <a:r>
              <a:rPr lang="en-US" sz="3800" b="1" dirty="0">
                <a:solidFill>
                  <a:srgbClr val="4F46E5"/>
                </a:solidFill>
                <a:latin typeface="Arial" pitchFamily="34" charset="0"/>
                <a:ea typeface="Arial" pitchFamily="34" charset="-122"/>
                <a:cs typeface="Arial" pitchFamily="34" charset="-120"/>
              </a:rPr>
              <a:t>5</a:t>
            </a:r>
            <a:endParaRPr lang="en-US" sz="3800" dirty="0"/>
          </a:p>
        </p:txBody>
      </p:sp>
      <p:sp>
        <p:nvSpPr>
          <p:cNvPr id="6" name="Text 4"/>
          <p:cNvSpPr/>
          <p:nvPr/>
        </p:nvSpPr>
        <p:spPr>
          <a:xfrm>
            <a:off x="841248" y="5916168"/>
            <a:ext cx="1920240" cy="548640"/>
          </a:xfrm>
          <a:prstGeom prst="rect">
            <a:avLst/>
          </a:prstGeom>
          <a:noFill/>
          <a:ln/>
        </p:spPr>
        <p:txBody>
          <a:bodyPr wrap="square" rtlCol="0" anchor="ctr"/>
          <a:lstStyle/>
          <a:p>
            <a:pPr indent="0" marL="0">
              <a:lnSpc>
                <a:spcPts val="1200"/>
              </a:lnSpc>
              <a:buNone/>
            </a:pPr>
            <a:r>
              <a:rPr lang="en-US" sz="950" spc="150" kern="0" dirty="0">
                <a:solidFill>
                  <a:srgbClr val="666C7A"/>
                </a:solidFill>
                <a:latin typeface="Consolas" pitchFamily="34" charset="0"/>
                <a:ea typeface="Consolas" pitchFamily="34" charset="-122"/>
                <a:cs typeface="Consolas" pitchFamily="34" charset="-120"/>
              </a:rPr>
              <a:t>WORKERS HIRED</a:t>
            </a:r>
            <a:endParaRPr lang="en-US" sz="950" dirty="0"/>
          </a:p>
        </p:txBody>
      </p:sp>
      <p:sp>
        <p:nvSpPr>
          <p:cNvPr id="7" name="Text 5"/>
          <p:cNvSpPr/>
          <p:nvPr/>
        </p:nvSpPr>
        <p:spPr>
          <a:xfrm>
            <a:off x="2807208" y="5257800"/>
            <a:ext cx="1828800" cy="685800"/>
          </a:xfrm>
          <a:prstGeom prst="rect">
            <a:avLst/>
          </a:prstGeom>
          <a:noFill/>
          <a:ln/>
        </p:spPr>
        <p:txBody>
          <a:bodyPr wrap="square" rtlCol="0" anchor="ctr"/>
          <a:lstStyle/>
          <a:p>
            <a:pPr indent="0" marL="0">
              <a:buNone/>
            </a:pPr>
            <a:r>
              <a:rPr lang="en-US" sz="3800" b="1" dirty="0">
                <a:solidFill>
                  <a:srgbClr val="16181D"/>
                </a:solidFill>
                <a:latin typeface="Arial" pitchFamily="34" charset="0"/>
                <a:ea typeface="Arial" pitchFamily="34" charset="-122"/>
                <a:cs typeface="Arial" pitchFamily="34" charset="-120"/>
              </a:rPr>
              <a:t>0</a:t>
            </a:r>
            <a:endParaRPr lang="en-US" sz="3800" dirty="0"/>
          </a:p>
        </p:txBody>
      </p:sp>
      <p:sp>
        <p:nvSpPr>
          <p:cNvPr id="8" name="Text 6"/>
          <p:cNvSpPr/>
          <p:nvPr/>
        </p:nvSpPr>
        <p:spPr>
          <a:xfrm>
            <a:off x="2807208" y="5916168"/>
            <a:ext cx="1920240" cy="548640"/>
          </a:xfrm>
          <a:prstGeom prst="rect">
            <a:avLst/>
          </a:prstGeom>
          <a:noFill/>
          <a:ln/>
        </p:spPr>
        <p:txBody>
          <a:bodyPr wrap="square" rtlCol="0" anchor="ctr"/>
          <a:lstStyle/>
          <a:p>
            <a:pPr indent="0" marL="0">
              <a:lnSpc>
                <a:spcPts val="1200"/>
              </a:lnSpc>
              <a:buNone/>
            </a:pPr>
            <a:r>
              <a:rPr lang="en-US" sz="950" spc="150" kern="0" dirty="0">
                <a:solidFill>
                  <a:srgbClr val="666C7A"/>
                </a:solidFill>
                <a:latin typeface="Consolas" pitchFamily="34" charset="0"/>
                <a:ea typeface="Consolas" pitchFamily="34" charset="-122"/>
                <a:cs typeface="Consolas" pitchFamily="34" charset="-120"/>
              </a:rPr>
              <a:t>CLOUD CALLS</a:t>
            </a:r>
            <a:endParaRPr lang="en-US" sz="950" dirty="0"/>
          </a:p>
        </p:txBody>
      </p:sp>
      <p:sp>
        <p:nvSpPr>
          <p:cNvPr id="9" name="Text 7"/>
          <p:cNvSpPr/>
          <p:nvPr/>
        </p:nvSpPr>
        <p:spPr>
          <a:xfrm>
            <a:off x="4590288" y="5257800"/>
            <a:ext cx="1828800" cy="685800"/>
          </a:xfrm>
          <a:prstGeom prst="rect">
            <a:avLst/>
          </a:prstGeom>
          <a:noFill/>
          <a:ln/>
        </p:spPr>
        <p:txBody>
          <a:bodyPr wrap="square" rtlCol="0" anchor="ctr"/>
          <a:lstStyle/>
          <a:p>
            <a:pPr indent="0" marL="0">
              <a:buNone/>
            </a:pPr>
            <a:r>
              <a:rPr lang="en-US" sz="3800" b="1" dirty="0">
                <a:solidFill>
                  <a:srgbClr val="16181D"/>
                </a:solidFill>
                <a:latin typeface="Arial" pitchFamily="34" charset="0"/>
                <a:ea typeface="Arial" pitchFamily="34" charset="-122"/>
                <a:cs typeface="Arial" pitchFamily="34" charset="-120"/>
              </a:rPr>
              <a:t>~100</a:t>
            </a:r>
            <a:endParaRPr lang="en-US" sz="3800" dirty="0"/>
          </a:p>
        </p:txBody>
      </p:sp>
      <p:sp>
        <p:nvSpPr>
          <p:cNvPr id="10" name="Text 8"/>
          <p:cNvSpPr/>
          <p:nvPr/>
        </p:nvSpPr>
        <p:spPr>
          <a:xfrm>
            <a:off x="4590288" y="5916168"/>
            <a:ext cx="1920240" cy="548640"/>
          </a:xfrm>
          <a:prstGeom prst="rect">
            <a:avLst/>
          </a:prstGeom>
          <a:noFill/>
          <a:ln/>
        </p:spPr>
        <p:txBody>
          <a:bodyPr wrap="square" rtlCol="0" anchor="ctr"/>
          <a:lstStyle/>
          <a:p>
            <a:pPr indent="0" marL="0">
              <a:lnSpc>
                <a:spcPts val="1200"/>
              </a:lnSpc>
              <a:buNone/>
            </a:pPr>
            <a:r>
              <a:rPr lang="en-US" sz="950" spc="150" kern="0" dirty="0">
                <a:solidFill>
                  <a:srgbClr val="666C7A"/>
                </a:solidFill>
                <a:latin typeface="Consolas" pitchFamily="34" charset="0"/>
                <a:ea typeface="Consolas" pitchFamily="34" charset="-122"/>
                <a:cs typeface="Consolas" pitchFamily="34" charset="-120"/>
              </a:rPr>
              <a:t>LINES OF JAVA</a:t>
            </a:r>
            <a:endParaRPr lang="en-US" sz="950" dirty="0"/>
          </a:p>
        </p:txBody>
      </p:sp>
      <p:sp>
        <p:nvSpPr>
          <p:cNvPr id="11" name="Text 9"/>
          <p:cNvSpPr/>
          <p:nvPr/>
        </p:nvSpPr>
        <p:spPr>
          <a:xfrm>
            <a:off x="7589520" y="1965960"/>
            <a:ext cx="1554480" cy="2468880"/>
          </a:xfrm>
          <a:prstGeom prst="rect">
            <a:avLst/>
          </a:prstGeom>
          <a:noFill/>
          <a:ln/>
        </p:spPr>
        <p:txBody>
          <a:bodyPr wrap="square" rtlCol="0" anchor="ctr"/>
          <a:lstStyle/>
          <a:p>
            <a:pPr algn="ctr" indent="0" marL="0">
              <a:buNone/>
            </a:pPr>
            <a:r>
              <a:rPr lang="en-US" sz="15000" b="1" dirty="0">
                <a:solidFill>
                  <a:srgbClr val="4F46E5"/>
                </a:solidFill>
                <a:latin typeface="Arial" pitchFamily="34" charset="0"/>
                <a:ea typeface="Arial" pitchFamily="34" charset="-122"/>
                <a:cs typeface="Arial" pitchFamily="34" charset="-120"/>
              </a:rPr>
              <a:t>1</a:t>
            </a:r>
            <a:endParaRPr lang="en-US" sz="15000" dirty="0"/>
          </a:p>
        </p:txBody>
      </p:sp>
      <p:sp>
        <p:nvSpPr>
          <p:cNvPr id="12" name="Shape 10"/>
          <p:cNvSpPr/>
          <p:nvPr/>
        </p:nvSpPr>
        <p:spPr>
          <a:xfrm>
            <a:off x="9189720" y="3291840"/>
            <a:ext cx="548640" cy="0"/>
          </a:xfrm>
          <a:prstGeom prst="line">
            <a:avLst/>
          </a:prstGeom>
          <a:noFill/>
          <a:ln w="25400">
            <a:solidFill>
              <a:srgbClr val="9AA1B0"/>
            </a:solidFill>
            <a:prstDash val="solid"/>
            <a:tailEnd type="triangle"/>
          </a:ln>
        </p:spPr>
      </p:sp>
      <p:sp>
        <p:nvSpPr>
          <p:cNvPr id="13" name="Shape 11"/>
          <p:cNvSpPr/>
          <p:nvPr/>
        </p:nvSpPr>
        <p:spPr>
          <a:xfrm>
            <a:off x="9893808" y="2139696"/>
            <a:ext cx="329184" cy="329184"/>
          </a:xfrm>
          <a:prstGeom prst="ellipse">
            <a:avLst/>
          </a:prstGeom>
          <a:solidFill>
            <a:srgbClr val="0F9E8E"/>
          </a:solidFill>
          <a:ln/>
          <a:effectLst>
            <a:outerShdw sx="100000" sy="100000" kx="0" ky="0" algn="bl" rotWithShape="0" blurRad="139700" dist="38100" dir="5400000">
              <a:srgbClr val="9AA6BC">
                <a:alpha val="28000"/>
              </a:srgbClr>
            </a:outerShdw>
          </a:effectLst>
        </p:spPr>
      </p:sp>
      <p:pic>
        <p:nvPicPr>
          <p:cNvPr id="14" name="Image 0" descr="preencoded.png">    </p:cNvPr>
          <p:cNvPicPr>
            <a:picLocks noChangeAspect="1"/>
          </p:cNvPicPr>
          <p:nvPr/>
        </p:nvPicPr>
        <p:blipFill>
          <a:blip r:embed="rId1"/>
          <a:stretch>
            <a:fillRect/>
          </a:stretch>
        </p:blipFill>
        <p:spPr>
          <a:xfrm>
            <a:off x="9972812" y="2218700"/>
            <a:ext cx="171176" cy="171176"/>
          </a:xfrm>
          <a:prstGeom prst="rect">
            <a:avLst/>
          </a:prstGeom>
        </p:spPr>
      </p:pic>
      <p:sp>
        <p:nvSpPr>
          <p:cNvPr id="15" name="Text 12"/>
          <p:cNvSpPr/>
          <p:nvPr/>
        </p:nvSpPr>
        <p:spPr>
          <a:xfrm>
            <a:off x="10351008" y="2148840"/>
            <a:ext cx="1828800" cy="347472"/>
          </a:xfrm>
          <a:prstGeom prst="rect">
            <a:avLst/>
          </a:prstGeom>
          <a:noFill/>
          <a:ln/>
        </p:spPr>
        <p:txBody>
          <a:bodyPr wrap="square" rtlCol="0" anchor="ctr"/>
          <a:lstStyle/>
          <a:p>
            <a:pPr indent="0" marL="0">
              <a:buNone/>
            </a:pPr>
            <a:r>
              <a:rPr lang="en-US" sz="1100" spc="200" kern="0" dirty="0">
                <a:solidFill>
                  <a:srgbClr val="666C7A"/>
                </a:solidFill>
                <a:latin typeface="Consolas" pitchFamily="34" charset="0"/>
                <a:ea typeface="Consolas" pitchFamily="34" charset="-122"/>
                <a:cs typeface="Consolas" pitchFamily="34" charset="-120"/>
              </a:rPr>
              <a:t>ENGINEER</a:t>
            </a:r>
            <a:endParaRPr lang="en-US" sz="1100" dirty="0"/>
          </a:p>
        </p:txBody>
      </p:sp>
      <p:sp>
        <p:nvSpPr>
          <p:cNvPr id="16" name="Shape 13"/>
          <p:cNvSpPr/>
          <p:nvPr/>
        </p:nvSpPr>
        <p:spPr>
          <a:xfrm>
            <a:off x="9893808" y="2706624"/>
            <a:ext cx="329184" cy="329184"/>
          </a:xfrm>
          <a:prstGeom prst="ellipse">
            <a:avLst/>
          </a:prstGeom>
          <a:solidFill>
            <a:srgbClr val="7C3AED"/>
          </a:solidFill>
          <a:ln/>
          <a:effectLst>
            <a:outerShdw sx="100000" sy="100000" kx="0" ky="0" algn="bl" rotWithShape="0" blurRad="139700" dist="38100" dir="5400000">
              <a:srgbClr val="9AA6BC">
                <a:alpha val="28000"/>
              </a:srgbClr>
            </a:outerShdw>
          </a:effectLst>
        </p:spPr>
      </p:sp>
      <p:pic>
        <p:nvPicPr>
          <p:cNvPr id="17" name="Image 1" descr="preencoded.png">    </p:cNvPr>
          <p:cNvPicPr>
            <a:picLocks noChangeAspect="1"/>
          </p:cNvPicPr>
          <p:nvPr/>
        </p:nvPicPr>
        <p:blipFill>
          <a:blip r:embed="rId2"/>
          <a:stretch>
            <a:fillRect/>
          </a:stretch>
        </p:blipFill>
        <p:spPr>
          <a:xfrm>
            <a:off x="9972812" y="2785628"/>
            <a:ext cx="171176" cy="171176"/>
          </a:xfrm>
          <a:prstGeom prst="rect">
            <a:avLst/>
          </a:prstGeom>
        </p:spPr>
      </p:pic>
      <p:sp>
        <p:nvSpPr>
          <p:cNvPr id="18" name="Text 14"/>
          <p:cNvSpPr/>
          <p:nvPr/>
        </p:nvSpPr>
        <p:spPr>
          <a:xfrm>
            <a:off x="10351008" y="2715768"/>
            <a:ext cx="1828800" cy="347472"/>
          </a:xfrm>
          <a:prstGeom prst="rect">
            <a:avLst/>
          </a:prstGeom>
          <a:noFill/>
          <a:ln/>
        </p:spPr>
        <p:txBody>
          <a:bodyPr wrap="square" rtlCol="0" anchor="ctr"/>
          <a:lstStyle/>
          <a:p>
            <a:pPr indent="0" marL="0">
              <a:buNone/>
            </a:pPr>
            <a:r>
              <a:rPr lang="en-US" sz="1100" spc="200" kern="0" dirty="0">
                <a:solidFill>
                  <a:srgbClr val="666C7A"/>
                </a:solidFill>
                <a:latin typeface="Consolas" pitchFamily="34" charset="0"/>
                <a:ea typeface="Consolas" pitchFamily="34" charset="-122"/>
                <a:cs typeface="Consolas" pitchFamily="34" charset="-120"/>
              </a:rPr>
              <a:t>MARKETER</a:t>
            </a:r>
            <a:endParaRPr lang="en-US" sz="1100" dirty="0"/>
          </a:p>
        </p:txBody>
      </p:sp>
      <p:sp>
        <p:nvSpPr>
          <p:cNvPr id="19" name="Shape 15"/>
          <p:cNvSpPr/>
          <p:nvPr/>
        </p:nvSpPr>
        <p:spPr>
          <a:xfrm>
            <a:off x="9893808" y="3273552"/>
            <a:ext cx="329184" cy="329184"/>
          </a:xfrm>
          <a:prstGeom prst="ellipse">
            <a:avLst/>
          </a:prstGeom>
          <a:solidFill>
            <a:srgbClr val="D97706"/>
          </a:solidFill>
          <a:ln/>
          <a:effectLst>
            <a:outerShdw sx="100000" sy="100000" kx="0" ky="0" algn="bl" rotWithShape="0" blurRad="139700" dist="38100" dir="5400000">
              <a:srgbClr val="9AA6BC">
                <a:alpha val="28000"/>
              </a:srgbClr>
            </a:outerShdw>
          </a:effectLst>
        </p:spPr>
      </p:sp>
      <p:pic>
        <p:nvPicPr>
          <p:cNvPr id="20" name="Image 2" descr="preencoded.png">    </p:cNvPr>
          <p:cNvPicPr>
            <a:picLocks noChangeAspect="1"/>
          </p:cNvPicPr>
          <p:nvPr/>
        </p:nvPicPr>
        <p:blipFill>
          <a:blip r:embed="rId3"/>
          <a:stretch>
            <a:fillRect/>
          </a:stretch>
        </p:blipFill>
        <p:spPr>
          <a:xfrm>
            <a:off x="9972812" y="3352556"/>
            <a:ext cx="171176" cy="171176"/>
          </a:xfrm>
          <a:prstGeom prst="rect">
            <a:avLst/>
          </a:prstGeom>
        </p:spPr>
      </p:pic>
      <p:sp>
        <p:nvSpPr>
          <p:cNvPr id="21" name="Text 16"/>
          <p:cNvSpPr/>
          <p:nvPr/>
        </p:nvSpPr>
        <p:spPr>
          <a:xfrm>
            <a:off x="10351008" y="3282696"/>
            <a:ext cx="1828800" cy="347472"/>
          </a:xfrm>
          <a:prstGeom prst="rect">
            <a:avLst/>
          </a:prstGeom>
          <a:noFill/>
          <a:ln/>
        </p:spPr>
        <p:txBody>
          <a:bodyPr wrap="square" rtlCol="0" anchor="ctr"/>
          <a:lstStyle/>
          <a:p>
            <a:pPr indent="0" marL="0">
              <a:buNone/>
            </a:pPr>
            <a:r>
              <a:rPr lang="en-US" sz="1100" spc="200" kern="0" dirty="0">
                <a:solidFill>
                  <a:srgbClr val="666C7A"/>
                </a:solidFill>
                <a:latin typeface="Consolas" pitchFamily="34" charset="0"/>
                <a:ea typeface="Consolas" pitchFamily="34" charset="-122"/>
                <a:cs typeface="Consolas" pitchFamily="34" charset="-120"/>
              </a:rPr>
              <a:t>DESIGNER</a:t>
            </a:r>
            <a:endParaRPr lang="en-US" sz="1100" dirty="0"/>
          </a:p>
        </p:txBody>
      </p:sp>
      <p:sp>
        <p:nvSpPr>
          <p:cNvPr id="22" name="Shape 17"/>
          <p:cNvSpPr/>
          <p:nvPr/>
        </p:nvSpPr>
        <p:spPr>
          <a:xfrm>
            <a:off x="9893808" y="3840480"/>
            <a:ext cx="329184" cy="329184"/>
          </a:xfrm>
          <a:prstGeom prst="ellipse">
            <a:avLst/>
          </a:prstGeom>
          <a:solidFill>
            <a:srgbClr val="E11D48"/>
          </a:solidFill>
          <a:ln/>
          <a:effectLst>
            <a:outerShdw sx="100000" sy="100000" kx="0" ky="0" algn="bl" rotWithShape="0" blurRad="139700" dist="38100" dir="5400000">
              <a:srgbClr val="9AA6BC">
                <a:alpha val="28000"/>
              </a:srgbClr>
            </a:outerShdw>
          </a:effectLst>
        </p:spPr>
      </p:sp>
      <p:pic>
        <p:nvPicPr>
          <p:cNvPr id="23" name="Image 3" descr="preencoded.png">    </p:cNvPr>
          <p:cNvPicPr>
            <a:picLocks noChangeAspect="1"/>
          </p:cNvPicPr>
          <p:nvPr/>
        </p:nvPicPr>
        <p:blipFill>
          <a:blip r:embed="rId4"/>
          <a:stretch>
            <a:fillRect/>
          </a:stretch>
        </p:blipFill>
        <p:spPr>
          <a:xfrm>
            <a:off x="9972812" y="3919484"/>
            <a:ext cx="171176" cy="171176"/>
          </a:xfrm>
          <a:prstGeom prst="rect">
            <a:avLst/>
          </a:prstGeom>
        </p:spPr>
      </p:pic>
      <p:sp>
        <p:nvSpPr>
          <p:cNvPr id="24" name="Text 18"/>
          <p:cNvSpPr/>
          <p:nvPr/>
        </p:nvSpPr>
        <p:spPr>
          <a:xfrm>
            <a:off x="10351008" y="3849624"/>
            <a:ext cx="1828800" cy="347472"/>
          </a:xfrm>
          <a:prstGeom prst="rect">
            <a:avLst/>
          </a:prstGeom>
          <a:noFill/>
          <a:ln/>
        </p:spPr>
        <p:txBody>
          <a:bodyPr wrap="square" rtlCol="0" anchor="ctr"/>
          <a:lstStyle/>
          <a:p>
            <a:pPr indent="0" marL="0">
              <a:buNone/>
            </a:pPr>
            <a:r>
              <a:rPr lang="en-US" sz="1100" spc="200" kern="0" dirty="0">
                <a:solidFill>
                  <a:srgbClr val="666C7A"/>
                </a:solidFill>
                <a:latin typeface="Consolas" pitchFamily="34" charset="0"/>
                <a:ea typeface="Consolas" pitchFamily="34" charset="-122"/>
                <a:cs typeface="Consolas" pitchFamily="34" charset="-120"/>
              </a:rPr>
              <a:t>LEGAL</a:t>
            </a:r>
            <a:endParaRPr lang="en-US" sz="1100" dirty="0"/>
          </a:p>
        </p:txBody>
      </p:sp>
      <p:sp>
        <p:nvSpPr>
          <p:cNvPr id="25" name="Shape 19"/>
          <p:cNvSpPr/>
          <p:nvPr/>
        </p:nvSpPr>
        <p:spPr>
          <a:xfrm>
            <a:off x="9893808" y="4407408"/>
            <a:ext cx="329184" cy="329184"/>
          </a:xfrm>
          <a:prstGeom prst="ellipse">
            <a:avLst/>
          </a:prstGeom>
          <a:solidFill>
            <a:srgbClr val="0284C7"/>
          </a:solidFill>
          <a:ln/>
          <a:effectLst>
            <a:outerShdw sx="100000" sy="100000" kx="0" ky="0" algn="bl" rotWithShape="0" blurRad="139700" dist="38100" dir="5400000">
              <a:srgbClr val="9AA6BC">
                <a:alpha val="28000"/>
              </a:srgbClr>
            </a:outerShdw>
          </a:effectLst>
        </p:spPr>
      </p:sp>
      <p:pic>
        <p:nvPicPr>
          <p:cNvPr id="26" name="Image 4" descr="preencoded.png">    </p:cNvPr>
          <p:cNvPicPr>
            <a:picLocks noChangeAspect="1"/>
          </p:cNvPicPr>
          <p:nvPr/>
        </p:nvPicPr>
        <p:blipFill>
          <a:blip r:embed="rId5"/>
          <a:stretch>
            <a:fillRect/>
          </a:stretch>
        </p:blipFill>
        <p:spPr>
          <a:xfrm>
            <a:off x="9972812" y="4486412"/>
            <a:ext cx="171176" cy="171176"/>
          </a:xfrm>
          <a:prstGeom prst="rect">
            <a:avLst/>
          </a:prstGeom>
        </p:spPr>
      </p:pic>
      <p:sp>
        <p:nvSpPr>
          <p:cNvPr id="27" name="Text 20"/>
          <p:cNvSpPr/>
          <p:nvPr/>
        </p:nvSpPr>
        <p:spPr>
          <a:xfrm>
            <a:off x="10351008" y="4416552"/>
            <a:ext cx="1828800" cy="347472"/>
          </a:xfrm>
          <a:prstGeom prst="rect">
            <a:avLst/>
          </a:prstGeom>
          <a:noFill/>
          <a:ln/>
        </p:spPr>
        <p:txBody>
          <a:bodyPr wrap="square" rtlCol="0" anchor="ctr"/>
          <a:lstStyle/>
          <a:p>
            <a:pPr indent="0" marL="0">
              <a:buNone/>
            </a:pPr>
            <a:r>
              <a:rPr lang="en-US" sz="1100" spc="200" kern="0" dirty="0">
                <a:solidFill>
                  <a:srgbClr val="666C7A"/>
                </a:solidFill>
                <a:latin typeface="Consolas" pitchFamily="34" charset="0"/>
                <a:ea typeface="Consolas" pitchFamily="34" charset="-122"/>
                <a:cs typeface="Consolas" pitchFamily="34" charset="-120"/>
              </a:rPr>
              <a:t>DEVREL</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indent="0" marL="0">
              <a:buNone/>
            </a:pPr>
            <a:r>
              <a:rPr lang="en-US" sz="1100" b="1" spc="300" kern="0" dirty="0">
                <a:solidFill>
                  <a:srgbClr val="4F46E5"/>
                </a:solidFill>
                <a:latin typeface="Arial" pitchFamily="34" charset="0"/>
                <a:ea typeface="Arial" pitchFamily="34" charset="-122"/>
                <a:cs typeface="Arial" pitchFamily="34" charset="-120"/>
              </a:rPr>
              <a:t>JOIN IN  ·  THIS ONE'S INTERACTIVE</a:t>
            </a:r>
            <a:endParaRPr lang="en-US" sz="1100" dirty="0"/>
          </a:p>
        </p:txBody>
      </p:sp>
      <p:sp>
        <p:nvSpPr>
          <p:cNvPr id="3" name="Text 1"/>
          <p:cNvSpPr/>
          <p:nvPr/>
        </p:nvSpPr>
        <p:spPr>
          <a:xfrm>
            <a:off x="841248" y="1371600"/>
            <a:ext cx="6400800" cy="1737360"/>
          </a:xfrm>
          <a:prstGeom prst="rect">
            <a:avLst/>
          </a:prstGeom>
          <a:noFill/>
          <a:ln/>
        </p:spPr>
        <p:txBody>
          <a:bodyPr wrap="square" rtlCol="0" anchor="ctr"/>
          <a:lstStyle/>
          <a:p>
            <a:pPr indent="0" marL="0">
              <a:lnSpc>
                <a:spcPts val="4600"/>
              </a:lnSpc>
              <a:buNone/>
            </a:pPr>
            <a:r>
              <a:rPr lang="en-US" sz="3800" b="1" dirty="0">
                <a:solidFill>
                  <a:srgbClr val="16181D"/>
                </a:solidFill>
                <a:latin typeface="Arial" pitchFamily="34" charset="0"/>
                <a:ea typeface="Arial" pitchFamily="34" charset="-122"/>
                <a:cs typeface="Arial" pitchFamily="34" charset="-120"/>
              </a:rPr>
              <a:t>Scan it. Type </a:t>
            </a:r>
            <a:pPr indent="0" marL="0">
              <a:lnSpc>
                <a:spcPts val="4600"/>
              </a:lnSpc>
              <a:buNone/>
            </a:pPr>
            <a:r>
              <a:rPr lang="en-US" sz="3800" b="1" dirty="0">
                <a:solidFill>
                  <a:srgbClr val="4F46E5"/>
                </a:solidFill>
                <a:latin typeface="Arial" pitchFamily="34" charset="0"/>
                <a:ea typeface="Arial" pitchFamily="34" charset="-122"/>
                <a:cs typeface="Arial" pitchFamily="34" charset="-120"/>
              </a:rPr>
              <a:t>one line.</a:t>
            </a:r>
            <a:pPr indent="0" marL="0">
              <a:lnSpc>
                <a:spcPts val="4600"/>
              </a:lnSpc>
              <a:buNone/>
            </a:pPr>
            <a:endParaRPr lang="en-US" sz="3800" dirty="0"/>
          </a:p>
          <a:p>
            <a:pPr indent="0" marL="0">
              <a:lnSpc>
                <a:spcPts val="4600"/>
              </a:lnSpc>
              <a:buNone/>
            </a:pPr>
            <a:r>
              <a:rPr lang="en-US" sz="3800" b="1" dirty="0">
                <a:solidFill>
                  <a:srgbClr val="16181D"/>
                </a:solidFill>
                <a:latin typeface="Arial" pitchFamily="34" charset="0"/>
                <a:ea typeface="Arial" pitchFamily="34" charset="-122"/>
                <a:cs typeface="Arial" pitchFamily="34" charset="-120"/>
              </a:rPr>
              <a:t>We build one live, later.</a:t>
            </a:r>
            <a:endParaRPr lang="en-US" sz="3800" dirty="0"/>
          </a:p>
        </p:txBody>
      </p:sp>
      <p:sp>
        <p:nvSpPr>
          <p:cNvPr id="4" name="Shape 2"/>
          <p:cNvSpPr/>
          <p:nvPr/>
        </p:nvSpPr>
        <p:spPr>
          <a:xfrm>
            <a:off x="841248" y="3520440"/>
            <a:ext cx="402336" cy="402336"/>
          </a:xfrm>
          <a:prstGeom prst="ellipse">
            <a:avLst/>
          </a:prstGeom>
          <a:solidFill>
            <a:srgbClr val="4F46E5"/>
          </a:solidFill>
          <a:ln/>
        </p:spPr>
      </p:sp>
      <p:sp>
        <p:nvSpPr>
          <p:cNvPr id="5" name="Text 3"/>
          <p:cNvSpPr/>
          <p:nvPr/>
        </p:nvSpPr>
        <p:spPr>
          <a:xfrm>
            <a:off x="841248" y="3520440"/>
            <a:ext cx="402336" cy="402336"/>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6" name="Text 4"/>
          <p:cNvSpPr/>
          <p:nvPr/>
        </p:nvSpPr>
        <p:spPr>
          <a:xfrm>
            <a:off x="1408176" y="3502152"/>
            <a:ext cx="5486400" cy="438912"/>
          </a:xfrm>
          <a:prstGeom prst="rect">
            <a:avLst/>
          </a:prstGeom>
          <a:noFill/>
          <a:ln/>
        </p:spPr>
        <p:txBody>
          <a:bodyPr wrap="square" rtlCol="0" anchor="ctr"/>
          <a:lstStyle/>
          <a:p>
            <a:pPr indent="0" marL="0">
              <a:buNone/>
            </a:pPr>
            <a:r>
              <a:rPr lang="en-US" sz="1650" dirty="0">
                <a:solidFill>
                  <a:srgbClr val="666C7A"/>
                </a:solidFill>
                <a:latin typeface="Calibri" pitchFamily="34" charset="0"/>
                <a:ea typeface="Calibri" pitchFamily="34" charset="-122"/>
                <a:cs typeface="Calibri" pitchFamily="34" charset="-120"/>
              </a:rPr>
              <a:t>Join the room's Wi-Fi hotspot</a:t>
            </a:r>
            <a:endParaRPr lang="en-US" sz="1650" dirty="0"/>
          </a:p>
        </p:txBody>
      </p:sp>
      <p:sp>
        <p:nvSpPr>
          <p:cNvPr id="7" name="Shape 5"/>
          <p:cNvSpPr/>
          <p:nvPr/>
        </p:nvSpPr>
        <p:spPr>
          <a:xfrm>
            <a:off x="841248" y="4197096"/>
            <a:ext cx="402336" cy="402336"/>
          </a:xfrm>
          <a:prstGeom prst="ellipse">
            <a:avLst/>
          </a:prstGeom>
          <a:solidFill>
            <a:srgbClr val="4F46E5"/>
          </a:solidFill>
          <a:ln/>
        </p:spPr>
      </p:sp>
      <p:sp>
        <p:nvSpPr>
          <p:cNvPr id="8" name="Text 6"/>
          <p:cNvSpPr/>
          <p:nvPr/>
        </p:nvSpPr>
        <p:spPr>
          <a:xfrm>
            <a:off x="841248" y="4197096"/>
            <a:ext cx="402336" cy="402336"/>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9" name="Text 7"/>
          <p:cNvSpPr/>
          <p:nvPr/>
        </p:nvSpPr>
        <p:spPr>
          <a:xfrm>
            <a:off x="1408176" y="4178808"/>
            <a:ext cx="5486400" cy="438912"/>
          </a:xfrm>
          <a:prstGeom prst="rect">
            <a:avLst/>
          </a:prstGeom>
          <a:noFill/>
          <a:ln/>
        </p:spPr>
        <p:txBody>
          <a:bodyPr wrap="square" rtlCol="0" anchor="ctr"/>
          <a:lstStyle/>
          <a:p>
            <a:pPr indent="0" marL="0">
              <a:buNone/>
            </a:pPr>
            <a:r>
              <a:rPr lang="en-US" sz="1650" dirty="0">
                <a:solidFill>
                  <a:srgbClr val="666C7A"/>
                </a:solidFill>
                <a:latin typeface="Calibri" pitchFamily="34" charset="0"/>
                <a:ea typeface="Calibri" pitchFamily="34" charset="-122"/>
                <a:cs typeface="Calibri" pitchFamily="34" charset="-120"/>
              </a:rPr>
              <a:t>Scan the code with your phone</a:t>
            </a:r>
            <a:endParaRPr lang="en-US" sz="1650" dirty="0"/>
          </a:p>
        </p:txBody>
      </p:sp>
      <p:sp>
        <p:nvSpPr>
          <p:cNvPr id="10" name="Shape 8"/>
          <p:cNvSpPr/>
          <p:nvPr/>
        </p:nvSpPr>
        <p:spPr>
          <a:xfrm>
            <a:off x="841248" y="4873752"/>
            <a:ext cx="402336" cy="402336"/>
          </a:xfrm>
          <a:prstGeom prst="ellipse">
            <a:avLst/>
          </a:prstGeom>
          <a:solidFill>
            <a:srgbClr val="4F46E5"/>
          </a:solidFill>
          <a:ln/>
        </p:spPr>
      </p:sp>
      <p:sp>
        <p:nvSpPr>
          <p:cNvPr id="11" name="Text 9"/>
          <p:cNvSpPr/>
          <p:nvPr/>
        </p:nvSpPr>
        <p:spPr>
          <a:xfrm>
            <a:off x="841248" y="4873752"/>
            <a:ext cx="402336" cy="402336"/>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2" name="Text 10"/>
          <p:cNvSpPr/>
          <p:nvPr/>
        </p:nvSpPr>
        <p:spPr>
          <a:xfrm>
            <a:off x="1408176" y="4855464"/>
            <a:ext cx="5486400" cy="438912"/>
          </a:xfrm>
          <a:prstGeom prst="rect">
            <a:avLst/>
          </a:prstGeom>
          <a:noFill/>
          <a:ln/>
        </p:spPr>
        <p:txBody>
          <a:bodyPr wrap="square" rtlCol="0" anchor="ctr"/>
          <a:lstStyle/>
          <a:p>
            <a:pPr indent="0" marL="0">
              <a:buNone/>
            </a:pPr>
            <a:r>
              <a:rPr lang="en-US" sz="1650" dirty="0">
                <a:solidFill>
                  <a:srgbClr val="666C7A"/>
                </a:solidFill>
                <a:latin typeface="Calibri" pitchFamily="34" charset="0"/>
                <a:ea typeface="Calibri" pitchFamily="34" charset="-122"/>
                <a:cs typeface="Calibri" pitchFamily="34" charset="-120"/>
              </a:rPr>
              <a:t>Send the crew a product idea</a:t>
            </a:r>
            <a:endParaRPr lang="en-US" sz="1650" dirty="0"/>
          </a:p>
        </p:txBody>
      </p:sp>
      <p:sp>
        <p:nvSpPr>
          <p:cNvPr id="13" name="Text 11"/>
          <p:cNvSpPr/>
          <p:nvPr/>
        </p:nvSpPr>
        <p:spPr>
          <a:xfrm>
            <a:off x="841248" y="5806440"/>
            <a:ext cx="6035040" cy="548640"/>
          </a:xfrm>
          <a:prstGeom prst="rect">
            <a:avLst/>
          </a:prstGeom>
          <a:noFill/>
          <a:ln/>
        </p:spPr>
        <p:txBody>
          <a:bodyPr wrap="square" rtlCol="0" anchor="ctr"/>
          <a:lstStyle/>
          <a:p>
            <a:pPr indent="0" marL="0">
              <a:lnSpc>
                <a:spcPts val="1600"/>
              </a:lnSpc>
              <a:buNone/>
            </a:pPr>
            <a:r>
              <a:rPr lang="en-US" sz="1100" dirty="0">
                <a:solidFill>
                  <a:srgbClr val="9AA1B0"/>
                </a:solidFill>
                <a:latin typeface="Consolas" pitchFamily="34" charset="0"/>
                <a:ea typeface="Consolas" pitchFamily="34" charset="-122"/>
                <a:cs typeface="Consolas" pitchFamily="34" charset="-120"/>
              </a:rPr>
              <a:t>Every idea runs on the laptop up here. Nothing you type leaves the room.</a:t>
            </a:r>
            <a:endParaRPr lang="en-US" sz="1100" dirty="0"/>
          </a:p>
        </p:txBody>
      </p:sp>
      <p:sp>
        <p:nvSpPr>
          <p:cNvPr id="14" name="Shape 12"/>
          <p:cNvSpPr/>
          <p:nvPr/>
        </p:nvSpPr>
        <p:spPr>
          <a:xfrm>
            <a:off x="7955280" y="1417320"/>
            <a:ext cx="3200400" cy="4069080"/>
          </a:xfrm>
          <a:prstGeom prst="roundRect">
            <a:avLst>
              <a:gd name="adj" fmla="val 2857"/>
            </a:avLst>
          </a:prstGeom>
          <a:solidFill>
            <a:srgbClr val="F5F7FA"/>
          </a:solidFill>
          <a:ln w="12700">
            <a:solidFill>
              <a:srgbClr val="E1E5EC"/>
            </a:solidFill>
            <a:prstDash val="solid"/>
          </a:ln>
          <a:effectLst>
            <a:outerShdw sx="100000" sy="100000" kx="0" ky="0" algn="bl" rotWithShape="0" blurRad="139700" dist="38100" dir="5400000">
              <a:srgbClr val="9AA6BC">
                <a:alpha val="28000"/>
              </a:srgbClr>
            </a:outerShdw>
          </a:effectLst>
        </p:spPr>
      </p:sp>
      <p:pic>
        <p:nvPicPr>
          <p:cNvPr id="15" name="Image 0" descr="preencoded.png">    </p:cNvPr>
          <p:cNvPicPr>
            <a:picLocks noChangeAspect="1"/>
          </p:cNvPicPr>
          <p:nvPr/>
        </p:nvPicPr>
        <p:blipFill>
          <a:blip r:embed="rId1"/>
          <a:stretch>
            <a:fillRect/>
          </a:stretch>
        </p:blipFill>
        <p:spPr>
          <a:xfrm>
            <a:off x="8458200" y="1783080"/>
            <a:ext cx="2194560" cy="2194560"/>
          </a:xfrm>
          <a:prstGeom prst="rect">
            <a:avLst/>
          </a:prstGeom>
        </p:spPr>
      </p:pic>
      <p:sp>
        <p:nvSpPr>
          <p:cNvPr id="16" name="Shape 13"/>
          <p:cNvSpPr/>
          <p:nvPr/>
        </p:nvSpPr>
        <p:spPr>
          <a:xfrm>
            <a:off x="9326880" y="4206240"/>
            <a:ext cx="457200" cy="457200"/>
          </a:xfrm>
          <a:prstGeom prst="ellipse">
            <a:avLst/>
          </a:prstGeom>
          <a:solidFill>
            <a:srgbClr val="4F46E5"/>
          </a:solidFill>
          <a:ln/>
          <a:effectLst>
            <a:outerShdw sx="100000" sy="100000" kx="0" ky="0" algn="bl" rotWithShape="0" blurRad="139700" dist="38100" dir="5400000">
              <a:srgbClr val="9AA6BC">
                <a:alpha val="28000"/>
              </a:srgbClr>
            </a:outerShdw>
          </a:effectLst>
        </p:spPr>
      </p:sp>
      <p:pic>
        <p:nvPicPr>
          <p:cNvPr id="17" name="Image 1" descr="preencoded.png">    </p:cNvPr>
          <p:cNvPicPr>
            <a:picLocks noChangeAspect="1"/>
          </p:cNvPicPr>
          <p:nvPr/>
        </p:nvPicPr>
        <p:blipFill>
          <a:blip r:embed="rId2"/>
          <a:stretch>
            <a:fillRect/>
          </a:stretch>
        </p:blipFill>
        <p:spPr>
          <a:xfrm>
            <a:off x="9436608" y="4315968"/>
            <a:ext cx="237744" cy="237744"/>
          </a:xfrm>
          <a:prstGeom prst="rect">
            <a:avLst/>
          </a:prstGeom>
        </p:spPr>
      </p:pic>
      <p:sp>
        <p:nvSpPr>
          <p:cNvPr id="18" name="Text 14"/>
          <p:cNvSpPr/>
          <p:nvPr/>
        </p:nvSpPr>
        <p:spPr>
          <a:xfrm>
            <a:off x="7955280" y="4727448"/>
            <a:ext cx="3200400" cy="320040"/>
          </a:xfrm>
          <a:prstGeom prst="rect">
            <a:avLst/>
          </a:prstGeom>
          <a:noFill/>
          <a:ln/>
        </p:spPr>
        <p:txBody>
          <a:bodyPr wrap="square" rtlCol="0" anchor="ctr"/>
          <a:lstStyle/>
          <a:p>
            <a:pPr algn="ctr" indent="0" marL="0">
              <a:buNone/>
            </a:pPr>
            <a:r>
              <a:rPr lang="en-US" sz="1600" b="1" dirty="0">
                <a:solidFill>
                  <a:srgbClr val="16181D"/>
                </a:solidFill>
                <a:latin typeface="Arial" pitchFamily="34" charset="0"/>
                <a:ea typeface="Arial" pitchFamily="34" charset="-122"/>
                <a:cs typeface="Arial" pitchFamily="34" charset="-120"/>
              </a:rPr>
              <a:t>scan to join</a:t>
            </a:r>
            <a:endParaRPr lang="en-US" sz="1600" dirty="0"/>
          </a:p>
        </p:txBody>
      </p:sp>
      <p:sp>
        <p:nvSpPr>
          <p:cNvPr id="19" name="Text 15"/>
          <p:cNvSpPr/>
          <p:nvPr/>
        </p:nvSpPr>
        <p:spPr>
          <a:xfrm>
            <a:off x="7955280" y="5029200"/>
            <a:ext cx="3200400" cy="274320"/>
          </a:xfrm>
          <a:prstGeom prst="rect">
            <a:avLst/>
          </a:prstGeom>
          <a:noFill/>
          <a:ln/>
        </p:spPr>
        <p:txBody>
          <a:bodyPr wrap="square" rtlCol="0" anchor="ctr"/>
          <a:lstStyle/>
          <a:p>
            <a:pPr algn="ctr" indent="0" marL="0">
              <a:buNone/>
            </a:pPr>
            <a:r>
              <a:rPr lang="en-US" sz="1200" dirty="0">
                <a:solidFill>
                  <a:srgbClr val="666C7A"/>
                </a:solidFill>
                <a:latin typeface="Calibri" pitchFamily="34" charset="0"/>
                <a:ea typeface="Calibri" pitchFamily="34" charset="-122"/>
                <a:cs typeface="Calibri" pitchFamily="34" charset="-120"/>
              </a:rPr>
              <a:t>the crew is waiting</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indent="0" marL="0">
              <a:buNone/>
            </a:pPr>
            <a:r>
              <a:rPr lang="en-US" sz="1100" b="1" spc="300" kern="0" dirty="0">
                <a:solidFill>
                  <a:srgbClr val="4F46E5"/>
                </a:solidFill>
                <a:latin typeface="Arial" pitchFamily="34" charset="0"/>
                <a:ea typeface="Arial" pitchFamily="34" charset="-122"/>
                <a:cs typeface="Arial" pitchFamily="34" charset="-120"/>
              </a:rPr>
              <a:t>WHERE WE'RE GOING</a:t>
            </a:r>
            <a:endParaRPr lang="en-US" sz="1100" dirty="0"/>
          </a:p>
        </p:txBody>
      </p:sp>
      <p:sp>
        <p:nvSpPr>
          <p:cNvPr id="3" name="Text 1"/>
          <p:cNvSpPr/>
          <p:nvPr/>
        </p:nvSpPr>
        <p:spPr>
          <a:xfrm>
            <a:off x="841248" y="1097280"/>
            <a:ext cx="10058400" cy="914400"/>
          </a:xfrm>
          <a:prstGeom prst="rect">
            <a:avLst/>
          </a:prstGeom>
          <a:noFill/>
          <a:ln/>
        </p:spPr>
        <p:txBody>
          <a:bodyPr wrap="square" rtlCol="0" anchor="ctr"/>
          <a:lstStyle/>
          <a:p>
            <a:pPr indent="0" marL="0">
              <a:buNone/>
            </a:pPr>
            <a:r>
              <a:rPr lang="en-US" sz="3200" b="1" dirty="0">
                <a:solidFill>
                  <a:srgbClr val="16181D"/>
                </a:solidFill>
                <a:latin typeface="Arial" pitchFamily="34" charset="0"/>
                <a:ea typeface="Arial" pitchFamily="34" charset="-122"/>
                <a:cs typeface="Arial" pitchFamily="34" charset="-120"/>
              </a:rPr>
              <a:t>Five rungs from </a:t>
            </a:r>
            <a:pPr indent="0" marL="0">
              <a:buNone/>
            </a:pPr>
            <a:r>
              <a:rPr lang="en-US" sz="3200" b="1" dirty="0">
                <a:solidFill>
                  <a:srgbClr val="4F46E5"/>
                </a:solidFill>
                <a:latin typeface="Arial" pitchFamily="34" charset="0"/>
                <a:ea typeface="Arial" pitchFamily="34" charset="-122"/>
                <a:cs typeface="Arial" pitchFamily="34" charset="-120"/>
              </a:rPr>
              <a:t>a sentence</a:t>
            </a:r>
            <a:pPr indent="0" marL="0">
              <a:buNone/>
            </a:pPr>
            <a:r>
              <a:rPr lang="en-US" sz="3200" b="1" dirty="0">
                <a:solidFill>
                  <a:srgbClr val="16181D"/>
                </a:solidFill>
                <a:latin typeface="Arial" pitchFamily="34" charset="0"/>
                <a:ea typeface="Arial" pitchFamily="34" charset="-122"/>
                <a:cs typeface="Arial" pitchFamily="34" charset="-120"/>
              </a:rPr>
              <a:t> to </a:t>
            </a:r>
            <a:pPr indent="0" marL="0">
              <a:buNone/>
            </a:pPr>
            <a:r>
              <a:rPr lang="en-US" sz="3200" b="1" dirty="0">
                <a:solidFill>
                  <a:srgbClr val="4F46E5"/>
                </a:solidFill>
                <a:latin typeface="Arial" pitchFamily="34" charset="0"/>
                <a:ea typeface="Arial" pitchFamily="34" charset="-122"/>
                <a:cs typeface="Arial" pitchFamily="34" charset="-120"/>
              </a:rPr>
              <a:t>a swarm.</a:t>
            </a:r>
            <a:endParaRPr lang="en-US" sz="3200" dirty="0"/>
          </a:p>
        </p:txBody>
      </p:sp>
      <p:sp>
        <p:nvSpPr>
          <p:cNvPr id="4" name="Shape 2"/>
          <p:cNvSpPr/>
          <p:nvPr/>
        </p:nvSpPr>
        <p:spPr>
          <a:xfrm>
            <a:off x="868680" y="2286000"/>
            <a:ext cx="457200" cy="457200"/>
          </a:xfrm>
          <a:prstGeom prst="ellipse">
            <a:avLst/>
          </a:prstGeom>
          <a:solidFill>
            <a:srgbClr val="4F46E5"/>
          </a:solidFill>
          <a:ln/>
          <a:effectLst>
            <a:outerShdw sx="100000" sy="100000" kx="0" ky="0" algn="bl" rotWithShape="0" blurRad="139700" dist="38100" dir="5400000">
              <a:srgbClr val="9AA6BC">
                <a:alpha val="28000"/>
              </a:srgbClr>
            </a:outerShdw>
          </a:effectLst>
        </p:spPr>
      </p:sp>
      <p:pic>
        <p:nvPicPr>
          <p:cNvPr id="5" name="Image 0" descr="preencoded.png">    </p:cNvPr>
          <p:cNvPicPr>
            <a:picLocks noChangeAspect="1"/>
          </p:cNvPicPr>
          <p:nvPr/>
        </p:nvPicPr>
        <p:blipFill>
          <a:blip r:embed="rId1"/>
          <a:stretch>
            <a:fillRect/>
          </a:stretch>
        </p:blipFill>
        <p:spPr>
          <a:xfrm>
            <a:off x="978408" y="2395728"/>
            <a:ext cx="237744" cy="237744"/>
          </a:xfrm>
          <a:prstGeom prst="rect">
            <a:avLst/>
          </a:prstGeom>
        </p:spPr>
      </p:pic>
      <p:sp>
        <p:nvSpPr>
          <p:cNvPr id="6" name="Text 3"/>
          <p:cNvSpPr/>
          <p:nvPr/>
        </p:nvSpPr>
        <p:spPr>
          <a:xfrm>
            <a:off x="1527048" y="2331720"/>
            <a:ext cx="2286000" cy="365760"/>
          </a:xfrm>
          <a:prstGeom prst="rect">
            <a:avLst/>
          </a:prstGeom>
          <a:noFill/>
          <a:ln/>
        </p:spPr>
        <p:txBody>
          <a:bodyPr wrap="square" rtlCol="0" anchor="ctr"/>
          <a:lstStyle/>
          <a:p>
            <a:pPr indent="0" marL="0">
              <a:buNone/>
            </a:pPr>
            <a:r>
              <a:rPr lang="en-US" sz="1150" spc="150" kern="0" dirty="0">
                <a:solidFill>
                  <a:srgbClr val="666C7A"/>
                </a:solidFill>
                <a:latin typeface="Consolas" pitchFamily="34" charset="0"/>
                <a:ea typeface="Consolas" pitchFamily="34" charset="-122"/>
                <a:cs typeface="Consolas" pitchFamily="34" charset="-120"/>
              </a:rPr>
              <a:t>01  PROMPT</a:t>
            </a:r>
            <a:endParaRPr lang="en-US" sz="1150" dirty="0"/>
          </a:p>
        </p:txBody>
      </p:sp>
      <p:sp>
        <p:nvSpPr>
          <p:cNvPr id="7" name="Text 4"/>
          <p:cNvSpPr/>
          <p:nvPr/>
        </p:nvSpPr>
        <p:spPr>
          <a:xfrm>
            <a:off x="3931920" y="2331720"/>
            <a:ext cx="7589520" cy="365760"/>
          </a:xfrm>
          <a:prstGeom prst="rect">
            <a:avLst/>
          </a:prstGeom>
          <a:noFill/>
          <a:ln/>
        </p:spPr>
        <p:txBody>
          <a:bodyPr wrap="square" rtlCol="0" anchor="ctr"/>
          <a:lstStyle/>
          <a:p>
            <a:pPr indent="0" marL="0">
              <a:buNone/>
            </a:pPr>
            <a:r>
              <a:rPr lang="en-US" sz="1700" b="1" dirty="0">
                <a:solidFill>
                  <a:srgbClr val="16181D"/>
                </a:solidFill>
                <a:latin typeface="Calibri" pitchFamily="34" charset="0"/>
                <a:ea typeface="Calibri" pitchFamily="34" charset="-122"/>
                <a:cs typeface="Calibri" pitchFamily="34" charset="-120"/>
              </a:rPr>
              <a:t>The atom. </a:t>
            </a:r>
            <a:pPr indent="0" marL="0">
              <a:buNone/>
            </a:pPr>
            <a:r>
              <a:rPr lang="en-US" sz="1700" dirty="0">
                <a:solidFill>
                  <a:srgbClr val="666C7A"/>
                </a:solidFill>
                <a:latin typeface="Calibri" pitchFamily="34" charset="0"/>
                <a:ea typeface="Calibri" pitchFamily="34" charset="-122"/>
                <a:cs typeface="Calibri" pitchFamily="34" charset="-120"/>
              </a:rPr>
              <a:t>What a prompt actually is.</a:t>
            </a:r>
            <a:endParaRPr lang="en-US" sz="1700" dirty="0"/>
          </a:p>
        </p:txBody>
      </p:sp>
      <p:sp>
        <p:nvSpPr>
          <p:cNvPr id="8" name="Shape 5"/>
          <p:cNvSpPr/>
          <p:nvPr/>
        </p:nvSpPr>
        <p:spPr>
          <a:xfrm>
            <a:off x="868680" y="3035808"/>
            <a:ext cx="457200" cy="457200"/>
          </a:xfrm>
          <a:prstGeom prst="ellipse">
            <a:avLst/>
          </a:prstGeom>
          <a:solidFill>
            <a:srgbClr val="0F9E8E"/>
          </a:solidFill>
          <a:ln/>
          <a:effectLst>
            <a:outerShdw sx="100000" sy="100000" kx="0" ky="0" algn="bl" rotWithShape="0" blurRad="139700" dist="38100" dir="5400000">
              <a:srgbClr val="9AA6BC">
                <a:alpha val="28000"/>
              </a:srgbClr>
            </a:outerShdw>
          </a:effectLst>
        </p:spPr>
      </p:sp>
      <p:pic>
        <p:nvPicPr>
          <p:cNvPr id="9" name="Image 1" descr="preencoded.png">    </p:cNvPr>
          <p:cNvPicPr>
            <a:picLocks noChangeAspect="1"/>
          </p:cNvPicPr>
          <p:nvPr/>
        </p:nvPicPr>
        <p:blipFill>
          <a:blip r:embed="rId2"/>
          <a:stretch>
            <a:fillRect/>
          </a:stretch>
        </p:blipFill>
        <p:spPr>
          <a:xfrm>
            <a:off x="978408" y="3145536"/>
            <a:ext cx="237744" cy="237744"/>
          </a:xfrm>
          <a:prstGeom prst="rect">
            <a:avLst/>
          </a:prstGeom>
        </p:spPr>
      </p:pic>
      <p:sp>
        <p:nvSpPr>
          <p:cNvPr id="10" name="Text 6"/>
          <p:cNvSpPr/>
          <p:nvPr/>
        </p:nvSpPr>
        <p:spPr>
          <a:xfrm>
            <a:off x="1527048" y="3081528"/>
            <a:ext cx="2286000" cy="365760"/>
          </a:xfrm>
          <a:prstGeom prst="rect">
            <a:avLst/>
          </a:prstGeom>
          <a:noFill/>
          <a:ln/>
        </p:spPr>
        <p:txBody>
          <a:bodyPr wrap="square" rtlCol="0" anchor="ctr"/>
          <a:lstStyle/>
          <a:p>
            <a:pPr indent="0" marL="0">
              <a:buNone/>
            </a:pPr>
            <a:r>
              <a:rPr lang="en-US" sz="1150" spc="150" kern="0" dirty="0">
                <a:solidFill>
                  <a:srgbClr val="666C7A"/>
                </a:solidFill>
                <a:latin typeface="Consolas" pitchFamily="34" charset="0"/>
                <a:ea typeface="Consolas" pitchFamily="34" charset="-122"/>
                <a:cs typeface="Consolas" pitchFamily="34" charset="-120"/>
              </a:rPr>
              <a:t>02  AGENT</a:t>
            </a:r>
            <a:endParaRPr lang="en-US" sz="1150" dirty="0"/>
          </a:p>
        </p:txBody>
      </p:sp>
      <p:sp>
        <p:nvSpPr>
          <p:cNvPr id="11" name="Text 7"/>
          <p:cNvSpPr/>
          <p:nvPr/>
        </p:nvSpPr>
        <p:spPr>
          <a:xfrm>
            <a:off x="3931920" y="3081528"/>
            <a:ext cx="7589520" cy="365760"/>
          </a:xfrm>
          <a:prstGeom prst="rect">
            <a:avLst/>
          </a:prstGeom>
          <a:noFill/>
          <a:ln/>
        </p:spPr>
        <p:txBody>
          <a:bodyPr wrap="square" rtlCol="0" anchor="ctr"/>
          <a:lstStyle/>
          <a:p>
            <a:pPr indent="0" marL="0">
              <a:buNone/>
            </a:pPr>
            <a:r>
              <a:rPr lang="en-US" sz="1700" b="1" dirty="0">
                <a:solidFill>
                  <a:srgbClr val="16181D"/>
                </a:solidFill>
                <a:latin typeface="Calibri" pitchFamily="34" charset="0"/>
                <a:ea typeface="Calibri" pitchFamily="34" charset="-122"/>
                <a:cs typeface="Calibri" pitchFamily="34" charset="-120"/>
              </a:rPr>
              <a:t>The loop </a:t>
            </a:r>
            <a:pPr indent="0" marL="0">
              <a:buNone/>
            </a:pPr>
            <a:r>
              <a:rPr lang="en-US" sz="1700" dirty="0">
                <a:solidFill>
                  <a:srgbClr val="666C7A"/>
                </a:solidFill>
                <a:latin typeface="Calibri" pitchFamily="34" charset="0"/>
                <a:ea typeface="Calibri" pitchFamily="34" charset="-122"/>
                <a:cs typeface="Calibri" pitchFamily="34" charset="-120"/>
              </a:rPr>
              <a:t>that turns talk into action.</a:t>
            </a:r>
            <a:endParaRPr lang="en-US" sz="1700" dirty="0"/>
          </a:p>
        </p:txBody>
      </p:sp>
      <p:sp>
        <p:nvSpPr>
          <p:cNvPr id="12" name="Shape 8"/>
          <p:cNvSpPr/>
          <p:nvPr/>
        </p:nvSpPr>
        <p:spPr>
          <a:xfrm>
            <a:off x="868680" y="3785616"/>
            <a:ext cx="457200" cy="457200"/>
          </a:xfrm>
          <a:prstGeom prst="ellipse">
            <a:avLst/>
          </a:prstGeom>
          <a:solidFill>
            <a:srgbClr val="0284C7"/>
          </a:solidFill>
          <a:ln/>
          <a:effectLst>
            <a:outerShdw sx="100000" sy="100000" kx="0" ky="0" algn="bl" rotWithShape="0" blurRad="139700" dist="38100" dir="5400000">
              <a:srgbClr val="9AA6BC">
                <a:alpha val="28000"/>
              </a:srgbClr>
            </a:outerShdw>
          </a:effectLst>
        </p:spPr>
      </p:sp>
      <p:pic>
        <p:nvPicPr>
          <p:cNvPr id="13" name="Image 2" descr="preencoded.png">    </p:cNvPr>
          <p:cNvPicPr>
            <a:picLocks noChangeAspect="1"/>
          </p:cNvPicPr>
          <p:nvPr/>
        </p:nvPicPr>
        <p:blipFill>
          <a:blip r:embed="rId3"/>
          <a:stretch>
            <a:fillRect/>
          </a:stretch>
        </p:blipFill>
        <p:spPr>
          <a:xfrm>
            <a:off x="978408" y="3895344"/>
            <a:ext cx="237744" cy="237744"/>
          </a:xfrm>
          <a:prstGeom prst="rect">
            <a:avLst/>
          </a:prstGeom>
        </p:spPr>
      </p:pic>
      <p:sp>
        <p:nvSpPr>
          <p:cNvPr id="14" name="Text 9"/>
          <p:cNvSpPr/>
          <p:nvPr/>
        </p:nvSpPr>
        <p:spPr>
          <a:xfrm>
            <a:off x="1527048" y="3831336"/>
            <a:ext cx="2286000" cy="365760"/>
          </a:xfrm>
          <a:prstGeom prst="rect">
            <a:avLst/>
          </a:prstGeom>
          <a:noFill/>
          <a:ln/>
        </p:spPr>
        <p:txBody>
          <a:bodyPr wrap="square" rtlCol="0" anchor="ctr"/>
          <a:lstStyle/>
          <a:p>
            <a:pPr indent="0" marL="0">
              <a:buNone/>
            </a:pPr>
            <a:r>
              <a:rPr lang="en-US" sz="1150" spc="150" kern="0" dirty="0">
                <a:solidFill>
                  <a:srgbClr val="666C7A"/>
                </a:solidFill>
                <a:latin typeface="Consolas" pitchFamily="34" charset="0"/>
                <a:ea typeface="Consolas" pitchFamily="34" charset="-122"/>
                <a:cs typeface="Consolas" pitchFamily="34" charset="-120"/>
              </a:rPr>
              <a:t>03  STACK</a:t>
            </a:r>
            <a:endParaRPr lang="en-US" sz="1150" dirty="0"/>
          </a:p>
        </p:txBody>
      </p:sp>
      <p:sp>
        <p:nvSpPr>
          <p:cNvPr id="15" name="Text 10"/>
          <p:cNvSpPr/>
          <p:nvPr/>
        </p:nvSpPr>
        <p:spPr>
          <a:xfrm>
            <a:off x="3931920" y="3831336"/>
            <a:ext cx="7589520" cy="365760"/>
          </a:xfrm>
          <a:prstGeom prst="rect">
            <a:avLst/>
          </a:prstGeom>
          <a:noFill/>
          <a:ln/>
        </p:spPr>
        <p:txBody>
          <a:bodyPr wrap="square" rtlCol="0" anchor="ctr"/>
          <a:lstStyle/>
          <a:p>
            <a:pPr indent="0" marL="0">
              <a:buNone/>
            </a:pPr>
            <a:r>
              <a:rPr lang="en-US" sz="1700" b="1" dirty="0">
                <a:solidFill>
                  <a:srgbClr val="16181D"/>
                </a:solidFill>
                <a:latin typeface="Calibri" pitchFamily="34" charset="0"/>
                <a:ea typeface="Calibri" pitchFamily="34" charset="-122"/>
                <a:cs typeface="Calibri" pitchFamily="34" charset="-120"/>
              </a:rPr>
              <a:t>The infrastructure, </a:t>
            </a:r>
            <a:pPr indent="0" marL="0">
              <a:buNone/>
            </a:pPr>
            <a:r>
              <a:rPr lang="en-US" sz="1700" dirty="0">
                <a:solidFill>
                  <a:srgbClr val="666C7A"/>
                </a:solidFill>
                <a:latin typeface="Calibri" pitchFamily="34" charset="0"/>
                <a:ea typeface="Calibri" pitchFamily="34" charset="-122"/>
                <a:cs typeface="Calibri" pitchFamily="34" charset="-120"/>
              </a:rPr>
              <a:t>and why Java.</a:t>
            </a:r>
            <a:endParaRPr lang="en-US" sz="1700" dirty="0"/>
          </a:p>
        </p:txBody>
      </p:sp>
      <p:sp>
        <p:nvSpPr>
          <p:cNvPr id="16" name="Shape 11"/>
          <p:cNvSpPr/>
          <p:nvPr/>
        </p:nvSpPr>
        <p:spPr>
          <a:xfrm>
            <a:off x="868680" y="4535424"/>
            <a:ext cx="457200" cy="457200"/>
          </a:xfrm>
          <a:prstGeom prst="ellipse">
            <a:avLst/>
          </a:prstGeom>
          <a:solidFill>
            <a:srgbClr val="7C3AED"/>
          </a:solidFill>
          <a:ln/>
          <a:effectLst>
            <a:outerShdw sx="100000" sy="100000" kx="0" ky="0" algn="bl" rotWithShape="0" blurRad="139700" dist="38100" dir="5400000">
              <a:srgbClr val="9AA6BC">
                <a:alpha val="28000"/>
              </a:srgbClr>
            </a:outerShdw>
          </a:effectLst>
        </p:spPr>
      </p:sp>
      <p:pic>
        <p:nvPicPr>
          <p:cNvPr id="17" name="Image 3" descr="preencoded.png">    </p:cNvPr>
          <p:cNvPicPr>
            <a:picLocks noChangeAspect="1"/>
          </p:cNvPicPr>
          <p:nvPr/>
        </p:nvPicPr>
        <p:blipFill>
          <a:blip r:embed="rId4"/>
          <a:stretch>
            <a:fillRect/>
          </a:stretch>
        </p:blipFill>
        <p:spPr>
          <a:xfrm>
            <a:off x="978408" y="4645152"/>
            <a:ext cx="237744" cy="237744"/>
          </a:xfrm>
          <a:prstGeom prst="rect">
            <a:avLst/>
          </a:prstGeom>
        </p:spPr>
      </p:pic>
      <p:sp>
        <p:nvSpPr>
          <p:cNvPr id="18" name="Text 12"/>
          <p:cNvSpPr/>
          <p:nvPr/>
        </p:nvSpPr>
        <p:spPr>
          <a:xfrm>
            <a:off x="1527048" y="4581144"/>
            <a:ext cx="2286000" cy="365760"/>
          </a:xfrm>
          <a:prstGeom prst="rect">
            <a:avLst/>
          </a:prstGeom>
          <a:noFill/>
          <a:ln/>
        </p:spPr>
        <p:txBody>
          <a:bodyPr wrap="square" rtlCol="0" anchor="ctr"/>
          <a:lstStyle/>
          <a:p>
            <a:pPr indent="0" marL="0">
              <a:buNone/>
            </a:pPr>
            <a:r>
              <a:rPr lang="en-US" sz="1150" spc="150" kern="0" dirty="0">
                <a:solidFill>
                  <a:srgbClr val="666C7A"/>
                </a:solidFill>
                <a:latin typeface="Consolas" pitchFamily="34" charset="0"/>
                <a:ea typeface="Consolas" pitchFamily="34" charset="-122"/>
                <a:cs typeface="Consolas" pitchFamily="34" charset="-120"/>
              </a:rPr>
              <a:t>04  CONTROL</a:t>
            </a:r>
            <a:endParaRPr lang="en-US" sz="1150" dirty="0"/>
          </a:p>
        </p:txBody>
      </p:sp>
      <p:sp>
        <p:nvSpPr>
          <p:cNvPr id="19" name="Text 13"/>
          <p:cNvSpPr/>
          <p:nvPr/>
        </p:nvSpPr>
        <p:spPr>
          <a:xfrm>
            <a:off x="3931920" y="4581144"/>
            <a:ext cx="7589520" cy="365760"/>
          </a:xfrm>
          <a:prstGeom prst="rect">
            <a:avLst/>
          </a:prstGeom>
          <a:noFill/>
          <a:ln/>
        </p:spPr>
        <p:txBody>
          <a:bodyPr wrap="square" rtlCol="0" anchor="ctr"/>
          <a:lstStyle/>
          <a:p>
            <a:pPr indent="0" marL="0">
              <a:buNone/>
            </a:pPr>
            <a:r>
              <a:rPr lang="en-US" sz="1700" b="1" dirty="0">
                <a:solidFill>
                  <a:srgbClr val="16181D"/>
                </a:solidFill>
                <a:latin typeface="Calibri" pitchFamily="34" charset="0"/>
                <a:ea typeface="Calibri" pitchFamily="34" charset="-122"/>
                <a:cs typeface="Calibri" pitchFamily="34" charset="-120"/>
              </a:rPr>
              <a:t>Six levers </a:t>
            </a:r>
            <a:pPr indent="0" marL="0">
              <a:buNone/>
            </a:pPr>
            <a:r>
              <a:rPr lang="en-US" sz="1700" dirty="0">
                <a:solidFill>
                  <a:srgbClr val="666C7A"/>
                </a:solidFill>
                <a:latin typeface="Calibri" pitchFamily="34" charset="0"/>
                <a:ea typeface="Calibri" pitchFamily="34" charset="-122"/>
                <a:cs typeface="Calibri" pitchFamily="34" charset="-120"/>
              </a:rPr>
              <a:t>beyond the prompt.</a:t>
            </a:r>
            <a:endParaRPr lang="en-US" sz="1700" dirty="0"/>
          </a:p>
        </p:txBody>
      </p:sp>
      <p:sp>
        <p:nvSpPr>
          <p:cNvPr id="20" name="Shape 14"/>
          <p:cNvSpPr/>
          <p:nvPr/>
        </p:nvSpPr>
        <p:spPr>
          <a:xfrm>
            <a:off x="868680" y="5285232"/>
            <a:ext cx="457200" cy="457200"/>
          </a:xfrm>
          <a:prstGeom prst="ellipse">
            <a:avLst/>
          </a:prstGeom>
          <a:solidFill>
            <a:srgbClr val="D97706"/>
          </a:solidFill>
          <a:ln/>
          <a:effectLst>
            <a:outerShdw sx="100000" sy="100000" kx="0" ky="0" algn="bl" rotWithShape="0" blurRad="139700" dist="38100" dir="5400000">
              <a:srgbClr val="9AA6BC">
                <a:alpha val="28000"/>
              </a:srgbClr>
            </a:outerShdw>
          </a:effectLst>
        </p:spPr>
      </p:sp>
      <p:pic>
        <p:nvPicPr>
          <p:cNvPr id="21" name="Image 4" descr="preencoded.png">    </p:cNvPr>
          <p:cNvPicPr>
            <a:picLocks noChangeAspect="1"/>
          </p:cNvPicPr>
          <p:nvPr/>
        </p:nvPicPr>
        <p:blipFill>
          <a:blip r:embed="rId5"/>
          <a:stretch>
            <a:fillRect/>
          </a:stretch>
        </p:blipFill>
        <p:spPr>
          <a:xfrm>
            <a:off x="978408" y="5394960"/>
            <a:ext cx="237744" cy="237744"/>
          </a:xfrm>
          <a:prstGeom prst="rect">
            <a:avLst/>
          </a:prstGeom>
        </p:spPr>
      </p:pic>
      <p:sp>
        <p:nvSpPr>
          <p:cNvPr id="22" name="Text 15"/>
          <p:cNvSpPr/>
          <p:nvPr/>
        </p:nvSpPr>
        <p:spPr>
          <a:xfrm>
            <a:off x="1527048" y="5330952"/>
            <a:ext cx="2286000" cy="365760"/>
          </a:xfrm>
          <a:prstGeom prst="rect">
            <a:avLst/>
          </a:prstGeom>
          <a:noFill/>
          <a:ln/>
        </p:spPr>
        <p:txBody>
          <a:bodyPr wrap="square" rtlCol="0" anchor="ctr"/>
          <a:lstStyle/>
          <a:p>
            <a:pPr indent="0" marL="0">
              <a:buNone/>
            </a:pPr>
            <a:r>
              <a:rPr lang="en-US" sz="1150" spc="150" kern="0" dirty="0">
                <a:solidFill>
                  <a:srgbClr val="666C7A"/>
                </a:solidFill>
                <a:latin typeface="Consolas" pitchFamily="34" charset="0"/>
                <a:ea typeface="Consolas" pitchFamily="34" charset="-122"/>
                <a:cs typeface="Consolas" pitchFamily="34" charset="-120"/>
              </a:rPr>
              <a:t>05  SWARM</a:t>
            </a:r>
            <a:endParaRPr lang="en-US" sz="1150" dirty="0"/>
          </a:p>
        </p:txBody>
      </p:sp>
      <p:sp>
        <p:nvSpPr>
          <p:cNvPr id="23" name="Text 16"/>
          <p:cNvSpPr/>
          <p:nvPr/>
        </p:nvSpPr>
        <p:spPr>
          <a:xfrm>
            <a:off x="3931920" y="5330952"/>
            <a:ext cx="7589520" cy="365760"/>
          </a:xfrm>
          <a:prstGeom prst="rect">
            <a:avLst/>
          </a:prstGeom>
          <a:noFill/>
          <a:ln/>
        </p:spPr>
        <p:txBody>
          <a:bodyPr wrap="square" rtlCol="0" anchor="ctr"/>
          <a:lstStyle/>
          <a:p>
            <a:pPr indent="0" marL="0">
              <a:buNone/>
            </a:pPr>
            <a:r>
              <a:rPr lang="en-US" sz="1700" b="1" dirty="0">
                <a:solidFill>
                  <a:srgbClr val="16181D"/>
                </a:solidFill>
                <a:latin typeface="Calibri" pitchFamily="34" charset="0"/>
                <a:ea typeface="Calibri" pitchFamily="34" charset="-122"/>
                <a:cs typeface="Calibri" pitchFamily="34" charset="-120"/>
              </a:rPr>
              <a:t>One prompt, many workers, </a:t>
            </a:r>
            <a:pPr indent="0" marL="0">
              <a:buNone/>
            </a:pPr>
            <a:r>
              <a:rPr lang="en-US" sz="1700" dirty="0">
                <a:solidFill>
                  <a:srgbClr val="666C7A"/>
                </a:solidFill>
                <a:latin typeface="Calibri" pitchFamily="34" charset="0"/>
                <a:ea typeface="Calibri" pitchFamily="34" charset="-122"/>
                <a:cs typeface="Calibri" pitchFamily="34" charset="-120"/>
              </a:rPr>
              <a:t>live.</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138160" y="2743200"/>
            <a:ext cx="4023360" cy="4023360"/>
          </a:xfrm>
          <a:prstGeom prst="rect">
            <a:avLst/>
          </a:prstGeom>
        </p:spPr>
      </p:pic>
      <p:sp>
        <p:nvSpPr>
          <p:cNvPr id="3" name="Text 0"/>
          <p:cNvSpPr/>
          <p:nvPr/>
        </p:nvSpPr>
        <p:spPr>
          <a:xfrm>
            <a:off x="841248" y="1143000"/>
            <a:ext cx="3657600" cy="1463040"/>
          </a:xfrm>
          <a:prstGeom prst="rect">
            <a:avLst/>
          </a:prstGeom>
          <a:noFill/>
          <a:ln/>
        </p:spPr>
        <p:txBody>
          <a:bodyPr wrap="square" rtlCol="0" anchor="ctr"/>
          <a:lstStyle/>
          <a:p>
            <a:pPr indent="0" marL="0">
              <a:buNone/>
            </a:pPr>
            <a:r>
              <a:rPr lang="en-US" sz="9200" b="1" dirty="0">
                <a:solidFill>
                  <a:srgbClr val="E1E5EC"/>
                </a:solidFill>
                <a:latin typeface="Arial" pitchFamily="34" charset="0"/>
                <a:ea typeface="Arial" pitchFamily="34" charset="-122"/>
                <a:cs typeface="Arial" pitchFamily="34" charset="-120"/>
              </a:rPr>
              <a:t>i</a:t>
            </a:r>
            <a:endParaRPr lang="en-US" sz="9200" dirty="0"/>
          </a:p>
        </p:txBody>
      </p:sp>
      <p:sp>
        <p:nvSpPr>
          <p:cNvPr id="4" name="Text 1"/>
          <p:cNvSpPr/>
          <p:nvPr/>
        </p:nvSpPr>
        <p:spPr>
          <a:xfrm>
            <a:off x="841248" y="2788920"/>
            <a:ext cx="9144000" cy="292608"/>
          </a:xfrm>
          <a:prstGeom prst="rect">
            <a:avLst/>
          </a:prstGeom>
          <a:noFill/>
          <a:ln/>
        </p:spPr>
        <p:txBody>
          <a:bodyPr wrap="square" rtlCol="0" anchor="ctr"/>
          <a:lstStyle/>
          <a:p>
            <a:pPr indent="0" marL="0">
              <a:buNone/>
            </a:pPr>
            <a:r>
              <a:rPr lang="en-US" sz="1100" b="1" spc="300" kern="0" dirty="0">
                <a:solidFill>
                  <a:srgbClr val="4F46E5"/>
                </a:solidFill>
                <a:latin typeface="Arial" pitchFamily="34" charset="0"/>
                <a:ea typeface="Arial" pitchFamily="34" charset="-122"/>
                <a:cs typeface="Arial" pitchFamily="34" charset="-120"/>
              </a:rPr>
              <a:t>ACT ONE</a:t>
            </a:r>
            <a:endParaRPr lang="en-US" sz="1100" dirty="0"/>
          </a:p>
        </p:txBody>
      </p:sp>
      <p:sp>
        <p:nvSpPr>
          <p:cNvPr id="5" name="Text 2"/>
          <p:cNvSpPr/>
          <p:nvPr/>
        </p:nvSpPr>
        <p:spPr>
          <a:xfrm>
            <a:off x="841248" y="3154680"/>
            <a:ext cx="8229600" cy="1463040"/>
          </a:xfrm>
          <a:prstGeom prst="rect">
            <a:avLst/>
          </a:prstGeom>
          <a:noFill/>
          <a:ln/>
        </p:spPr>
        <p:txBody>
          <a:bodyPr wrap="square" rtlCol="0" anchor="ctr"/>
          <a:lstStyle/>
          <a:p>
            <a:pPr indent="0" marL="0">
              <a:lnSpc>
                <a:spcPts val="5000"/>
              </a:lnSpc>
              <a:buNone/>
            </a:pPr>
            <a:r>
              <a:rPr lang="en-US" sz="5000" b="1" dirty="0">
                <a:solidFill>
                  <a:srgbClr val="16181D"/>
                </a:solidFill>
                <a:latin typeface="Arial" pitchFamily="34" charset="0"/>
                <a:ea typeface="Arial" pitchFamily="34" charset="-122"/>
                <a:cs typeface="Arial" pitchFamily="34" charset="-120"/>
              </a:rPr>
              <a:t>The Prompt</a:t>
            </a:r>
            <a:endParaRPr lang="en-US" sz="5000" dirty="0"/>
          </a:p>
        </p:txBody>
      </p:sp>
      <p:sp>
        <p:nvSpPr>
          <p:cNvPr id="6" name="Text 3"/>
          <p:cNvSpPr/>
          <p:nvPr/>
        </p:nvSpPr>
        <p:spPr>
          <a:xfrm>
            <a:off x="841248" y="4617720"/>
            <a:ext cx="6949440" cy="822960"/>
          </a:xfrm>
          <a:prstGeom prst="rect">
            <a:avLst/>
          </a:prstGeom>
          <a:noFill/>
          <a:ln/>
        </p:spPr>
        <p:txBody>
          <a:bodyPr wrap="square" rtlCol="0" anchor="ctr"/>
          <a:lstStyle/>
          <a:p>
            <a:pPr indent="0" marL="0">
              <a:lnSpc>
                <a:spcPts val="2500"/>
              </a:lnSpc>
              <a:buNone/>
            </a:pPr>
            <a:r>
              <a:rPr lang="en-US" sz="1700" dirty="0">
                <a:solidFill>
                  <a:srgbClr val="666C7A"/>
                </a:solidFill>
                <a:latin typeface="Calibri" pitchFamily="34" charset="0"/>
                <a:ea typeface="Calibri" pitchFamily="34" charset="-122"/>
                <a:cs typeface="Calibri" pitchFamily="34" charset="-120"/>
              </a:rPr>
              <a:t>The smallest unit of the whole thing, and the most misunderstood.</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indent="0" marL="0">
              <a:buNone/>
            </a:pPr>
            <a:r>
              <a:rPr lang="en-US" sz="1100" b="1" spc="300" kern="0" dirty="0">
                <a:solidFill>
                  <a:srgbClr val="4F46E5"/>
                </a:solidFill>
                <a:latin typeface="Arial" pitchFamily="34" charset="0"/>
                <a:ea typeface="Arial" pitchFamily="34" charset="-122"/>
                <a:cs typeface="Arial" pitchFamily="34" charset="-120"/>
              </a:rPr>
              <a:t>THE ATOM</a:t>
            </a:r>
            <a:endParaRPr lang="en-US" sz="1100" dirty="0"/>
          </a:p>
        </p:txBody>
      </p:sp>
      <p:sp>
        <p:nvSpPr>
          <p:cNvPr id="3" name="Text 1"/>
          <p:cNvSpPr/>
          <p:nvPr/>
        </p:nvSpPr>
        <p:spPr>
          <a:xfrm>
            <a:off x="841248" y="1371600"/>
            <a:ext cx="5852160" cy="1371600"/>
          </a:xfrm>
          <a:prstGeom prst="rect">
            <a:avLst/>
          </a:prstGeom>
          <a:noFill/>
          <a:ln/>
        </p:spPr>
        <p:txBody>
          <a:bodyPr wrap="square" rtlCol="0" anchor="ctr"/>
          <a:lstStyle/>
          <a:p>
            <a:pPr indent="0" marL="0">
              <a:lnSpc>
                <a:spcPts val="4400"/>
              </a:lnSpc>
              <a:buNone/>
            </a:pPr>
            <a:r>
              <a:rPr lang="en-US" sz="3800" b="1" dirty="0">
                <a:solidFill>
                  <a:srgbClr val="16181D"/>
                </a:solidFill>
                <a:latin typeface="Arial" pitchFamily="34" charset="0"/>
                <a:ea typeface="Arial" pitchFamily="34" charset="-122"/>
                <a:cs typeface="Arial" pitchFamily="34" charset="-120"/>
              </a:rPr>
              <a:t>A model is just a </a:t>
            </a:r>
            <a:pPr indent="0" marL="0">
              <a:lnSpc>
                <a:spcPts val="4400"/>
              </a:lnSpc>
              <a:buNone/>
            </a:pPr>
            <a:r>
              <a:rPr lang="en-US" sz="3800" b="1" dirty="0">
                <a:solidFill>
                  <a:srgbClr val="4F46E5"/>
                </a:solidFill>
                <a:latin typeface="Arial" pitchFamily="34" charset="0"/>
                <a:ea typeface="Arial" pitchFamily="34" charset="-122"/>
                <a:cs typeface="Arial" pitchFamily="34" charset="-120"/>
              </a:rPr>
              <a:t>function.</a:t>
            </a:r>
            <a:endParaRPr lang="en-US" sz="3800" dirty="0"/>
          </a:p>
        </p:txBody>
      </p:sp>
      <p:sp>
        <p:nvSpPr>
          <p:cNvPr id="4" name="Text 2"/>
          <p:cNvSpPr/>
          <p:nvPr/>
        </p:nvSpPr>
        <p:spPr>
          <a:xfrm>
            <a:off x="841248" y="2834640"/>
            <a:ext cx="5212080" cy="1371600"/>
          </a:xfrm>
          <a:prstGeom prst="rect">
            <a:avLst/>
          </a:prstGeom>
          <a:noFill/>
          <a:ln/>
        </p:spPr>
        <p:txBody>
          <a:bodyPr wrap="square" rtlCol="0" anchor="ctr"/>
          <a:lstStyle/>
          <a:p>
            <a:pPr indent="0" marL="0">
              <a:lnSpc>
                <a:spcPts val="2800"/>
              </a:lnSpc>
              <a:buNone/>
            </a:pPr>
            <a:r>
              <a:rPr lang="en-US" sz="1800" dirty="0">
                <a:solidFill>
                  <a:srgbClr val="666C7A"/>
                </a:solidFill>
                <a:latin typeface="Calibri" pitchFamily="34" charset="0"/>
                <a:ea typeface="Calibri" pitchFamily="34" charset="-122"/>
                <a:cs typeface="Calibri" pitchFamily="34" charset="-120"/>
              </a:rPr>
              <a:t>Text goes in. Text comes out. No memory of a moment ago. No hands. No way to check its own work.</a:t>
            </a:r>
            <a:endParaRPr lang="en-US" sz="1800" dirty="0"/>
          </a:p>
        </p:txBody>
      </p:sp>
      <p:sp>
        <p:nvSpPr>
          <p:cNvPr id="5" name="Text 3"/>
          <p:cNvSpPr/>
          <p:nvPr/>
        </p:nvSpPr>
        <p:spPr>
          <a:xfrm>
            <a:off x="841248" y="4663440"/>
            <a:ext cx="5486400" cy="457200"/>
          </a:xfrm>
          <a:prstGeom prst="rect">
            <a:avLst/>
          </a:prstGeom>
          <a:noFill/>
          <a:ln/>
        </p:spPr>
        <p:txBody>
          <a:bodyPr wrap="square" rtlCol="0" anchor="ctr"/>
          <a:lstStyle/>
          <a:p>
            <a:pPr indent="0" marL="0">
              <a:buNone/>
            </a:pPr>
            <a:r>
              <a:rPr lang="en-US" sz="1300" dirty="0">
                <a:solidFill>
                  <a:srgbClr val="4F46E5"/>
                </a:solidFill>
                <a:latin typeface="Consolas" pitchFamily="34" charset="0"/>
                <a:ea typeface="Consolas" pitchFamily="34" charset="-122"/>
                <a:cs typeface="Consolas" pitchFamily="34" charset="-120"/>
              </a:rPr>
              <a:t>A prompt is you calling that function.</a:t>
            </a:r>
            <a:endParaRPr lang="en-US" sz="1300" dirty="0"/>
          </a:p>
        </p:txBody>
      </p:sp>
      <p:sp>
        <p:nvSpPr>
          <p:cNvPr id="6" name="Shape 4"/>
          <p:cNvSpPr/>
          <p:nvPr/>
        </p:nvSpPr>
        <p:spPr>
          <a:xfrm>
            <a:off x="6766560" y="1554480"/>
            <a:ext cx="4572000" cy="3474720"/>
          </a:xfrm>
          <a:prstGeom prst="roundRect">
            <a:avLst>
              <a:gd name="adj" fmla="val 2632"/>
            </a:avLst>
          </a:prstGeom>
          <a:solidFill>
            <a:srgbClr val="16181D"/>
          </a:solidFill>
          <a:ln w="12700">
            <a:solidFill>
              <a:srgbClr val="E1E5EC"/>
            </a:solidFill>
            <a:prstDash val="solid"/>
          </a:ln>
          <a:effectLst>
            <a:outerShdw sx="100000" sy="100000" kx="0" ky="0" algn="bl" rotWithShape="0" blurRad="139700" dist="38100" dir="5400000">
              <a:srgbClr val="9AA6BC">
                <a:alpha val="28000"/>
              </a:srgbClr>
            </a:outerShdw>
          </a:effectLst>
        </p:spPr>
      </p:sp>
      <p:sp>
        <p:nvSpPr>
          <p:cNvPr id="7" name="Text 5"/>
          <p:cNvSpPr/>
          <p:nvPr/>
        </p:nvSpPr>
        <p:spPr>
          <a:xfrm>
            <a:off x="7132320" y="1920240"/>
            <a:ext cx="3931920" cy="2743200"/>
          </a:xfrm>
          <a:prstGeom prst="rect">
            <a:avLst/>
          </a:prstGeom>
          <a:noFill/>
          <a:ln/>
        </p:spPr>
        <p:txBody>
          <a:bodyPr wrap="square" rtlCol="0" anchor="t"/>
          <a:lstStyle/>
          <a:p>
            <a:pPr indent="0" marL="0">
              <a:lnSpc>
                <a:spcPts val="3000"/>
              </a:lnSpc>
              <a:buNone/>
            </a:pPr>
            <a:r>
              <a:rPr lang="en-US" sz="1500" dirty="0">
                <a:solidFill>
                  <a:srgbClr val="C4B5FD"/>
                </a:solidFill>
                <a:latin typeface="Consolas" pitchFamily="34" charset="0"/>
                <a:ea typeface="Consolas" pitchFamily="34" charset="-122"/>
                <a:cs typeface="Consolas" pitchFamily="34" charset="-120"/>
              </a:rPr>
              <a:t>String</a:t>
            </a:r>
            <a:pPr indent="0" marL="0">
              <a:lnSpc>
                <a:spcPts val="3000"/>
              </a:lnSpc>
              <a:buNone/>
            </a:pPr>
            <a:r>
              <a:rPr lang="en-US" sz="1500" dirty="0">
                <a:solidFill>
                  <a:srgbClr val="9AA1B0"/>
                </a:solidFill>
                <a:latin typeface="Consolas" pitchFamily="34" charset="0"/>
                <a:ea typeface="Consolas" pitchFamily="34" charset="-122"/>
                <a:cs typeface="Consolas" pitchFamily="34" charset="-120"/>
              </a:rPr>
              <a:t> reply = </a:t>
            </a:r>
            <a:pPr indent="0" marL="0">
              <a:lnSpc>
                <a:spcPts val="3000"/>
              </a:lnSpc>
              <a:buNone/>
            </a:pPr>
            <a:endParaRPr lang="en-US" sz="1500" dirty="0"/>
          </a:p>
          <a:p>
            <a:pPr indent="0" marL="0">
              <a:lnSpc>
                <a:spcPts val="3000"/>
              </a:lnSpc>
              <a:buNone/>
            </a:pPr>
            <a:r>
              <a:rPr lang="en-US" sz="1500" dirty="0">
                <a:solidFill>
                  <a:srgbClr val="E6E9F0"/>
                </a:solidFill>
                <a:latin typeface="Consolas" pitchFamily="34" charset="0"/>
                <a:ea typeface="Consolas" pitchFamily="34" charset="-122"/>
                <a:cs typeface="Consolas" pitchFamily="34" charset="-120"/>
              </a:rPr>
              <a:t>   model.</a:t>
            </a:r>
            <a:endParaRPr lang="en-US" sz="1500" dirty="0"/>
          </a:p>
          <a:p>
            <a:pPr indent="0" marL="0">
              <a:lnSpc>
                <a:spcPts val="3000"/>
              </a:lnSpc>
              <a:buNone/>
            </a:pPr>
            <a:r>
              <a:rPr lang="en-US" sz="1500" dirty="0">
                <a:solidFill>
                  <a:srgbClr val="FBBF24"/>
                </a:solidFill>
                <a:latin typeface="Consolas" pitchFamily="34" charset="0"/>
                <a:ea typeface="Consolas" pitchFamily="34" charset="-122"/>
                <a:cs typeface="Consolas" pitchFamily="34" charset="-120"/>
              </a:rPr>
              <a:t>chat</a:t>
            </a:r>
            <a:pPr indent="0" marL="0">
              <a:lnSpc>
                <a:spcPts val="3000"/>
              </a:lnSpc>
              <a:buNone/>
            </a:pPr>
            <a:r>
              <a:rPr lang="en-US" sz="1500" dirty="0">
                <a:solidFill>
                  <a:srgbClr val="9AA1B0"/>
                </a:solidFill>
                <a:latin typeface="Consolas" pitchFamily="34" charset="0"/>
                <a:ea typeface="Consolas" pitchFamily="34" charset="-122"/>
                <a:cs typeface="Consolas" pitchFamily="34" charset="-120"/>
              </a:rPr>
              <a:t>(</a:t>
            </a:r>
            <a:pPr indent="0" marL="0">
              <a:lnSpc>
                <a:spcPts val="3000"/>
              </a:lnSpc>
              <a:buNone/>
            </a:pPr>
            <a:r>
              <a:rPr lang="en-US" sz="1500" dirty="0">
                <a:solidFill>
                  <a:srgbClr val="6EE7D8"/>
                </a:solidFill>
                <a:latin typeface="Consolas" pitchFamily="34" charset="0"/>
                <a:ea typeface="Consolas" pitchFamily="34" charset="-122"/>
                <a:cs typeface="Consolas" pitchFamily="34" charset="-120"/>
              </a:rPr>
              <a:t>"summarise this"</a:t>
            </a:r>
            <a:pPr indent="0" marL="0">
              <a:lnSpc>
                <a:spcPts val="3000"/>
              </a:lnSpc>
              <a:buNone/>
            </a:pPr>
            <a:r>
              <a:rPr lang="en-US" sz="1500" dirty="0">
                <a:solidFill>
                  <a:srgbClr val="9AA1B0"/>
                </a:solidFill>
                <a:latin typeface="Consolas" pitchFamily="34" charset="0"/>
                <a:ea typeface="Consolas" pitchFamily="34" charset="-122"/>
                <a:cs typeface="Consolas" pitchFamily="34" charset="-120"/>
              </a:rPr>
              <a:t>);</a:t>
            </a:r>
            <a:pPr indent="0" marL="0">
              <a:lnSpc>
                <a:spcPts val="3000"/>
              </a:lnSpc>
              <a:buNone/>
            </a:pPr>
            <a:endParaRPr lang="en-US" sz="1500" dirty="0"/>
          </a:p>
          <a:p>
            <a:pPr indent="0" marL="0">
              <a:lnSpc>
                <a:spcPts val="3000"/>
              </a:lnSpc>
              <a:buNone/>
            </a:pPr>
            <a:endParaRPr lang="en-US" sz="1500" dirty="0"/>
          </a:p>
          <a:p>
            <a:pPr indent="0" marL="0">
              <a:lnSpc>
                <a:spcPts val="3000"/>
              </a:lnSpc>
              <a:buNone/>
            </a:pPr>
            <a:r>
              <a:rPr lang="en-US" sz="1500" dirty="0">
                <a:solidFill>
                  <a:srgbClr val="6B7280"/>
                </a:solidFill>
                <a:latin typeface="Consolas" pitchFamily="34" charset="0"/>
                <a:ea typeface="Consolas" pitchFamily="34" charset="-122"/>
                <a:cs typeface="Consolas" pitchFamily="34" charset="-120"/>
              </a:rPr>
              <a:t>// text in  -&gt;  text out</a:t>
            </a:r>
            <a:endParaRPr lang="en-US" sz="1500" dirty="0"/>
          </a:p>
          <a:p>
            <a:pPr indent="0" marL="0">
              <a:lnSpc>
                <a:spcPts val="3000"/>
              </a:lnSpc>
              <a:buNone/>
            </a:pPr>
            <a:endParaRPr lang="en-US" sz="1500" dirty="0"/>
          </a:p>
          <a:p>
            <a:pPr indent="0" marL="0">
              <a:lnSpc>
                <a:spcPts val="3000"/>
              </a:lnSpc>
              <a:buNone/>
            </a:pPr>
            <a:r>
              <a:rPr lang="en-US" sz="1500" dirty="0">
                <a:solidFill>
                  <a:srgbClr val="6B7280"/>
                </a:solidFill>
                <a:latin typeface="Consolas" pitchFamily="34" charset="0"/>
                <a:ea typeface="Consolas" pitchFamily="34" charset="-122"/>
                <a:cs typeface="Consolas" pitchFamily="34" charset="-120"/>
              </a:rPr>
              <a:t>// no memory. no hands.</a:t>
            </a:r>
            <a:endParaRPr lang="en-US" sz="1500" dirty="0"/>
          </a:p>
          <a:p>
            <a:pPr indent="0" marL="0">
              <a:lnSpc>
                <a:spcPts val="3000"/>
              </a:lnSpc>
              <a:buNone/>
            </a:pPr>
            <a:endParaRPr lang="en-US" sz="1500" dirty="0"/>
          </a:p>
          <a:p>
            <a:pPr indent="0" marL="0">
              <a:lnSpc>
                <a:spcPts val="3000"/>
              </a:lnSpc>
              <a:buNone/>
            </a:pPr>
            <a:r>
              <a:rPr lang="en-US" sz="1500" dirty="0">
                <a:solidFill>
                  <a:srgbClr val="6B7280"/>
                </a:solidFill>
                <a:latin typeface="Consolas" pitchFamily="34" charset="0"/>
                <a:ea typeface="Consolas" pitchFamily="34" charset="-122"/>
                <a:cs typeface="Consolas" pitchFamily="34" charset="-120"/>
              </a:rPr>
              <a:t>// ask twice -&gt; two answers.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indent="0" marL="0">
              <a:buNone/>
            </a:pPr>
            <a:r>
              <a:rPr lang="en-US" sz="1100" b="1" spc="300" kern="0" dirty="0">
                <a:solidFill>
                  <a:srgbClr val="4F46E5"/>
                </a:solidFill>
                <a:latin typeface="Arial" pitchFamily="34" charset="0"/>
                <a:ea typeface="Arial" pitchFamily="34" charset="-122"/>
                <a:cs typeface="Arial" pitchFamily="34" charset="-120"/>
              </a:rPr>
              <a:t>THE CEILING</a:t>
            </a:r>
            <a:endParaRPr lang="en-US" sz="1100" dirty="0"/>
          </a:p>
        </p:txBody>
      </p:sp>
      <p:sp>
        <p:nvSpPr>
          <p:cNvPr id="3" name="Text 1"/>
          <p:cNvSpPr/>
          <p:nvPr/>
        </p:nvSpPr>
        <p:spPr>
          <a:xfrm>
            <a:off x="841248" y="1097280"/>
            <a:ext cx="10058400" cy="914400"/>
          </a:xfrm>
          <a:prstGeom prst="rect">
            <a:avLst/>
          </a:prstGeom>
          <a:noFill/>
          <a:ln/>
        </p:spPr>
        <p:txBody>
          <a:bodyPr wrap="square" rtlCol="0" anchor="ctr"/>
          <a:lstStyle/>
          <a:p>
            <a:pPr indent="0" marL="0">
              <a:buNone/>
            </a:pPr>
            <a:r>
              <a:rPr lang="en-US" sz="3200" b="1" dirty="0">
                <a:solidFill>
                  <a:srgbClr val="16181D"/>
                </a:solidFill>
                <a:latin typeface="Arial" pitchFamily="34" charset="0"/>
                <a:ea typeface="Arial" pitchFamily="34" charset="-122"/>
                <a:cs typeface="Arial" pitchFamily="34" charset="-120"/>
              </a:rPr>
              <a:t>A raw prompt hits </a:t>
            </a:r>
            <a:pPr indent="0" marL="0">
              <a:buNone/>
            </a:pPr>
            <a:r>
              <a:rPr lang="en-US" sz="3200" b="1" dirty="0">
                <a:solidFill>
                  <a:srgbClr val="4F46E5"/>
                </a:solidFill>
                <a:latin typeface="Arial" pitchFamily="34" charset="0"/>
                <a:ea typeface="Arial" pitchFamily="34" charset="-122"/>
                <a:cs typeface="Arial" pitchFamily="34" charset="-120"/>
              </a:rPr>
              <a:t>three walls.</a:t>
            </a:r>
            <a:endParaRPr lang="en-US" sz="3200" dirty="0"/>
          </a:p>
        </p:txBody>
      </p:sp>
      <p:sp>
        <p:nvSpPr>
          <p:cNvPr id="4" name="Shape 2"/>
          <p:cNvSpPr/>
          <p:nvPr/>
        </p:nvSpPr>
        <p:spPr>
          <a:xfrm>
            <a:off x="841248" y="2377440"/>
            <a:ext cx="3383280" cy="2926080"/>
          </a:xfrm>
          <a:prstGeom prst="roundRect">
            <a:avLst>
              <a:gd name="adj" fmla="val 3125"/>
            </a:avLst>
          </a:prstGeom>
          <a:solidFill>
            <a:srgbClr val="F5F7FA"/>
          </a:solidFill>
          <a:ln w="12700">
            <a:solidFill>
              <a:srgbClr val="E1E5EC"/>
            </a:solidFill>
            <a:prstDash val="solid"/>
          </a:ln>
          <a:effectLst>
            <a:outerShdw sx="100000" sy="100000" kx="0" ky="0" algn="bl" rotWithShape="0" blurRad="139700" dist="38100" dir="5400000">
              <a:srgbClr val="9AA6BC">
                <a:alpha val="28000"/>
              </a:srgbClr>
            </a:outerShdw>
          </a:effectLst>
        </p:spPr>
      </p:sp>
      <p:sp>
        <p:nvSpPr>
          <p:cNvPr id="5" name="Shape 3"/>
          <p:cNvSpPr/>
          <p:nvPr/>
        </p:nvSpPr>
        <p:spPr>
          <a:xfrm>
            <a:off x="1161288" y="2734056"/>
            <a:ext cx="603504" cy="603504"/>
          </a:xfrm>
          <a:prstGeom prst="ellipse">
            <a:avLst/>
          </a:prstGeom>
          <a:solidFill>
            <a:srgbClr val="E11D48"/>
          </a:solidFill>
          <a:ln/>
          <a:effectLst>
            <a:outerShdw sx="100000" sy="100000" kx="0" ky="0" algn="bl" rotWithShape="0" blurRad="139700" dist="38100" dir="5400000">
              <a:srgbClr val="9AA6BC">
                <a:alpha val="28000"/>
              </a:srgbClr>
            </a:outerShdw>
          </a:effectLst>
        </p:spPr>
      </p:sp>
      <p:pic>
        <p:nvPicPr>
          <p:cNvPr id="6" name="Image 0" descr="preencoded.png">    </p:cNvPr>
          <p:cNvPicPr>
            <a:picLocks noChangeAspect="1"/>
          </p:cNvPicPr>
          <p:nvPr/>
        </p:nvPicPr>
        <p:blipFill>
          <a:blip r:embed="rId1"/>
          <a:stretch>
            <a:fillRect/>
          </a:stretch>
        </p:blipFill>
        <p:spPr>
          <a:xfrm>
            <a:off x="1306129" y="2878897"/>
            <a:ext cx="313822" cy="313822"/>
          </a:xfrm>
          <a:prstGeom prst="rect">
            <a:avLst/>
          </a:prstGeom>
        </p:spPr>
      </p:pic>
      <p:sp>
        <p:nvSpPr>
          <p:cNvPr id="7" name="Text 4"/>
          <p:cNvSpPr/>
          <p:nvPr/>
        </p:nvSpPr>
        <p:spPr>
          <a:xfrm>
            <a:off x="2852928" y="2880360"/>
            <a:ext cx="1051560" cy="274320"/>
          </a:xfrm>
          <a:prstGeom prst="rect">
            <a:avLst/>
          </a:prstGeom>
          <a:noFill/>
          <a:ln/>
        </p:spPr>
        <p:txBody>
          <a:bodyPr wrap="square" rtlCol="0" anchor="ctr"/>
          <a:lstStyle/>
          <a:p>
            <a:pPr algn="r" indent="0" marL="0">
              <a:buNone/>
            </a:pPr>
            <a:r>
              <a:rPr lang="en-US" sz="950" spc="200" kern="0" dirty="0">
                <a:solidFill>
                  <a:srgbClr val="9AA1B0"/>
                </a:solidFill>
                <a:latin typeface="Consolas" pitchFamily="34" charset="0"/>
                <a:ea typeface="Consolas" pitchFamily="34" charset="-122"/>
                <a:cs typeface="Consolas" pitchFamily="34" charset="-120"/>
              </a:rPr>
              <a:t>WALL 01</a:t>
            </a:r>
            <a:endParaRPr lang="en-US" sz="950" dirty="0"/>
          </a:p>
        </p:txBody>
      </p:sp>
      <p:sp>
        <p:nvSpPr>
          <p:cNvPr id="8" name="Text 5"/>
          <p:cNvSpPr/>
          <p:nvPr/>
        </p:nvSpPr>
        <p:spPr>
          <a:xfrm>
            <a:off x="1207008" y="3611880"/>
            <a:ext cx="2651760" cy="548640"/>
          </a:xfrm>
          <a:prstGeom prst="rect">
            <a:avLst/>
          </a:prstGeom>
          <a:noFill/>
          <a:ln/>
        </p:spPr>
        <p:txBody>
          <a:bodyPr wrap="square" rtlCol="0" anchor="ctr"/>
          <a:lstStyle/>
          <a:p>
            <a:pPr indent="0" marL="0">
              <a:buNone/>
            </a:pPr>
            <a:r>
              <a:rPr lang="en-US" sz="2100" b="1" dirty="0">
                <a:solidFill>
                  <a:srgbClr val="16181D"/>
                </a:solidFill>
                <a:latin typeface="Arial" pitchFamily="34" charset="0"/>
                <a:ea typeface="Arial" pitchFamily="34" charset="-122"/>
                <a:cs typeface="Arial" pitchFamily="34" charset="-120"/>
              </a:rPr>
              <a:t>No memory</a:t>
            </a:r>
            <a:endParaRPr lang="en-US" sz="2100" dirty="0"/>
          </a:p>
        </p:txBody>
      </p:sp>
      <p:sp>
        <p:nvSpPr>
          <p:cNvPr id="9" name="Text 6"/>
          <p:cNvSpPr/>
          <p:nvPr/>
        </p:nvSpPr>
        <p:spPr>
          <a:xfrm>
            <a:off x="1207008" y="4206240"/>
            <a:ext cx="2651760" cy="1005840"/>
          </a:xfrm>
          <a:prstGeom prst="rect">
            <a:avLst/>
          </a:prstGeom>
          <a:noFill/>
          <a:ln/>
        </p:spPr>
        <p:txBody>
          <a:bodyPr wrap="square" rtlCol="0" anchor="ctr"/>
          <a:lstStyle/>
          <a:p>
            <a:pPr indent="0" marL="0">
              <a:lnSpc>
                <a:spcPts val="2000"/>
              </a:lnSpc>
              <a:buNone/>
            </a:pPr>
            <a:r>
              <a:rPr lang="en-US" sz="1400" dirty="0">
                <a:solidFill>
                  <a:srgbClr val="666C7A"/>
                </a:solidFill>
                <a:latin typeface="Calibri" pitchFamily="34" charset="0"/>
                <a:ea typeface="Calibri" pitchFamily="34" charset="-122"/>
                <a:cs typeface="Calibri" pitchFamily="34" charset="-120"/>
              </a:rPr>
              <a:t>Every call starts from zero. It forgot the last sentence the instant it finished it.</a:t>
            </a:r>
            <a:endParaRPr lang="en-US" sz="1400" dirty="0"/>
          </a:p>
        </p:txBody>
      </p:sp>
      <p:sp>
        <p:nvSpPr>
          <p:cNvPr id="10" name="Shape 7"/>
          <p:cNvSpPr/>
          <p:nvPr/>
        </p:nvSpPr>
        <p:spPr>
          <a:xfrm>
            <a:off x="4544568" y="2377440"/>
            <a:ext cx="3383280" cy="2926080"/>
          </a:xfrm>
          <a:prstGeom prst="roundRect">
            <a:avLst>
              <a:gd name="adj" fmla="val 3125"/>
            </a:avLst>
          </a:prstGeom>
          <a:solidFill>
            <a:srgbClr val="F5F7FA"/>
          </a:solidFill>
          <a:ln w="12700">
            <a:solidFill>
              <a:srgbClr val="E1E5EC"/>
            </a:solidFill>
            <a:prstDash val="solid"/>
          </a:ln>
          <a:effectLst>
            <a:outerShdw sx="100000" sy="100000" kx="0" ky="0" algn="bl" rotWithShape="0" blurRad="139700" dist="38100" dir="5400000">
              <a:srgbClr val="9AA6BC">
                <a:alpha val="28000"/>
              </a:srgbClr>
            </a:outerShdw>
          </a:effectLst>
        </p:spPr>
      </p:sp>
      <p:sp>
        <p:nvSpPr>
          <p:cNvPr id="11" name="Shape 8"/>
          <p:cNvSpPr/>
          <p:nvPr/>
        </p:nvSpPr>
        <p:spPr>
          <a:xfrm>
            <a:off x="4864608" y="2734056"/>
            <a:ext cx="603504" cy="603504"/>
          </a:xfrm>
          <a:prstGeom prst="ellipse">
            <a:avLst/>
          </a:prstGeom>
          <a:solidFill>
            <a:srgbClr val="E11D48"/>
          </a:solidFill>
          <a:ln/>
          <a:effectLst>
            <a:outerShdw sx="100000" sy="100000" kx="0" ky="0" algn="bl" rotWithShape="0" blurRad="139700" dist="38100" dir="5400000">
              <a:srgbClr val="9AA6BC">
                <a:alpha val="28000"/>
              </a:srgbClr>
            </a:outerShdw>
          </a:effectLst>
        </p:spPr>
      </p:sp>
      <p:pic>
        <p:nvPicPr>
          <p:cNvPr id="12" name="Image 1" descr="preencoded.png">    </p:cNvPr>
          <p:cNvPicPr>
            <a:picLocks noChangeAspect="1"/>
          </p:cNvPicPr>
          <p:nvPr/>
        </p:nvPicPr>
        <p:blipFill>
          <a:blip r:embed="rId2"/>
          <a:stretch>
            <a:fillRect/>
          </a:stretch>
        </p:blipFill>
        <p:spPr>
          <a:xfrm>
            <a:off x="5009449" y="2878897"/>
            <a:ext cx="313822" cy="313822"/>
          </a:xfrm>
          <a:prstGeom prst="rect">
            <a:avLst/>
          </a:prstGeom>
        </p:spPr>
      </p:pic>
      <p:sp>
        <p:nvSpPr>
          <p:cNvPr id="13" name="Text 9"/>
          <p:cNvSpPr/>
          <p:nvPr/>
        </p:nvSpPr>
        <p:spPr>
          <a:xfrm>
            <a:off x="6556248" y="2880360"/>
            <a:ext cx="1051560" cy="274320"/>
          </a:xfrm>
          <a:prstGeom prst="rect">
            <a:avLst/>
          </a:prstGeom>
          <a:noFill/>
          <a:ln/>
        </p:spPr>
        <p:txBody>
          <a:bodyPr wrap="square" rtlCol="0" anchor="ctr"/>
          <a:lstStyle/>
          <a:p>
            <a:pPr algn="r" indent="0" marL="0">
              <a:buNone/>
            </a:pPr>
            <a:r>
              <a:rPr lang="en-US" sz="950" spc="200" kern="0" dirty="0">
                <a:solidFill>
                  <a:srgbClr val="9AA1B0"/>
                </a:solidFill>
                <a:latin typeface="Consolas" pitchFamily="34" charset="0"/>
                <a:ea typeface="Consolas" pitchFamily="34" charset="-122"/>
                <a:cs typeface="Consolas" pitchFamily="34" charset="-120"/>
              </a:rPr>
              <a:t>WALL 02</a:t>
            </a:r>
            <a:endParaRPr lang="en-US" sz="950" dirty="0"/>
          </a:p>
        </p:txBody>
      </p:sp>
      <p:sp>
        <p:nvSpPr>
          <p:cNvPr id="14" name="Text 10"/>
          <p:cNvSpPr/>
          <p:nvPr/>
        </p:nvSpPr>
        <p:spPr>
          <a:xfrm>
            <a:off x="4910328" y="3611880"/>
            <a:ext cx="2651760" cy="548640"/>
          </a:xfrm>
          <a:prstGeom prst="rect">
            <a:avLst/>
          </a:prstGeom>
          <a:noFill/>
          <a:ln/>
        </p:spPr>
        <p:txBody>
          <a:bodyPr wrap="square" rtlCol="0" anchor="ctr"/>
          <a:lstStyle/>
          <a:p>
            <a:pPr indent="0" marL="0">
              <a:buNone/>
            </a:pPr>
            <a:r>
              <a:rPr lang="en-US" sz="2100" b="1" dirty="0">
                <a:solidFill>
                  <a:srgbClr val="16181D"/>
                </a:solidFill>
                <a:latin typeface="Arial" pitchFamily="34" charset="0"/>
                <a:ea typeface="Arial" pitchFamily="34" charset="-122"/>
                <a:cs typeface="Arial" pitchFamily="34" charset="-120"/>
              </a:rPr>
              <a:t>No hands</a:t>
            </a:r>
            <a:endParaRPr lang="en-US" sz="2100" dirty="0"/>
          </a:p>
        </p:txBody>
      </p:sp>
      <p:sp>
        <p:nvSpPr>
          <p:cNvPr id="15" name="Text 11"/>
          <p:cNvSpPr/>
          <p:nvPr/>
        </p:nvSpPr>
        <p:spPr>
          <a:xfrm>
            <a:off x="4910328" y="4206240"/>
            <a:ext cx="2651760" cy="1005840"/>
          </a:xfrm>
          <a:prstGeom prst="rect">
            <a:avLst/>
          </a:prstGeom>
          <a:noFill/>
          <a:ln/>
        </p:spPr>
        <p:txBody>
          <a:bodyPr wrap="square" rtlCol="0" anchor="ctr"/>
          <a:lstStyle/>
          <a:p>
            <a:pPr indent="0" marL="0">
              <a:lnSpc>
                <a:spcPts val="2000"/>
              </a:lnSpc>
              <a:buNone/>
            </a:pPr>
            <a:r>
              <a:rPr lang="en-US" sz="1400" dirty="0">
                <a:solidFill>
                  <a:srgbClr val="666C7A"/>
                </a:solidFill>
                <a:latin typeface="Calibri" pitchFamily="34" charset="0"/>
                <a:ea typeface="Calibri" pitchFamily="34" charset="-122"/>
                <a:cs typeface="Calibri" pitchFamily="34" charset="-120"/>
              </a:rPr>
              <a:t>It can describe sending the email in beautiful detail. It cannot send it.</a:t>
            </a:r>
            <a:endParaRPr lang="en-US" sz="1400" dirty="0"/>
          </a:p>
        </p:txBody>
      </p:sp>
      <p:sp>
        <p:nvSpPr>
          <p:cNvPr id="16" name="Shape 12"/>
          <p:cNvSpPr/>
          <p:nvPr/>
        </p:nvSpPr>
        <p:spPr>
          <a:xfrm>
            <a:off x="8247888" y="2377440"/>
            <a:ext cx="3383280" cy="2926080"/>
          </a:xfrm>
          <a:prstGeom prst="roundRect">
            <a:avLst>
              <a:gd name="adj" fmla="val 3125"/>
            </a:avLst>
          </a:prstGeom>
          <a:solidFill>
            <a:srgbClr val="F5F7FA"/>
          </a:solidFill>
          <a:ln w="12700">
            <a:solidFill>
              <a:srgbClr val="E1E5EC"/>
            </a:solidFill>
            <a:prstDash val="solid"/>
          </a:ln>
          <a:effectLst>
            <a:outerShdw sx="100000" sy="100000" kx="0" ky="0" algn="bl" rotWithShape="0" blurRad="139700" dist="38100" dir="5400000">
              <a:srgbClr val="9AA6BC">
                <a:alpha val="28000"/>
              </a:srgbClr>
            </a:outerShdw>
          </a:effectLst>
        </p:spPr>
      </p:sp>
      <p:sp>
        <p:nvSpPr>
          <p:cNvPr id="17" name="Shape 13"/>
          <p:cNvSpPr/>
          <p:nvPr/>
        </p:nvSpPr>
        <p:spPr>
          <a:xfrm>
            <a:off x="8567928" y="2734056"/>
            <a:ext cx="603504" cy="603504"/>
          </a:xfrm>
          <a:prstGeom prst="ellipse">
            <a:avLst/>
          </a:prstGeom>
          <a:solidFill>
            <a:srgbClr val="E11D48"/>
          </a:solidFill>
          <a:ln/>
          <a:effectLst>
            <a:outerShdw sx="100000" sy="100000" kx="0" ky="0" algn="bl" rotWithShape="0" blurRad="139700" dist="38100" dir="5400000">
              <a:srgbClr val="9AA6BC">
                <a:alpha val="28000"/>
              </a:srgbClr>
            </a:outerShdw>
          </a:effectLst>
        </p:spPr>
      </p:sp>
      <p:pic>
        <p:nvPicPr>
          <p:cNvPr id="18" name="Image 2" descr="preencoded.png">    </p:cNvPr>
          <p:cNvPicPr>
            <a:picLocks noChangeAspect="1"/>
          </p:cNvPicPr>
          <p:nvPr/>
        </p:nvPicPr>
        <p:blipFill>
          <a:blip r:embed="rId3"/>
          <a:stretch>
            <a:fillRect/>
          </a:stretch>
        </p:blipFill>
        <p:spPr>
          <a:xfrm>
            <a:off x="8712769" y="2878897"/>
            <a:ext cx="313822" cy="313822"/>
          </a:xfrm>
          <a:prstGeom prst="rect">
            <a:avLst/>
          </a:prstGeom>
        </p:spPr>
      </p:pic>
      <p:sp>
        <p:nvSpPr>
          <p:cNvPr id="19" name="Text 14"/>
          <p:cNvSpPr/>
          <p:nvPr/>
        </p:nvSpPr>
        <p:spPr>
          <a:xfrm>
            <a:off x="10259568" y="2880360"/>
            <a:ext cx="1051560" cy="274320"/>
          </a:xfrm>
          <a:prstGeom prst="rect">
            <a:avLst/>
          </a:prstGeom>
          <a:noFill/>
          <a:ln/>
        </p:spPr>
        <p:txBody>
          <a:bodyPr wrap="square" rtlCol="0" anchor="ctr"/>
          <a:lstStyle/>
          <a:p>
            <a:pPr algn="r" indent="0" marL="0">
              <a:buNone/>
            </a:pPr>
            <a:r>
              <a:rPr lang="en-US" sz="950" spc="200" kern="0" dirty="0">
                <a:solidFill>
                  <a:srgbClr val="9AA1B0"/>
                </a:solidFill>
                <a:latin typeface="Consolas" pitchFamily="34" charset="0"/>
                <a:ea typeface="Consolas" pitchFamily="34" charset="-122"/>
                <a:cs typeface="Consolas" pitchFamily="34" charset="-120"/>
              </a:rPr>
              <a:t>WALL 03</a:t>
            </a:r>
            <a:endParaRPr lang="en-US" sz="950" dirty="0"/>
          </a:p>
        </p:txBody>
      </p:sp>
      <p:sp>
        <p:nvSpPr>
          <p:cNvPr id="20" name="Text 15"/>
          <p:cNvSpPr/>
          <p:nvPr/>
        </p:nvSpPr>
        <p:spPr>
          <a:xfrm>
            <a:off x="8613648" y="3611880"/>
            <a:ext cx="2651760" cy="548640"/>
          </a:xfrm>
          <a:prstGeom prst="rect">
            <a:avLst/>
          </a:prstGeom>
          <a:noFill/>
          <a:ln/>
        </p:spPr>
        <p:txBody>
          <a:bodyPr wrap="square" rtlCol="0" anchor="ctr"/>
          <a:lstStyle/>
          <a:p>
            <a:pPr indent="0" marL="0">
              <a:buNone/>
            </a:pPr>
            <a:r>
              <a:rPr lang="en-US" sz="2100" b="1" dirty="0">
                <a:solidFill>
                  <a:srgbClr val="16181D"/>
                </a:solidFill>
                <a:latin typeface="Arial" pitchFamily="34" charset="0"/>
                <a:ea typeface="Arial" pitchFamily="34" charset="-122"/>
                <a:cs typeface="Arial" pitchFamily="34" charset="-120"/>
              </a:rPr>
              <a:t>No proof</a:t>
            </a:r>
            <a:endParaRPr lang="en-US" sz="2100" dirty="0"/>
          </a:p>
        </p:txBody>
      </p:sp>
      <p:sp>
        <p:nvSpPr>
          <p:cNvPr id="21" name="Text 16"/>
          <p:cNvSpPr/>
          <p:nvPr/>
        </p:nvSpPr>
        <p:spPr>
          <a:xfrm>
            <a:off x="8613648" y="4206240"/>
            <a:ext cx="2651760" cy="1005840"/>
          </a:xfrm>
          <a:prstGeom prst="rect">
            <a:avLst/>
          </a:prstGeom>
          <a:noFill/>
          <a:ln/>
        </p:spPr>
        <p:txBody>
          <a:bodyPr wrap="square" rtlCol="0" anchor="ctr"/>
          <a:lstStyle/>
          <a:p>
            <a:pPr indent="0" marL="0">
              <a:lnSpc>
                <a:spcPts val="2000"/>
              </a:lnSpc>
              <a:buNone/>
            </a:pPr>
            <a:r>
              <a:rPr lang="en-US" sz="1400" dirty="0">
                <a:solidFill>
                  <a:srgbClr val="666C7A"/>
                </a:solidFill>
                <a:latin typeface="Calibri" pitchFamily="34" charset="0"/>
                <a:ea typeface="Calibri" pitchFamily="34" charset="-122"/>
                <a:cs typeface="Calibri" pitchFamily="34" charset="-120"/>
              </a:rPr>
              <a:t>It sounds equally sure when it is right and when it is making things up.</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138160" y="2743200"/>
            <a:ext cx="4023360" cy="4023360"/>
          </a:xfrm>
          <a:prstGeom prst="rect">
            <a:avLst/>
          </a:prstGeom>
        </p:spPr>
      </p:pic>
      <p:sp>
        <p:nvSpPr>
          <p:cNvPr id="3" name="Text 0"/>
          <p:cNvSpPr/>
          <p:nvPr/>
        </p:nvSpPr>
        <p:spPr>
          <a:xfrm>
            <a:off x="841248" y="1143000"/>
            <a:ext cx="3657600" cy="1463040"/>
          </a:xfrm>
          <a:prstGeom prst="rect">
            <a:avLst/>
          </a:prstGeom>
          <a:noFill/>
          <a:ln/>
        </p:spPr>
        <p:txBody>
          <a:bodyPr wrap="square" rtlCol="0" anchor="ctr"/>
          <a:lstStyle/>
          <a:p>
            <a:pPr indent="0" marL="0">
              <a:buNone/>
            </a:pPr>
            <a:r>
              <a:rPr lang="en-US" sz="9200" b="1" dirty="0">
                <a:solidFill>
                  <a:srgbClr val="E1E5EC"/>
                </a:solidFill>
                <a:latin typeface="Arial" pitchFamily="34" charset="0"/>
                <a:ea typeface="Arial" pitchFamily="34" charset="-122"/>
                <a:cs typeface="Arial" pitchFamily="34" charset="-120"/>
              </a:rPr>
              <a:t>ii</a:t>
            </a:r>
            <a:endParaRPr lang="en-US" sz="9200" dirty="0"/>
          </a:p>
        </p:txBody>
      </p:sp>
      <p:sp>
        <p:nvSpPr>
          <p:cNvPr id="4" name="Text 1"/>
          <p:cNvSpPr/>
          <p:nvPr/>
        </p:nvSpPr>
        <p:spPr>
          <a:xfrm>
            <a:off x="841248" y="2788920"/>
            <a:ext cx="9144000" cy="292608"/>
          </a:xfrm>
          <a:prstGeom prst="rect">
            <a:avLst/>
          </a:prstGeom>
          <a:noFill/>
          <a:ln/>
        </p:spPr>
        <p:txBody>
          <a:bodyPr wrap="square" rtlCol="0" anchor="ctr"/>
          <a:lstStyle/>
          <a:p>
            <a:pPr indent="0" marL="0">
              <a:buNone/>
            </a:pPr>
            <a:r>
              <a:rPr lang="en-US" sz="1100" b="1" spc="300" kern="0" dirty="0">
                <a:solidFill>
                  <a:srgbClr val="0F9E8E"/>
                </a:solidFill>
                <a:latin typeface="Arial" pitchFamily="34" charset="0"/>
                <a:ea typeface="Arial" pitchFamily="34" charset="-122"/>
                <a:cs typeface="Arial" pitchFamily="34" charset="-120"/>
              </a:rPr>
              <a:t>ACT TWO</a:t>
            </a:r>
            <a:endParaRPr lang="en-US" sz="1100" dirty="0"/>
          </a:p>
        </p:txBody>
      </p:sp>
      <p:sp>
        <p:nvSpPr>
          <p:cNvPr id="5" name="Text 2"/>
          <p:cNvSpPr/>
          <p:nvPr/>
        </p:nvSpPr>
        <p:spPr>
          <a:xfrm>
            <a:off x="841248" y="3154680"/>
            <a:ext cx="8229600" cy="1463040"/>
          </a:xfrm>
          <a:prstGeom prst="rect">
            <a:avLst/>
          </a:prstGeom>
          <a:noFill/>
          <a:ln/>
        </p:spPr>
        <p:txBody>
          <a:bodyPr wrap="square" rtlCol="0" anchor="ctr"/>
          <a:lstStyle/>
          <a:p>
            <a:pPr indent="0" marL="0">
              <a:lnSpc>
                <a:spcPts val="5000"/>
              </a:lnSpc>
              <a:buNone/>
            </a:pPr>
            <a:r>
              <a:rPr lang="en-US" sz="5000" b="1" dirty="0">
                <a:solidFill>
                  <a:srgbClr val="16181D"/>
                </a:solidFill>
                <a:latin typeface="Arial" pitchFamily="34" charset="0"/>
                <a:ea typeface="Arial" pitchFamily="34" charset="-122"/>
                <a:cs typeface="Arial" pitchFamily="34" charset="-120"/>
              </a:rPr>
              <a:t>The Agent</a:t>
            </a:r>
            <a:endParaRPr lang="en-US" sz="5000" dirty="0"/>
          </a:p>
        </p:txBody>
      </p:sp>
      <p:sp>
        <p:nvSpPr>
          <p:cNvPr id="6" name="Text 3"/>
          <p:cNvSpPr/>
          <p:nvPr/>
        </p:nvSpPr>
        <p:spPr>
          <a:xfrm>
            <a:off x="841248" y="4617720"/>
            <a:ext cx="6949440" cy="822960"/>
          </a:xfrm>
          <a:prstGeom prst="rect">
            <a:avLst/>
          </a:prstGeom>
          <a:noFill/>
          <a:ln/>
        </p:spPr>
        <p:txBody>
          <a:bodyPr wrap="square" rtlCol="0" anchor="ctr"/>
          <a:lstStyle/>
          <a:p>
            <a:pPr indent="0" marL="0">
              <a:lnSpc>
                <a:spcPts val="2500"/>
              </a:lnSpc>
              <a:buNone/>
            </a:pPr>
            <a:r>
              <a:rPr lang="en-US" sz="1700" dirty="0">
                <a:solidFill>
                  <a:srgbClr val="666C7A"/>
                </a:solidFill>
                <a:latin typeface="Calibri" pitchFamily="34" charset="0"/>
                <a:ea typeface="Calibri" pitchFamily="34" charset="-122"/>
                <a:cs typeface="Calibri" pitchFamily="34" charset="-120"/>
              </a:rPr>
              <a:t>Same model. Now it can remember, act, and try again.</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indent="0" marL="0">
              <a:buNone/>
            </a:pPr>
            <a:r>
              <a:rPr lang="en-US" sz="1100" b="1" spc="300" kern="0" dirty="0">
                <a:solidFill>
                  <a:srgbClr val="4F46E5"/>
                </a:solidFill>
                <a:latin typeface="Arial" pitchFamily="34" charset="0"/>
                <a:ea typeface="Arial" pitchFamily="34" charset="-122"/>
                <a:cs typeface="Arial" pitchFamily="34" charset="-120"/>
              </a:rPr>
              <a:t>THE EQUATION</a:t>
            </a:r>
            <a:endParaRPr lang="en-US" sz="1100" dirty="0"/>
          </a:p>
        </p:txBody>
      </p:sp>
      <p:sp>
        <p:nvSpPr>
          <p:cNvPr id="3" name="Shape 1"/>
          <p:cNvSpPr/>
          <p:nvPr/>
        </p:nvSpPr>
        <p:spPr>
          <a:xfrm>
            <a:off x="1478128" y="1965960"/>
            <a:ext cx="2377440" cy="2377440"/>
          </a:xfrm>
          <a:prstGeom prst="roundRect">
            <a:avLst>
              <a:gd name="adj" fmla="val 5385"/>
            </a:avLst>
          </a:prstGeom>
          <a:solidFill>
            <a:srgbClr val="F5F7FA"/>
          </a:solidFill>
          <a:ln w="12700">
            <a:solidFill>
              <a:srgbClr val="E1E5EC"/>
            </a:solidFill>
            <a:prstDash val="solid"/>
          </a:ln>
          <a:effectLst>
            <a:outerShdw sx="100000" sy="100000" kx="0" ky="0" algn="bl" rotWithShape="0" blurRad="139700" dist="38100" dir="5400000">
              <a:srgbClr val="9AA6BC">
                <a:alpha val="28000"/>
              </a:srgbClr>
            </a:outerShdw>
          </a:effectLst>
        </p:spPr>
      </p:sp>
      <p:sp>
        <p:nvSpPr>
          <p:cNvPr id="4" name="Shape 2"/>
          <p:cNvSpPr/>
          <p:nvPr/>
        </p:nvSpPr>
        <p:spPr>
          <a:xfrm>
            <a:off x="2310232" y="2322576"/>
            <a:ext cx="713232" cy="713232"/>
          </a:xfrm>
          <a:prstGeom prst="ellipse">
            <a:avLst/>
          </a:prstGeom>
          <a:solidFill>
            <a:srgbClr val="0284C7"/>
          </a:solidFill>
          <a:ln/>
          <a:effectLst>
            <a:outerShdw sx="100000" sy="100000" kx="0" ky="0" algn="bl" rotWithShape="0" blurRad="139700" dist="38100" dir="5400000">
              <a:srgbClr val="9AA6BC">
                <a:alpha val="28000"/>
              </a:srgbClr>
            </a:outerShdw>
          </a:effectLst>
        </p:spPr>
      </p:sp>
      <p:pic>
        <p:nvPicPr>
          <p:cNvPr id="5" name="Image 0" descr="preencoded.png">    </p:cNvPr>
          <p:cNvPicPr>
            <a:picLocks noChangeAspect="1"/>
          </p:cNvPicPr>
          <p:nvPr/>
        </p:nvPicPr>
        <p:blipFill>
          <a:blip r:embed="rId1"/>
          <a:stretch>
            <a:fillRect/>
          </a:stretch>
        </p:blipFill>
        <p:spPr>
          <a:xfrm>
            <a:off x="2481407" y="2493752"/>
            <a:ext cx="370881" cy="370881"/>
          </a:xfrm>
          <a:prstGeom prst="rect">
            <a:avLst/>
          </a:prstGeom>
        </p:spPr>
      </p:pic>
      <p:sp>
        <p:nvSpPr>
          <p:cNvPr id="6" name="Text 3"/>
          <p:cNvSpPr/>
          <p:nvPr/>
        </p:nvSpPr>
        <p:spPr>
          <a:xfrm>
            <a:off x="1478128" y="3246120"/>
            <a:ext cx="2377440" cy="457200"/>
          </a:xfrm>
          <a:prstGeom prst="rect">
            <a:avLst/>
          </a:prstGeom>
          <a:noFill/>
          <a:ln/>
        </p:spPr>
        <p:txBody>
          <a:bodyPr wrap="square" rtlCol="0" anchor="ctr"/>
          <a:lstStyle/>
          <a:p>
            <a:pPr algn="ctr" indent="0" marL="0">
              <a:buNone/>
            </a:pPr>
            <a:r>
              <a:rPr lang="en-US" sz="2100" b="1" dirty="0">
                <a:solidFill>
                  <a:srgbClr val="16181D"/>
                </a:solidFill>
                <a:latin typeface="Arial" pitchFamily="34" charset="0"/>
                <a:ea typeface="Arial" pitchFamily="34" charset="-122"/>
                <a:cs typeface="Arial" pitchFamily="34" charset="-120"/>
              </a:rPr>
              <a:t>model</a:t>
            </a:r>
            <a:endParaRPr lang="en-US" sz="2100" dirty="0"/>
          </a:p>
        </p:txBody>
      </p:sp>
      <p:sp>
        <p:nvSpPr>
          <p:cNvPr id="7" name="Text 4"/>
          <p:cNvSpPr/>
          <p:nvPr/>
        </p:nvSpPr>
        <p:spPr>
          <a:xfrm>
            <a:off x="1478128" y="3721608"/>
            <a:ext cx="2377440" cy="320040"/>
          </a:xfrm>
          <a:prstGeom prst="rect">
            <a:avLst/>
          </a:prstGeom>
          <a:noFill/>
          <a:ln/>
        </p:spPr>
        <p:txBody>
          <a:bodyPr wrap="square" rtlCol="0" anchor="ctr"/>
          <a:lstStyle/>
          <a:p>
            <a:pPr algn="ctr" indent="0" marL="0">
              <a:buNone/>
            </a:pPr>
            <a:r>
              <a:rPr lang="en-US" sz="1000" spc="200" kern="0" dirty="0">
                <a:solidFill>
                  <a:srgbClr val="666C7A"/>
                </a:solidFill>
                <a:latin typeface="Consolas" pitchFamily="34" charset="0"/>
                <a:ea typeface="Consolas" pitchFamily="34" charset="-122"/>
                <a:cs typeface="Consolas" pitchFamily="34" charset="-120"/>
              </a:rPr>
              <a:t>THE BRAIN</a:t>
            </a:r>
            <a:endParaRPr lang="en-US" sz="1000" dirty="0"/>
          </a:p>
        </p:txBody>
      </p:sp>
      <p:sp>
        <p:nvSpPr>
          <p:cNvPr id="8" name="Text 5"/>
          <p:cNvSpPr/>
          <p:nvPr/>
        </p:nvSpPr>
        <p:spPr>
          <a:xfrm>
            <a:off x="3855568" y="2788920"/>
            <a:ext cx="1051560" cy="731520"/>
          </a:xfrm>
          <a:prstGeom prst="rect">
            <a:avLst/>
          </a:prstGeom>
          <a:noFill/>
          <a:ln/>
        </p:spPr>
        <p:txBody>
          <a:bodyPr wrap="square" rtlCol="0" anchor="ctr"/>
          <a:lstStyle/>
          <a:p>
            <a:pPr algn="ctr" indent="0" marL="0">
              <a:buNone/>
            </a:pPr>
            <a:r>
              <a:rPr lang="en-US" sz="3000" b="1" dirty="0">
                <a:solidFill>
                  <a:srgbClr val="9AA1B0"/>
                </a:solidFill>
                <a:latin typeface="Arial" pitchFamily="34" charset="0"/>
                <a:ea typeface="Arial" pitchFamily="34" charset="-122"/>
                <a:cs typeface="Arial" pitchFamily="34" charset="-120"/>
              </a:rPr>
              <a:t>+</a:t>
            </a:r>
            <a:endParaRPr lang="en-US" sz="3000" dirty="0"/>
          </a:p>
        </p:txBody>
      </p:sp>
      <p:sp>
        <p:nvSpPr>
          <p:cNvPr id="9" name="Shape 6"/>
          <p:cNvSpPr/>
          <p:nvPr/>
        </p:nvSpPr>
        <p:spPr>
          <a:xfrm>
            <a:off x="4907128" y="1965960"/>
            <a:ext cx="2377440" cy="2377440"/>
          </a:xfrm>
          <a:prstGeom prst="roundRect">
            <a:avLst>
              <a:gd name="adj" fmla="val 5385"/>
            </a:avLst>
          </a:prstGeom>
          <a:solidFill>
            <a:srgbClr val="F5F7FA"/>
          </a:solidFill>
          <a:ln w="12700">
            <a:solidFill>
              <a:srgbClr val="E1E5EC"/>
            </a:solidFill>
            <a:prstDash val="solid"/>
          </a:ln>
          <a:effectLst>
            <a:outerShdw sx="100000" sy="100000" kx="0" ky="0" algn="bl" rotWithShape="0" blurRad="139700" dist="38100" dir="5400000">
              <a:srgbClr val="9AA6BC">
                <a:alpha val="28000"/>
              </a:srgbClr>
            </a:outerShdw>
          </a:effectLst>
        </p:spPr>
      </p:sp>
      <p:sp>
        <p:nvSpPr>
          <p:cNvPr id="10" name="Shape 7"/>
          <p:cNvSpPr/>
          <p:nvPr/>
        </p:nvSpPr>
        <p:spPr>
          <a:xfrm>
            <a:off x="5739232" y="2322576"/>
            <a:ext cx="713232" cy="713232"/>
          </a:xfrm>
          <a:prstGeom prst="ellipse">
            <a:avLst/>
          </a:prstGeom>
          <a:solidFill>
            <a:srgbClr val="7C3AED"/>
          </a:solidFill>
          <a:ln/>
          <a:effectLst>
            <a:outerShdw sx="100000" sy="100000" kx="0" ky="0" algn="bl" rotWithShape="0" blurRad="139700" dist="38100" dir="5400000">
              <a:srgbClr val="9AA6BC">
                <a:alpha val="28000"/>
              </a:srgbClr>
            </a:outerShdw>
          </a:effectLst>
        </p:spPr>
      </p:sp>
      <p:pic>
        <p:nvPicPr>
          <p:cNvPr id="11" name="Image 1" descr="preencoded.png">    </p:cNvPr>
          <p:cNvPicPr>
            <a:picLocks noChangeAspect="1"/>
          </p:cNvPicPr>
          <p:nvPr/>
        </p:nvPicPr>
        <p:blipFill>
          <a:blip r:embed="rId2"/>
          <a:stretch>
            <a:fillRect/>
          </a:stretch>
        </p:blipFill>
        <p:spPr>
          <a:xfrm>
            <a:off x="5910407" y="2493752"/>
            <a:ext cx="370881" cy="370881"/>
          </a:xfrm>
          <a:prstGeom prst="rect">
            <a:avLst/>
          </a:prstGeom>
        </p:spPr>
      </p:pic>
      <p:sp>
        <p:nvSpPr>
          <p:cNvPr id="12" name="Text 8"/>
          <p:cNvSpPr/>
          <p:nvPr/>
        </p:nvSpPr>
        <p:spPr>
          <a:xfrm>
            <a:off x="4907128" y="3246120"/>
            <a:ext cx="2377440" cy="457200"/>
          </a:xfrm>
          <a:prstGeom prst="rect">
            <a:avLst/>
          </a:prstGeom>
          <a:noFill/>
          <a:ln/>
        </p:spPr>
        <p:txBody>
          <a:bodyPr wrap="square" rtlCol="0" anchor="ctr"/>
          <a:lstStyle/>
          <a:p>
            <a:pPr algn="ctr" indent="0" marL="0">
              <a:buNone/>
            </a:pPr>
            <a:r>
              <a:rPr lang="en-US" sz="2100" b="1" dirty="0">
                <a:solidFill>
                  <a:srgbClr val="16181D"/>
                </a:solidFill>
                <a:latin typeface="Arial" pitchFamily="34" charset="0"/>
                <a:ea typeface="Arial" pitchFamily="34" charset="-122"/>
                <a:cs typeface="Arial" pitchFamily="34" charset="-120"/>
              </a:rPr>
              <a:t>tools</a:t>
            </a:r>
            <a:endParaRPr lang="en-US" sz="2100" dirty="0"/>
          </a:p>
        </p:txBody>
      </p:sp>
      <p:sp>
        <p:nvSpPr>
          <p:cNvPr id="13" name="Text 9"/>
          <p:cNvSpPr/>
          <p:nvPr/>
        </p:nvSpPr>
        <p:spPr>
          <a:xfrm>
            <a:off x="4907128" y="3721608"/>
            <a:ext cx="2377440" cy="320040"/>
          </a:xfrm>
          <a:prstGeom prst="rect">
            <a:avLst/>
          </a:prstGeom>
          <a:noFill/>
          <a:ln/>
        </p:spPr>
        <p:txBody>
          <a:bodyPr wrap="square" rtlCol="0" anchor="ctr"/>
          <a:lstStyle/>
          <a:p>
            <a:pPr algn="ctr" indent="0" marL="0">
              <a:buNone/>
            </a:pPr>
            <a:r>
              <a:rPr lang="en-US" sz="1000" spc="200" kern="0" dirty="0">
                <a:solidFill>
                  <a:srgbClr val="666C7A"/>
                </a:solidFill>
                <a:latin typeface="Consolas" pitchFamily="34" charset="0"/>
                <a:ea typeface="Consolas" pitchFamily="34" charset="-122"/>
                <a:cs typeface="Consolas" pitchFamily="34" charset="-120"/>
              </a:rPr>
              <a:t>THE HANDS</a:t>
            </a:r>
            <a:endParaRPr lang="en-US" sz="1000" dirty="0"/>
          </a:p>
        </p:txBody>
      </p:sp>
      <p:sp>
        <p:nvSpPr>
          <p:cNvPr id="14" name="Text 10"/>
          <p:cNvSpPr/>
          <p:nvPr/>
        </p:nvSpPr>
        <p:spPr>
          <a:xfrm>
            <a:off x="7284568" y="2788920"/>
            <a:ext cx="1051560" cy="731520"/>
          </a:xfrm>
          <a:prstGeom prst="rect">
            <a:avLst/>
          </a:prstGeom>
          <a:noFill/>
          <a:ln/>
        </p:spPr>
        <p:txBody>
          <a:bodyPr wrap="square" rtlCol="0" anchor="ctr"/>
          <a:lstStyle/>
          <a:p>
            <a:pPr algn="ctr" indent="0" marL="0">
              <a:buNone/>
            </a:pPr>
            <a:r>
              <a:rPr lang="en-US" sz="3000" b="1" dirty="0">
                <a:solidFill>
                  <a:srgbClr val="9AA1B0"/>
                </a:solidFill>
                <a:latin typeface="Arial" pitchFamily="34" charset="0"/>
                <a:ea typeface="Arial" pitchFamily="34" charset="-122"/>
                <a:cs typeface="Arial" pitchFamily="34" charset="-120"/>
              </a:rPr>
              <a:t>+</a:t>
            </a:r>
            <a:endParaRPr lang="en-US" sz="3000" dirty="0"/>
          </a:p>
        </p:txBody>
      </p:sp>
      <p:sp>
        <p:nvSpPr>
          <p:cNvPr id="15" name="Shape 11"/>
          <p:cNvSpPr/>
          <p:nvPr/>
        </p:nvSpPr>
        <p:spPr>
          <a:xfrm>
            <a:off x="8336128" y="1965960"/>
            <a:ext cx="2377440" cy="2377440"/>
          </a:xfrm>
          <a:prstGeom prst="roundRect">
            <a:avLst>
              <a:gd name="adj" fmla="val 5385"/>
            </a:avLst>
          </a:prstGeom>
          <a:solidFill>
            <a:srgbClr val="ECFDF9"/>
          </a:solidFill>
          <a:ln w="19050">
            <a:solidFill>
              <a:srgbClr val="0F9E8E"/>
            </a:solidFill>
            <a:prstDash val="solid"/>
          </a:ln>
          <a:effectLst>
            <a:outerShdw sx="100000" sy="100000" kx="0" ky="0" algn="bl" rotWithShape="0" blurRad="139700" dist="38100" dir="5400000">
              <a:srgbClr val="9AA6BC">
                <a:alpha val="28000"/>
              </a:srgbClr>
            </a:outerShdw>
          </a:effectLst>
        </p:spPr>
      </p:sp>
      <p:sp>
        <p:nvSpPr>
          <p:cNvPr id="16" name="Shape 12"/>
          <p:cNvSpPr/>
          <p:nvPr/>
        </p:nvSpPr>
        <p:spPr>
          <a:xfrm>
            <a:off x="9168232" y="2322576"/>
            <a:ext cx="713232" cy="713232"/>
          </a:xfrm>
          <a:prstGeom prst="ellipse">
            <a:avLst/>
          </a:prstGeom>
          <a:solidFill>
            <a:srgbClr val="0F9E8E"/>
          </a:solidFill>
          <a:ln/>
          <a:effectLst>
            <a:outerShdw sx="100000" sy="100000" kx="0" ky="0" algn="bl" rotWithShape="0" blurRad="139700" dist="38100" dir="5400000">
              <a:srgbClr val="9AA6BC">
                <a:alpha val="28000"/>
              </a:srgbClr>
            </a:outerShdw>
          </a:effectLst>
        </p:spPr>
      </p:sp>
      <p:pic>
        <p:nvPicPr>
          <p:cNvPr id="17" name="Image 2" descr="preencoded.png">    </p:cNvPr>
          <p:cNvPicPr>
            <a:picLocks noChangeAspect="1"/>
          </p:cNvPicPr>
          <p:nvPr/>
        </p:nvPicPr>
        <p:blipFill>
          <a:blip r:embed="rId3"/>
          <a:stretch>
            <a:fillRect/>
          </a:stretch>
        </p:blipFill>
        <p:spPr>
          <a:xfrm>
            <a:off x="9339407" y="2493752"/>
            <a:ext cx="370881" cy="370881"/>
          </a:xfrm>
          <a:prstGeom prst="rect">
            <a:avLst/>
          </a:prstGeom>
        </p:spPr>
      </p:pic>
      <p:sp>
        <p:nvSpPr>
          <p:cNvPr id="18" name="Text 13"/>
          <p:cNvSpPr/>
          <p:nvPr/>
        </p:nvSpPr>
        <p:spPr>
          <a:xfrm>
            <a:off x="8336128" y="3246120"/>
            <a:ext cx="2377440" cy="457200"/>
          </a:xfrm>
          <a:prstGeom prst="rect">
            <a:avLst/>
          </a:prstGeom>
          <a:noFill/>
          <a:ln/>
        </p:spPr>
        <p:txBody>
          <a:bodyPr wrap="square" rtlCol="0" anchor="ctr"/>
          <a:lstStyle/>
          <a:p>
            <a:pPr algn="ctr" indent="0" marL="0">
              <a:buNone/>
            </a:pPr>
            <a:r>
              <a:rPr lang="en-US" sz="2100" b="1" dirty="0">
                <a:solidFill>
                  <a:srgbClr val="16181D"/>
                </a:solidFill>
                <a:latin typeface="Arial" pitchFamily="34" charset="0"/>
                <a:ea typeface="Arial" pitchFamily="34" charset="-122"/>
                <a:cs typeface="Arial" pitchFamily="34" charset="-120"/>
              </a:rPr>
              <a:t>a loop</a:t>
            </a:r>
            <a:endParaRPr lang="en-US" sz="2100" dirty="0"/>
          </a:p>
        </p:txBody>
      </p:sp>
      <p:sp>
        <p:nvSpPr>
          <p:cNvPr id="19" name="Text 14"/>
          <p:cNvSpPr/>
          <p:nvPr/>
        </p:nvSpPr>
        <p:spPr>
          <a:xfrm>
            <a:off x="8336128" y="3721608"/>
            <a:ext cx="2377440" cy="320040"/>
          </a:xfrm>
          <a:prstGeom prst="rect">
            <a:avLst/>
          </a:prstGeom>
          <a:noFill/>
          <a:ln/>
        </p:spPr>
        <p:txBody>
          <a:bodyPr wrap="square" rtlCol="0" anchor="ctr"/>
          <a:lstStyle/>
          <a:p>
            <a:pPr algn="ctr" indent="0" marL="0">
              <a:buNone/>
            </a:pPr>
            <a:r>
              <a:rPr lang="en-US" sz="1000" spc="200" kern="0" dirty="0">
                <a:solidFill>
                  <a:srgbClr val="666C7A"/>
                </a:solidFill>
                <a:latin typeface="Consolas" pitchFamily="34" charset="0"/>
                <a:ea typeface="Consolas" pitchFamily="34" charset="-122"/>
                <a:cs typeface="Consolas" pitchFamily="34" charset="-120"/>
              </a:rPr>
              <a:t>THE MAGIC</a:t>
            </a:r>
            <a:endParaRPr lang="en-US" sz="1000" dirty="0"/>
          </a:p>
        </p:txBody>
      </p:sp>
      <p:sp>
        <p:nvSpPr>
          <p:cNvPr id="20" name="Text 15"/>
          <p:cNvSpPr/>
          <p:nvPr/>
        </p:nvSpPr>
        <p:spPr>
          <a:xfrm>
            <a:off x="2286000" y="5029200"/>
            <a:ext cx="7616952" cy="731520"/>
          </a:xfrm>
          <a:prstGeom prst="rect">
            <a:avLst/>
          </a:prstGeom>
          <a:noFill/>
          <a:ln/>
        </p:spPr>
        <p:txBody>
          <a:bodyPr wrap="square" rtlCol="0" anchor="ctr"/>
          <a:lstStyle/>
          <a:p>
            <a:pPr algn="ctr" indent="0" marL="0">
              <a:lnSpc>
                <a:spcPts val="2600"/>
              </a:lnSpc>
              <a:buNone/>
            </a:pPr>
            <a:r>
              <a:rPr lang="en-US" sz="1800" dirty="0">
                <a:solidFill>
                  <a:srgbClr val="666C7A"/>
                </a:solidFill>
                <a:latin typeface="Calibri" pitchFamily="34" charset="0"/>
                <a:ea typeface="Calibri" pitchFamily="34" charset="-122"/>
                <a:cs typeface="Calibri" pitchFamily="34" charset="-120"/>
              </a:rPr>
              <a:t>That is an agent. Everything else is decoration. The loop is where the magic actually lives.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indent="0" marL="0">
              <a:buNone/>
            </a:pPr>
            <a:r>
              <a:rPr lang="en-US" sz="1100" b="1" spc="300" kern="0" dirty="0">
                <a:solidFill>
                  <a:srgbClr val="0F9E8E"/>
                </a:solidFill>
                <a:latin typeface="Arial" pitchFamily="34" charset="0"/>
                <a:ea typeface="Arial" pitchFamily="34" charset="-122"/>
                <a:cs typeface="Arial" pitchFamily="34" charset="-120"/>
              </a:rPr>
              <a:t>THE WHOLE TRICK</a:t>
            </a:r>
            <a:endParaRPr lang="en-US" sz="1100" dirty="0"/>
          </a:p>
        </p:txBody>
      </p:sp>
      <p:sp>
        <p:nvSpPr>
          <p:cNvPr id="3" name="Text 1"/>
          <p:cNvSpPr/>
          <p:nvPr/>
        </p:nvSpPr>
        <p:spPr>
          <a:xfrm>
            <a:off x="841248" y="1554480"/>
            <a:ext cx="5120640" cy="1645920"/>
          </a:xfrm>
          <a:prstGeom prst="rect">
            <a:avLst/>
          </a:prstGeom>
          <a:noFill/>
          <a:ln/>
        </p:spPr>
        <p:txBody>
          <a:bodyPr wrap="square" rtlCol="0" anchor="ctr"/>
          <a:lstStyle/>
          <a:p>
            <a:pPr indent="0" marL="0">
              <a:lnSpc>
                <a:spcPts val="4600"/>
              </a:lnSpc>
              <a:buNone/>
            </a:pPr>
            <a:r>
              <a:rPr lang="en-US" sz="3800" b="1" dirty="0">
                <a:solidFill>
                  <a:srgbClr val="16181D"/>
                </a:solidFill>
                <a:latin typeface="Arial" pitchFamily="34" charset="0"/>
                <a:ea typeface="Arial" pitchFamily="34" charset="-122"/>
                <a:cs typeface="Arial" pitchFamily="34" charset="-120"/>
              </a:rPr>
              <a:t>Reason. Act.</a:t>
            </a:r>
            <a:endParaRPr lang="en-US" sz="3800" dirty="0"/>
          </a:p>
          <a:p>
            <a:pPr indent="0" marL="0">
              <a:lnSpc>
                <a:spcPts val="4600"/>
              </a:lnSpc>
              <a:buNone/>
            </a:pPr>
            <a:r>
              <a:rPr lang="en-US" sz="3800" b="1" dirty="0">
                <a:solidFill>
                  <a:srgbClr val="16181D"/>
                </a:solidFill>
                <a:latin typeface="Arial" pitchFamily="34" charset="0"/>
                <a:ea typeface="Arial" pitchFamily="34" charset="-122"/>
                <a:cs typeface="Arial" pitchFamily="34" charset="-120"/>
              </a:rPr>
              <a:t>Observe. </a:t>
            </a:r>
            <a:endParaRPr lang="en-US" sz="3800" dirty="0"/>
          </a:p>
          <a:p>
            <a:pPr indent="0" marL="0">
              <a:lnSpc>
                <a:spcPts val="4600"/>
              </a:lnSpc>
              <a:buNone/>
            </a:pPr>
            <a:r>
              <a:rPr lang="en-US" sz="3800" b="1" dirty="0">
                <a:solidFill>
                  <a:srgbClr val="4F46E5"/>
                </a:solidFill>
                <a:latin typeface="Arial" pitchFamily="34" charset="0"/>
                <a:ea typeface="Arial" pitchFamily="34" charset="-122"/>
                <a:cs typeface="Arial" pitchFamily="34" charset="-120"/>
              </a:rPr>
              <a:t>Again.</a:t>
            </a:r>
            <a:endParaRPr lang="en-US" sz="3800" dirty="0"/>
          </a:p>
        </p:txBody>
      </p:sp>
      <p:sp>
        <p:nvSpPr>
          <p:cNvPr id="4" name="Text 2"/>
          <p:cNvSpPr/>
          <p:nvPr/>
        </p:nvSpPr>
        <p:spPr>
          <a:xfrm>
            <a:off x="841248" y="3383280"/>
            <a:ext cx="4846320" cy="1371600"/>
          </a:xfrm>
          <a:prstGeom prst="rect">
            <a:avLst/>
          </a:prstGeom>
          <a:noFill/>
          <a:ln/>
        </p:spPr>
        <p:txBody>
          <a:bodyPr wrap="square" rtlCol="0" anchor="ctr"/>
          <a:lstStyle/>
          <a:p>
            <a:pPr indent="0" marL="0">
              <a:lnSpc>
                <a:spcPts val="2600"/>
              </a:lnSpc>
              <a:buNone/>
            </a:pPr>
            <a:r>
              <a:rPr lang="en-US" sz="1700" dirty="0">
                <a:solidFill>
                  <a:srgbClr val="666C7A"/>
                </a:solidFill>
                <a:latin typeface="Calibri" pitchFamily="34" charset="0"/>
                <a:ea typeface="Calibri" pitchFamily="34" charset="-122"/>
                <a:cs typeface="Calibri" pitchFamily="34" charset="-120"/>
              </a:rPr>
              <a:t>The model does not answer once. It works in a loop until the job is actually done, checking its own output along the way.</a:t>
            </a:r>
            <a:endParaRPr lang="en-US" sz="1700" dirty="0"/>
          </a:p>
        </p:txBody>
      </p:sp>
      <p:sp>
        <p:nvSpPr>
          <p:cNvPr id="5" name="Text 3"/>
          <p:cNvSpPr/>
          <p:nvPr/>
        </p:nvSpPr>
        <p:spPr>
          <a:xfrm>
            <a:off x="841248" y="4937760"/>
            <a:ext cx="5120640" cy="457200"/>
          </a:xfrm>
          <a:prstGeom prst="rect">
            <a:avLst/>
          </a:prstGeom>
          <a:noFill/>
          <a:ln/>
        </p:spPr>
        <p:txBody>
          <a:bodyPr wrap="square" rtlCol="0" anchor="ctr"/>
          <a:lstStyle/>
          <a:p>
            <a:pPr indent="0" marL="0">
              <a:buNone/>
            </a:pPr>
            <a:r>
              <a:rPr lang="en-US" sz="1200" dirty="0">
                <a:solidFill>
                  <a:srgbClr val="9AA1B0"/>
                </a:solidFill>
                <a:latin typeface="Consolas" pitchFamily="34" charset="0"/>
                <a:ea typeface="Consolas" pitchFamily="34" charset="-122"/>
                <a:cs typeface="Consolas" pitchFamily="34" charset="-120"/>
              </a:rPr>
              <a:t>Take away the loop and you are back to a chatbot.</a:t>
            </a:r>
            <a:endParaRPr lang="en-US" sz="1200" dirty="0"/>
          </a:p>
        </p:txBody>
      </p:sp>
      <p:sp>
        <p:nvSpPr>
          <p:cNvPr id="6" name="Shape 4"/>
          <p:cNvSpPr/>
          <p:nvPr/>
        </p:nvSpPr>
        <p:spPr>
          <a:xfrm>
            <a:off x="8869680" y="2103120"/>
            <a:ext cx="1312621" cy="2263140"/>
          </a:xfrm>
          <a:prstGeom prst="line">
            <a:avLst/>
          </a:prstGeom>
          <a:noFill/>
          <a:ln w="25400">
            <a:solidFill>
              <a:srgbClr val="C7CBD6"/>
            </a:solidFill>
            <a:prstDash val="solid"/>
            <a:tailEnd type="triangle"/>
          </a:ln>
        </p:spPr>
      </p:sp>
      <p:sp>
        <p:nvSpPr>
          <p:cNvPr id="7" name="Shape 5"/>
          <p:cNvSpPr/>
          <p:nvPr/>
        </p:nvSpPr>
        <p:spPr>
          <a:xfrm flipH="1">
            <a:off x="7557059" y="4366260"/>
            <a:ext cx="2625242" cy="0"/>
          </a:xfrm>
          <a:prstGeom prst="line">
            <a:avLst/>
          </a:prstGeom>
          <a:noFill/>
          <a:ln w="25400">
            <a:solidFill>
              <a:srgbClr val="C7CBD6"/>
            </a:solidFill>
            <a:prstDash val="solid"/>
            <a:tailEnd type="triangle"/>
          </a:ln>
        </p:spPr>
      </p:sp>
      <p:sp>
        <p:nvSpPr>
          <p:cNvPr id="8" name="Shape 6"/>
          <p:cNvSpPr/>
          <p:nvPr/>
        </p:nvSpPr>
        <p:spPr>
          <a:xfrm flipV="1">
            <a:off x="7557059" y="2103120"/>
            <a:ext cx="1312621" cy="2263140"/>
          </a:xfrm>
          <a:prstGeom prst="line">
            <a:avLst/>
          </a:prstGeom>
          <a:noFill/>
          <a:ln w="25400">
            <a:solidFill>
              <a:srgbClr val="C7CBD6"/>
            </a:solidFill>
            <a:prstDash val="solid"/>
            <a:tailEnd type="triangle"/>
          </a:ln>
        </p:spPr>
      </p:sp>
      <p:sp>
        <p:nvSpPr>
          <p:cNvPr id="9" name="Shape 7"/>
          <p:cNvSpPr/>
          <p:nvPr/>
        </p:nvSpPr>
        <p:spPr>
          <a:xfrm>
            <a:off x="8641080" y="1874520"/>
            <a:ext cx="457200" cy="457200"/>
          </a:xfrm>
          <a:prstGeom prst="ellipse">
            <a:avLst/>
          </a:prstGeom>
          <a:solidFill>
            <a:srgbClr val="0F9E8E"/>
          </a:solidFill>
          <a:ln/>
          <a:effectLst>
            <a:outerShdw sx="100000" sy="100000" kx="0" ky="0" algn="bl" rotWithShape="0" blurRad="139700" dist="38100" dir="5400000">
              <a:srgbClr val="9AA6BC">
                <a:alpha val="28000"/>
              </a:srgbClr>
            </a:outerShdw>
          </a:effectLst>
        </p:spPr>
      </p:sp>
      <p:pic>
        <p:nvPicPr>
          <p:cNvPr id="10" name="Image 0" descr="preencoded.png">    </p:cNvPr>
          <p:cNvPicPr>
            <a:picLocks noChangeAspect="1"/>
          </p:cNvPicPr>
          <p:nvPr/>
        </p:nvPicPr>
        <p:blipFill>
          <a:blip r:embed="rId1"/>
          <a:stretch>
            <a:fillRect/>
          </a:stretch>
        </p:blipFill>
        <p:spPr>
          <a:xfrm>
            <a:off x="8750808" y="1984248"/>
            <a:ext cx="237744" cy="237744"/>
          </a:xfrm>
          <a:prstGeom prst="rect">
            <a:avLst/>
          </a:prstGeom>
        </p:spPr>
      </p:pic>
      <p:sp>
        <p:nvSpPr>
          <p:cNvPr id="11" name="Shape 8"/>
          <p:cNvSpPr/>
          <p:nvPr/>
        </p:nvSpPr>
        <p:spPr>
          <a:xfrm>
            <a:off x="9953701" y="4137660"/>
            <a:ext cx="457200" cy="457200"/>
          </a:xfrm>
          <a:prstGeom prst="ellipse">
            <a:avLst/>
          </a:prstGeom>
          <a:solidFill>
            <a:srgbClr val="7C3AED"/>
          </a:solidFill>
          <a:ln/>
          <a:effectLst>
            <a:outerShdw sx="100000" sy="100000" kx="0" ky="0" algn="bl" rotWithShape="0" blurRad="139700" dist="38100" dir="5400000">
              <a:srgbClr val="9AA6BC">
                <a:alpha val="28000"/>
              </a:srgbClr>
            </a:outerShdw>
          </a:effectLst>
        </p:spPr>
      </p:sp>
      <p:pic>
        <p:nvPicPr>
          <p:cNvPr id="12" name="Image 1" descr="preencoded.png">    </p:cNvPr>
          <p:cNvPicPr>
            <a:picLocks noChangeAspect="1"/>
          </p:cNvPicPr>
          <p:nvPr/>
        </p:nvPicPr>
        <p:blipFill>
          <a:blip r:embed="rId2"/>
          <a:stretch>
            <a:fillRect/>
          </a:stretch>
        </p:blipFill>
        <p:spPr>
          <a:xfrm>
            <a:off x="10063429" y="4247388"/>
            <a:ext cx="237744" cy="237744"/>
          </a:xfrm>
          <a:prstGeom prst="rect">
            <a:avLst/>
          </a:prstGeom>
        </p:spPr>
      </p:pic>
      <p:sp>
        <p:nvSpPr>
          <p:cNvPr id="13" name="Shape 9"/>
          <p:cNvSpPr/>
          <p:nvPr/>
        </p:nvSpPr>
        <p:spPr>
          <a:xfrm>
            <a:off x="7328459" y="4137660"/>
            <a:ext cx="457200" cy="457200"/>
          </a:xfrm>
          <a:prstGeom prst="ellipse">
            <a:avLst/>
          </a:prstGeom>
          <a:solidFill>
            <a:srgbClr val="D97706"/>
          </a:solidFill>
          <a:ln/>
          <a:effectLst>
            <a:outerShdw sx="100000" sy="100000" kx="0" ky="0" algn="bl" rotWithShape="0" blurRad="139700" dist="38100" dir="5400000">
              <a:srgbClr val="9AA6BC">
                <a:alpha val="28000"/>
              </a:srgbClr>
            </a:outerShdw>
          </a:effectLst>
        </p:spPr>
      </p:sp>
      <p:pic>
        <p:nvPicPr>
          <p:cNvPr id="14" name="Image 2" descr="preencoded.png">    </p:cNvPr>
          <p:cNvPicPr>
            <a:picLocks noChangeAspect="1"/>
          </p:cNvPicPr>
          <p:nvPr/>
        </p:nvPicPr>
        <p:blipFill>
          <a:blip r:embed="rId3"/>
          <a:stretch>
            <a:fillRect/>
          </a:stretch>
        </p:blipFill>
        <p:spPr>
          <a:xfrm>
            <a:off x="7438187" y="4247388"/>
            <a:ext cx="237744" cy="237744"/>
          </a:xfrm>
          <a:prstGeom prst="rect">
            <a:avLst/>
          </a:prstGeom>
        </p:spPr>
      </p:pic>
      <p:sp>
        <p:nvSpPr>
          <p:cNvPr id="15" name="Text 10"/>
          <p:cNvSpPr/>
          <p:nvPr/>
        </p:nvSpPr>
        <p:spPr>
          <a:xfrm>
            <a:off x="7955280" y="1554480"/>
            <a:ext cx="1828800" cy="274320"/>
          </a:xfrm>
          <a:prstGeom prst="rect">
            <a:avLst/>
          </a:prstGeom>
          <a:noFill/>
          <a:ln/>
        </p:spPr>
        <p:txBody>
          <a:bodyPr wrap="square" rtlCol="0" anchor="ctr"/>
          <a:lstStyle/>
          <a:p>
            <a:pPr algn="ctr" indent="0" marL="0">
              <a:buNone/>
            </a:pPr>
            <a:r>
              <a:rPr lang="en-US" sz="1100" spc="100" kern="0" dirty="0">
                <a:solidFill>
                  <a:srgbClr val="16181D"/>
                </a:solidFill>
                <a:latin typeface="Consolas" pitchFamily="34" charset="0"/>
                <a:ea typeface="Consolas" pitchFamily="34" charset="-122"/>
                <a:cs typeface="Consolas" pitchFamily="34" charset="-120"/>
              </a:rPr>
              <a:t>REASON</a:t>
            </a:r>
            <a:endParaRPr lang="en-US" sz="1100" dirty="0"/>
          </a:p>
        </p:txBody>
      </p:sp>
      <p:sp>
        <p:nvSpPr>
          <p:cNvPr id="16" name="Text 11"/>
          <p:cNvSpPr/>
          <p:nvPr/>
        </p:nvSpPr>
        <p:spPr>
          <a:xfrm>
            <a:off x="10502341" y="4238244"/>
            <a:ext cx="1280160" cy="274320"/>
          </a:xfrm>
          <a:prstGeom prst="rect">
            <a:avLst/>
          </a:prstGeom>
          <a:noFill/>
          <a:ln/>
        </p:spPr>
        <p:txBody>
          <a:bodyPr wrap="square" rtlCol="0" anchor="ctr"/>
          <a:lstStyle/>
          <a:p>
            <a:pPr indent="0" marL="0">
              <a:buNone/>
            </a:pPr>
            <a:r>
              <a:rPr lang="en-US" sz="1100" spc="100" kern="0" dirty="0">
                <a:solidFill>
                  <a:srgbClr val="16181D"/>
                </a:solidFill>
                <a:latin typeface="Consolas" pitchFamily="34" charset="0"/>
                <a:ea typeface="Consolas" pitchFamily="34" charset="-122"/>
                <a:cs typeface="Consolas" pitchFamily="34" charset="-120"/>
              </a:rPr>
              <a:t>ACT</a:t>
            </a:r>
            <a:endParaRPr lang="en-US" sz="1100" dirty="0"/>
          </a:p>
        </p:txBody>
      </p:sp>
      <p:sp>
        <p:nvSpPr>
          <p:cNvPr id="17" name="Text 12"/>
          <p:cNvSpPr/>
          <p:nvPr/>
        </p:nvSpPr>
        <p:spPr>
          <a:xfrm>
            <a:off x="5956859" y="4238244"/>
            <a:ext cx="1280160" cy="274320"/>
          </a:xfrm>
          <a:prstGeom prst="rect">
            <a:avLst/>
          </a:prstGeom>
          <a:noFill/>
          <a:ln/>
        </p:spPr>
        <p:txBody>
          <a:bodyPr wrap="square" rtlCol="0" anchor="ctr"/>
          <a:lstStyle/>
          <a:p>
            <a:pPr algn="r" indent="0" marL="0">
              <a:buNone/>
            </a:pPr>
            <a:r>
              <a:rPr lang="en-US" sz="1100" spc="100" kern="0" dirty="0">
                <a:solidFill>
                  <a:srgbClr val="16181D"/>
                </a:solidFill>
                <a:latin typeface="Consolas" pitchFamily="34" charset="0"/>
                <a:ea typeface="Consolas" pitchFamily="34" charset="-122"/>
                <a:cs typeface="Consolas" pitchFamily="34" charset="-120"/>
              </a:rPr>
              <a:t>OBSERVE</a:t>
            </a:r>
            <a:endParaRPr lang="en-US" sz="1100" dirty="0"/>
          </a:p>
        </p:txBody>
      </p:sp>
      <p:sp>
        <p:nvSpPr>
          <p:cNvPr id="18" name="Text 13"/>
          <p:cNvSpPr/>
          <p:nvPr/>
        </p:nvSpPr>
        <p:spPr>
          <a:xfrm>
            <a:off x="8229600" y="3474720"/>
            <a:ext cx="1280160" cy="274320"/>
          </a:xfrm>
          <a:prstGeom prst="rect">
            <a:avLst/>
          </a:prstGeom>
          <a:noFill/>
          <a:ln/>
        </p:spPr>
        <p:txBody>
          <a:bodyPr wrap="square" rtlCol="0" anchor="ctr"/>
          <a:lstStyle/>
          <a:p>
            <a:pPr algn="ctr" indent="0" marL="0">
              <a:buNone/>
            </a:pPr>
            <a:r>
              <a:rPr lang="en-US" sz="1000" dirty="0">
                <a:solidFill>
                  <a:srgbClr val="9AA1B0"/>
                </a:solidFill>
                <a:latin typeface="Consolas" pitchFamily="34" charset="0"/>
                <a:ea typeface="Consolas" pitchFamily="34" charset="-122"/>
                <a:cs typeface="Consolas" pitchFamily="34" charset="-120"/>
              </a:rPr>
              <a:t>done?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138160" y="2743200"/>
            <a:ext cx="4023360" cy="4023360"/>
          </a:xfrm>
          <a:prstGeom prst="rect">
            <a:avLst/>
          </a:prstGeom>
        </p:spPr>
      </p:pic>
      <p:sp>
        <p:nvSpPr>
          <p:cNvPr id="3" name="Text 0"/>
          <p:cNvSpPr/>
          <p:nvPr/>
        </p:nvSpPr>
        <p:spPr>
          <a:xfrm>
            <a:off x="841248" y="1143000"/>
            <a:ext cx="3657600" cy="1463040"/>
          </a:xfrm>
          <a:prstGeom prst="rect">
            <a:avLst/>
          </a:prstGeom>
          <a:noFill/>
          <a:ln/>
        </p:spPr>
        <p:txBody>
          <a:bodyPr wrap="square" rtlCol="0" anchor="ctr"/>
          <a:lstStyle/>
          <a:p>
            <a:pPr indent="0" marL="0">
              <a:buNone/>
            </a:pPr>
            <a:r>
              <a:rPr lang="en-US" sz="9200" b="1" dirty="0">
                <a:solidFill>
                  <a:srgbClr val="E1E5EC"/>
                </a:solidFill>
                <a:latin typeface="Arial" pitchFamily="34" charset="0"/>
                <a:ea typeface="Arial" pitchFamily="34" charset="-122"/>
                <a:cs typeface="Arial" pitchFamily="34" charset="-120"/>
              </a:rPr>
              <a:t>iii</a:t>
            </a:r>
            <a:endParaRPr lang="en-US" sz="9200" dirty="0"/>
          </a:p>
        </p:txBody>
      </p:sp>
      <p:sp>
        <p:nvSpPr>
          <p:cNvPr id="4" name="Text 1"/>
          <p:cNvSpPr/>
          <p:nvPr/>
        </p:nvSpPr>
        <p:spPr>
          <a:xfrm>
            <a:off x="841248" y="2788920"/>
            <a:ext cx="9144000" cy="292608"/>
          </a:xfrm>
          <a:prstGeom prst="rect">
            <a:avLst/>
          </a:prstGeom>
          <a:noFill/>
          <a:ln/>
        </p:spPr>
        <p:txBody>
          <a:bodyPr wrap="square" rtlCol="0" anchor="ctr"/>
          <a:lstStyle/>
          <a:p>
            <a:pPr indent="0" marL="0">
              <a:buNone/>
            </a:pPr>
            <a:r>
              <a:rPr lang="en-US" sz="1100" b="1" spc="300" kern="0" dirty="0">
                <a:solidFill>
                  <a:srgbClr val="0284C7"/>
                </a:solidFill>
                <a:latin typeface="Arial" pitchFamily="34" charset="0"/>
                <a:ea typeface="Arial" pitchFamily="34" charset="-122"/>
                <a:cs typeface="Arial" pitchFamily="34" charset="-120"/>
              </a:rPr>
              <a:t>ACT THREE</a:t>
            </a:r>
            <a:endParaRPr lang="en-US" sz="1100" dirty="0"/>
          </a:p>
        </p:txBody>
      </p:sp>
      <p:sp>
        <p:nvSpPr>
          <p:cNvPr id="5" name="Text 2"/>
          <p:cNvSpPr/>
          <p:nvPr/>
        </p:nvSpPr>
        <p:spPr>
          <a:xfrm>
            <a:off x="841248" y="3154680"/>
            <a:ext cx="8229600" cy="1463040"/>
          </a:xfrm>
          <a:prstGeom prst="rect">
            <a:avLst/>
          </a:prstGeom>
          <a:noFill/>
          <a:ln/>
        </p:spPr>
        <p:txBody>
          <a:bodyPr wrap="square" rtlCol="0" anchor="ctr"/>
          <a:lstStyle/>
          <a:p>
            <a:pPr indent="0" marL="0">
              <a:lnSpc>
                <a:spcPts val="5000"/>
              </a:lnSpc>
              <a:buNone/>
            </a:pPr>
            <a:r>
              <a:rPr lang="en-US" sz="5000" b="1" dirty="0">
                <a:solidFill>
                  <a:srgbClr val="16181D"/>
                </a:solidFill>
                <a:latin typeface="Arial" pitchFamily="34" charset="0"/>
                <a:ea typeface="Arial" pitchFamily="34" charset="-122"/>
                <a:cs typeface="Arial" pitchFamily="34" charset="-120"/>
              </a:rPr>
              <a:t>The Infrastructure</a:t>
            </a:r>
            <a:endParaRPr lang="en-US" sz="5000" dirty="0"/>
          </a:p>
        </p:txBody>
      </p:sp>
      <p:sp>
        <p:nvSpPr>
          <p:cNvPr id="6" name="Text 3"/>
          <p:cNvSpPr/>
          <p:nvPr/>
        </p:nvSpPr>
        <p:spPr>
          <a:xfrm>
            <a:off x="841248" y="4617720"/>
            <a:ext cx="6949440" cy="822960"/>
          </a:xfrm>
          <a:prstGeom prst="rect">
            <a:avLst/>
          </a:prstGeom>
          <a:noFill/>
          <a:ln/>
        </p:spPr>
        <p:txBody>
          <a:bodyPr wrap="square" rtlCol="0" anchor="ctr"/>
          <a:lstStyle/>
          <a:p>
            <a:pPr indent="0" marL="0">
              <a:lnSpc>
                <a:spcPts val="2500"/>
              </a:lnSpc>
              <a:buNone/>
            </a:pPr>
            <a:r>
              <a:rPr lang="en-US" sz="1700" dirty="0">
                <a:solidFill>
                  <a:srgbClr val="666C7A"/>
                </a:solidFill>
                <a:latin typeface="Calibri" pitchFamily="34" charset="0"/>
                <a:ea typeface="Calibri" pitchFamily="34" charset="-122"/>
                <a:cs typeface="Calibri" pitchFamily="34" charset="-120"/>
              </a:rPr>
              <a:t>What you actually need underneath, and why the JVM is a great place to put it.</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indent="0" marL="0">
              <a:buNone/>
            </a:pPr>
            <a:r>
              <a:rPr lang="en-US" sz="1100" b="1" spc="300" kern="0" dirty="0">
                <a:solidFill>
                  <a:srgbClr val="4F46E5"/>
                </a:solidFill>
                <a:latin typeface="Arial" pitchFamily="34" charset="0"/>
                <a:ea typeface="Arial" pitchFamily="34" charset="-122"/>
                <a:cs typeface="Arial" pitchFamily="34" charset="-120"/>
              </a:rPr>
              <a:t>THE ANATOMY</a:t>
            </a:r>
            <a:endParaRPr lang="en-US" sz="1100" dirty="0"/>
          </a:p>
        </p:txBody>
      </p:sp>
      <p:sp>
        <p:nvSpPr>
          <p:cNvPr id="3" name="Text 1"/>
          <p:cNvSpPr/>
          <p:nvPr/>
        </p:nvSpPr>
        <p:spPr>
          <a:xfrm>
            <a:off x="841248" y="1051560"/>
            <a:ext cx="10058400" cy="914400"/>
          </a:xfrm>
          <a:prstGeom prst="rect">
            <a:avLst/>
          </a:prstGeom>
          <a:noFill/>
          <a:ln/>
        </p:spPr>
        <p:txBody>
          <a:bodyPr wrap="square" rtlCol="0" anchor="ctr"/>
          <a:lstStyle/>
          <a:p>
            <a:pPr indent="0" marL="0">
              <a:buNone/>
            </a:pPr>
            <a:r>
              <a:rPr lang="en-US" sz="3200" b="1" dirty="0">
                <a:solidFill>
                  <a:srgbClr val="16181D"/>
                </a:solidFill>
                <a:latin typeface="Arial" pitchFamily="34" charset="0"/>
                <a:ea typeface="Arial" pitchFamily="34" charset="-122"/>
                <a:cs typeface="Arial" pitchFamily="34" charset="-120"/>
              </a:rPr>
              <a:t>Five layers under every </a:t>
            </a:r>
            <a:pPr indent="0" marL="0">
              <a:buNone/>
            </a:pPr>
            <a:r>
              <a:rPr lang="en-US" sz="3200" b="1" dirty="0">
                <a:solidFill>
                  <a:srgbClr val="4F46E5"/>
                </a:solidFill>
                <a:latin typeface="Arial" pitchFamily="34" charset="0"/>
                <a:ea typeface="Arial" pitchFamily="34" charset="-122"/>
                <a:cs typeface="Arial" pitchFamily="34" charset="-120"/>
              </a:rPr>
              <a:t>agent.</a:t>
            </a:r>
            <a:endParaRPr lang="en-US" sz="3200" dirty="0"/>
          </a:p>
        </p:txBody>
      </p:sp>
      <p:sp>
        <p:nvSpPr>
          <p:cNvPr id="4" name="Shape 2"/>
          <p:cNvSpPr/>
          <p:nvPr/>
        </p:nvSpPr>
        <p:spPr>
          <a:xfrm>
            <a:off x="841248" y="2221992"/>
            <a:ext cx="457200" cy="457200"/>
          </a:xfrm>
          <a:prstGeom prst="ellipse">
            <a:avLst/>
          </a:prstGeom>
          <a:solidFill>
            <a:srgbClr val="0284C7"/>
          </a:solidFill>
          <a:ln/>
          <a:effectLst>
            <a:outerShdw sx="100000" sy="100000" kx="0" ky="0" algn="bl" rotWithShape="0" blurRad="139700" dist="38100" dir="5400000">
              <a:srgbClr val="9AA6BC">
                <a:alpha val="28000"/>
              </a:srgbClr>
            </a:outerShdw>
          </a:effectLst>
        </p:spPr>
      </p:sp>
      <p:pic>
        <p:nvPicPr>
          <p:cNvPr id="5" name="Image 0" descr="preencoded.png">    </p:cNvPr>
          <p:cNvPicPr>
            <a:picLocks noChangeAspect="1"/>
          </p:cNvPicPr>
          <p:nvPr/>
        </p:nvPicPr>
        <p:blipFill>
          <a:blip r:embed="rId1"/>
          <a:stretch>
            <a:fillRect/>
          </a:stretch>
        </p:blipFill>
        <p:spPr>
          <a:xfrm>
            <a:off x="950976" y="2331720"/>
            <a:ext cx="237744" cy="237744"/>
          </a:xfrm>
          <a:prstGeom prst="rect">
            <a:avLst/>
          </a:prstGeom>
        </p:spPr>
      </p:pic>
      <p:sp>
        <p:nvSpPr>
          <p:cNvPr id="6" name="Text 3"/>
          <p:cNvSpPr/>
          <p:nvPr/>
        </p:nvSpPr>
        <p:spPr>
          <a:xfrm>
            <a:off x="1499616" y="2286000"/>
            <a:ext cx="2377440" cy="365760"/>
          </a:xfrm>
          <a:prstGeom prst="rect">
            <a:avLst/>
          </a:prstGeom>
          <a:noFill/>
          <a:ln/>
        </p:spPr>
        <p:txBody>
          <a:bodyPr wrap="square" rtlCol="0" anchor="ctr"/>
          <a:lstStyle/>
          <a:p>
            <a:pPr indent="0" marL="0">
              <a:buNone/>
            </a:pPr>
            <a:r>
              <a:rPr lang="en-US" sz="1200" spc="150" kern="0" dirty="0">
                <a:solidFill>
                  <a:srgbClr val="666C7A"/>
                </a:solidFill>
                <a:latin typeface="Consolas" pitchFamily="34" charset="0"/>
                <a:ea typeface="Consolas" pitchFamily="34" charset="-122"/>
                <a:cs typeface="Consolas" pitchFamily="34" charset="-120"/>
              </a:rPr>
              <a:t>runtime</a:t>
            </a:r>
            <a:endParaRPr lang="en-US" sz="1200" dirty="0"/>
          </a:p>
        </p:txBody>
      </p:sp>
      <p:sp>
        <p:nvSpPr>
          <p:cNvPr id="7" name="Text 4"/>
          <p:cNvSpPr/>
          <p:nvPr/>
        </p:nvSpPr>
        <p:spPr>
          <a:xfrm>
            <a:off x="4023360" y="2286000"/>
            <a:ext cx="7315200" cy="365760"/>
          </a:xfrm>
          <a:prstGeom prst="rect">
            <a:avLst/>
          </a:prstGeom>
          <a:noFill/>
          <a:ln/>
        </p:spPr>
        <p:txBody>
          <a:bodyPr wrap="square" rtlCol="0" anchor="ctr"/>
          <a:lstStyle/>
          <a:p>
            <a:pPr indent="0" marL="0">
              <a:buNone/>
            </a:pPr>
            <a:r>
              <a:rPr lang="en-US" sz="1650" b="1" dirty="0">
                <a:solidFill>
                  <a:srgbClr val="16181D"/>
                </a:solidFill>
                <a:latin typeface="Calibri" pitchFamily="34" charset="0"/>
                <a:ea typeface="Calibri" pitchFamily="34" charset="-122"/>
                <a:cs typeface="Calibri" pitchFamily="34" charset="-120"/>
              </a:rPr>
              <a:t>The model host. </a:t>
            </a:r>
            <a:pPr indent="0" marL="0">
              <a:buNone/>
            </a:pPr>
            <a:r>
              <a:rPr lang="en-US" sz="1650" dirty="0">
                <a:solidFill>
                  <a:srgbClr val="666C7A"/>
                </a:solidFill>
                <a:latin typeface="Calibri" pitchFamily="34" charset="0"/>
                <a:ea typeface="Calibri" pitchFamily="34" charset="-122"/>
                <a:cs typeface="Calibri" pitchFamily="34" charset="-120"/>
              </a:rPr>
              <a:t>Ollama, running Qwen on your machine.</a:t>
            </a:r>
            <a:endParaRPr lang="en-US" sz="1650" dirty="0"/>
          </a:p>
        </p:txBody>
      </p:sp>
      <p:sp>
        <p:nvSpPr>
          <p:cNvPr id="8" name="Shape 5"/>
          <p:cNvSpPr/>
          <p:nvPr/>
        </p:nvSpPr>
        <p:spPr>
          <a:xfrm>
            <a:off x="841248" y="2990088"/>
            <a:ext cx="457200" cy="457200"/>
          </a:xfrm>
          <a:prstGeom prst="ellipse">
            <a:avLst/>
          </a:prstGeom>
          <a:solidFill>
            <a:srgbClr val="7C3AED"/>
          </a:solidFill>
          <a:ln/>
          <a:effectLst>
            <a:outerShdw sx="100000" sy="100000" kx="0" ky="0" algn="bl" rotWithShape="0" blurRad="139700" dist="38100" dir="5400000">
              <a:srgbClr val="9AA6BC">
                <a:alpha val="28000"/>
              </a:srgbClr>
            </a:outerShdw>
          </a:effectLst>
        </p:spPr>
      </p:sp>
      <p:pic>
        <p:nvPicPr>
          <p:cNvPr id="9" name="Image 1" descr="preencoded.png">    </p:cNvPr>
          <p:cNvPicPr>
            <a:picLocks noChangeAspect="1"/>
          </p:cNvPicPr>
          <p:nvPr/>
        </p:nvPicPr>
        <p:blipFill>
          <a:blip r:embed="rId2"/>
          <a:stretch>
            <a:fillRect/>
          </a:stretch>
        </p:blipFill>
        <p:spPr>
          <a:xfrm>
            <a:off x="950976" y="3099816"/>
            <a:ext cx="237744" cy="237744"/>
          </a:xfrm>
          <a:prstGeom prst="rect">
            <a:avLst/>
          </a:prstGeom>
        </p:spPr>
      </p:pic>
      <p:sp>
        <p:nvSpPr>
          <p:cNvPr id="10" name="Text 6"/>
          <p:cNvSpPr/>
          <p:nvPr/>
        </p:nvSpPr>
        <p:spPr>
          <a:xfrm>
            <a:off x="1499616" y="3054096"/>
            <a:ext cx="2377440" cy="365760"/>
          </a:xfrm>
          <a:prstGeom prst="rect">
            <a:avLst/>
          </a:prstGeom>
          <a:noFill/>
          <a:ln/>
        </p:spPr>
        <p:txBody>
          <a:bodyPr wrap="square" rtlCol="0" anchor="ctr"/>
          <a:lstStyle/>
          <a:p>
            <a:pPr indent="0" marL="0">
              <a:buNone/>
            </a:pPr>
            <a:r>
              <a:rPr lang="en-US" sz="1200" spc="150" kern="0" dirty="0">
                <a:solidFill>
                  <a:srgbClr val="666C7A"/>
                </a:solidFill>
                <a:latin typeface="Consolas" pitchFamily="34" charset="0"/>
                <a:ea typeface="Consolas" pitchFamily="34" charset="-122"/>
                <a:cs typeface="Consolas" pitchFamily="34" charset="-120"/>
              </a:rPr>
              <a:t>orchestration</a:t>
            </a:r>
            <a:endParaRPr lang="en-US" sz="1200" dirty="0"/>
          </a:p>
        </p:txBody>
      </p:sp>
      <p:sp>
        <p:nvSpPr>
          <p:cNvPr id="11" name="Text 7"/>
          <p:cNvSpPr/>
          <p:nvPr/>
        </p:nvSpPr>
        <p:spPr>
          <a:xfrm>
            <a:off x="4023360" y="3054096"/>
            <a:ext cx="7315200" cy="365760"/>
          </a:xfrm>
          <a:prstGeom prst="rect">
            <a:avLst/>
          </a:prstGeom>
          <a:noFill/>
          <a:ln/>
        </p:spPr>
        <p:txBody>
          <a:bodyPr wrap="square" rtlCol="0" anchor="ctr"/>
          <a:lstStyle/>
          <a:p>
            <a:pPr indent="0" marL="0">
              <a:buNone/>
            </a:pPr>
            <a:r>
              <a:rPr lang="en-US" sz="1650" b="1" dirty="0">
                <a:solidFill>
                  <a:srgbClr val="16181D"/>
                </a:solidFill>
                <a:latin typeface="Calibri" pitchFamily="34" charset="0"/>
                <a:ea typeface="Calibri" pitchFamily="34" charset="-122"/>
                <a:cs typeface="Calibri" pitchFamily="34" charset="-120"/>
              </a:rPr>
              <a:t>The loop and wiring. </a:t>
            </a:r>
            <a:pPr indent="0" marL="0">
              <a:buNone/>
            </a:pPr>
            <a:r>
              <a:rPr lang="en-US" sz="1650" dirty="0">
                <a:solidFill>
                  <a:srgbClr val="666C7A"/>
                </a:solidFill>
                <a:latin typeface="Calibri" pitchFamily="34" charset="0"/>
                <a:ea typeface="Calibri" pitchFamily="34" charset="-122"/>
                <a:cs typeface="Calibri" pitchFamily="34" charset="-120"/>
              </a:rPr>
              <a:t>LangChain4j or Spring AI.</a:t>
            </a:r>
            <a:endParaRPr lang="en-US" sz="1650" dirty="0"/>
          </a:p>
        </p:txBody>
      </p:sp>
      <p:sp>
        <p:nvSpPr>
          <p:cNvPr id="12" name="Shape 8"/>
          <p:cNvSpPr/>
          <p:nvPr/>
        </p:nvSpPr>
        <p:spPr>
          <a:xfrm>
            <a:off x="841248" y="3758184"/>
            <a:ext cx="457200" cy="457200"/>
          </a:xfrm>
          <a:prstGeom prst="ellipse">
            <a:avLst/>
          </a:prstGeom>
          <a:solidFill>
            <a:srgbClr val="0F9E8E"/>
          </a:solidFill>
          <a:ln/>
          <a:effectLst>
            <a:outerShdw sx="100000" sy="100000" kx="0" ky="0" algn="bl" rotWithShape="0" blurRad="139700" dist="38100" dir="5400000">
              <a:srgbClr val="9AA6BC">
                <a:alpha val="28000"/>
              </a:srgbClr>
            </a:outerShdw>
          </a:effectLst>
        </p:spPr>
      </p:sp>
      <p:pic>
        <p:nvPicPr>
          <p:cNvPr id="13" name="Image 2" descr="preencoded.png">    </p:cNvPr>
          <p:cNvPicPr>
            <a:picLocks noChangeAspect="1"/>
          </p:cNvPicPr>
          <p:nvPr/>
        </p:nvPicPr>
        <p:blipFill>
          <a:blip r:embed="rId3"/>
          <a:stretch>
            <a:fillRect/>
          </a:stretch>
        </p:blipFill>
        <p:spPr>
          <a:xfrm>
            <a:off x="950976" y="3867912"/>
            <a:ext cx="237744" cy="237744"/>
          </a:xfrm>
          <a:prstGeom prst="rect">
            <a:avLst/>
          </a:prstGeom>
        </p:spPr>
      </p:pic>
      <p:sp>
        <p:nvSpPr>
          <p:cNvPr id="14" name="Text 9"/>
          <p:cNvSpPr/>
          <p:nvPr/>
        </p:nvSpPr>
        <p:spPr>
          <a:xfrm>
            <a:off x="1499616" y="3822192"/>
            <a:ext cx="2377440" cy="365760"/>
          </a:xfrm>
          <a:prstGeom prst="rect">
            <a:avLst/>
          </a:prstGeom>
          <a:noFill/>
          <a:ln/>
        </p:spPr>
        <p:txBody>
          <a:bodyPr wrap="square" rtlCol="0" anchor="ctr"/>
          <a:lstStyle/>
          <a:p>
            <a:pPr indent="0" marL="0">
              <a:buNone/>
            </a:pPr>
            <a:r>
              <a:rPr lang="en-US" sz="1200" spc="150" kern="0" dirty="0">
                <a:solidFill>
                  <a:srgbClr val="666C7A"/>
                </a:solidFill>
                <a:latin typeface="Consolas" pitchFamily="34" charset="0"/>
                <a:ea typeface="Consolas" pitchFamily="34" charset="-122"/>
                <a:cs typeface="Consolas" pitchFamily="34" charset="-120"/>
              </a:rPr>
              <a:t>tools</a:t>
            </a:r>
            <a:endParaRPr lang="en-US" sz="1200" dirty="0"/>
          </a:p>
        </p:txBody>
      </p:sp>
      <p:sp>
        <p:nvSpPr>
          <p:cNvPr id="15" name="Text 10"/>
          <p:cNvSpPr/>
          <p:nvPr/>
        </p:nvSpPr>
        <p:spPr>
          <a:xfrm>
            <a:off x="4023360" y="3822192"/>
            <a:ext cx="7315200" cy="365760"/>
          </a:xfrm>
          <a:prstGeom prst="rect">
            <a:avLst/>
          </a:prstGeom>
          <a:noFill/>
          <a:ln/>
        </p:spPr>
        <p:txBody>
          <a:bodyPr wrap="square" rtlCol="0" anchor="ctr"/>
          <a:lstStyle/>
          <a:p>
            <a:pPr indent="0" marL="0">
              <a:buNone/>
            </a:pPr>
            <a:r>
              <a:rPr lang="en-US" sz="1650" b="1" dirty="0">
                <a:solidFill>
                  <a:srgbClr val="16181D"/>
                </a:solidFill>
                <a:latin typeface="Calibri" pitchFamily="34" charset="0"/>
                <a:ea typeface="Calibri" pitchFamily="34" charset="-122"/>
                <a:cs typeface="Calibri" pitchFamily="34" charset="-120"/>
              </a:rPr>
              <a:t>The hands. </a:t>
            </a:r>
            <a:pPr indent="0" marL="0">
              <a:buNone/>
            </a:pPr>
            <a:r>
              <a:rPr lang="en-US" sz="1650" dirty="0">
                <a:solidFill>
                  <a:srgbClr val="666C7A"/>
                </a:solidFill>
                <a:latin typeface="Calibri" pitchFamily="34" charset="0"/>
                <a:ea typeface="Calibri" pitchFamily="34" charset="-122"/>
                <a:cs typeface="Calibri" pitchFamily="34" charset="-120"/>
              </a:rPr>
              <a:t>Java methods the model may call.</a:t>
            </a:r>
            <a:endParaRPr lang="en-US" sz="1650" dirty="0"/>
          </a:p>
        </p:txBody>
      </p:sp>
      <p:sp>
        <p:nvSpPr>
          <p:cNvPr id="16" name="Shape 11"/>
          <p:cNvSpPr/>
          <p:nvPr/>
        </p:nvSpPr>
        <p:spPr>
          <a:xfrm>
            <a:off x="841248" y="4526280"/>
            <a:ext cx="457200" cy="457200"/>
          </a:xfrm>
          <a:prstGeom prst="ellipse">
            <a:avLst/>
          </a:prstGeom>
          <a:solidFill>
            <a:srgbClr val="D97706"/>
          </a:solidFill>
          <a:ln/>
          <a:effectLst>
            <a:outerShdw sx="100000" sy="100000" kx="0" ky="0" algn="bl" rotWithShape="0" blurRad="139700" dist="38100" dir="5400000">
              <a:srgbClr val="9AA6BC">
                <a:alpha val="28000"/>
              </a:srgbClr>
            </a:outerShdw>
          </a:effectLst>
        </p:spPr>
      </p:sp>
      <p:pic>
        <p:nvPicPr>
          <p:cNvPr id="17" name="Image 3" descr="preencoded.png">    </p:cNvPr>
          <p:cNvPicPr>
            <a:picLocks noChangeAspect="1"/>
          </p:cNvPicPr>
          <p:nvPr/>
        </p:nvPicPr>
        <p:blipFill>
          <a:blip r:embed="rId4"/>
          <a:stretch>
            <a:fillRect/>
          </a:stretch>
        </p:blipFill>
        <p:spPr>
          <a:xfrm>
            <a:off x="950976" y="4636008"/>
            <a:ext cx="237744" cy="237744"/>
          </a:xfrm>
          <a:prstGeom prst="rect">
            <a:avLst/>
          </a:prstGeom>
        </p:spPr>
      </p:pic>
      <p:sp>
        <p:nvSpPr>
          <p:cNvPr id="18" name="Text 12"/>
          <p:cNvSpPr/>
          <p:nvPr/>
        </p:nvSpPr>
        <p:spPr>
          <a:xfrm>
            <a:off x="1499616" y="4590288"/>
            <a:ext cx="2377440" cy="365760"/>
          </a:xfrm>
          <a:prstGeom prst="rect">
            <a:avLst/>
          </a:prstGeom>
          <a:noFill/>
          <a:ln/>
        </p:spPr>
        <p:txBody>
          <a:bodyPr wrap="square" rtlCol="0" anchor="ctr"/>
          <a:lstStyle/>
          <a:p>
            <a:pPr indent="0" marL="0">
              <a:buNone/>
            </a:pPr>
            <a:r>
              <a:rPr lang="en-US" sz="1200" spc="150" kern="0" dirty="0">
                <a:solidFill>
                  <a:srgbClr val="666C7A"/>
                </a:solidFill>
                <a:latin typeface="Consolas" pitchFamily="34" charset="0"/>
                <a:ea typeface="Consolas" pitchFamily="34" charset="-122"/>
                <a:cs typeface="Consolas" pitchFamily="34" charset="-120"/>
              </a:rPr>
              <a:t>memory</a:t>
            </a:r>
            <a:endParaRPr lang="en-US" sz="1200" dirty="0"/>
          </a:p>
        </p:txBody>
      </p:sp>
      <p:sp>
        <p:nvSpPr>
          <p:cNvPr id="19" name="Text 13"/>
          <p:cNvSpPr/>
          <p:nvPr/>
        </p:nvSpPr>
        <p:spPr>
          <a:xfrm>
            <a:off x="4023360" y="4590288"/>
            <a:ext cx="7315200" cy="365760"/>
          </a:xfrm>
          <a:prstGeom prst="rect">
            <a:avLst/>
          </a:prstGeom>
          <a:noFill/>
          <a:ln/>
        </p:spPr>
        <p:txBody>
          <a:bodyPr wrap="square" rtlCol="0" anchor="ctr"/>
          <a:lstStyle/>
          <a:p>
            <a:pPr indent="0" marL="0">
              <a:buNone/>
            </a:pPr>
            <a:r>
              <a:rPr lang="en-US" sz="1650" b="1" dirty="0">
                <a:solidFill>
                  <a:srgbClr val="16181D"/>
                </a:solidFill>
                <a:latin typeface="Calibri" pitchFamily="34" charset="0"/>
                <a:ea typeface="Calibri" pitchFamily="34" charset="-122"/>
                <a:cs typeface="Calibri" pitchFamily="34" charset="-120"/>
              </a:rPr>
              <a:t>The notebook. </a:t>
            </a:r>
            <a:pPr indent="0" marL="0">
              <a:buNone/>
            </a:pPr>
            <a:r>
              <a:rPr lang="en-US" sz="1650" dirty="0">
                <a:solidFill>
                  <a:srgbClr val="666C7A"/>
                </a:solidFill>
                <a:latin typeface="Calibri" pitchFamily="34" charset="0"/>
                <a:ea typeface="Calibri" pitchFamily="34" charset="-122"/>
                <a:cs typeface="Calibri" pitchFamily="34" charset="-120"/>
              </a:rPr>
              <a:t>What it carries between turns.</a:t>
            </a:r>
            <a:endParaRPr lang="en-US" sz="1650" dirty="0"/>
          </a:p>
        </p:txBody>
      </p:sp>
      <p:sp>
        <p:nvSpPr>
          <p:cNvPr id="20" name="Shape 14"/>
          <p:cNvSpPr/>
          <p:nvPr/>
        </p:nvSpPr>
        <p:spPr>
          <a:xfrm>
            <a:off x="841248" y="5294376"/>
            <a:ext cx="457200" cy="457200"/>
          </a:xfrm>
          <a:prstGeom prst="ellipse">
            <a:avLst/>
          </a:prstGeom>
          <a:solidFill>
            <a:srgbClr val="4F46E5"/>
          </a:solidFill>
          <a:ln/>
          <a:effectLst>
            <a:outerShdw sx="100000" sy="100000" kx="0" ky="0" algn="bl" rotWithShape="0" blurRad="139700" dist="38100" dir="5400000">
              <a:srgbClr val="9AA6BC">
                <a:alpha val="28000"/>
              </a:srgbClr>
            </a:outerShdw>
          </a:effectLst>
        </p:spPr>
      </p:sp>
      <p:pic>
        <p:nvPicPr>
          <p:cNvPr id="21" name="Image 4" descr="preencoded.png">    </p:cNvPr>
          <p:cNvPicPr>
            <a:picLocks noChangeAspect="1"/>
          </p:cNvPicPr>
          <p:nvPr/>
        </p:nvPicPr>
        <p:blipFill>
          <a:blip r:embed="rId5"/>
          <a:stretch>
            <a:fillRect/>
          </a:stretch>
        </p:blipFill>
        <p:spPr>
          <a:xfrm>
            <a:off x="950976" y="5404104"/>
            <a:ext cx="237744" cy="237744"/>
          </a:xfrm>
          <a:prstGeom prst="rect">
            <a:avLst/>
          </a:prstGeom>
        </p:spPr>
      </p:pic>
      <p:sp>
        <p:nvSpPr>
          <p:cNvPr id="22" name="Text 15"/>
          <p:cNvSpPr/>
          <p:nvPr/>
        </p:nvSpPr>
        <p:spPr>
          <a:xfrm>
            <a:off x="1499616" y="5358384"/>
            <a:ext cx="2377440" cy="365760"/>
          </a:xfrm>
          <a:prstGeom prst="rect">
            <a:avLst/>
          </a:prstGeom>
          <a:noFill/>
          <a:ln/>
        </p:spPr>
        <p:txBody>
          <a:bodyPr wrap="square" rtlCol="0" anchor="ctr"/>
          <a:lstStyle/>
          <a:p>
            <a:pPr indent="0" marL="0">
              <a:buNone/>
            </a:pPr>
            <a:r>
              <a:rPr lang="en-US" sz="1200" spc="150" kern="0" dirty="0">
                <a:solidFill>
                  <a:srgbClr val="666C7A"/>
                </a:solidFill>
                <a:latin typeface="Consolas" pitchFamily="34" charset="0"/>
                <a:ea typeface="Consolas" pitchFamily="34" charset="-122"/>
                <a:cs typeface="Consolas" pitchFamily="34" charset="-120"/>
              </a:rPr>
              <a:t>structure</a:t>
            </a:r>
            <a:endParaRPr lang="en-US" sz="1200" dirty="0"/>
          </a:p>
        </p:txBody>
      </p:sp>
      <p:sp>
        <p:nvSpPr>
          <p:cNvPr id="23" name="Text 16"/>
          <p:cNvSpPr/>
          <p:nvPr/>
        </p:nvSpPr>
        <p:spPr>
          <a:xfrm>
            <a:off x="4023360" y="5358384"/>
            <a:ext cx="7315200" cy="365760"/>
          </a:xfrm>
          <a:prstGeom prst="rect">
            <a:avLst/>
          </a:prstGeom>
          <a:noFill/>
          <a:ln/>
        </p:spPr>
        <p:txBody>
          <a:bodyPr wrap="square" rtlCol="0" anchor="ctr"/>
          <a:lstStyle/>
          <a:p>
            <a:pPr indent="0" marL="0">
              <a:buNone/>
            </a:pPr>
            <a:r>
              <a:rPr lang="en-US" sz="1650" b="1" dirty="0">
                <a:solidFill>
                  <a:srgbClr val="16181D"/>
                </a:solidFill>
                <a:latin typeface="Calibri" pitchFamily="34" charset="0"/>
                <a:ea typeface="Calibri" pitchFamily="34" charset="-122"/>
                <a:cs typeface="Calibri" pitchFamily="34" charset="-120"/>
              </a:rPr>
              <a:t>Typed output. </a:t>
            </a:r>
            <a:pPr indent="0" marL="0">
              <a:buNone/>
            </a:pPr>
            <a:r>
              <a:rPr lang="en-US" sz="1650" dirty="0">
                <a:solidFill>
                  <a:srgbClr val="666C7A"/>
                </a:solidFill>
                <a:latin typeface="Calibri" pitchFamily="34" charset="0"/>
                <a:ea typeface="Calibri" pitchFamily="34" charset="-122"/>
                <a:cs typeface="Calibri" pitchFamily="34" charset="-120"/>
              </a:rPr>
              <a:t>Answers as objects, not prose.</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indent="0" marL="0">
              <a:buNone/>
            </a:pPr>
            <a:r>
              <a:rPr lang="en-US" sz="1100" b="1" spc="300" kern="0" dirty="0">
                <a:solidFill>
                  <a:srgbClr val="4F46E5"/>
                </a:solidFill>
                <a:latin typeface="Arial" pitchFamily="34" charset="0"/>
                <a:ea typeface="Arial" pitchFamily="34" charset="-122"/>
                <a:cs typeface="Arial" pitchFamily="34" charset="-120"/>
              </a:rPr>
              <a:t>THE OBVIOUS QUESTION</a:t>
            </a:r>
            <a:endParaRPr lang="en-US" sz="1100" dirty="0"/>
          </a:p>
        </p:txBody>
      </p:sp>
      <p:sp>
        <p:nvSpPr>
          <p:cNvPr id="3" name="Text 1"/>
          <p:cNvSpPr/>
          <p:nvPr/>
        </p:nvSpPr>
        <p:spPr>
          <a:xfrm>
            <a:off x="841248" y="1371600"/>
            <a:ext cx="5486400" cy="1097280"/>
          </a:xfrm>
          <a:prstGeom prst="rect">
            <a:avLst/>
          </a:prstGeom>
          <a:noFill/>
          <a:ln/>
        </p:spPr>
        <p:txBody>
          <a:bodyPr wrap="square" rtlCol="0" anchor="ctr"/>
          <a:lstStyle/>
          <a:p>
            <a:pPr indent="0" marL="0">
              <a:buNone/>
            </a:pPr>
            <a:r>
              <a:rPr lang="en-US" sz="4400" b="1" dirty="0">
                <a:solidFill>
                  <a:srgbClr val="16181D"/>
                </a:solidFill>
                <a:latin typeface="Arial" pitchFamily="34" charset="0"/>
                <a:ea typeface="Arial" pitchFamily="34" charset="-122"/>
                <a:cs typeface="Arial" pitchFamily="34" charset="-120"/>
              </a:rPr>
              <a:t>Why </a:t>
            </a:r>
            <a:pPr indent="0" marL="0">
              <a:buNone/>
            </a:pPr>
            <a:r>
              <a:rPr lang="en-US" sz="4400" b="1" dirty="0">
                <a:solidFill>
                  <a:srgbClr val="4F46E5"/>
                </a:solidFill>
                <a:latin typeface="Arial" pitchFamily="34" charset="0"/>
                <a:ea typeface="Arial" pitchFamily="34" charset="-122"/>
                <a:cs typeface="Arial" pitchFamily="34" charset="-120"/>
              </a:rPr>
              <a:t>Java?</a:t>
            </a:r>
            <a:endParaRPr lang="en-US" sz="4400" dirty="0"/>
          </a:p>
        </p:txBody>
      </p:sp>
      <p:sp>
        <p:nvSpPr>
          <p:cNvPr id="4" name="Text 2"/>
          <p:cNvSpPr/>
          <p:nvPr/>
        </p:nvSpPr>
        <p:spPr>
          <a:xfrm>
            <a:off x="841248" y="2651760"/>
            <a:ext cx="5212080" cy="1828800"/>
          </a:xfrm>
          <a:prstGeom prst="rect">
            <a:avLst/>
          </a:prstGeom>
          <a:noFill/>
          <a:ln/>
        </p:spPr>
        <p:txBody>
          <a:bodyPr wrap="square" rtlCol="0" anchor="ctr"/>
          <a:lstStyle/>
          <a:p>
            <a:pPr indent="0" marL="0">
              <a:lnSpc>
                <a:spcPts val="2700"/>
              </a:lnSpc>
              <a:buNone/>
            </a:pPr>
            <a:r>
              <a:rPr lang="en-US" sz="1700" dirty="0">
                <a:solidFill>
                  <a:srgbClr val="666C7A"/>
                </a:solidFill>
                <a:latin typeface="Calibri" pitchFamily="34" charset="0"/>
                <a:ea typeface="Calibri" pitchFamily="34" charset="-122"/>
                <a:cs typeface="Calibri" pitchFamily="34" charset="-120"/>
              </a:rPr>
              <a:t>Because the systems your clients trust with real money already run on the JVM. The agent should live </a:t>
            </a:r>
            <a:pPr indent="0" marL="0">
              <a:lnSpc>
                <a:spcPts val="2700"/>
              </a:lnSpc>
              <a:buNone/>
            </a:pPr>
            <a:r>
              <a:rPr lang="en-US" sz="1700" b="1" dirty="0">
                <a:solidFill>
                  <a:srgbClr val="16181D"/>
                </a:solidFill>
                <a:latin typeface="Calibri" pitchFamily="34" charset="0"/>
                <a:ea typeface="Calibri" pitchFamily="34" charset="-122"/>
                <a:cs typeface="Calibri" pitchFamily="34" charset="-120"/>
              </a:rPr>
              <a:t>next to the business</a:t>
            </a:r>
            <a:pPr indent="0" marL="0">
              <a:lnSpc>
                <a:spcPts val="2700"/>
              </a:lnSpc>
              <a:buNone/>
            </a:pPr>
            <a:r>
              <a:rPr lang="en-US" sz="1700" dirty="0">
                <a:solidFill>
                  <a:srgbClr val="666C7A"/>
                </a:solidFill>
                <a:latin typeface="Calibri" pitchFamily="34" charset="0"/>
                <a:ea typeface="Calibri" pitchFamily="34" charset="-122"/>
                <a:cs typeface="Calibri" pitchFamily="34" charset="-120"/>
              </a:rPr>
              <a:t>, not in a Python service bolted on the side.</a:t>
            </a:r>
            <a:endParaRPr lang="en-US" sz="1700" dirty="0"/>
          </a:p>
        </p:txBody>
      </p:sp>
      <p:sp>
        <p:nvSpPr>
          <p:cNvPr id="5" name="Text 3"/>
          <p:cNvSpPr/>
          <p:nvPr/>
        </p:nvSpPr>
        <p:spPr>
          <a:xfrm>
            <a:off x="841248" y="4754880"/>
            <a:ext cx="5212080" cy="731520"/>
          </a:xfrm>
          <a:prstGeom prst="rect">
            <a:avLst/>
          </a:prstGeom>
          <a:noFill/>
          <a:ln/>
        </p:spPr>
        <p:txBody>
          <a:bodyPr wrap="square" rtlCol="0" anchor="ctr"/>
          <a:lstStyle/>
          <a:p>
            <a:pPr indent="0" marL="0">
              <a:lnSpc>
                <a:spcPts val="2000"/>
              </a:lnSpc>
              <a:buNone/>
            </a:pPr>
            <a:r>
              <a:rPr lang="en-US" sz="1200" dirty="0">
                <a:solidFill>
                  <a:srgbClr val="4F46E5"/>
                </a:solidFill>
                <a:latin typeface="Consolas" pitchFamily="34" charset="0"/>
                <a:ea typeface="Consolas" pitchFamily="34" charset="-122"/>
                <a:cs typeface="Consolas" pitchFamily="34" charset="-120"/>
              </a:rPr>
              <a:t>Behind Spring Security. Inside your transactions. Beside your data.</a:t>
            </a:r>
            <a:endParaRPr lang="en-US" sz="1200" dirty="0"/>
          </a:p>
        </p:txBody>
      </p:sp>
      <p:sp>
        <p:nvSpPr>
          <p:cNvPr id="6" name="Shape 4"/>
          <p:cNvSpPr/>
          <p:nvPr/>
        </p:nvSpPr>
        <p:spPr>
          <a:xfrm>
            <a:off x="6675120" y="2011680"/>
            <a:ext cx="4663440" cy="868680"/>
          </a:xfrm>
          <a:prstGeom prst="roundRect">
            <a:avLst>
              <a:gd name="adj" fmla="val 10526"/>
            </a:avLst>
          </a:prstGeom>
          <a:solidFill>
            <a:srgbClr val="F5F7FA"/>
          </a:solidFill>
          <a:ln w="12700">
            <a:solidFill>
              <a:srgbClr val="E1E5EC"/>
            </a:solidFill>
            <a:prstDash val="solid"/>
          </a:ln>
          <a:effectLst>
            <a:outerShdw sx="100000" sy="100000" kx="0" ky="0" algn="bl" rotWithShape="0" blurRad="139700" dist="38100" dir="5400000">
              <a:srgbClr val="9AA6BC">
                <a:alpha val="28000"/>
              </a:srgbClr>
            </a:outerShdw>
          </a:effectLst>
        </p:spPr>
      </p:sp>
      <p:sp>
        <p:nvSpPr>
          <p:cNvPr id="7" name="Shape 5"/>
          <p:cNvSpPr/>
          <p:nvPr/>
        </p:nvSpPr>
        <p:spPr>
          <a:xfrm>
            <a:off x="6967728" y="2189988"/>
            <a:ext cx="512064" cy="512064"/>
          </a:xfrm>
          <a:prstGeom prst="ellipse">
            <a:avLst/>
          </a:prstGeom>
          <a:solidFill>
            <a:srgbClr val="4F46E5"/>
          </a:solidFill>
          <a:ln/>
          <a:effectLst>
            <a:outerShdw sx="100000" sy="100000" kx="0" ky="0" algn="bl" rotWithShape="0" blurRad="139700" dist="38100" dir="5400000">
              <a:srgbClr val="9AA6BC">
                <a:alpha val="28000"/>
              </a:srgbClr>
            </a:outerShdw>
          </a:effectLst>
        </p:spPr>
      </p:sp>
      <p:pic>
        <p:nvPicPr>
          <p:cNvPr id="8" name="Image 0" descr="preencoded.png">    </p:cNvPr>
          <p:cNvPicPr>
            <a:picLocks noChangeAspect="1"/>
          </p:cNvPicPr>
          <p:nvPr/>
        </p:nvPicPr>
        <p:blipFill>
          <a:blip r:embed="rId1"/>
          <a:stretch>
            <a:fillRect/>
          </a:stretch>
        </p:blipFill>
        <p:spPr>
          <a:xfrm>
            <a:off x="7090623" y="2312883"/>
            <a:ext cx="266273" cy="266273"/>
          </a:xfrm>
          <a:prstGeom prst="rect">
            <a:avLst/>
          </a:prstGeom>
        </p:spPr>
      </p:pic>
      <p:sp>
        <p:nvSpPr>
          <p:cNvPr id="9" name="Text 6"/>
          <p:cNvSpPr/>
          <p:nvPr/>
        </p:nvSpPr>
        <p:spPr>
          <a:xfrm>
            <a:off x="7635240" y="2148840"/>
            <a:ext cx="3520440" cy="320040"/>
          </a:xfrm>
          <a:prstGeom prst="rect">
            <a:avLst/>
          </a:prstGeom>
          <a:noFill/>
          <a:ln/>
        </p:spPr>
        <p:txBody>
          <a:bodyPr wrap="square" rtlCol="0" anchor="ctr"/>
          <a:lstStyle/>
          <a:p>
            <a:pPr indent="0" marL="0">
              <a:buNone/>
            </a:pPr>
            <a:r>
              <a:rPr lang="en-US" sz="1200" spc="100" kern="0" dirty="0">
                <a:solidFill>
                  <a:srgbClr val="16181D"/>
                </a:solidFill>
                <a:latin typeface="Consolas" pitchFamily="34" charset="0"/>
                <a:ea typeface="Consolas" pitchFamily="34" charset="-122"/>
                <a:cs typeface="Consolas" pitchFamily="34" charset="-120"/>
              </a:rPr>
              <a:t>LangChain4j</a:t>
            </a:r>
            <a:endParaRPr lang="en-US" sz="1200" dirty="0"/>
          </a:p>
        </p:txBody>
      </p:sp>
      <p:sp>
        <p:nvSpPr>
          <p:cNvPr id="10" name="Text 7"/>
          <p:cNvSpPr/>
          <p:nvPr/>
        </p:nvSpPr>
        <p:spPr>
          <a:xfrm>
            <a:off x="7635240" y="2441448"/>
            <a:ext cx="3566160" cy="365760"/>
          </a:xfrm>
          <a:prstGeom prst="rect">
            <a:avLst/>
          </a:prstGeom>
          <a:noFill/>
          <a:ln/>
        </p:spPr>
        <p:txBody>
          <a:bodyPr wrap="square" rtlCol="0" anchor="ctr"/>
          <a:lstStyle/>
          <a:p>
            <a:pPr indent="0" marL="0">
              <a:buNone/>
            </a:pPr>
            <a:r>
              <a:rPr lang="en-US" sz="1300" dirty="0">
                <a:solidFill>
                  <a:srgbClr val="666C7A"/>
                </a:solidFill>
                <a:latin typeface="Calibri" pitchFamily="34" charset="0"/>
                <a:ea typeface="Calibri" pitchFamily="34" charset="-122"/>
                <a:cs typeface="Calibri" pitchFamily="34" charset="-120"/>
              </a:rPr>
              <a:t>agents, tools and AI Services, the idiomatic way</a:t>
            </a:r>
            <a:endParaRPr lang="en-US" sz="1300" dirty="0"/>
          </a:p>
        </p:txBody>
      </p:sp>
      <p:sp>
        <p:nvSpPr>
          <p:cNvPr id="11" name="Shape 8"/>
          <p:cNvSpPr/>
          <p:nvPr/>
        </p:nvSpPr>
        <p:spPr>
          <a:xfrm>
            <a:off x="6675120" y="3063240"/>
            <a:ext cx="4663440" cy="868680"/>
          </a:xfrm>
          <a:prstGeom prst="roundRect">
            <a:avLst>
              <a:gd name="adj" fmla="val 10526"/>
            </a:avLst>
          </a:prstGeom>
          <a:solidFill>
            <a:srgbClr val="F5F7FA"/>
          </a:solidFill>
          <a:ln w="12700">
            <a:solidFill>
              <a:srgbClr val="E1E5EC"/>
            </a:solidFill>
            <a:prstDash val="solid"/>
          </a:ln>
          <a:effectLst>
            <a:outerShdw sx="100000" sy="100000" kx="0" ky="0" algn="bl" rotWithShape="0" blurRad="139700" dist="38100" dir="5400000">
              <a:srgbClr val="9AA6BC">
                <a:alpha val="28000"/>
              </a:srgbClr>
            </a:outerShdw>
          </a:effectLst>
        </p:spPr>
      </p:sp>
      <p:sp>
        <p:nvSpPr>
          <p:cNvPr id="12" name="Shape 9"/>
          <p:cNvSpPr/>
          <p:nvPr/>
        </p:nvSpPr>
        <p:spPr>
          <a:xfrm>
            <a:off x="6967728" y="3241548"/>
            <a:ext cx="512064" cy="512064"/>
          </a:xfrm>
          <a:prstGeom prst="ellipse">
            <a:avLst/>
          </a:prstGeom>
          <a:solidFill>
            <a:srgbClr val="0F9E8E"/>
          </a:solidFill>
          <a:ln/>
          <a:effectLst>
            <a:outerShdw sx="100000" sy="100000" kx="0" ky="0" algn="bl" rotWithShape="0" blurRad="139700" dist="38100" dir="5400000">
              <a:srgbClr val="9AA6BC">
                <a:alpha val="28000"/>
              </a:srgbClr>
            </a:outerShdw>
          </a:effectLst>
        </p:spPr>
      </p:sp>
      <p:pic>
        <p:nvPicPr>
          <p:cNvPr id="13" name="Image 1" descr="preencoded.png">    </p:cNvPr>
          <p:cNvPicPr>
            <a:picLocks noChangeAspect="1"/>
          </p:cNvPicPr>
          <p:nvPr/>
        </p:nvPicPr>
        <p:blipFill>
          <a:blip r:embed="rId2"/>
          <a:stretch>
            <a:fillRect/>
          </a:stretch>
        </p:blipFill>
        <p:spPr>
          <a:xfrm>
            <a:off x="7090623" y="3364443"/>
            <a:ext cx="266273" cy="266273"/>
          </a:xfrm>
          <a:prstGeom prst="rect">
            <a:avLst/>
          </a:prstGeom>
        </p:spPr>
      </p:pic>
      <p:sp>
        <p:nvSpPr>
          <p:cNvPr id="14" name="Text 10"/>
          <p:cNvSpPr/>
          <p:nvPr/>
        </p:nvSpPr>
        <p:spPr>
          <a:xfrm>
            <a:off x="7635240" y="3200400"/>
            <a:ext cx="3520440" cy="320040"/>
          </a:xfrm>
          <a:prstGeom prst="rect">
            <a:avLst/>
          </a:prstGeom>
          <a:noFill/>
          <a:ln/>
        </p:spPr>
        <p:txBody>
          <a:bodyPr wrap="square" rtlCol="0" anchor="ctr"/>
          <a:lstStyle/>
          <a:p>
            <a:pPr indent="0" marL="0">
              <a:buNone/>
            </a:pPr>
            <a:r>
              <a:rPr lang="en-US" sz="1200" spc="100" kern="0" dirty="0">
                <a:solidFill>
                  <a:srgbClr val="16181D"/>
                </a:solidFill>
                <a:latin typeface="Consolas" pitchFamily="34" charset="0"/>
                <a:ea typeface="Consolas" pitchFamily="34" charset="-122"/>
                <a:cs typeface="Consolas" pitchFamily="34" charset="-120"/>
              </a:rPr>
              <a:t>Spring AI</a:t>
            </a:r>
            <a:endParaRPr lang="en-US" sz="1200" dirty="0"/>
          </a:p>
        </p:txBody>
      </p:sp>
      <p:sp>
        <p:nvSpPr>
          <p:cNvPr id="15" name="Text 11"/>
          <p:cNvSpPr/>
          <p:nvPr/>
        </p:nvSpPr>
        <p:spPr>
          <a:xfrm>
            <a:off x="7635240" y="3493008"/>
            <a:ext cx="3566160" cy="365760"/>
          </a:xfrm>
          <a:prstGeom prst="rect">
            <a:avLst/>
          </a:prstGeom>
          <a:noFill/>
          <a:ln/>
        </p:spPr>
        <p:txBody>
          <a:bodyPr wrap="square" rtlCol="0" anchor="ctr"/>
          <a:lstStyle/>
          <a:p>
            <a:pPr indent="0" marL="0">
              <a:buNone/>
            </a:pPr>
            <a:r>
              <a:rPr lang="en-US" sz="1300" dirty="0">
                <a:solidFill>
                  <a:srgbClr val="666C7A"/>
                </a:solidFill>
                <a:latin typeface="Calibri" pitchFamily="34" charset="0"/>
                <a:ea typeface="Calibri" pitchFamily="34" charset="-122"/>
                <a:cs typeface="Calibri" pitchFamily="34" charset="-120"/>
              </a:rPr>
              <a:t>the same, wired into Spring Boot</a:t>
            </a:r>
            <a:endParaRPr lang="en-US" sz="1300" dirty="0"/>
          </a:p>
        </p:txBody>
      </p:sp>
      <p:sp>
        <p:nvSpPr>
          <p:cNvPr id="16" name="Shape 12"/>
          <p:cNvSpPr/>
          <p:nvPr/>
        </p:nvSpPr>
        <p:spPr>
          <a:xfrm>
            <a:off x="6675120" y="4114800"/>
            <a:ext cx="4663440" cy="868680"/>
          </a:xfrm>
          <a:prstGeom prst="roundRect">
            <a:avLst>
              <a:gd name="adj" fmla="val 10526"/>
            </a:avLst>
          </a:prstGeom>
          <a:solidFill>
            <a:srgbClr val="F5F7FA"/>
          </a:solidFill>
          <a:ln w="12700">
            <a:solidFill>
              <a:srgbClr val="E1E5EC"/>
            </a:solidFill>
            <a:prstDash val="solid"/>
          </a:ln>
          <a:effectLst>
            <a:outerShdw sx="100000" sy="100000" kx="0" ky="0" algn="bl" rotWithShape="0" blurRad="139700" dist="38100" dir="5400000">
              <a:srgbClr val="9AA6BC">
                <a:alpha val="28000"/>
              </a:srgbClr>
            </a:outerShdw>
          </a:effectLst>
        </p:spPr>
      </p:sp>
      <p:sp>
        <p:nvSpPr>
          <p:cNvPr id="17" name="Shape 13"/>
          <p:cNvSpPr/>
          <p:nvPr/>
        </p:nvSpPr>
        <p:spPr>
          <a:xfrm>
            <a:off x="6967728" y="4293108"/>
            <a:ext cx="512064" cy="512064"/>
          </a:xfrm>
          <a:prstGeom prst="ellipse">
            <a:avLst/>
          </a:prstGeom>
          <a:solidFill>
            <a:srgbClr val="D97706"/>
          </a:solidFill>
          <a:ln/>
          <a:effectLst>
            <a:outerShdw sx="100000" sy="100000" kx="0" ky="0" algn="bl" rotWithShape="0" blurRad="139700" dist="38100" dir="5400000">
              <a:srgbClr val="9AA6BC">
                <a:alpha val="28000"/>
              </a:srgbClr>
            </a:outerShdw>
          </a:effectLst>
        </p:spPr>
      </p:sp>
      <p:pic>
        <p:nvPicPr>
          <p:cNvPr id="18" name="Image 2" descr="preencoded.png">    </p:cNvPr>
          <p:cNvPicPr>
            <a:picLocks noChangeAspect="1"/>
          </p:cNvPicPr>
          <p:nvPr/>
        </p:nvPicPr>
        <p:blipFill>
          <a:blip r:embed="rId3"/>
          <a:stretch>
            <a:fillRect/>
          </a:stretch>
        </p:blipFill>
        <p:spPr>
          <a:xfrm>
            <a:off x="7090623" y="4416003"/>
            <a:ext cx="266273" cy="266273"/>
          </a:xfrm>
          <a:prstGeom prst="rect">
            <a:avLst/>
          </a:prstGeom>
        </p:spPr>
      </p:pic>
      <p:sp>
        <p:nvSpPr>
          <p:cNvPr id="19" name="Text 14"/>
          <p:cNvSpPr/>
          <p:nvPr/>
        </p:nvSpPr>
        <p:spPr>
          <a:xfrm>
            <a:off x="7635240" y="4251960"/>
            <a:ext cx="3520440" cy="320040"/>
          </a:xfrm>
          <a:prstGeom prst="rect">
            <a:avLst/>
          </a:prstGeom>
          <a:noFill/>
          <a:ln/>
        </p:spPr>
        <p:txBody>
          <a:bodyPr wrap="square" rtlCol="0" anchor="ctr"/>
          <a:lstStyle/>
          <a:p>
            <a:pPr indent="0" marL="0">
              <a:buNone/>
            </a:pPr>
            <a:r>
              <a:rPr lang="en-US" sz="1200" spc="100" kern="0" dirty="0">
                <a:solidFill>
                  <a:srgbClr val="16181D"/>
                </a:solidFill>
                <a:latin typeface="Consolas" pitchFamily="34" charset="0"/>
                <a:ea typeface="Consolas" pitchFamily="34" charset="-122"/>
                <a:cs typeface="Consolas" pitchFamily="34" charset="-120"/>
              </a:rPr>
              <a:t>the point</a:t>
            </a:r>
            <a:endParaRPr lang="en-US" sz="1200" dirty="0"/>
          </a:p>
        </p:txBody>
      </p:sp>
      <p:sp>
        <p:nvSpPr>
          <p:cNvPr id="20" name="Text 15"/>
          <p:cNvSpPr/>
          <p:nvPr/>
        </p:nvSpPr>
        <p:spPr>
          <a:xfrm>
            <a:off x="7635240" y="4544568"/>
            <a:ext cx="3566160" cy="365760"/>
          </a:xfrm>
          <a:prstGeom prst="rect">
            <a:avLst/>
          </a:prstGeom>
          <a:noFill/>
          <a:ln/>
        </p:spPr>
        <p:txBody>
          <a:bodyPr wrap="square" rtlCol="0" anchor="ctr"/>
          <a:lstStyle/>
          <a:p>
            <a:pPr indent="0" marL="0">
              <a:buNone/>
            </a:pPr>
            <a:r>
              <a:rPr lang="en-US" sz="1300" dirty="0">
                <a:solidFill>
                  <a:srgbClr val="666C7A"/>
                </a:solidFill>
                <a:latin typeface="Calibri" pitchFamily="34" charset="0"/>
                <a:ea typeface="Calibri" pitchFamily="34" charset="-122"/>
                <a:cs typeface="Calibri" pitchFamily="34" charset="-120"/>
              </a:rPr>
              <a:t>type-safe, testable, production-grade agents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indent="0" marL="0">
              <a:buNone/>
            </a:pPr>
            <a:r>
              <a:rPr lang="en-US" sz="1100" b="1" spc="300" kern="0" dirty="0">
                <a:solidFill>
                  <a:srgbClr val="4F46E5"/>
                </a:solidFill>
                <a:latin typeface="Arial" pitchFamily="34" charset="0"/>
                <a:ea typeface="Arial" pitchFamily="34" charset="-122"/>
                <a:cs typeface="Arial" pitchFamily="34" charset="-120"/>
              </a:rPr>
              <a:t>THE MODEL, TONIGHT</a:t>
            </a:r>
            <a:endParaRPr lang="en-US" sz="1100" dirty="0"/>
          </a:p>
        </p:txBody>
      </p:sp>
      <p:sp>
        <p:nvSpPr>
          <p:cNvPr id="3" name="Text 1"/>
          <p:cNvSpPr/>
          <p:nvPr/>
        </p:nvSpPr>
        <p:spPr>
          <a:xfrm>
            <a:off x="841248" y="1463040"/>
            <a:ext cx="5486400" cy="1828800"/>
          </a:xfrm>
          <a:prstGeom prst="rect">
            <a:avLst/>
          </a:prstGeom>
          <a:noFill/>
          <a:ln/>
        </p:spPr>
        <p:txBody>
          <a:bodyPr wrap="square" rtlCol="0" anchor="ctr"/>
          <a:lstStyle/>
          <a:p>
            <a:pPr indent="0" marL="0">
              <a:lnSpc>
                <a:spcPts val="4400"/>
              </a:lnSpc>
              <a:buNone/>
            </a:pPr>
            <a:r>
              <a:rPr lang="en-US" sz="3600" b="1" dirty="0">
                <a:solidFill>
                  <a:srgbClr val="4F46E5"/>
                </a:solidFill>
                <a:latin typeface="Arial" pitchFamily="34" charset="0"/>
                <a:ea typeface="Arial" pitchFamily="34" charset="-122"/>
                <a:cs typeface="Arial" pitchFamily="34" charset="-120"/>
              </a:rPr>
              <a:t>Qwen.</a:t>
            </a:r>
            <a:pPr indent="0" marL="0">
              <a:lnSpc>
                <a:spcPts val="4400"/>
              </a:lnSpc>
              <a:buNone/>
            </a:pPr>
            <a:r>
              <a:rPr lang="en-US" sz="3600" b="1" dirty="0">
                <a:solidFill>
                  <a:srgbClr val="16181D"/>
                </a:solidFill>
                <a:latin typeface="Arial" pitchFamily="34" charset="0"/>
                <a:ea typeface="Arial" pitchFamily="34" charset="-122"/>
                <a:cs typeface="Arial" pitchFamily="34" charset="-120"/>
              </a:rPr>
              <a:t> Local. Free.</a:t>
            </a:r>
            <a:endParaRPr lang="en-US" sz="3600" dirty="0"/>
          </a:p>
          <a:p>
            <a:pPr indent="0" marL="0">
              <a:lnSpc>
                <a:spcPts val="4400"/>
              </a:lnSpc>
              <a:buNone/>
            </a:pPr>
            <a:r>
              <a:rPr lang="en-US" sz="3600" b="1" dirty="0">
                <a:solidFill>
                  <a:srgbClr val="16181D"/>
                </a:solidFill>
                <a:latin typeface="Arial" pitchFamily="34" charset="0"/>
                <a:ea typeface="Arial" pitchFamily="34" charset="-122"/>
                <a:cs typeface="Arial" pitchFamily="34" charset="-120"/>
              </a:rPr>
              <a:t>Never leaves the room.</a:t>
            </a:r>
            <a:endParaRPr lang="en-US" sz="3600" dirty="0"/>
          </a:p>
        </p:txBody>
      </p:sp>
      <p:sp>
        <p:nvSpPr>
          <p:cNvPr id="4" name="Text 2"/>
          <p:cNvSpPr/>
          <p:nvPr/>
        </p:nvSpPr>
        <p:spPr>
          <a:xfrm>
            <a:off x="841248" y="3520440"/>
            <a:ext cx="5120640" cy="1371600"/>
          </a:xfrm>
          <a:prstGeom prst="rect">
            <a:avLst/>
          </a:prstGeom>
          <a:noFill/>
          <a:ln/>
        </p:spPr>
        <p:txBody>
          <a:bodyPr wrap="square" rtlCol="0" anchor="ctr"/>
          <a:lstStyle/>
          <a:p>
            <a:pPr indent="0" marL="0">
              <a:lnSpc>
                <a:spcPts val="2500"/>
              </a:lnSpc>
              <a:buNone/>
            </a:pPr>
            <a:r>
              <a:rPr lang="en-US" sz="1600" dirty="0">
                <a:solidFill>
                  <a:srgbClr val="666C7A"/>
                </a:solidFill>
                <a:latin typeface="Calibri" pitchFamily="34" charset="0"/>
                <a:ea typeface="Calibri" pitchFamily="34" charset="-122"/>
                <a:cs typeface="Calibri" pitchFamily="34" charset="-120"/>
              </a:rPr>
              <a:t>Ollama serves the model from this laptop. No cloud call, no per-token bill, no data leaving the building. That last part is what your regulated clients care about most.</a:t>
            </a:r>
            <a:endParaRPr lang="en-US" sz="1600" dirty="0"/>
          </a:p>
        </p:txBody>
      </p:sp>
      <p:sp>
        <p:nvSpPr>
          <p:cNvPr id="5" name="Text 3"/>
          <p:cNvSpPr/>
          <p:nvPr/>
        </p:nvSpPr>
        <p:spPr>
          <a:xfrm>
            <a:off x="841248" y="5074920"/>
            <a:ext cx="1828800" cy="685800"/>
          </a:xfrm>
          <a:prstGeom prst="rect">
            <a:avLst/>
          </a:prstGeom>
          <a:noFill/>
          <a:ln/>
        </p:spPr>
        <p:txBody>
          <a:bodyPr wrap="square" rtlCol="0" anchor="ctr"/>
          <a:lstStyle/>
          <a:p>
            <a:pPr indent="0" marL="0">
              <a:buNone/>
            </a:pPr>
            <a:r>
              <a:rPr lang="en-US" sz="3800" b="1" dirty="0">
                <a:solidFill>
                  <a:srgbClr val="0284C7"/>
                </a:solidFill>
                <a:latin typeface="Arial" pitchFamily="34" charset="0"/>
                <a:ea typeface="Arial" pitchFamily="34" charset="-122"/>
                <a:cs typeface="Arial" pitchFamily="34" charset="-120"/>
              </a:rPr>
              <a:t>3B</a:t>
            </a:r>
            <a:endParaRPr lang="en-US" sz="3800" dirty="0"/>
          </a:p>
        </p:txBody>
      </p:sp>
      <p:sp>
        <p:nvSpPr>
          <p:cNvPr id="6" name="Text 4"/>
          <p:cNvSpPr/>
          <p:nvPr/>
        </p:nvSpPr>
        <p:spPr>
          <a:xfrm>
            <a:off x="841248" y="5733288"/>
            <a:ext cx="1920240" cy="548640"/>
          </a:xfrm>
          <a:prstGeom prst="rect">
            <a:avLst/>
          </a:prstGeom>
          <a:noFill/>
          <a:ln/>
        </p:spPr>
        <p:txBody>
          <a:bodyPr wrap="square" rtlCol="0" anchor="ctr"/>
          <a:lstStyle/>
          <a:p>
            <a:pPr indent="0" marL="0">
              <a:lnSpc>
                <a:spcPts val="1200"/>
              </a:lnSpc>
              <a:buNone/>
            </a:pPr>
            <a:r>
              <a:rPr lang="en-US" sz="950" spc="150" kern="0" dirty="0">
                <a:solidFill>
                  <a:srgbClr val="666C7A"/>
                </a:solidFill>
                <a:latin typeface="Consolas" pitchFamily="34" charset="0"/>
                <a:ea typeface="Consolas" pitchFamily="34" charset="-122"/>
                <a:cs typeface="Consolas" pitchFamily="34" charset="-120"/>
              </a:rPr>
              <a:t>PARAMS, ON A LAPTOP</a:t>
            </a:r>
            <a:endParaRPr lang="en-US" sz="950" dirty="0"/>
          </a:p>
        </p:txBody>
      </p:sp>
      <p:sp>
        <p:nvSpPr>
          <p:cNvPr id="7" name="Text 5"/>
          <p:cNvSpPr/>
          <p:nvPr/>
        </p:nvSpPr>
        <p:spPr>
          <a:xfrm>
            <a:off x="2670048" y="5074920"/>
            <a:ext cx="1828800" cy="685800"/>
          </a:xfrm>
          <a:prstGeom prst="rect">
            <a:avLst/>
          </a:prstGeom>
          <a:noFill/>
          <a:ln/>
        </p:spPr>
        <p:txBody>
          <a:bodyPr wrap="square" rtlCol="0" anchor="ctr"/>
          <a:lstStyle/>
          <a:p>
            <a:pPr indent="0" marL="0">
              <a:buNone/>
            </a:pPr>
            <a:r>
              <a:rPr lang="en-US" sz="3800" b="1" dirty="0">
                <a:solidFill>
                  <a:srgbClr val="0F9E8E"/>
                </a:solidFill>
                <a:latin typeface="Arial" pitchFamily="34" charset="0"/>
                <a:ea typeface="Arial" pitchFamily="34" charset="-122"/>
                <a:cs typeface="Arial" pitchFamily="34" charset="-120"/>
              </a:rPr>
              <a:t>$0</a:t>
            </a:r>
            <a:endParaRPr lang="en-US" sz="3800" dirty="0"/>
          </a:p>
        </p:txBody>
      </p:sp>
      <p:sp>
        <p:nvSpPr>
          <p:cNvPr id="8" name="Text 6"/>
          <p:cNvSpPr/>
          <p:nvPr/>
        </p:nvSpPr>
        <p:spPr>
          <a:xfrm>
            <a:off x="2670048" y="5733288"/>
            <a:ext cx="1920240" cy="548640"/>
          </a:xfrm>
          <a:prstGeom prst="rect">
            <a:avLst/>
          </a:prstGeom>
          <a:noFill/>
          <a:ln/>
        </p:spPr>
        <p:txBody>
          <a:bodyPr wrap="square" rtlCol="0" anchor="ctr"/>
          <a:lstStyle/>
          <a:p>
            <a:pPr indent="0" marL="0">
              <a:lnSpc>
                <a:spcPts val="1200"/>
              </a:lnSpc>
              <a:buNone/>
            </a:pPr>
            <a:r>
              <a:rPr lang="en-US" sz="950" spc="150" kern="0" dirty="0">
                <a:solidFill>
                  <a:srgbClr val="666C7A"/>
                </a:solidFill>
                <a:latin typeface="Consolas" pitchFamily="34" charset="0"/>
                <a:ea typeface="Consolas" pitchFamily="34" charset="-122"/>
                <a:cs typeface="Consolas" pitchFamily="34" charset="-120"/>
              </a:rPr>
              <a:t>PER TOKEN, EVER</a:t>
            </a:r>
            <a:endParaRPr lang="en-US" sz="950" dirty="0"/>
          </a:p>
        </p:txBody>
      </p:sp>
      <p:sp>
        <p:nvSpPr>
          <p:cNvPr id="9" name="Text 7"/>
          <p:cNvSpPr/>
          <p:nvPr/>
        </p:nvSpPr>
        <p:spPr>
          <a:xfrm>
            <a:off x="4361688" y="5074920"/>
            <a:ext cx="1828800" cy="685800"/>
          </a:xfrm>
          <a:prstGeom prst="rect">
            <a:avLst/>
          </a:prstGeom>
          <a:noFill/>
          <a:ln/>
        </p:spPr>
        <p:txBody>
          <a:bodyPr wrap="square" rtlCol="0" anchor="ctr"/>
          <a:lstStyle/>
          <a:p>
            <a:pPr indent="0" marL="0">
              <a:buNone/>
            </a:pPr>
            <a:r>
              <a:rPr lang="en-US" sz="3800" b="1" dirty="0">
                <a:solidFill>
                  <a:srgbClr val="4F46E5"/>
                </a:solidFill>
                <a:latin typeface="Arial" pitchFamily="34" charset="0"/>
                <a:ea typeface="Arial" pitchFamily="34" charset="-122"/>
                <a:cs typeface="Arial" pitchFamily="34" charset="-120"/>
              </a:rPr>
              <a:t>0</a:t>
            </a:r>
            <a:endParaRPr lang="en-US" sz="3800" dirty="0"/>
          </a:p>
        </p:txBody>
      </p:sp>
      <p:sp>
        <p:nvSpPr>
          <p:cNvPr id="10" name="Text 8"/>
          <p:cNvSpPr/>
          <p:nvPr/>
        </p:nvSpPr>
        <p:spPr>
          <a:xfrm>
            <a:off x="4361688" y="5733288"/>
            <a:ext cx="1920240" cy="548640"/>
          </a:xfrm>
          <a:prstGeom prst="rect">
            <a:avLst/>
          </a:prstGeom>
          <a:noFill/>
          <a:ln/>
        </p:spPr>
        <p:txBody>
          <a:bodyPr wrap="square" rtlCol="0" anchor="ctr"/>
          <a:lstStyle/>
          <a:p>
            <a:pPr indent="0" marL="0">
              <a:lnSpc>
                <a:spcPts val="1200"/>
              </a:lnSpc>
              <a:buNone/>
            </a:pPr>
            <a:r>
              <a:rPr lang="en-US" sz="950" spc="150" kern="0" dirty="0">
                <a:solidFill>
                  <a:srgbClr val="666C7A"/>
                </a:solidFill>
                <a:latin typeface="Consolas" pitchFamily="34" charset="0"/>
                <a:ea typeface="Consolas" pitchFamily="34" charset="-122"/>
                <a:cs typeface="Consolas" pitchFamily="34" charset="-120"/>
              </a:rPr>
              <a:t>BYTES LEAVE THE ROOM</a:t>
            </a:r>
            <a:endParaRPr lang="en-US" sz="950" dirty="0"/>
          </a:p>
        </p:txBody>
      </p:sp>
      <p:sp>
        <p:nvSpPr>
          <p:cNvPr id="11" name="Shape 9"/>
          <p:cNvSpPr/>
          <p:nvPr/>
        </p:nvSpPr>
        <p:spPr>
          <a:xfrm>
            <a:off x="7040880" y="1554480"/>
            <a:ext cx="3840480" cy="3566160"/>
          </a:xfrm>
          <a:prstGeom prst="roundRect">
            <a:avLst>
              <a:gd name="adj" fmla="val 3077"/>
            </a:avLst>
          </a:prstGeom>
          <a:solidFill>
            <a:srgbClr val="F5F7FA"/>
          </a:solidFill>
          <a:ln w="15240">
            <a:solidFill>
              <a:srgbClr val="E1E5EC"/>
            </a:solidFill>
            <a:prstDash val="dash"/>
          </a:ln>
          <a:effectLst>
            <a:outerShdw sx="100000" sy="100000" kx="0" ky="0" algn="bl" rotWithShape="0" blurRad="139700" dist="38100" dir="5400000">
              <a:srgbClr val="9AA6BC">
                <a:alpha val="28000"/>
              </a:srgbClr>
            </a:outerShdw>
          </a:effectLst>
        </p:spPr>
      </p:sp>
      <p:sp>
        <p:nvSpPr>
          <p:cNvPr id="12" name="Text 10"/>
          <p:cNvSpPr/>
          <p:nvPr/>
        </p:nvSpPr>
        <p:spPr>
          <a:xfrm>
            <a:off x="7315200" y="1755648"/>
            <a:ext cx="2743200" cy="274320"/>
          </a:xfrm>
          <a:prstGeom prst="rect">
            <a:avLst/>
          </a:prstGeom>
          <a:noFill/>
          <a:ln/>
        </p:spPr>
        <p:txBody>
          <a:bodyPr wrap="square" rtlCol="0" anchor="ctr"/>
          <a:lstStyle/>
          <a:p>
            <a:pPr indent="0" marL="0">
              <a:buNone/>
            </a:pPr>
            <a:r>
              <a:rPr lang="en-US" sz="1000" spc="200" kern="0" dirty="0">
                <a:solidFill>
                  <a:srgbClr val="0F9E8E"/>
                </a:solidFill>
                <a:latin typeface="Consolas" pitchFamily="34" charset="0"/>
                <a:ea typeface="Consolas" pitchFamily="34" charset="-122"/>
                <a:cs typeface="Consolas" pitchFamily="34" charset="-120"/>
              </a:rPr>
              <a:t>YOUR BUILDING</a:t>
            </a:r>
            <a:endParaRPr lang="en-US" sz="1000" dirty="0"/>
          </a:p>
        </p:txBody>
      </p:sp>
      <p:sp>
        <p:nvSpPr>
          <p:cNvPr id="13" name="Shape 11"/>
          <p:cNvSpPr/>
          <p:nvPr/>
        </p:nvSpPr>
        <p:spPr>
          <a:xfrm>
            <a:off x="7726680" y="2423160"/>
            <a:ext cx="2468880" cy="1554480"/>
          </a:xfrm>
          <a:prstGeom prst="roundRect">
            <a:avLst>
              <a:gd name="adj" fmla="val 4706"/>
            </a:avLst>
          </a:prstGeom>
          <a:solidFill>
            <a:srgbClr val="FFFFFF"/>
          </a:solidFill>
          <a:ln w="15240">
            <a:solidFill>
              <a:srgbClr val="666C7A"/>
            </a:solidFill>
            <a:prstDash val="solid"/>
          </a:ln>
        </p:spPr>
      </p:sp>
      <p:sp>
        <p:nvSpPr>
          <p:cNvPr id="14" name="Shape 12"/>
          <p:cNvSpPr/>
          <p:nvPr/>
        </p:nvSpPr>
        <p:spPr>
          <a:xfrm rot="10800000">
            <a:off x="7452360" y="3977640"/>
            <a:ext cx="3017520" cy="256032"/>
          </a:xfrm>
          <a:prstGeom prst="trapezoid">
            <a:avLst/>
          </a:prstGeom>
          <a:solidFill>
            <a:srgbClr val="EEF1F6"/>
          </a:solidFill>
          <a:ln w="15240">
            <a:solidFill>
              <a:srgbClr val="666C7A"/>
            </a:solidFill>
            <a:prstDash val="solid"/>
          </a:ln>
        </p:spPr>
      </p:sp>
      <p:sp>
        <p:nvSpPr>
          <p:cNvPr id="15" name="Shape 13"/>
          <p:cNvSpPr/>
          <p:nvPr/>
        </p:nvSpPr>
        <p:spPr>
          <a:xfrm>
            <a:off x="8631936" y="2807208"/>
            <a:ext cx="658368" cy="658368"/>
          </a:xfrm>
          <a:prstGeom prst="ellipse">
            <a:avLst/>
          </a:prstGeom>
          <a:solidFill>
            <a:srgbClr val="4F46E5"/>
          </a:solidFill>
          <a:ln/>
          <a:effectLst>
            <a:outerShdw sx="100000" sy="100000" kx="0" ky="0" algn="bl" rotWithShape="0" blurRad="139700" dist="38100" dir="5400000">
              <a:srgbClr val="9AA6BC">
                <a:alpha val="28000"/>
              </a:srgbClr>
            </a:outerShdw>
          </a:effectLst>
        </p:spPr>
      </p:sp>
      <p:pic>
        <p:nvPicPr>
          <p:cNvPr id="16" name="Image 0" descr="preencoded.png">    </p:cNvPr>
          <p:cNvPicPr>
            <a:picLocks noChangeAspect="1"/>
          </p:cNvPicPr>
          <p:nvPr/>
        </p:nvPicPr>
        <p:blipFill>
          <a:blip r:embed="rId1"/>
          <a:stretch>
            <a:fillRect/>
          </a:stretch>
        </p:blipFill>
        <p:spPr>
          <a:xfrm>
            <a:off x="8789944" y="2965216"/>
            <a:ext cx="342351" cy="342351"/>
          </a:xfrm>
          <a:prstGeom prst="rect">
            <a:avLst/>
          </a:prstGeom>
        </p:spPr>
      </p:pic>
      <p:sp>
        <p:nvSpPr>
          <p:cNvPr id="17" name="Shape 14"/>
          <p:cNvSpPr/>
          <p:nvPr/>
        </p:nvSpPr>
        <p:spPr>
          <a:xfrm>
            <a:off x="7973568" y="2715768"/>
            <a:ext cx="146304" cy="146304"/>
          </a:xfrm>
          <a:prstGeom prst="ellipse">
            <a:avLst/>
          </a:prstGeom>
          <a:solidFill>
            <a:srgbClr val="0F9E8E"/>
          </a:solidFill>
          <a:ln/>
        </p:spPr>
      </p:sp>
      <p:sp>
        <p:nvSpPr>
          <p:cNvPr id="18" name="Shape 15"/>
          <p:cNvSpPr/>
          <p:nvPr/>
        </p:nvSpPr>
        <p:spPr>
          <a:xfrm>
            <a:off x="9802368" y="2715768"/>
            <a:ext cx="146304" cy="146304"/>
          </a:xfrm>
          <a:prstGeom prst="ellipse">
            <a:avLst/>
          </a:prstGeom>
          <a:solidFill>
            <a:srgbClr val="7C3AED"/>
          </a:solidFill>
          <a:ln/>
        </p:spPr>
      </p:sp>
      <p:sp>
        <p:nvSpPr>
          <p:cNvPr id="19" name="Shape 16"/>
          <p:cNvSpPr/>
          <p:nvPr/>
        </p:nvSpPr>
        <p:spPr>
          <a:xfrm>
            <a:off x="7973568" y="3538728"/>
            <a:ext cx="146304" cy="146304"/>
          </a:xfrm>
          <a:prstGeom prst="ellipse">
            <a:avLst/>
          </a:prstGeom>
          <a:solidFill>
            <a:srgbClr val="0284C7"/>
          </a:solidFill>
          <a:ln/>
        </p:spPr>
      </p:sp>
      <p:sp>
        <p:nvSpPr>
          <p:cNvPr id="20" name="Shape 17"/>
          <p:cNvSpPr/>
          <p:nvPr/>
        </p:nvSpPr>
        <p:spPr>
          <a:xfrm>
            <a:off x="9802368" y="3538728"/>
            <a:ext cx="146304" cy="146304"/>
          </a:xfrm>
          <a:prstGeom prst="ellipse">
            <a:avLst/>
          </a:prstGeom>
          <a:solidFill>
            <a:srgbClr val="E11D48"/>
          </a:solidFill>
          <a:ln/>
        </p:spPr>
      </p:sp>
      <p:sp>
        <p:nvSpPr>
          <p:cNvPr id="21" name="Text 18"/>
          <p:cNvSpPr/>
          <p:nvPr/>
        </p:nvSpPr>
        <p:spPr>
          <a:xfrm>
            <a:off x="7040880" y="4663440"/>
            <a:ext cx="3840480" cy="274320"/>
          </a:xfrm>
          <a:prstGeom prst="rect">
            <a:avLst/>
          </a:prstGeom>
          <a:noFill/>
          <a:ln/>
        </p:spPr>
        <p:txBody>
          <a:bodyPr wrap="square" rtlCol="0" anchor="ctr"/>
          <a:lstStyle/>
          <a:p>
            <a:pPr algn="ctr" indent="0" marL="0">
              <a:buNone/>
            </a:pPr>
            <a:r>
              <a:rPr lang="en-US" sz="1000" spc="100" kern="0" dirty="0">
                <a:solidFill>
                  <a:srgbClr val="666C7A"/>
                </a:solidFill>
                <a:latin typeface="Consolas" pitchFamily="34" charset="0"/>
                <a:ea typeface="Consolas" pitchFamily="34" charset="-122"/>
                <a:cs typeface="Consolas" pitchFamily="34" charset="-120"/>
              </a:rPr>
              <a:t>every token stays inside</a:t>
            </a:r>
            <a:endParaRPr lang="en-US" sz="1000" dirty="0"/>
          </a:p>
        </p:txBody>
      </p:sp>
      <p:sp>
        <p:nvSpPr>
          <p:cNvPr id="22" name="Shape 19"/>
          <p:cNvSpPr/>
          <p:nvPr/>
        </p:nvSpPr>
        <p:spPr>
          <a:xfrm>
            <a:off x="11109960" y="1600200"/>
            <a:ext cx="731520" cy="731520"/>
          </a:xfrm>
          <a:prstGeom prst="ellipse">
            <a:avLst/>
          </a:prstGeom>
          <a:solidFill>
            <a:srgbClr val="9AA1B0"/>
          </a:solidFill>
          <a:ln/>
          <a:effectLst>
            <a:outerShdw sx="100000" sy="100000" kx="0" ky="0" algn="bl" rotWithShape="0" blurRad="139700" dist="38100" dir="5400000">
              <a:srgbClr val="9AA6BC">
                <a:alpha val="28000"/>
              </a:srgbClr>
            </a:outerShdw>
          </a:effectLst>
        </p:spPr>
      </p:sp>
      <p:pic>
        <p:nvPicPr>
          <p:cNvPr id="23" name="Image 1" descr="preencoded.png">    </p:cNvPr>
          <p:cNvPicPr>
            <a:picLocks noChangeAspect="1"/>
          </p:cNvPicPr>
          <p:nvPr/>
        </p:nvPicPr>
        <p:blipFill>
          <a:blip r:embed="rId2"/>
          <a:stretch>
            <a:fillRect/>
          </a:stretch>
        </p:blipFill>
        <p:spPr>
          <a:xfrm>
            <a:off x="11285525" y="1775765"/>
            <a:ext cx="380390" cy="380390"/>
          </a:xfrm>
          <a:prstGeom prst="rect">
            <a:avLst/>
          </a:prstGeom>
        </p:spPr>
      </p:pic>
      <p:sp>
        <p:nvSpPr>
          <p:cNvPr id="24" name="Shape 20"/>
          <p:cNvSpPr/>
          <p:nvPr/>
        </p:nvSpPr>
        <p:spPr>
          <a:xfrm>
            <a:off x="11109960" y="1600200"/>
            <a:ext cx="731520" cy="731520"/>
          </a:xfrm>
          <a:prstGeom prst="line">
            <a:avLst/>
          </a:prstGeom>
          <a:noFill/>
          <a:ln w="31750">
            <a:solidFill>
              <a:srgbClr val="E11D48"/>
            </a:solidFill>
            <a:prstDash val="solid"/>
          </a:ln>
        </p:spPr>
      </p:sp>
      <p:sp>
        <p:nvSpPr>
          <p:cNvPr id="25" name="Text 21"/>
          <p:cNvSpPr/>
          <p:nvPr/>
        </p:nvSpPr>
        <p:spPr>
          <a:xfrm>
            <a:off x="10835640" y="2487168"/>
            <a:ext cx="1280160" cy="274320"/>
          </a:xfrm>
          <a:prstGeom prst="rect">
            <a:avLst/>
          </a:prstGeom>
          <a:noFill/>
          <a:ln/>
        </p:spPr>
        <p:txBody>
          <a:bodyPr wrap="square" rtlCol="0" anchor="ctr"/>
          <a:lstStyle/>
          <a:p>
            <a:pPr algn="ctr" indent="0" marL="0">
              <a:buNone/>
            </a:pPr>
            <a:r>
              <a:rPr lang="en-US" sz="1000" dirty="0">
                <a:solidFill>
                  <a:srgbClr val="9AA1B0"/>
                </a:solidFill>
                <a:latin typeface="Consolas" pitchFamily="34" charset="0"/>
                <a:ea typeface="Consolas" pitchFamily="34" charset="-122"/>
                <a:cs typeface="Consolas" pitchFamily="34" charset="-120"/>
              </a:rPr>
              <a:t>no cloud</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138160" y="2743200"/>
            <a:ext cx="4023360" cy="4023360"/>
          </a:xfrm>
          <a:prstGeom prst="rect">
            <a:avLst/>
          </a:prstGeom>
        </p:spPr>
      </p:pic>
      <p:sp>
        <p:nvSpPr>
          <p:cNvPr id="3" name="Text 0"/>
          <p:cNvSpPr/>
          <p:nvPr/>
        </p:nvSpPr>
        <p:spPr>
          <a:xfrm>
            <a:off x="841248" y="1143000"/>
            <a:ext cx="3657600" cy="1463040"/>
          </a:xfrm>
          <a:prstGeom prst="rect">
            <a:avLst/>
          </a:prstGeom>
          <a:noFill/>
          <a:ln/>
        </p:spPr>
        <p:txBody>
          <a:bodyPr wrap="square" rtlCol="0" anchor="ctr"/>
          <a:lstStyle/>
          <a:p>
            <a:pPr indent="0" marL="0">
              <a:buNone/>
            </a:pPr>
            <a:r>
              <a:rPr lang="en-US" sz="9200" b="1" dirty="0">
                <a:solidFill>
                  <a:srgbClr val="E1E5EC"/>
                </a:solidFill>
                <a:latin typeface="Arial" pitchFamily="34" charset="0"/>
                <a:ea typeface="Arial" pitchFamily="34" charset="-122"/>
                <a:cs typeface="Arial" pitchFamily="34" charset="-120"/>
              </a:rPr>
              <a:t>iv</a:t>
            </a:r>
            <a:endParaRPr lang="en-US" sz="9200" dirty="0"/>
          </a:p>
        </p:txBody>
      </p:sp>
      <p:sp>
        <p:nvSpPr>
          <p:cNvPr id="4" name="Text 1"/>
          <p:cNvSpPr/>
          <p:nvPr/>
        </p:nvSpPr>
        <p:spPr>
          <a:xfrm>
            <a:off x="841248" y="2788920"/>
            <a:ext cx="9144000" cy="292608"/>
          </a:xfrm>
          <a:prstGeom prst="rect">
            <a:avLst/>
          </a:prstGeom>
          <a:noFill/>
          <a:ln/>
        </p:spPr>
        <p:txBody>
          <a:bodyPr wrap="square" rtlCol="0" anchor="ctr"/>
          <a:lstStyle/>
          <a:p>
            <a:pPr indent="0" marL="0">
              <a:buNone/>
            </a:pPr>
            <a:r>
              <a:rPr lang="en-US" sz="1100" b="1" spc="300" kern="0" dirty="0">
                <a:solidFill>
                  <a:srgbClr val="7C3AED"/>
                </a:solidFill>
                <a:latin typeface="Arial" pitchFamily="34" charset="0"/>
                <a:ea typeface="Arial" pitchFamily="34" charset="-122"/>
                <a:cs typeface="Arial" pitchFamily="34" charset="-120"/>
              </a:rPr>
              <a:t>ACT FOUR</a:t>
            </a:r>
            <a:endParaRPr lang="en-US" sz="1100" dirty="0"/>
          </a:p>
        </p:txBody>
      </p:sp>
      <p:sp>
        <p:nvSpPr>
          <p:cNvPr id="5" name="Text 2"/>
          <p:cNvSpPr/>
          <p:nvPr/>
        </p:nvSpPr>
        <p:spPr>
          <a:xfrm>
            <a:off x="841248" y="3154680"/>
            <a:ext cx="8229600" cy="1463040"/>
          </a:xfrm>
          <a:prstGeom prst="rect">
            <a:avLst/>
          </a:prstGeom>
          <a:noFill/>
          <a:ln/>
        </p:spPr>
        <p:txBody>
          <a:bodyPr wrap="square" rtlCol="0" anchor="ctr"/>
          <a:lstStyle/>
          <a:p>
            <a:pPr indent="0" marL="0">
              <a:lnSpc>
                <a:spcPts val="5000"/>
              </a:lnSpc>
              <a:buNone/>
            </a:pPr>
            <a:r>
              <a:rPr lang="en-US" sz="5000" b="1" dirty="0">
                <a:solidFill>
                  <a:srgbClr val="16181D"/>
                </a:solidFill>
                <a:latin typeface="Arial" pitchFamily="34" charset="0"/>
                <a:ea typeface="Arial" pitchFamily="34" charset="-122"/>
                <a:cs typeface="Arial" pitchFamily="34" charset="-120"/>
              </a:rPr>
              <a:t>Control Beyond</a:t>
            </a:r>
            <a:endParaRPr lang="en-US" sz="5000" dirty="0"/>
          </a:p>
          <a:p>
            <a:pPr indent="0" marL="0">
              <a:lnSpc>
                <a:spcPts val="5000"/>
              </a:lnSpc>
              <a:buNone/>
            </a:pPr>
            <a:r>
              <a:rPr lang="en-US" sz="5000" b="1" dirty="0">
                <a:solidFill>
                  <a:srgbClr val="16181D"/>
                </a:solidFill>
                <a:latin typeface="Arial" pitchFamily="34" charset="0"/>
                <a:ea typeface="Arial" pitchFamily="34" charset="-122"/>
                <a:cs typeface="Arial" pitchFamily="34" charset="-120"/>
              </a:rPr>
              <a:t>the Prompt</a:t>
            </a:r>
            <a:endParaRPr lang="en-US" sz="5000" dirty="0"/>
          </a:p>
        </p:txBody>
      </p:sp>
      <p:sp>
        <p:nvSpPr>
          <p:cNvPr id="6" name="Text 3"/>
          <p:cNvSpPr/>
          <p:nvPr/>
        </p:nvSpPr>
        <p:spPr>
          <a:xfrm>
            <a:off x="841248" y="5120640"/>
            <a:ext cx="6949440" cy="822960"/>
          </a:xfrm>
          <a:prstGeom prst="rect">
            <a:avLst/>
          </a:prstGeom>
          <a:noFill/>
          <a:ln/>
        </p:spPr>
        <p:txBody>
          <a:bodyPr wrap="square" rtlCol="0" anchor="ctr"/>
          <a:lstStyle/>
          <a:p>
            <a:pPr indent="0" marL="0">
              <a:lnSpc>
                <a:spcPts val="2500"/>
              </a:lnSpc>
              <a:buNone/>
            </a:pPr>
            <a:r>
              <a:rPr lang="en-US" sz="1700" dirty="0">
                <a:solidFill>
                  <a:srgbClr val="666C7A"/>
                </a:solidFill>
                <a:latin typeface="Calibri" pitchFamily="34" charset="0"/>
                <a:ea typeface="Calibri" pitchFamily="34" charset="-122"/>
                <a:cs typeface="Calibri" pitchFamily="34" charset="-120"/>
              </a:rPr>
              <a:t>The prompt is one lever. There are five more, and they are where reliability comes from.</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indent="0" marL="0">
              <a:buNone/>
            </a:pPr>
            <a:r>
              <a:rPr lang="en-US" sz="1100" b="1" spc="300" kern="0" dirty="0">
                <a:solidFill>
                  <a:srgbClr val="4F46E5"/>
                </a:solidFill>
                <a:latin typeface="Arial" pitchFamily="34" charset="0"/>
                <a:ea typeface="Arial" pitchFamily="34" charset="-122"/>
                <a:cs typeface="Arial" pitchFamily="34" charset="-120"/>
              </a:rPr>
              <a:t>THE COCKPIT</a:t>
            </a:r>
            <a:endParaRPr lang="en-US" sz="1100" dirty="0"/>
          </a:p>
        </p:txBody>
      </p:sp>
      <p:sp>
        <p:nvSpPr>
          <p:cNvPr id="3" name="Text 1"/>
          <p:cNvSpPr/>
          <p:nvPr/>
        </p:nvSpPr>
        <p:spPr>
          <a:xfrm>
            <a:off x="841248" y="1005840"/>
            <a:ext cx="10058400" cy="822960"/>
          </a:xfrm>
          <a:prstGeom prst="rect">
            <a:avLst/>
          </a:prstGeom>
          <a:noFill/>
          <a:ln/>
        </p:spPr>
        <p:txBody>
          <a:bodyPr wrap="square" rtlCol="0" anchor="ctr"/>
          <a:lstStyle/>
          <a:p>
            <a:pPr indent="0" marL="0">
              <a:buNone/>
            </a:pPr>
            <a:r>
              <a:rPr lang="en-US" sz="3000" b="1" dirty="0">
                <a:solidFill>
                  <a:srgbClr val="16181D"/>
                </a:solidFill>
                <a:latin typeface="Arial" pitchFamily="34" charset="0"/>
                <a:ea typeface="Arial" pitchFamily="34" charset="-122"/>
                <a:cs typeface="Arial" pitchFamily="34" charset="-120"/>
              </a:rPr>
              <a:t>Six ways to steer. Only </a:t>
            </a:r>
            <a:pPr indent="0" marL="0">
              <a:buNone/>
            </a:pPr>
            <a:r>
              <a:rPr lang="en-US" sz="3000" b="1" dirty="0">
                <a:solidFill>
                  <a:srgbClr val="4F46E5"/>
                </a:solidFill>
                <a:latin typeface="Arial" pitchFamily="34" charset="0"/>
                <a:ea typeface="Arial" pitchFamily="34" charset="-122"/>
                <a:cs typeface="Arial" pitchFamily="34" charset="-120"/>
              </a:rPr>
              <a:t>one</a:t>
            </a:r>
            <a:pPr indent="0" marL="0">
              <a:buNone/>
            </a:pPr>
            <a:r>
              <a:rPr lang="en-US" sz="3000" b="1" dirty="0">
                <a:solidFill>
                  <a:srgbClr val="16181D"/>
                </a:solidFill>
                <a:latin typeface="Arial" pitchFamily="34" charset="0"/>
                <a:ea typeface="Arial" pitchFamily="34" charset="-122"/>
                <a:cs typeface="Arial" pitchFamily="34" charset="-120"/>
              </a:rPr>
              <a:t> is the prompt.</a:t>
            </a:r>
            <a:endParaRPr lang="en-US" sz="3000" dirty="0"/>
          </a:p>
        </p:txBody>
      </p:sp>
      <p:sp>
        <p:nvSpPr>
          <p:cNvPr id="4" name="Shape 2"/>
          <p:cNvSpPr/>
          <p:nvPr/>
        </p:nvSpPr>
        <p:spPr>
          <a:xfrm>
            <a:off x="841248" y="2057400"/>
            <a:ext cx="3401568" cy="1828800"/>
          </a:xfrm>
          <a:prstGeom prst="roundRect">
            <a:avLst>
              <a:gd name="adj" fmla="val 5000"/>
            </a:avLst>
          </a:prstGeom>
          <a:solidFill>
            <a:srgbClr val="F5F7FA"/>
          </a:solidFill>
          <a:ln w="12700">
            <a:solidFill>
              <a:srgbClr val="E1E5EC"/>
            </a:solidFill>
            <a:prstDash val="solid"/>
          </a:ln>
          <a:effectLst>
            <a:outerShdw sx="100000" sy="100000" kx="0" ky="0" algn="bl" rotWithShape="0" blurRad="139700" dist="38100" dir="5400000">
              <a:srgbClr val="9AA6BC">
                <a:alpha val="28000"/>
              </a:srgbClr>
            </a:outerShdw>
          </a:effectLst>
        </p:spPr>
      </p:sp>
      <p:sp>
        <p:nvSpPr>
          <p:cNvPr id="5" name="Shape 3"/>
          <p:cNvSpPr/>
          <p:nvPr/>
        </p:nvSpPr>
        <p:spPr>
          <a:xfrm>
            <a:off x="1152144" y="2350008"/>
            <a:ext cx="512064" cy="512064"/>
          </a:xfrm>
          <a:prstGeom prst="ellipse">
            <a:avLst/>
          </a:prstGeom>
          <a:solidFill>
            <a:srgbClr val="4F46E5"/>
          </a:solidFill>
          <a:ln/>
          <a:effectLst>
            <a:outerShdw sx="100000" sy="100000" kx="0" ky="0" algn="bl" rotWithShape="0" blurRad="139700" dist="38100" dir="5400000">
              <a:srgbClr val="9AA6BC">
                <a:alpha val="28000"/>
              </a:srgbClr>
            </a:outerShdw>
          </a:effectLst>
        </p:spPr>
      </p:sp>
      <p:pic>
        <p:nvPicPr>
          <p:cNvPr id="6" name="Image 0" descr="preencoded.png">    </p:cNvPr>
          <p:cNvPicPr>
            <a:picLocks noChangeAspect="1"/>
          </p:cNvPicPr>
          <p:nvPr/>
        </p:nvPicPr>
        <p:blipFill>
          <a:blip r:embed="rId1"/>
          <a:stretch>
            <a:fillRect/>
          </a:stretch>
        </p:blipFill>
        <p:spPr>
          <a:xfrm>
            <a:off x="1275039" y="2472903"/>
            <a:ext cx="266273" cy="266273"/>
          </a:xfrm>
          <a:prstGeom prst="rect">
            <a:avLst/>
          </a:prstGeom>
        </p:spPr>
      </p:pic>
      <p:sp>
        <p:nvSpPr>
          <p:cNvPr id="7" name="Text 4"/>
          <p:cNvSpPr/>
          <p:nvPr/>
        </p:nvSpPr>
        <p:spPr>
          <a:xfrm>
            <a:off x="1801368" y="2331720"/>
            <a:ext cx="2194560" cy="274320"/>
          </a:xfrm>
          <a:prstGeom prst="rect">
            <a:avLst/>
          </a:prstGeom>
          <a:noFill/>
          <a:ln/>
        </p:spPr>
        <p:txBody>
          <a:bodyPr wrap="square" rtlCol="0" anchor="ctr"/>
          <a:lstStyle/>
          <a:p>
            <a:pPr indent="0" marL="0">
              <a:buNone/>
            </a:pPr>
            <a:r>
              <a:rPr lang="en-US" sz="950" spc="200" kern="0" dirty="0">
                <a:solidFill>
                  <a:srgbClr val="9AA1B0"/>
                </a:solidFill>
                <a:latin typeface="Consolas" pitchFamily="34" charset="0"/>
                <a:ea typeface="Consolas" pitchFamily="34" charset="-122"/>
                <a:cs typeface="Consolas" pitchFamily="34" charset="-120"/>
              </a:rPr>
              <a:t>LEVER 01</a:t>
            </a:r>
            <a:endParaRPr lang="en-US" sz="950" dirty="0"/>
          </a:p>
        </p:txBody>
      </p:sp>
      <p:sp>
        <p:nvSpPr>
          <p:cNvPr id="8" name="Text 5"/>
          <p:cNvSpPr/>
          <p:nvPr/>
        </p:nvSpPr>
        <p:spPr>
          <a:xfrm>
            <a:off x="1801368" y="2587752"/>
            <a:ext cx="2212848" cy="365760"/>
          </a:xfrm>
          <a:prstGeom prst="rect">
            <a:avLst/>
          </a:prstGeom>
          <a:noFill/>
          <a:ln/>
        </p:spPr>
        <p:txBody>
          <a:bodyPr wrap="square" rtlCol="0" anchor="ctr"/>
          <a:lstStyle/>
          <a:p>
            <a:pPr indent="0" marL="0">
              <a:buNone/>
            </a:pPr>
            <a:r>
              <a:rPr lang="en-US" sz="1800" b="1" dirty="0">
                <a:solidFill>
                  <a:srgbClr val="16181D"/>
                </a:solidFill>
                <a:latin typeface="Arial" pitchFamily="34" charset="0"/>
                <a:ea typeface="Arial" pitchFamily="34" charset="-122"/>
                <a:cs typeface="Arial" pitchFamily="34" charset="-120"/>
              </a:rPr>
              <a:t>The prompt</a:t>
            </a:r>
            <a:endParaRPr lang="en-US" sz="1800" dirty="0"/>
          </a:p>
        </p:txBody>
      </p:sp>
      <p:sp>
        <p:nvSpPr>
          <p:cNvPr id="9" name="Text 6"/>
          <p:cNvSpPr/>
          <p:nvPr/>
        </p:nvSpPr>
        <p:spPr>
          <a:xfrm>
            <a:off x="1161288" y="3154680"/>
            <a:ext cx="2761488" cy="685800"/>
          </a:xfrm>
          <a:prstGeom prst="rect">
            <a:avLst/>
          </a:prstGeom>
          <a:noFill/>
          <a:ln/>
        </p:spPr>
        <p:txBody>
          <a:bodyPr wrap="square" rtlCol="0" anchor="ctr"/>
          <a:lstStyle/>
          <a:p>
            <a:pPr indent="0" marL="0">
              <a:lnSpc>
                <a:spcPts val="1700"/>
              </a:lnSpc>
              <a:buNone/>
            </a:pPr>
            <a:r>
              <a:rPr lang="en-US" sz="1250" dirty="0">
                <a:solidFill>
                  <a:srgbClr val="666C7A"/>
                </a:solidFill>
                <a:latin typeface="Calibri" pitchFamily="34" charset="0"/>
                <a:ea typeface="Calibri" pitchFamily="34" charset="-122"/>
                <a:cs typeface="Calibri" pitchFamily="34" charset="-120"/>
              </a:rPr>
              <a:t>What you want. The instruction everyone knows.</a:t>
            </a:r>
            <a:endParaRPr lang="en-US" sz="1250" dirty="0"/>
          </a:p>
        </p:txBody>
      </p:sp>
      <p:sp>
        <p:nvSpPr>
          <p:cNvPr id="10" name="Shape 7"/>
          <p:cNvSpPr/>
          <p:nvPr/>
        </p:nvSpPr>
        <p:spPr>
          <a:xfrm>
            <a:off x="4498848" y="2057400"/>
            <a:ext cx="3401568" cy="1828800"/>
          </a:xfrm>
          <a:prstGeom prst="roundRect">
            <a:avLst>
              <a:gd name="adj" fmla="val 5000"/>
            </a:avLst>
          </a:prstGeom>
          <a:solidFill>
            <a:srgbClr val="F5F7FA"/>
          </a:solidFill>
          <a:ln w="12700">
            <a:solidFill>
              <a:srgbClr val="E1E5EC"/>
            </a:solidFill>
            <a:prstDash val="solid"/>
          </a:ln>
          <a:effectLst>
            <a:outerShdw sx="100000" sy="100000" kx="0" ky="0" algn="bl" rotWithShape="0" blurRad="139700" dist="38100" dir="5400000">
              <a:srgbClr val="9AA6BC">
                <a:alpha val="28000"/>
              </a:srgbClr>
            </a:outerShdw>
          </a:effectLst>
        </p:spPr>
      </p:sp>
      <p:sp>
        <p:nvSpPr>
          <p:cNvPr id="11" name="Shape 8"/>
          <p:cNvSpPr/>
          <p:nvPr/>
        </p:nvSpPr>
        <p:spPr>
          <a:xfrm>
            <a:off x="4809744" y="2350008"/>
            <a:ext cx="512064" cy="512064"/>
          </a:xfrm>
          <a:prstGeom prst="ellipse">
            <a:avLst/>
          </a:prstGeom>
          <a:solidFill>
            <a:srgbClr val="0F9E8E"/>
          </a:solidFill>
          <a:ln/>
          <a:effectLst>
            <a:outerShdw sx="100000" sy="100000" kx="0" ky="0" algn="bl" rotWithShape="0" blurRad="139700" dist="38100" dir="5400000">
              <a:srgbClr val="9AA6BC">
                <a:alpha val="28000"/>
              </a:srgbClr>
            </a:outerShdw>
          </a:effectLst>
        </p:spPr>
      </p:sp>
      <p:pic>
        <p:nvPicPr>
          <p:cNvPr id="12" name="Image 1" descr="preencoded.png">    </p:cNvPr>
          <p:cNvPicPr>
            <a:picLocks noChangeAspect="1"/>
          </p:cNvPicPr>
          <p:nvPr/>
        </p:nvPicPr>
        <p:blipFill>
          <a:blip r:embed="rId2"/>
          <a:stretch>
            <a:fillRect/>
          </a:stretch>
        </p:blipFill>
        <p:spPr>
          <a:xfrm>
            <a:off x="4932639" y="2472903"/>
            <a:ext cx="266273" cy="266273"/>
          </a:xfrm>
          <a:prstGeom prst="rect">
            <a:avLst/>
          </a:prstGeom>
        </p:spPr>
      </p:pic>
      <p:sp>
        <p:nvSpPr>
          <p:cNvPr id="13" name="Text 9"/>
          <p:cNvSpPr/>
          <p:nvPr/>
        </p:nvSpPr>
        <p:spPr>
          <a:xfrm>
            <a:off x="5458968" y="2331720"/>
            <a:ext cx="2194560" cy="274320"/>
          </a:xfrm>
          <a:prstGeom prst="rect">
            <a:avLst/>
          </a:prstGeom>
          <a:noFill/>
          <a:ln/>
        </p:spPr>
        <p:txBody>
          <a:bodyPr wrap="square" rtlCol="0" anchor="ctr"/>
          <a:lstStyle/>
          <a:p>
            <a:pPr indent="0" marL="0">
              <a:buNone/>
            </a:pPr>
            <a:r>
              <a:rPr lang="en-US" sz="950" spc="200" kern="0" dirty="0">
                <a:solidFill>
                  <a:srgbClr val="9AA1B0"/>
                </a:solidFill>
                <a:latin typeface="Consolas" pitchFamily="34" charset="0"/>
                <a:ea typeface="Consolas" pitchFamily="34" charset="-122"/>
                <a:cs typeface="Consolas" pitchFamily="34" charset="-120"/>
              </a:rPr>
              <a:t>LEVER 02</a:t>
            </a:r>
            <a:endParaRPr lang="en-US" sz="950" dirty="0"/>
          </a:p>
        </p:txBody>
      </p:sp>
      <p:sp>
        <p:nvSpPr>
          <p:cNvPr id="14" name="Text 10"/>
          <p:cNvSpPr/>
          <p:nvPr/>
        </p:nvSpPr>
        <p:spPr>
          <a:xfrm>
            <a:off x="5458968" y="2587752"/>
            <a:ext cx="2212848" cy="365760"/>
          </a:xfrm>
          <a:prstGeom prst="rect">
            <a:avLst/>
          </a:prstGeom>
          <a:noFill/>
          <a:ln/>
        </p:spPr>
        <p:txBody>
          <a:bodyPr wrap="square" rtlCol="0" anchor="ctr"/>
          <a:lstStyle/>
          <a:p>
            <a:pPr indent="0" marL="0">
              <a:buNone/>
            </a:pPr>
            <a:r>
              <a:rPr lang="en-US" sz="1800" b="1" dirty="0">
                <a:solidFill>
                  <a:srgbClr val="16181D"/>
                </a:solidFill>
                <a:latin typeface="Arial" pitchFamily="34" charset="0"/>
                <a:ea typeface="Arial" pitchFamily="34" charset="-122"/>
                <a:cs typeface="Arial" pitchFamily="34" charset="-120"/>
              </a:rPr>
              <a:t>Tools</a:t>
            </a:r>
            <a:endParaRPr lang="en-US" sz="1800" dirty="0"/>
          </a:p>
        </p:txBody>
      </p:sp>
      <p:sp>
        <p:nvSpPr>
          <p:cNvPr id="15" name="Text 11"/>
          <p:cNvSpPr/>
          <p:nvPr/>
        </p:nvSpPr>
        <p:spPr>
          <a:xfrm>
            <a:off x="4818888" y="3154680"/>
            <a:ext cx="2761488" cy="685800"/>
          </a:xfrm>
          <a:prstGeom prst="rect">
            <a:avLst/>
          </a:prstGeom>
          <a:noFill/>
          <a:ln/>
        </p:spPr>
        <p:txBody>
          <a:bodyPr wrap="square" rtlCol="0" anchor="ctr"/>
          <a:lstStyle/>
          <a:p>
            <a:pPr indent="0" marL="0">
              <a:lnSpc>
                <a:spcPts val="1700"/>
              </a:lnSpc>
              <a:buNone/>
            </a:pPr>
            <a:r>
              <a:rPr lang="en-US" sz="1250" dirty="0">
                <a:solidFill>
                  <a:srgbClr val="666C7A"/>
                </a:solidFill>
                <a:latin typeface="Calibri" pitchFamily="34" charset="0"/>
                <a:ea typeface="Calibri" pitchFamily="34" charset="-122"/>
                <a:cs typeface="Calibri" pitchFamily="34" charset="-120"/>
              </a:rPr>
              <a:t>What it is allowed to touch. The capability boundary.</a:t>
            </a:r>
            <a:endParaRPr lang="en-US" sz="1250" dirty="0"/>
          </a:p>
        </p:txBody>
      </p:sp>
      <p:sp>
        <p:nvSpPr>
          <p:cNvPr id="16" name="Shape 12"/>
          <p:cNvSpPr/>
          <p:nvPr/>
        </p:nvSpPr>
        <p:spPr>
          <a:xfrm>
            <a:off x="8156448" y="2057400"/>
            <a:ext cx="3401568" cy="1828800"/>
          </a:xfrm>
          <a:prstGeom prst="roundRect">
            <a:avLst>
              <a:gd name="adj" fmla="val 5000"/>
            </a:avLst>
          </a:prstGeom>
          <a:solidFill>
            <a:srgbClr val="F5F7FA"/>
          </a:solidFill>
          <a:ln w="12700">
            <a:solidFill>
              <a:srgbClr val="E1E5EC"/>
            </a:solidFill>
            <a:prstDash val="solid"/>
          </a:ln>
          <a:effectLst>
            <a:outerShdw sx="100000" sy="100000" kx="0" ky="0" algn="bl" rotWithShape="0" blurRad="139700" dist="38100" dir="5400000">
              <a:srgbClr val="9AA6BC">
                <a:alpha val="28000"/>
              </a:srgbClr>
            </a:outerShdw>
          </a:effectLst>
        </p:spPr>
      </p:sp>
      <p:sp>
        <p:nvSpPr>
          <p:cNvPr id="17" name="Shape 13"/>
          <p:cNvSpPr/>
          <p:nvPr/>
        </p:nvSpPr>
        <p:spPr>
          <a:xfrm>
            <a:off x="8467344" y="2350008"/>
            <a:ext cx="512064" cy="512064"/>
          </a:xfrm>
          <a:prstGeom prst="ellipse">
            <a:avLst/>
          </a:prstGeom>
          <a:solidFill>
            <a:srgbClr val="7C3AED"/>
          </a:solidFill>
          <a:ln/>
          <a:effectLst>
            <a:outerShdw sx="100000" sy="100000" kx="0" ky="0" algn="bl" rotWithShape="0" blurRad="139700" dist="38100" dir="5400000">
              <a:srgbClr val="9AA6BC">
                <a:alpha val="28000"/>
              </a:srgbClr>
            </a:outerShdw>
          </a:effectLst>
        </p:spPr>
      </p:sp>
      <p:pic>
        <p:nvPicPr>
          <p:cNvPr id="18" name="Image 2" descr="preencoded.png">    </p:cNvPr>
          <p:cNvPicPr>
            <a:picLocks noChangeAspect="1"/>
          </p:cNvPicPr>
          <p:nvPr/>
        </p:nvPicPr>
        <p:blipFill>
          <a:blip r:embed="rId3"/>
          <a:stretch>
            <a:fillRect/>
          </a:stretch>
        </p:blipFill>
        <p:spPr>
          <a:xfrm>
            <a:off x="8590239" y="2472903"/>
            <a:ext cx="266273" cy="266273"/>
          </a:xfrm>
          <a:prstGeom prst="rect">
            <a:avLst/>
          </a:prstGeom>
        </p:spPr>
      </p:pic>
      <p:sp>
        <p:nvSpPr>
          <p:cNvPr id="19" name="Text 14"/>
          <p:cNvSpPr/>
          <p:nvPr/>
        </p:nvSpPr>
        <p:spPr>
          <a:xfrm>
            <a:off x="9116568" y="2331720"/>
            <a:ext cx="2194560" cy="274320"/>
          </a:xfrm>
          <a:prstGeom prst="rect">
            <a:avLst/>
          </a:prstGeom>
          <a:noFill/>
          <a:ln/>
        </p:spPr>
        <p:txBody>
          <a:bodyPr wrap="square" rtlCol="0" anchor="ctr"/>
          <a:lstStyle/>
          <a:p>
            <a:pPr indent="0" marL="0">
              <a:buNone/>
            </a:pPr>
            <a:r>
              <a:rPr lang="en-US" sz="950" spc="200" kern="0" dirty="0">
                <a:solidFill>
                  <a:srgbClr val="9AA1B0"/>
                </a:solidFill>
                <a:latin typeface="Consolas" pitchFamily="34" charset="0"/>
                <a:ea typeface="Consolas" pitchFamily="34" charset="-122"/>
                <a:cs typeface="Consolas" pitchFamily="34" charset="-120"/>
              </a:rPr>
              <a:t>LEVER 03</a:t>
            </a:r>
            <a:endParaRPr lang="en-US" sz="950" dirty="0"/>
          </a:p>
        </p:txBody>
      </p:sp>
      <p:sp>
        <p:nvSpPr>
          <p:cNvPr id="20" name="Text 15"/>
          <p:cNvSpPr/>
          <p:nvPr/>
        </p:nvSpPr>
        <p:spPr>
          <a:xfrm>
            <a:off x="9116568" y="2587752"/>
            <a:ext cx="2212848" cy="365760"/>
          </a:xfrm>
          <a:prstGeom prst="rect">
            <a:avLst/>
          </a:prstGeom>
          <a:noFill/>
          <a:ln/>
        </p:spPr>
        <p:txBody>
          <a:bodyPr wrap="square" rtlCol="0" anchor="ctr"/>
          <a:lstStyle/>
          <a:p>
            <a:pPr indent="0" marL="0">
              <a:buNone/>
            </a:pPr>
            <a:r>
              <a:rPr lang="en-US" sz="1800" b="1" dirty="0">
                <a:solidFill>
                  <a:srgbClr val="16181D"/>
                </a:solidFill>
                <a:latin typeface="Arial" pitchFamily="34" charset="0"/>
                <a:ea typeface="Arial" pitchFamily="34" charset="-122"/>
                <a:cs typeface="Arial" pitchFamily="34" charset="-120"/>
              </a:rPr>
              <a:t>Schema</a:t>
            </a:r>
            <a:endParaRPr lang="en-US" sz="1800" dirty="0"/>
          </a:p>
        </p:txBody>
      </p:sp>
      <p:sp>
        <p:nvSpPr>
          <p:cNvPr id="21" name="Text 16"/>
          <p:cNvSpPr/>
          <p:nvPr/>
        </p:nvSpPr>
        <p:spPr>
          <a:xfrm>
            <a:off x="8476488" y="3154680"/>
            <a:ext cx="2761488" cy="685800"/>
          </a:xfrm>
          <a:prstGeom prst="rect">
            <a:avLst/>
          </a:prstGeom>
          <a:noFill/>
          <a:ln/>
        </p:spPr>
        <p:txBody>
          <a:bodyPr wrap="square" rtlCol="0" anchor="ctr"/>
          <a:lstStyle/>
          <a:p>
            <a:pPr indent="0" marL="0">
              <a:lnSpc>
                <a:spcPts val="1700"/>
              </a:lnSpc>
              <a:buNone/>
            </a:pPr>
            <a:r>
              <a:rPr lang="en-US" sz="1250" dirty="0">
                <a:solidFill>
                  <a:srgbClr val="666C7A"/>
                </a:solidFill>
                <a:latin typeface="Calibri" pitchFamily="34" charset="0"/>
                <a:ea typeface="Calibri" pitchFamily="34" charset="-122"/>
                <a:cs typeface="Calibri" pitchFamily="34" charset="-120"/>
              </a:rPr>
              <a:t>The shape of the answer. A typed object, not prose.</a:t>
            </a:r>
            <a:endParaRPr lang="en-US" sz="1250" dirty="0"/>
          </a:p>
        </p:txBody>
      </p:sp>
      <p:sp>
        <p:nvSpPr>
          <p:cNvPr id="22" name="Shape 17"/>
          <p:cNvSpPr/>
          <p:nvPr/>
        </p:nvSpPr>
        <p:spPr>
          <a:xfrm>
            <a:off x="841248" y="4142232"/>
            <a:ext cx="3401568" cy="1828800"/>
          </a:xfrm>
          <a:prstGeom prst="roundRect">
            <a:avLst>
              <a:gd name="adj" fmla="val 5000"/>
            </a:avLst>
          </a:prstGeom>
          <a:solidFill>
            <a:srgbClr val="F5F7FA"/>
          </a:solidFill>
          <a:ln w="12700">
            <a:solidFill>
              <a:srgbClr val="E1E5EC"/>
            </a:solidFill>
            <a:prstDash val="solid"/>
          </a:ln>
          <a:effectLst>
            <a:outerShdw sx="100000" sy="100000" kx="0" ky="0" algn="bl" rotWithShape="0" blurRad="139700" dist="38100" dir="5400000">
              <a:srgbClr val="9AA6BC">
                <a:alpha val="28000"/>
              </a:srgbClr>
            </a:outerShdw>
          </a:effectLst>
        </p:spPr>
      </p:sp>
      <p:sp>
        <p:nvSpPr>
          <p:cNvPr id="23" name="Shape 18"/>
          <p:cNvSpPr/>
          <p:nvPr/>
        </p:nvSpPr>
        <p:spPr>
          <a:xfrm>
            <a:off x="1152144" y="4434840"/>
            <a:ext cx="512064" cy="512064"/>
          </a:xfrm>
          <a:prstGeom prst="ellipse">
            <a:avLst/>
          </a:prstGeom>
          <a:solidFill>
            <a:srgbClr val="E11D48"/>
          </a:solidFill>
          <a:ln/>
          <a:effectLst>
            <a:outerShdw sx="100000" sy="100000" kx="0" ky="0" algn="bl" rotWithShape="0" blurRad="139700" dist="38100" dir="5400000">
              <a:srgbClr val="9AA6BC">
                <a:alpha val="28000"/>
              </a:srgbClr>
            </a:outerShdw>
          </a:effectLst>
        </p:spPr>
      </p:sp>
      <p:pic>
        <p:nvPicPr>
          <p:cNvPr id="24" name="Image 3" descr="preencoded.png">    </p:cNvPr>
          <p:cNvPicPr>
            <a:picLocks noChangeAspect="1"/>
          </p:cNvPicPr>
          <p:nvPr/>
        </p:nvPicPr>
        <p:blipFill>
          <a:blip r:embed="rId4"/>
          <a:stretch>
            <a:fillRect/>
          </a:stretch>
        </p:blipFill>
        <p:spPr>
          <a:xfrm>
            <a:off x="1275039" y="4557735"/>
            <a:ext cx="266273" cy="266273"/>
          </a:xfrm>
          <a:prstGeom prst="rect">
            <a:avLst/>
          </a:prstGeom>
        </p:spPr>
      </p:pic>
      <p:sp>
        <p:nvSpPr>
          <p:cNvPr id="25" name="Text 19"/>
          <p:cNvSpPr/>
          <p:nvPr/>
        </p:nvSpPr>
        <p:spPr>
          <a:xfrm>
            <a:off x="1801368" y="4416552"/>
            <a:ext cx="2194560" cy="274320"/>
          </a:xfrm>
          <a:prstGeom prst="rect">
            <a:avLst/>
          </a:prstGeom>
          <a:noFill/>
          <a:ln/>
        </p:spPr>
        <p:txBody>
          <a:bodyPr wrap="square" rtlCol="0" anchor="ctr"/>
          <a:lstStyle/>
          <a:p>
            <a:pPr indent="0" marL="0">
              <a:buNone/>
            </a:pPr>
            <a:r>
              <a:rPr lang="en-US" sz="950" spc="200" kern="0" dirty="0">
                <a:solidFill>
                  <a:srgbClr val="9AA1B0"/>
                </a:solidFill>
                <a:latin typeface="Consolas" pitchFamily="34" charset="0"/>
                <a:ea typeface="Consolas" pitchFamily="34" charset="-122"/>
                <a:cs typeface="Consolas" pitchFamily="34" charset="-120"/>
              </a:rPr>
              <a:t>LEVER 04</a:t>
            </a:r>
            <a:endParaRPr lang="en-US" sz="950" dirty="0"/>
          </a:p>
        </p:txBody>
      </p:sp>
      <p:sp>
        <p:nvSpPr>
          <p:cNvPr id="26" name="Text 20"/>
          <p:cNvSpPr/>
          <p:nvPr/>
        </p:nvSpPr>
        <p:spPr>
          <a:xfrm>
            <a:off x="1801368" y="4672584"/>
            <a:ext cx="2212848" cy="365760"/>
          </a:xfrm>
          <a:prstGeom prst="rect">
            <a:avLst/>
          </a:prstGeom>
          <a:noFill/>
          <a:ln/>
        </p:spPr>
        <p:txBody>
          <a:bodyPr wrap="square" rtlCol="0" anchor="ctr"/>
          <a:lstStyle/>
          <a:p>
            <a:pPr indent="0" marL="0">
              <a:buNone/>
            </a:pPr>
            <a:r>
              <a:rPr lang="en-US" sz="1800" b="1" dirty="0">
                <a:solidFill>
                  <a:srgbClr val="16181D"/>
                </a:solidFill>
                <a:latin typeface="Arial" pitchFamily="34" charset="0"/>
                <a:ea typeface="Arial" pitchFamily="34" charset="-122"/>
                <a:cs typeface="Arial" pitchFamily="34" charset="-120"/>
              </a:rPr>
              <a:t>Guardrails</a:t>
            </a:r>
            <a:endParaRPr lang="en-US" sz="1800" dirty="0"/>
          </a:p>
        </p:txBody>
      </p:sp>
      <p:sp>
        <p:nvSpPr>
          <p:cNvPr id="27" name="Text 21"/>
          <p:cNvSpPr/>
          <p:nvPr/>
        </p:nvSpPr>
        <p:spPr>
          <a:xfrm>
            <a:off x="1161288" y="5239512"/>
            <a:ext cx="2761488" cy="685800"/>
          </a:xfrm>
          <a:prstGeom prst="rect">
            <a:avLst/>
          </a:prstGeom>
          <a:noFill/>
          <a:ln/>
        </p:spPr>
        <p:txBody>
          <a:bodyPr wrap="square" rtlCol="0" anchor="ctr"/>
          <a:lstStyle/>
          <a:p>
            <a:pPr indent="0" marL="0">
              <a:lnSpc>
                <a:spcPts val="1700"/>
              </a:lnSpc>
              <a:buNone/>
            </a:pPr>
            <a:r>
              <a:rPr lang="en-US" sz="1250" dirty="0">
                <a:solidFill>
                  <a:srgbClr val="666C7A"/>
                </a:solidFill>
                <a:latin typeface="Calibri" pitchFamily="34" charset="0"/>
                <a:ea typeface="Calibri" pitchFamily="34" charset="-122"/>
                <a:cs typeface="Calibri" pitchFamily="34" charset="-120"/>
              </a:rPr>
              <a:t>Validation that rejects bad output before it escapes.</a:t>
            </a:r>
            <a:endParaRPr lang="en-US" sz="1250" dirty="0"/>
          </a:p>
        </p:txBody>
      </p:sp>
      <p:sp>
        <p:nvSpPr>
          <p:cNvPr id="28" name="Shape 22"/>
          <p:cNvSpPr/>
          <p:nvPr/>
        </p:nvSpPr>
        <p:spPr>
          <a:xfrm>
            <a:off x="4498848" y="4142232"/>
            <a:ext cx="3401568" cy="1828800"/>
          </a:xfrm>
          <a:prstGeom prst="roundRect">
            <a:avLst>
              <a:gd name="adj" fmla="val 5000"/>
            </a:avLst>
          </a:prstGeom>
          <a:solidFill>
            <a:srgbClr val="F5F7FA"/>
          </a:solidFill>
          <a:ln w="12700">
            <a:solidFill>
              <a:srgbClr val="E1E5EC"/>
            </a:solidFill>
            <a:prstDash val="solid"/>
          </a:ln>
          <a:effectLst>
            <a:outerShdw sx="100000" sy="100000" kx="0" ky="0" algn="bl" rotWithShape="0" blurRad="139700" dist="38100" dir="5400000">
              <a:srgbClr val="9AA6BC">
                <a:alpha val="28000"/>
              </a:srgbClr>
            </a:outerShdw>
          </a:effectLst>
        </p:spPr>
      </p:sp>
      <p:sp>
        <p:nvSpPr>
          <p:cNvPr id="29" name="Shape 23"/>
          <p:cNvSpPr/>
          <p:nvPr/>
        </p:nvSpPr>
        <p:spPr>
          <a:xfrm>
            <a:off x="4809744" y="4434840"/>
            <a:ext cx="512064" cy="512064"/>
          </a:xfrm>
          <a:prstGeom prst="ellipse">
            <a:avLst/>
          </a:prstGeom>
          <a:solidFill>
            <a:srgbClr val="0284C7"/>
          </a:solidFill>
          <a:ln/>
          <a:effectLst>
            <a:outerShdw sx="100000" sy="100000" kx="0" ky="0" algn="bl" rotWithShape="0" blurRad="139700" dist="38100" dir="5400000">
              <a:srgbClr val="9AA6BC">
                <a:alpha val="28000"/>
              </a:srgbClr>
            </a:outerShdw>
          </a:effectLst>
        </p:spPr>
      </p:sp>
      <p:pic>
        <p:nvPicPr>
          <p:cNvPr id="30" name="Image 4" descr="preencoded.png">    </p:cNvPr>
          <p:cNvPicPr>
            <a:picLocks noChangeAspect="1"/>
          </p:cNvPicPr>
          <p:nvPr/>
        </p:nvPicPr>
        <p:blipFill>
          <a:blip r:embed="rId5"/>
          <a:stretch>
            <a:fillRect/>
          </a:stretch>
        </p:blipFill>
        <p:spPr>
          <a:xfrm>
            <a:off x="4932639" y="4557735"/>
            <a:ext cx="266273" cy="266273"/>
          </a:xfrm>
          <a:prstGeom prst="rect">
            <a:avLst/>
          </a:prstGeom>
        </p:spPr>
      </p:pic>
      <p:sp>
        <p:nvSpPr>
          <p:cNvPr id="31" name="Text 24"/>
          <p:cNvSpPr/>
          <p:nvPr/>
        </p:nvSpPr>
        <p:spPr>
          <a:xfrm>
            <a:off x="5458968" y="4416552"/>
            <a:ext cx="2194560" cy="274320"/>
          </a:xfrm>
          <a:prstGeom prst="rect">
            <a:avLst/>
          </a:prstGeom>
          <a:noFill/>
          <a:ln/>
        </p:spPr>
        <p:txBody>
          <a:bodyPr wrap="square" rtlCol="0" anchor="ctr"/>
          <a:lstStyle/>
          <a:p>
            <a:pPr indent="0" marL="0">
              <a:buNone/>
            </a:pPr>
            <a:r>
              <a:rPr lang="en-US" sz="950" spc="200" kern="0" dirty="0">
                <a:solidFill>
                  <a:srgbClr val="9AA1B0"/>
                </a:solidFill>
                <a:latin typeface="Consolas" pitchFamily="34" charset="0"/>
                <a:ea typeface="Consolas" pitchFamily="34" charset="-122"/>
                <a:cs typeface="Consolas" pitchFamily="34" charset="-120"/>
              </a:rPr>
              <a:t>LEVER 05</a:t>
            </a:r>
            <a:endParaRPr lang="en-US" sz="950" dirty="0"/>
          </a:p>
        </p:txBody>
      </p:sp>
      <p:sp>
        <p:nvSpPr>
          <p:cNvPr id="32" name="Text 25"/>
          <p:cNvSpPr/>
          <p:nvPr/>
        </p:nvSpPr>
        <p:spPr>
          <a:xfrm>
            <a:off x="5458968" y="4672584"/>
            <a:ext cx="2212848" cy="365760"/>
          </a:xfrm>
          <a:prstGeom prst="rect">
            <a:avLst/>
          </a:prstGeom>
          <a:noFill/>
          <a:ln/>
        </p:spPr>
        <p:txBody>
          <a:bodyPr wrap="square" rtlCol="0" anchor="ctr"/>
          <a:lstStyle/>
          <a:p>
            <a:pPr indent="0" marL="0">
              <a:buNone/>
            </a:pPr>
            <a:r>
              <a:rPr lang="en-US" sz="1800" b="1" dirty="0">
                <a:solidFill>
                  <a:srgbClr val="16181D"/>
                </a:solidFill>
                <a:latin typeface="Arial" pitchFamily="34" charset="0"/>
                <a:ea typeface="Arial" pitchFamily="34" charset="-122"/>
                <a:cs typeface="Arial" pitchFamily="34" charset="-120"/>
              </a:rPr>
              <a:t>Memory</a:t>
            </a:r>
            <a:endParaRPr lang="en-US" sz="1800" dirty="0"/>
          </a:p>
        </p:txBody>
      </p:sp>
      <p:sp>
        <p:nvSpPr>
          <p:cNvPr id="33" name="Text 26"/>
          <p:cNvSpPr/>
          <p:nvPr/>
        </p:nvSpPr>
        <p:spPr>
          <a:xfrm>
            <a:off x="4818888" y="5239512"/>
            <a:ext cx="2761488" cy="685800"/>
          </a:xfrm>
          <a:prstGeom prst="rect">
            <a:avLst/>
          </a:prstGeom>
          <a:noFill/>
          <a:ln/>
        </p:spPr>
        <p:txBody>
          <a:bodyPr wrap="square" rtlCol="0" anchor="ctr"/>
          <a:lstStyle/>
          <a:p>
            <a:pPr indent="0" marL="0">
              <a:lnSpc>
                <a:spcPts val="1700"/>
              </a:lnSpc>
              <a:buNone/>
            </a:pPr>
            <a:r>
              <a:rPr lang="en-US" sz="1250" dirty="0">
                <a:solidFill>
                  <a:srgbClr val="666C7A"/>
                </a:solidFill>
                <a:latin typeface="Calibri" pitchFamily="34" charset="0"/>
                <a:ea typeface="Calibri" pitchFamily="34" charset="-122"/>
                <a:cs typeface="Calibri" pitchFamily="34" charset="-120"/>
              </a:rPr>
              <a:t>What it remembers, and pointedly what it forgets.</a:t>
            </a:r>
            <a:endParaRPr lang="en-US" sz="1250" dirty="0"/>
          </a:p>
        </p:txBody>
      </p:sp>
      <p:sp>
        <p:nvSpPr>
          <p:cNvPr id="34" name="Shape 27"/>
          <p:cNvSpPr/>
          <p:nvPr/>
        </p:nvSpPr>
        <p:spPr>
          <a:xfrm>
            <a:off x="8156448" y="4142232"/>
            <a:ext cx="3401568" cy="1828800"/>
          </a:xfrm>
          <a:prstGeom prst="roundRect">
            <a:avLst>
              <a:gd name="adj" fmla="val 5000"/>
            </a:avLst>
          </a:prstGeom>
          <a:solidFill>
            <a:srgbClr val="F5F7FA"/>
          </a:solidFill>
          <a:ln w="12700">
            <a:solidFill>
              <a:srgbClr val="E1E5EC"/>
            </a:solidFill>
            <a:prstDash val="solid"/>
          </a:ln>
          <a:effectLst>
            <a:outerShdw sx="100000" sy="100000" kx="0" ky="0" algn="bl" rotWithShape="0" blurRad="139700" dist="38100" dir="5400000">
              <a:srgbClr val="9AA6BC">
                <a:alpha val="28000"/>
              </a:srgbClr>
            </a:outerShdw>
          </a:effectLst>
        </p:spPr>
      </p:sp>
      <p:sp>
        <p:nvSpPr>
          <p:cNvPr id="35" name="Shape 28"/>
          <p:cNvSpPr/>
          <p:nvPr/>
        </p:nvSpPr>
        <p:spPr>
          <a:xfrm>
            <a:off x="8467344" y="4434840"/>
            <a:ext cx="512064" cy="512064"/>
          </a:xfrm>
          <a:prstGeom prst="ellipse">
            <a:avLst/>
          </a:prstGeom>
          <a:solidFill>
            <a:srgbClr val="D97706"/>
          </a:solidFill>
          <a:ln/>
          <a:effectLst>
            <a:outerShdw sx="100000" sy="100000" kx="0" ky="0" algn="bl" rotWithShape="0" blurRad="139700" dist="38100" dir="5400000">
              <a:srgbClr val="9AA6BC">
                <a:alpha val="28000"/>
              </a:srgbClr>
            </a:outerShdw>
          </a:effectLst>
        </p:spPr>
      </p:sp>
      <p:pic>
        <p:nvPicPr>
          <p:cNvPr id="36" name="Image 5" descr="preencoded.png">    </p:cNvPr>
          <p:cNvPicPr>
            <a:picLocks noChangeAspect="1"/>
          </p:cNvPicPr>
          <p:nvPr/>
        </p:nvPicPr>
        <p:blipFill>
          <a:blip r:embed="rId6"/>
          <a:stretch>
            <a:fillRect/>
          </a:stretch>
        </p:blipFill>
        <p:spPr>
          <a:xfrm>
            <a:off x="8590239" y="4557735"/>
            <a:ext cx="266273" cy="266273"/>
          </a:xfrm>
          <a:prstGeom prst="rect">
            <a:avLst/>
          </a:prstGeom>
        </p:spPr>
      </p:pic>
      <p:sp>
        <p:nvSpPr>
          <p:cNvPr id="37" name="Text 29"/>
          <p:cNvSpPr/>
          <p:nvPr/>
        </p:nvSpPr>
        <p:spPr>
          <a:xfrm>
            <a:off x="9116568" y="4416552"/>
            <a:ext cx="2194560" cy="274320"/>
          </a:xfrm>
          <a:prstGeom prst="rect">
            <a:avLst/>
          </a:prstGeom>
          <a:noFill/>
          <a:ln/>
        </p:spPr>
        <p:txBody>
          <a:bodyPr wrap="square" rtlCol="0" anchor="ctr"/>
          <a:lstStyle/>
          <a:p>
            <a:pPr indent="0" marL="0">
              <a:buNone/>
            </a:pPr>
            <a:r>
              <a:rPr lang="en-US" sz="950" spc="200" kern="0" dirty="0">
                <a:solidFill>
                  <a:srgbClr val="9AA1B0"/>
                </a:solidFill>
                <a:latin typeface="Consolas" pitchFamily="34" charset="0"/>
                <a:ea typeface="Consolas" pitchFamily="34" charset="-122"/>
                <a:cs typeface="Consolas" pitchFamily="34" charset="-120"/>
              </a:rPr>
              <a:t>LEVER 06</a:t>
            </a:r>
            <a:endParaRPr lang="en-US" sz="950" dirty="0"/>
          </a:p>
        </p:txBody>
      </p:sp>
      <p:sp>
        <p:nvSpPr>
          <p:cNvPr id="38" name="Text 30"/>
          <p:cNvSpPr/>
          <p:nvPr/>
        </p:nvSpPr>
        <p:spPr>
          <a:xfrm>
            <a:off x="9116568" y="4672584"/>
            <a:ext cx="2212848" cy="365760"/>
          </a:xfrm>
          <a:prstGeom prst="rect">
            <a:avLst/>
          </a:prstGeom>
          <a:noFill/>
          <a:ln/>
        </p:spPr>
        <p:txBody>
          <a:bodyPr wrap="square" rtlCol="0" anchor="ctr"/>
          <a:lstStyle/>
          <a:p>
            <a:pPr indent="0" marL="0">
              <a:buNone/>
            </a:pPr>
            <a:r>
              <a:rPr lang="en-US" sz="1800" b="1" dirty="0">
                <a:solidFill>
                  <a:srgbClr val="16181D"/>
                </a:solidFill>
                <a:latin typeface="Arial" pitchFamily="34" charset="0"/>
                <a:ea typeface="Arial" pitchFamily="34" charset="-122"/>
                <a:cs typeface="Arial" pitchFamily="34" charset="-120"/>
              </a:rPr>
              <a:t>Orchestration</a:t>
            </a:r>
            <a:endParaRPr lang="en-US" sz="1800" dirty="0"/>
          </a:p>
        </p:txBody>
      </p:sp>
      <p:sp>
        <p:nvSpPr>
          <p:cNvPr id="39" name="Text 31"/>
          <p:cNvSpPr/>
          <p:nvPr/>
        </p:nvSpPr>
        <p:spPr>
          <a:xfrm>
            <a:off x="8476488" y="5239512"/>
            <a:ext cx="2761488" cy="685800"/>
          </a:xfrm>
          <a:prstGeom prst="rect">
            <a:avLst/>
          </a:prstGeom>
          <a:noFill/>
          <a:ln/>
        </p:spPr>
        <p:txBody>
          <a:bodyPr wrap="square" rtlCol="0" anchor="ctr"/>
          <a:lstStyle/>
          <a:p>
            <a:pPr indent="0" marL="0">
              <a:lnSpc>
                <a:spcPts val="1700"/>
              </a:lnSpc>
              <a:buNone/>
            </a:pPr>
            <a:r>
              <a:rPr lang="en-US" sz="1250" dirty="0">
                <a:solidFill>
                  <a:srgbClr val="666C7A"/>
                </a:solidFill>
                <a:latin typeface="Calibri" pitchFamily="34" charset="0"/>
                <a:ea typeface="Calibri" pitchFamily="34" charset="-122"/>
                <a:cs typeface="Calibri" pitchFamily="34" charset="-120"/>
              </a:rPr>
              <a:t>Who talks to whom. Tonight, a crew.</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indent="0" marL="0">
              <a:buNone/>
            </a:pPr>
            <a:r>
              <a:rPr lang="en-US" sz="1100" b="1" spc="300" kern="0" dirty="0">
                <a:solidFill>
                  <a:srgbClr val="4F46E5"/>
                </a:solidFill>
                <a:latin typeface="Arial" pitchFamily="34" charset="0"/>
                <a:ea typeface="Arial" pitchFamily="34" charset="-122"/>
                <a:cs typeface="Arial" pitchFamily="34" charset="-120"/>
              </a:rPr>
              <a:t>THE SHIFT</a:t>
            </a:r>
            <a:endParaRPr lang="en-US" sz="1100" dirty="0"/>
          </a:p>
        </p:txBody>
      </p:sp>
      <p:sp>
        <p:nvSpPr>
          <p:cNvPr id="3" name="Text 1"/>
          <p:cNvSpPr/>
          <p:nvPr/>
        </p:nvSpPr>
        <p:spPr>
          <a:xfrm>
            <a:off x="1097280" y="1234440"/>
            <a:ext cx="10058400" cy="1645920"/>
          </a:xfrm>
          <a:prstGeom prst="rect">
            <a:avLst/>
          </a:prstGeom>
          <a:noFill/>
          <a:ln/>
        </p:spPr>
        <p:txBody>
          <a:bodyPr wrap="square" rtlCol="0" anchor="ctr"/>
          <a:lstStyle/>
          <a:p>
            <a:pPr algn="ctr" indent="0" marL="0">
              <a:lnSpc>
                <a:spcPts val="5200"/>
              </a:lnSpc>
              <a:buNone/>
            </a:pPr>
            <a:r>
              <a:rPr lang="en-US" sz="4400" b="1" dirty="0">
                <a:solidFill>
                  <a:srgbClr val="16181D"/>
                </a:solidFill>
                <a:latin typeface="Arial" pitchFamily="34" charset="0"/>
                <a:ea typeface="Arial" pitchFamily="34" charset="-122"/>
                <a:cs typeface="Arial" pitchFamily="34" charset="-120"/>
              </a:rPr>
              <a:t>You don't </a:t>
            </a:r>
            <a:pPr algn="ctr" indent="0" marL="0">
              <a:lnSpc>
                <a:spcPts val="5200"/>
              </a:lnSpc>
              <a:buNone/>
            </a:pPr>
            <a:r>
              <a:rPr lang="en-US" sz="4400" b="1" dirty="0">
                <a:solidFill>
                  <a:srgbClr val="4F46E5"/>
                </a:solidFill>
                <a:latin typeface="Arial" pitchFamily="34" charset="0"/>
                <a:ea typeface="Arial" pitchFamily="34" charset="-122"/>
                <a:cs typeface="Arial" pitchFamily="34" charset="-120"/>
              </a:rPr>
              <a:t>program</a:t>
            </a:r>
            <a:pPr algn="ctr" indent="0" marL="0">
              <a:lnSpc>
                <a:spcPts val="5200"/>
              </a:lnSpc>
              <a:buNone/>
            </a:pPr>
            <a:r>
              <a:rPr lang="en-US" sz="4400" b="1" dirty="0">
                <a:solidFill>
                  <a:srgbClr val="16181D"/>
                </a:solidFill>
                <a:latin typeface="Arial" pitchFamily="34" charset="0"/>
                <a:ea typeface="Arial" pitchFamily="34" charset="-122"/>
                <a:cs typeface="Arial" pitchFamily="34" charset="-120"/>
              </a:rPr>
              <a:t> an agent.</a:t>
            </a:r>
            <a:endParaRPr lang="en-US" sz="4400" dirty="0"/>
          </a:p>
          <a:p>
            <a:pPr algn="ctr" indent="0" marL="0">
              <a:lnSpc>
                <a:spcPts val="5200"/>
              </a:lnSpc>
              <a:buNone/>
            </a:pPr>
            <a:r>
              <a:rPr lang="en-US" sz="4400" b="1" dirty="0">
                <a:solidFill>
                  <a:srgbClr val="16181D"/>
                </a:solidFill>
                <a:latin typeface="Arial" pitchFamily="34" charset="0"/>
                <a:ea typeface="Arial" pitchFamily="34" charset="-122"/>
                <a:cs typeface="Arial" pitchFamily="34" charset="-120"/>
              </a:rPr>
              <a:t>You </a:t>
            </a:r>
            <a:endParaRPr lang="en-US" sz="4400" dirty="0"/>
          </a:p>
          <a:p>
            <a:pPr algn="ctr" indent="0" marL="0">
              <a:lnSpc>
                <a:spcPts val="5200"/>
              </a:lnSpc>
              <a:buNone/>
            </a:pPr>
            <a:r>
              <a:rPr lang="en-US" sz="4400" b="1" dirty="0">
                <a:solidFill>
                  <a:srgbClr val="4F46E5"/>
                </a:solidFill>
                <a:latin typeface="Arial" pitchFamily="34" charset="0"/>
                <a:ea typeface="Arial" pitchFamily="34" charset="-122"/>
                <a:cs typeface="Arial" pitchFamily="34" charset="-120"/>
              </a:rPr>
              <a:t>constrain</a:t>
            </a:r>
            <a:pPr algn="ctr" indent="0" marL="0">
              <a:lnSpc>
                <a:spcPts val="5200"/>
              </a:lnSpc>
              <a:buNone/>
            </a:pPr>
            <a:r>
              <a:rPr lang="en-US" sz="4400" b="1" dirty="0">
                <a:solidFill>
                  <a:srgbClr val="16181D"/>
                </a:solidFill>
                <a:latin typeface="Arial" pitchFamily="34" charset="0"/>
                <a:ea typeface="Arial" pitchFamily="34" charset="-122"/>
                <a:cs typeface="Arial" pitchFamily="34" charset="-120"/>
              </a:rPr>
              <a:t> it.</a:t>
            </a:r>
            <a:endParaRPr lang="en-US" sz="4400" dirty="0"/>
          </a:p>
        </p:txBody>
      </p:sp>
      <p:sp>
        <p:nvSpPr>
          <p:cNvPr id="4" name="Shape 2"/>
          <p:cNvSpPr/>
          <p:nvPr/>
        </p:nvSpPr>
        <p:spPr>
          <a:xfrm>
            <a:off x="5364328" y="3931920"/>
            <a:ext cx="1463040" cy="914400"/>
          </a:xfrm>
          <a:prstGeom prst="roundRect">
            <a:avLst>
              <a:gd name="adj" fmla="val 12000"/>
            </a:avLst>
          </a:prstGeom>
          <a:solidFill>
            <a:srgbClr val="F5F7FA"/>
          </a:solidFill>
          <a:ln w="19050">
            <a:solidFill>
              <a:srgbClr val="4F46E5"/>
            </a:solidFill>
            <a:prstDash val="dash"/>
          </a:ln>
        </p:spPr>
      </p:sp>
      <p:sp>
        <p:nvSpPr>
          <p:cNvPr id="5" name="Shape 3"/>
          <p:cNvSpPr/>
          <p:nvPr/>
        </p:nvSpPr>
        <p:spPr>
          <a:xfrm>
            <a:off x="5958688" y="4251960"/>
            <a:ext cx="274320" cy="274320"/>
          </a:xfrm>
          <a:prstGeom prst="ellipse">
            <a:avLst/>
          </a:prstGeom>
          <a:solidFill>
            <a:srgbClr val="4F46E5"/>
          </a:solidFill>
          <a:ln/>
        </p:spPr>
      </p:sp>
      <p:sp>
        <p:nvSpPr>
          <p:cNvPr id="6" name="Text 4"/>
          <p:cNvSpPr/>
          <p:nvPr/>
        </p:nvSpPr>
        <p:spPr>
          <a:xfrm>
            <a:off x="4632808" y="3429000"/>
            <a:ext cx="2926080" cy="292608"/>
          </a:xfrm>
          <a:prstGeom prst="rect">
            <a:avLst/>
          </a:prstGeom>
          <a:noFill/>
          <a:ln/>
        </p:spPr>
        <p:txBody>
          <a:bodyPr wrap="square" rtlCol="0" anchor="ctr"/>
          <a:lstStyle/>
          <a:p>
            <a:pPr algn="ctr" indent="0" marL="0">
              <a:buNone/>
            </a:pPr>
            <a:r>
              <a:rPr lang="en-US" sz="1100" b="1" spc="100" kern="0" dirty="0">
                <a:solidFill>
                  <a:srgbClr val="0F9E8E"/>
                </a:solidFill>
                <a:latin typeface="Consolas" pitchFamily="34" charset="0"/>
                <a:ea typeface="Consolas" pitchFamily="34" charset="-122"/>
                <a:cs typeface="Consolas" pitchFamily="34" charset="-120"/>
              </a:rPr>
              <a:t>PROMPT  </a:t>
            </a:r>
            <a:pPr algn="ctr" indent="0" marL="0">
              <a:buNone/>
            </a:pPr>
            <a:r>
              <a:rPr lang="en-US" sz="1100" spc="100" kern="0" dirty="0">
                <a:solidFill>
                  <a:srgbClr val="9AA1B0"/>
                </a:solidFill>
                <a:latin typeface="Consolas" pitchFamily="34" charset="0"/>
                <a:ea typeface="Consolas" pitchFamily="34" charset="-122"/>
                <a:cs typeface="Consolas" pitchFamily="34" charset="-120"/>
              </a:rPr>
              <a:t>says what</a:t>
            </a:r>
            <a:endParaRPr lang="en-US" sz="1100" dirty="0"/>
          </a:p>
        </p:txBody>
      </p:sp>
      <p:sp>
        <p:nvSpPr>
          <p:cNvPr id="7" name="Text 5"/>
          <p:cNvSpPr/>
          <p:nvPr/>
        </p:nvSpPr>
        <p:spPr>
          <a:xfrm>
            <a:off x="7147408" y="4242816"/>
            <a:ext cx="2926080" cy="292608"/>
          </a:xfrm>
          <a:prstGeom prst="rect">
            <a:avLst/>
          </a:prstGeom>
          <a:noFill/>
          <a:ln/>
        </p:spPr>
        <p:txBody>
          <a:bodyPr wrap="square" rtlCol="0" anchor="ctr"/>
          <a:lstStyle/>
          <a:p>
            <a:pPr algn="l" indent="0" marL="0">
              <a:buNone/>
            </a:pPr>
            <a:r>
              <a:rPr lang="en-US" sz="1100" b="1" spc="100" kern="0" dirty="0">
                <a:solidFill>
                  <a:srgbClr val="7C3AED"/>
                </a:solidFill>
                <a:latin typeface="Consolas" pitchFamily="34" charset="0"/>
                <a:ea typeface="Consolas" pitchFamily="34" charset="-122"/>
                <a:cs typeface="Consolas" pitchFamily="34" charset="-120"/>
              </a:rPr>
              <a:t>TOOLS  </a:t>
            </a:r>
            <a:pPr algn="l" indent="0" marL="0">
              <a:buNone/>
            </a:pPr>
            <a:r>
              <a:rPr lang="en-US" sz="1100" spc="100" kern="0" dirty="0">
                <a:solidFill>
                  <a:srgbClr val="9AA1B0"/>
                </a:solidFill>
                <a:latin typeface="Consolas" pitchFamily="34" charset="0"/>
                <a:ea typeface="Consolas" pitchFamily="34" charset="-122"/>
                <a:cs typeface="Consolas" pitchFamily="34" charset="-120"/>
              </a:rPr>
              <a:t>say how far</a:t>
            </a:r>
            <a:endParaRPr lang="en-US" sz="1100" dirty="0"/>
          </a:p>
        </p:txBody>
      </p:sp>
      <p:sp>
        <p:nvSpPr>
          <p:cNvPr id="8" name="Text 6"/>
          <p:cNvSpPr/>
          <p:nvPr/>
        </p:nvSpPr>
        <p:spPr>
          <a:xfrm>
            <a:off x="4632808" y="5120640"/>
            <a:ext cx="2926080" cy="292608"/>
          </a:xfrm>
          <a:prstGeom prst="rect">
            <a:avLst/>
          </a:prstGeom>
          <a:noFill/>
          <a:ln/>
        </p:spPr>
        <p:txBody>
          <a:bodyPr wrap="square" rtlCol="0" anchor="ctr"/>
          <a:lstStyle/>
          <a:p>
            <a:pPr algn="ctr" indent="0" marL="0">
              <a:buNone/>
            </a:pPr>
            <a:r>
              <a:rPr lang="en-US" sz="1100" b="1" spc="100" kern="0" dirty="0">
                <a:solidFill>
                  <a:srgbClr val="0284C7"/>
                </a:solidFill>
                <a:latin typeface="Consolas" pitchFamily="34" charset="0"/>
                <a:ea typeface="Consolas" pitchFamily="34" charset="-122"/>
                <a:cs typeface="Consolas" pitchFamily="34" charset="-120"/>
              </a:rPr>
              <a:t>SCHEMA  </a:t>
            </a:r>
            <a:pPr algn="ctr" indent="0" marL="0">
              <a:buNone/>
            </a:pPr>
            <a:r>
              <a:rPr lang="en-US" sz="1100" spc="100" kern="0" dirty="0">
                <a:solidFill>
                  <a:srgbClr val="9AA1B0"/>
                </a:solidFill>
                <a:latin typeface="Consolas" pitchFamily="34" charset="0"/>
                <a:ea typeface="Consolas" pitchFamily="34" charset="-122"/>
                <a:cs typeface="Consolas" pitchFamily="34" charset="-120"/>
              </a:rPr>
              <a:t>says what shape</a:t>
            </a:r>
            <a:endParaRPr lang="en-US" sz="1100" dirty="0"/>
          </a:p>
        </p:txBody>
      </p:sp>
      <p:sp>
        <p:nvSpPr>
          <p:cNvPr id="9" name="Text 7"/>
          <p:cNvSpPr/>
          <p:nvPr/>
        </p:nvSpPr>
        <p:spPr>
          <a:xfrm>
            <a:off x="2118208" y="4242816"/>
            <a:ext cx="2926080" cy="292608"/>
          </a:xfrm>
          <a:prstGeom prst="rect">
            <a:avLst/>
          </a:prstGeom>
          <a:noFill/>
          <a:ln/>
        </p:spPr>
        <p:txBody>
          <a:bodyPr wrap="square" rtlCol="0" anchor="ctr"/>
          <a:lstStyle/>
          <a:p>
            <a:pPr algn="r" indent="0" marL="0">
              <a:buNone/>
            </a:pPr>
            <a:r>
              <a:rPr lang="en-US" sz="1100" b="1" spc="100" kern="0" dirty="0">
                <a:solidFill>
                  <a:srgbClr val="E11D48"/>
                </a:solidFill>
                <a:latin typeface="Consolas" pitchFamily="34" charset="0"/>
                <a:ea typeface="Consolas" pitchFamily="34" charset="-122"/>
                <a:cs typeface="Consolas" pitchFamily="34" charset="-120"/>
              </a:rPr>
              <a:t>ORCHESTRATION  </a:t>
            </a:r>
            <a:pPr algn="r" indent="0" marL="0">
              <a:buNone/>
            </a:pPr>
            <a:r>
              <a:rPr lang="en-US" sz="1100" spc="100" kern="0" dirty="0">
                <a:solidFill>
                  <a:srgbClr val="9AA1B0"/>
                </a:solidFill>
                <a:latin typeface="Consolas" pitchFamily="34" charset="0"/>
                <a:ea typeface="Consolas" pitchFamily="34" charset="-122"/>
                <a:cs typeface="Consolas" pitchFamily="34" charset="-120"/>
              </a:rPr>
              <a:t>says who</a:t>
            </a:r>
            <a:endParaRPr lang="en-US" sz="1100" dirty="0"/>
          </a:p>
        </p:txBody>
      </p:sp>
      <p:sp>
        <p:nvSpPr>
          <p:cNvPr id="10" name="Text 8"/>
          <p:cNvSpPr/>
          <p:nvPr/>
        </p:nvSpPr>
        <p:spPr>
          <a:xfrm>
            <a:off x="2286000" y="5943600"/>
            <a:ext cx="7616952" cy="457200"/>
          </a:xfrm>
          <a:prstGeom prst="rect">
            <a:avLst/>
          </a:prstGeom>
          <a:noFill/>
          <a:ln/>
        </p:spPr>
        <p:txBody>
          <a:bodyPr wrap="square" rtlCol="0" anchor="ctr"/>
          <a:lstStyle/>
          <a:p>
            <a:pPr algn="ctr" indent="0" marL="0">
              <a:buNone/>
            </a:pPr>
            <a:r>
              <a:rPr lang="en-US" sz="1700" dirty="0">
                <a:solidFill>
                  <a:srgbClr val="666C7A"/>
                </a:solidFill>
                <a:latin typeface="Calibri" pitchFamily="34" charset="0"/>
                <a:ea typeface="Calibri" pitchFamily="34" charset="-122"/>
                <a:cs typeface="Calibri" pitchFamily="34" charset="-120"/>
              </a:rPr>
              <a:t>Good agent design is good constraint design.</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138160" y="2743200"/>
            <a:ext cx="4023360" cy="4023360"/>
          </a:xfrm>
          <a:prstGeom prst="rect">
            <a:avLst/>
          </a:prstGeom>
        </p:spPr>
      </p:pic>
      <p:sp>
        <p:nvSpPr>
          <p:cNvPr id="3" name="Text 0"/>
          <p:cNvSpPr/>
          <p:nvPr/>
        </p:nvSpPr>
        <p:spPr>
          <a:xfrm>
            <a:off x="841248" y="1143000"/>
            <a:ext cx="3657600" cy="1463040"/>
          </a:xfrm>
          <a:prstGeom prst="rect">
            <a:avLst/>
          </a:prstGeom>
          <a:noFill/>
          <a:ln/>
        </p:spPr>
        <p:txBody>
          <a:bodyPr wrap="square" rtlCol="0" anchor="ctr"/>
          <a:lstStyle/>
          <a:p>
            <a:pPr indent="0" marL="0">
              <a:buNone/>
            </a:pPr>
            <a:r>
              <a:rPr lang="en-US" sz="9200" b="1" dirty="0">
                <a:solidFill>
                  <a:srgbClr val="E1E5EC"/>
                </a:solidFill>
                <a:latin typeface="Arial" pitchFamily="34" charset="0"/>
                <a:ea typeface="Arial" pitchFamily="34" charset="-122"/>
                <a:cs typeface="Arial" pitchFamily="34" charset="-120"/>
              </a:rPr>
              <a:t>v</a:t>
            </a:r>
            <a:endParaRPr lang="en-US" sz="9200" dirty="0"/>
          </a:p>
        </p:txBody>
      </p:sp>
      <p:sp>
        <p:nvSpPr>
          <p:cNvPr id="4" name="Text 1"/>
          <p:cNvSpPr/>
          <p:nvPr/>
        </p:nvSpPr>
        <p:spPr>
          <a:xfrm>
            <a:off x="841248" y="2788920"/>
            <a:ext cx="9144000" cy="292608"/>
          </a:xfrm>
          <a:prstGeom prst="rect">
            <a:avLst/>
          </a:prstGeom>
          <a:noFill/>
          <a:ln/>
        </p:spPr>
        <p:txBody>
          <a:bodyPr wrap="square" rtlCol="0" anchor="ctr"/>
          <a:lstStyle/>
          <a:p>
            <a:pPr indent="0" marL="0">
              <a:buNone/>
            </a:pPr>
            <a:r>
              <a:rPr lang="en-US" sz="1100" b="1" spc="300" kern="0" dirty="0">
                <a:solidFill>
                  <a:srgbClr val="D97706"/>
                </a:solidFill>
                <a:latin typeface="Arial" pitchFamily="34" charset="0"/>
                <a:ea typeface="Arial" pitchFamily="34" charset="-122"/>
                <a:cs typeface="Arial" pitchFamily="34" charset="-120"/>
              </a:rPr>
              <a:t>ACT FIVE</a:t>
            </a:r>
            <a:endParaRPr lang="en-US" sz="1100" dirty="0"/>
          </a:p>
        </p:txBody>
      </p:sp>
      <p:sp>
        <p:nvSpPr>
          <p:cNvPr id="5" name="Text 2"/>
          <p:cNvSpPr/>
          <p:nvPr/>
        </p:nvSpPr>
        <p:spPr>
          <a:xfrm>
            <a:off x="841248" y="3154680"/>
            <a:ext cx="8229600" cy="1463040"/>
          </a:xfrm>
          <a:prstGeom prst="rect">
            <a:avLst/>
          </a:prstGeom>
          <a:noFill/>
          <a:ln/>
        </p:spPr>
        <p:txBody>
          <a:bodyPr wrap="square" rtlCol="0" anchor="ctr"/>
          <a:lstStyle/>
          <a:p>
            <a:pPr indent="0" marL="0">
              <a:lnSpc>
                <a:spcPts val="5000"/>
              </a:lnSpc>
              <a:buNone/>
            </a:pPr>
            <a:r>
              <a:rPr lang="en-US" sz="5000" b="1" dirty="0">
                <a:solidFill>
                  <a:srgbClr val="16181D"/>
                </a:solidFill>
                <a:latin typeface="Arial" pitchFamily="34" charset="0"/>
                <a:ea typeface="Arial" pitchFamily="34" charset="-122"/>
                <a:cs typeface="Arial" pitchFamily="34" charset="-120"/>
              </a:rPr>
              <a:t>One Prompt.</a:t>
            </a:r>
            <a:endParaRPr lang="en-US" sz="5000" dirty="0"/>
          </a:p>
          <a:p>
            <a:pPr indent="0" marL="0">
              <a:lnSpc>
                <a:spcPts val="5000"/>
              </a:lnSpc>
              <a:buNone/>
            </a:pPr>
            <a:r>
              <a:rPr lang="en-US" sz="5000" b="1" dirty="0">
                <a:solidFill>
                  <a:srgbClr val="16181D"/>
                </a:solidFill>
                <a:latin typeface="Arial" pitchFamily="34" charset="0"/>
                <a:ea typeface="Arial" pitchFamily="34" charset="-122"/>
                <a:cs typeface="Arial" pitchFamily="34" charset="-120"/>
              </a:rPr>
              <a:t>Many Workers.</a:t>
            </a:r>
            <a:endParaRPr lang="en-US" sz="5000" dirty="0"/>
          </a:p>
        </p:txBody>
      </p:sp>
      <p:sp>
        <p:nvSpPr>
          <p:cNvPr id="6" name="Text 3"/>
          <p:cNvSpPr/>
          <p:nvPr/>
        </p:nvSpPr>
        <p:spPr>
          <a:xfrm>
            <a:off x="841248" y="5120640"/>
            <a:ext cx="6949440" cy="822960"/>
          </a:xfrm>
          <a:prstGeom prst="rect">
            <a:avLst/>
          </a:prstGeom>
          <a:noFill/>
          <a:ln/>
        </p:spPr>
        <p:txBody>
          <a:bodyPr wrap="square" rtlCol="0" anchor="ctr"/>
          <a:lstStyle/>
          <a:p>
            <a:pPr indent="0" marL="0">
              <a:lnSpc>
                <a:spcPts val="2500"/>
              </a:lnSpc>
              <a:buNone/>
            </a:pPr>
            <a:r>
              <a:rPr lang="en-US" sz="1700" dirty="0">
                <a:solidFill>
                  <a:srgbClr val="666C7A"/>
                </a:solidFill>
                <a:latin typeface="Calibri" pitchFamily="34" charset="0"/>
                <a:ea typeface="Calibri" pitchFamily="34" charset="-122"/>
                <a:cs typeface="Calibri" pitchFamily="34" charset="-120"/>
              </a:rPr>
              <a:t>Agents that help each other, and a critique that loops back. Then we run it, live.</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indent="0" marL="0">
              <a:buNone/>
            </a:pPr>
            <a:r>
              <a:rPr lang="en-US" sz="1100" b="1" spc="300" kern="0" dirty="0">
                <a:solidFill>
                  <a:srgbClr val="D97706"/>
                </a:solidFill>
                <a:latin typeface="Arial" pitchFamily="34" charset="0"/>
                <a:ea typeface="Arial" pitchFamily="34" charset="-122"/>
                <a:cs typeface="Arial" pitchFamily="34" charset="-120"/>
              </a:rPr>
              <a:t>THE PATTERN</a:t>
            </a:r>
            <a:endParaRPr lang="en-US" sz="1100" dirty="0"/>
          </a:p>
        </p:txBody>
      </p:sp>
      <p:sp>
        <p:nvSpPr>
          <p:cNvPr id="3" name="Text 1"/>
          <p:cNvSpPr/>
          <p:nvPr/>
        </p:nvSpPr>
        <p:spPr>
          <a:xfrm>
            <a:off x="841248" y="1005840"/>
            <a:ext cx="10058400" cy="822960"/>
          </a:xfrm>
          <a:prstGeom prst="rect">
            <a:avLst/>
          </a:prstGeom>
          <a:noFill/>
          <a:ln/>
        </p:spPr>
        <p:txBody>
          <a:bodyPr wrap="square" rtlCol="0" anchor="ctr"/>
          <a:lstStyle/>
          <a:p>
            <a:pPr indent="0" marL="0">
              <a:buNone/>
            </a:pPr>
            <a:r>
              <a:rPr lang="en-US" sz="3200" b="1" dirty="0">
                <a:solidFill>
                  <a:srgbClr val="16181D"/>
                </a:solidFill>
                <a:latin typeface="Arial" pitchFamily="34" charset="0"/>
                <a:ea typeface="Arial" pitchFamily="34" charset="-122"/>
                <a:cs typeface="Arial" pitchFamily="34" charset="-120"/>
              </a:rPr>
              <a:t>Not a pipeline. </a:t>
            </a:r>
            <a:pPr indent="0" marL="0">
              <a:buNone/>
            </a:pPr>
            <a:r>
              <a:rPr lang="en-US" sz="3200" b="1" dirty="0">
                <a:solidFill>
                  <a:srgbClr val="4F46E5"/>
                </a:solidFill>
                <a:latin typeface="Arial" pitchFamily="34" charset="0"/>
                <a:ea typeface="Arial" pitchFamily="34" charset="-122"/>
                <a:cs typeface="Arial" pitchFamily="34" charset="-120"/>
              </a:rPr>
              <a:t>A web.</a:t>
            </a:r>
            <a:endParaRPr lang="en-US" sz="3200" dirty="0"/>
          </a:p>
        </p:txBody>
      </p:sp>
      <p:sp>
        <p:nvSpPr>
          <p:cNvPr id="4" name="Text 2"/>
          <p:cNvSpPr/>
          <p:nvPr/>
        </p:nvSpPr>
        <p:spPr>
          <a:xfrm>
            <a:off x="841248" y="1783080"/>
            <a:ext cx="6766560" cy="457200"/>
          </a:xfrm>
          <a:prstGeom prst="rect">
            <a:avLst/>
          </a:prstGeom>
          <a:noFill/>
          <a:ln/>
        </p:spPr>
        <p:txBody>
          <a:bodyPr wrap="square" rtlCol="0" anchor="ctr"/>
          <a:lstStyle/>
          <a:p>
            <a:pPr indent="0" marL="0">
              <a:buNone/>
            </a:pPr>
            <a:r>
              <a:rPr lang="en-US" sz="1550" dirty="0">
                <a:solidFill>
                  <a:srgbClr val="666C7A"/>
                </a:solidFill>
                <a:latin typeface="Calibri" pitchFamily="34" charset="0"/>
                <a:ea typeface="Calibri" pitchFamily="34" charset="-122"/>
                <a:cs typeface="Calibri" pitchFamily="34" charset="-120"/>
              </a:rPr>
              <a:t>Agents run in parallel. The one that finishes first helps another. And the critique loops back.</a:t>
            </a:r>
            <a:endParaRPr lang="en-US" sz="1550" dirty="0"/>
          </a:p>
        </p:txBody>
      </p:sp>
      <p:sp>
        <p:nvSpPr>
          <p:cNvPr id="5" name="Shape 3"/>
          <p:cNvSpPr/>
          <p:nvPr/>
        </p:nvSpPr>
        <p:spPr>
          <a:xfrm flipV="1">
            <a:off x="3611880" y="2926080"/>
            <a:ext cx="2148840" cy="1143000"/>
          </a:xfrm>
          <a:prstGeom prst="line">
            <a:avLst/>
          </a:prstGeom>
          <a:noFill/>
          <a:ln w="20320">
            <a:solidFill>
              <a:srgbClr val="7C3AED"/>
            </a:solidFill>
            <a:prstDash val="solid"/>
            <a:tailEnd type="triangle"/>
          </a:ln>
        </p:spPr>
      </p:sp>
      <p:sp>
        <p:nvSpPr>
          <p:cNvPr id="6" name="Shape 4"/>
          <p:cNvSpPr/>
          <p:nvPr/>
        </p:nvSpPr>
        <p:spPr>
          <a:xfrm>
            <a:off x="5760720" y="2926080"/>
            <a:ext cx="2148840" cy="1143000"/>
          </a:xfrm>
          <a:prstGeom prst="line">
            <a:avLst/>
          </a:prstGeom>
          <a:noFill/>
          <a:ln w="20320">
            <a:solidFill>
              <a:srgbClr val="0F9E8E"/>
            </a:solidFill>
            <a:prstDash val="solid"/>
            <a:tailEnd type="triangle"/>
          </a:ln>
        </p:spPr>
      </p:sp>
      <p:sp>
        <p:nvSpPr>
          <p:cNvPr id="7" name="Shape 5"/>
          <p:cNvSpPr/>
          <p:nvPr/>
        </p:nvSpPr>
        <p:spPr>
          <a:xfrm>
            <a:off x="3611880" y="4069080"/>
            <a:ext cx="4297680" cy="0"/>
          </a:xfrm>
          <a:prstGeom prst="line">
            <a:avLst/>
          </a:prstGeom>
          <a:noFill/>
          <a:ln w="20320">
            <a:solidFill>
              <a:srgbClr val="7C3AED"/>
            </a:solidFill>
            <a:prstDash val="solid"/>
            <a:tailEnd type="triangle"/>
          </a:ln>
        </p:spPr>
      </p:sp>
      <p:sp>
        <p:nvSpPr>
          <p:cNvPr id="8" name="Shape 6"/>
          <p:cNvSpPr/>
          <p:nvPr/>
        </p:nvSpPr>
        <p:spPr>
          <a:xfrm flipH="1">
            <a:off x="5760720" y="4069080"/>
            <a:ext cx="2148840" cy="1188720"/>
          </a:xfrm>
          <a:prstGeom prst="line">
            <a:avLst/>
          </a:prstGeom>
          <a:noFill/>
          <a:ln w="20320">
            <a:solidFill>
              <a:srgbClr val="0284C7"/>
            </a:solidFill>
            <a:prstDash val="solid"/>
            <a:tailEnd type="triangle"/>
          </a:ln>
        </p:spPr>
      </p:sp>
      <p:sp>
        <p:nvSpPr>
          <p:cNvPr id="9" name="Text 7"/>
          <p:cNvSpPr/>
          <p:nvPr/>
        </p:nvSpPr>
        <p:spPr>
          <a:xfrm>
            <a:off x="3447288" y="3218688"/>
            <a:ext cx="1737360" cy="274320"/>
          </a:xfrm>
          <a:prstGeom prst="rect">
            <a:avLst/>
          </a:prstGeom>
          <a:noFill/>
          <a:ln/>
        </p:spPr>
        <p:txBody>
          <a:bodyPr wrap="square" rtlCol="0" anchor="ctr"/>
          <a:lstStyle/>
          <a:p>
            <a:pPr algn="ctr" indent="0" marL="0">
              <a:buNone/>
            </a:pPr>
            <a:r>
              <a:rPr lang="en-US" sz="950" spc="100" kern="0" dirty="0">
                <a:solidFill>
                  <a:srgbClr val="7C3AED"/>
                </a:solidFill>
                <a:latin typeface="Consolas" pitchFamily="34" charset="0"/>
                <a:ea typeface="Consolas" pitchFamily="34" charset="-122"/>
                <a:cs typeface="Consolas" pitchFamily="34" charset="-120"/>
              </a:rPr>
              <a:t>tone hint</a:t>
            </a:r>
            <a:endParaRPr lang="en-US" sz="950" dirty="0"/>
          </a:p>
        </p:txBody>
      </p:sp>
      <p:sp>
        <p:nvSpPr>
          <p:cNvPr id="10" name="Text 8"/>
          <p:cNvSpPr/>
          <p:nvPr/>
        </p:nvSpPr>
        <p:spPr>
          <a:xfrm>
            <a:off x="6510528" y="3218688"/>
            <a:ext cx="1097280" cy="274320"/>
          </a:xfrm>
          <a:prstGeom prst="rect">
            <a:avLst/>
          </a:prstGeom>
          <a:noFill/>
          <a:ln/>
        </p:spPr>
        <p:txBody>
          <a:bodyPr wrap="square" rtlCol="0" anchor="ctr"/>
          <a:lstStyle/>
          <a:p>
            <a:pPr algn="ctr" indent="0" marL="0">
              <a:buNone/>
            </a:pPr>
            <a:r>
              <a:rPr lang="en-US" sz="950" spc="100" kern="0" dirty="0">
                <a:solidFill>
                  <a:srgbClr val="0F9E8E"/>
                </a:solidFill>
                <a:latin typeface="Consolas" pitchFamily="34" charset="0"/>
                <a:ea typeface="Consolas" pitchFamily="34" charset="-122"/>
                <a:cs typeface="Consolas" pitchFamily="34" charset="-120"/>
              </a:rPr>
              <a:t>copy</a:t>
            </a:r>
            <a:endParaRPr lang="en-US" sz="950" dirty="0"/>
          </a:p>
        </p:txBody>
      </p:sp>
      <p:sp>
        <p:nvSpPr>
          <p:cNvPr id="11" name="Text 9"/>
          <p:cNvSpPr/>
          <p:nvPr/>
        </p:nvSpPr>
        <p:spPr>
          <a:xfrm>
            <a:off x="5120640" y="4224528"/>
            <a:ext cx="1280160" cy="274320"/>
          </a:xfrm>
          <a:prstGeom prst="rect">
            <a:avLst/>
          </a:prstGeom>
          <a:noFill/>
          <a:ln/>
        </p:spPr>
        <p:txBody>
          <a:bodyPr wrap="square" rtlCol="0" anchor="ctr"/>
          <a:lstStyle/>
          <a:p>
            <a:pPr algn="ctr" indent="0" marL="0">
              <a:buNone/>
            </a:pPr>
            <a:r>
              <a:rPr lang="en-US" sz="950" spc="100" kern="0" dirty="0">
                <a:solidFill>
                  <a:srgbClr val="7C3AED"/>
                </a:solidFill>
                <a:latin typeface="Consolas" pitchFamily="34" charset="0"/>
                <a:ea typeface="Consolas" pitchFamily="34" charset="-122"/>
                <a:cs typeface="Consolas" pitchFamily="34" charset="-120"/>
              </a:rPr>
              <a:t>palette</a:t>
            </a:r>
            <a:endParaRPr lang="en-US" sz="950" dirty="0"/>
          </a:p>
        </p:txBody>
      </p:sp>
      <p:sp>
        <p:nvSpPr>
          <p:cNvPr id="12" name="Text 10"/>
          <p:cNvSpPr/>
          <p:nvPr/>
        </p:nvSpPr>
        <p:spPr>
          <a:xfrm>
            <a:off x="6492240" y="4754880"/>
            <a:ext cx="1371600" cy="274320"/>
          </a:xfrm>
          <a:prstGeom prst="rect">
            <a:avLst/>
          </a:prstGeom>
          <a:noFill/>
          <a:ln/>
        </p:spPr>
        <p:txBody>
          <a:bodyPr wrap="square" rtlCol="0" anchor="ctr"/>
          <a:lstStyle/>
          <a:p>
            <a:pPr algn="ctr" indent="0" marL="0">
              <a:buNone/>
            </a:pPr>
            <a:r>
              <a:rPr lang="en-US" sz="950" spc="100" kern="0" dirty="0">
                <a:solidFill>
                  <a:srgbClr val="0284C7"/>
                </a:solidFill>
                <a:latin typeface="Consolas" pitchFamily="34" charset="0"/>
                <a:ea typeface="Consolas" pitchFamily="34" charset="-122"/>
                <a:cs typeface="Consolas" pitchFamily="34" charset="-120"/>
              </a:rPr>
              <a:t>the page</a:t>
            </a:r>
            <a:endParaRPr lang="en-US" sz="950" dirty="0"/>
          </a:p>
        </p:txBody>
      </p:sp>
      <p:sp>
        <p:nvSpPr>
          <p:cNvPr id="13" name="Shape 11"/>
          <p:cNvSpPr/>
          <p:nvPr/>
        </p:nvSpPr>
        <p:spPr>
          <a:xfrm>
            <a:off x="5760720" y="5257800"/>
            <a:ext cx="4434840" cy="0"/>
          </a:xfrm>
          <a:prstGeom prst="line">
            <a:avLst/>
          </a:prstGeom>
          <a:noFill/>
          <a:ln w="21590">
            <a:solidFill>
              <a:srgbClr val="E11D48"/>
            </a:solidFill>
            <a:prstDash val="dash"/>
          </a:ln>
        </p:spPr>
      </p:sp>
      <p:sp>
        <p:nvSpPr>
          <p:cNvPr id="14" name="Shape 12"/>
          <p:cNvSpPr/>
          <p:nvPr/>
        </p:nvSpPr>
        <p:spPr>
          <a:xfrm flipV="1">
            <a:off x="10195560" y="2926080"/>
            <a:ext cx="0" cy="2331720"/>
          </a:xfrm>
          <a:prstGeom prst="line">
            <a:avLst/>
          </a:prstGeom>
          <a:noFill/>
          <a:ln w="21590">
            <a:solidFill>
              <a:srgbClr val="E11D48"/>
            </a:solidFill>
            <a:prstDash val="dash"/>
          </a:ln>
        </p:spPr>
      </p:sp>
      <p:sp>
        <p:nvSpPr>
          <p:cNvPr id="15" name="Shape 13"/>
          <p:cNvSpPr/>
          <p:nvPr/>
        </p:nvSpPr>
        <p:spPr>
          <a:xfrm flipH="1">
            <a:off x="5760720" y="2926080"/>
            <a:ext cx="4434840" cy="0"/>
          </a:xfrm>
          <a:prstGeom prst="line">
            <a:avLst/>
          </a:prstGeom>
          <a:noFill/>
          <a:ln w="21590">
            <a:solidFill>
              <a:srgbClr val="E11D48"/>
            </a:solidFill>
            <a:prstDash val="dash"/>
            <a:tailEnd type="triangle"/>
          </a:ln>
        </p:spPr>
      </p:sp>
      <p:sp>
        <p:nvSpPr>
          <p:cNvPr id="16" name="Text 14"/>
          <p:cNvSpPr/>
          <p:nvPr/>
        </p:nvSpPr>
        <p:spPr>
          <a:xfrm>
            <a:off x="10149840" y="3913632"/>
            <a:ext cx="1463040" cy="274320"/>
          </a:xfrm>
          <a:prstGeom prst="rect">
            <a:avLst/>
          </a:prstGeom>
          <a:noFill/>
          <a:ln/>
        </p:spPr>
        <p:txBody>
          <a:bodyPr wrap="square" rtlCol="0" anchor="ctr"/>
          <a:lstStyle/>
          <a:p>
            <a:pPr indent="0" marL="0">
              <a:buNone/>
            </a:pPr>
            <a:r>
              <a:rPr lang="en-US" sz="950" spc="100" kern="0" dirty="0">
                <a:solidFill>
                  <a:srgbClr val="E11D48"/>
                </a:solidFill>
                <a:latin typeface="Consolas" pitchFamily="34" charset="0"/>
                <a:ea typeface="Consolas" pitchFamily="34" charset="-122"/>
                <a:cs typeface="Consolas" pitchFamily="34" charset="-120"/>
              </a:rPr>
              <a:t>critique</a:t>
            </a:r>
            <a:endParaRPr lang="en-US" sz="950" dirty="0"/>
          </a:p>
        </p:txBody>
      </p:sp>
      <p:sp>
        <p:nvSpPr>
          <p:cNvPr id="17" name="Text 15"/>
          <p:cNvSpPr/>
          <p:nvPr/>
        </p:nvSpPr>
        <p:spPr>
          <a:xfrm>
            <a:off x="6858000" y="2578608"/>
            <a:ext cx="3200400" cy="274320"/>
          </a:xfrm>
          <a:prstGeom prst="rect">
            <a:avLst/>
          </a:prstGeom>
          <a:noFill/>
          <a:ln/>
        </p:spPr>
        <p:txBody>
          <a:bodyPr wrap="square" rtlCol="0" anchor="ctr"/>
          <a:lstStyle/>
          <a:p>
            <a:pPr algn="r" indent="0" marL="0">
              <a:buNone/>
            </a:pPr>
            <a:r>
              <a:rPr lang="en-US" sz="900" spc="50" kern="0" dirty="0">
                <a:solidFill>
                  <a:srgbClr val="E11D48"/>
                </a:solidFill>
                <a:latin typeface="Consolas" pitchFamily="34" charset="0"/>
                <a:ea typeface="Consolas" pitchFamily="34" charset="-122"/>
                <a:cs typeface="Consolas" pitchFamily="34" charset="-120"/>
              </a:rPr>
              <a:t>the copy is rewritten, live</a:t>
            </a:r>
            <a:endParaRPr lang="en-US" sz="900" dirty="0"/>
          </a:p>
        </p:txBody>
      </p:sp>
      <p:sp>
        <p:nvSpPr>
          <p:cNvPr id="18" name="Shape 16"/>
          <p:cNvSpPr/>
          <p:nvPr/>
        </p:nvSpPr>
        <p:spPr>
          <a:xfrm>
            <a:off x="5285232" y="2450592"/>
            <a:ext cx="950976" cy="950976"/>
          </a:xfrm>
          <a:prstGeom prst="ellipse">
            <a:avLst/>
          </a:prstGeom>
          <a:solidFill>
            <a:srgbClr val="0F9E8E"/>
          </a:solidFill>
          <a:ln/>
          <a:effectLst>
            <a:outerShdw sx="100000" sy="100000" kx="0" ky="0" algn="bl" rotWithShape="0" blurRad="139700" dist="38100" dir="5400000">
              <a:srgbClr val="9AA6BC">
                <a:alpha val="28000"/>
              </a:srgbClr>
            </a:outerShdw>
          </a:effectLst>
        </p:spPr>
      </p:sp>
      <p:sp>
        <p:nvSpPr>
          <p:cNvPr id="19" name="Text 17"/>
          <p:cNvSpPr/>
          <p:nvPr/>
        </p:nvSpPr>
        <p:spPr>
          <a:xfrm>
            <a:off x="5285232" y="2724912"/>
            <a:ext cx="950976" cy="274320"/>
          </a:xfrm>
          <a:prstGeom prst="rect">
            <a:avLst/>
          </a:prstGeom>
          <a:noFill/>
          <a:ln/>
        </p:spPr>
        <p:txBody>
          <a:bodyPr wrap="square" rtlCol="0" anchor="ctr"/>
          <a:lstStyle/>
          <a:p>
            <a:pPr algn="ctr" indent="0" marL="0">
              <a:buNone/>
            </a:pPr>
            <a:r>
              <a:rPr lang="en-US" sz="1150" b="1" dirty="0">
                <a:solidFill>
                  <a:srgbClr val="FFFFFF"/>
                </a:solidFill>
                <a:latin typeface="Consolas" pitchFamily="34" charset="0"/>
                <a:ea typeface="Consolas" pitchFamily="34" charset="-122"/>
                <a:cs typeface="Consolas" pitchFamily="34" charset="-120"/>
              </a:rPr>
              <a:t>copy</a:t>
            </a:r>
            <a:endParaRPr lang="en-US" sz="1150" dirty="0"/>
          </a:p>
        </p:txBody>
      </p:sp>
      <p:sp>
        <p:nvSpPr>
          <p:cNvPr id="20" name="Text 18"/>
          <p:cNvSpPr/>
          <p:nvPr/>
        </p:nvSpPr>
        <p:spPr>
          <a:xfrm>
            <a:off x="5285232" y="2944368"/>
            <a:ext cx="950976" cy="256032"/>
          </a:xfrm>
          <a:prstGeom prst="rect">
            <a:avLst/>
          </a:prstGeom>
          <a:noFill/>
          <a:ln/>
        </p:spPr>
        <p:txBody>
          <a:bodyPr wrap="square"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writes</a:t>
            </a:r>
            <a:endParaRPr lang="en-US" sz="800" dirty="0"/>
          </a:p>
        </p:txBody>
      </p:sp>
      <p:sp>
        <p:nvSpPr>
          <p:cNvPr id="21" name="Shape 19"/>
          <p:cNvSpPr/>
          <p:nvPr/>
        </p:nvSpPr>
        <p:spPr>
          <a:xfrm>
            <a:off x="3136392" y="3593592"/>
            <a:ext cx="950976" cy="950976"/>
          </a:xfrm>
          <a:prstGeom prst="ellipse">
            <a:avLst/>
          </a:prstGeom>
          <a:solidFill>
            <a:srgbClr val="7C3AED"/>
          </a:solidFill>
          <a:ln/>
          <a:effectLst>
            <a:outerShdw sx="100000" sy="100000" kx="0" ky="0" algn="bl" rotWithShape="0" blurRad="139700" dist="38100" dir="5400000">
              <a:srgbClr val="9AA6BC">
                <a:alpha val="28000"/>
              </a:srgbClr>
            </a:outerShdw>
          </a:effectLst>
        </p:spPr>
      </p:sp>
      <p:sp>
        <p:nvSpPr>
          <p:cNvPr id="22" name="Text 20"/>
          <p:cNvSpPr/>
          <p:nvPr/>
        </p:nvSpPr>
        <p:spPr>
          <a:xfrm>
            <a:off x="3136392" y="3867912"/>
            <a:ext cx="950976" cy="274320"/>
          </a:xfrm>
          <a:prstGeom prst="rect">
            <a:avLst/>
          </a:prstGeom>
          <a:noFill/>
          <a:ln/>
        </p:spPr>
        <p:txBody>
          <a:bodyPr wrap="square" rtlCol="0" anchor="ctr"/>
          <a:lstStyle/>
          <a:p>
            <a:pPr algn="ctr" indent="0" marL="0">
              <a:buNone/>
            </a:pPr>
            <a:r>
              <a:rPr lang="en-US" sz="1150" b="1" dirty="0">
                <a:solidFill>
                  <a:srgbClr val="FFFFFF"/>
                </a:solidFill>
                <a:latin typeface="Consolas" pitchFamily="34" charset="0"/>
                <a:ea typeface="Consolas" pitchFamily="34" charset="-122"/>
                <a:cs typeface="Consolas" pitchFamily="34" charset="-120"/>
              </a:rPr>
              <a:t>design</a:t>
            </a:r>
            <a:endParaRPr lang="en-US" sz="1150" dirty="0"/>
          </a:p>
        </p:txBody>
      </p:sp>
      <p:sp>
        <p:nvSpPr>
          <p:cNvPr id="23" name="Text 21"/>
          <p:cNvSpPr/>
          <p:nvPr/>
        </p:nvSpPr>
        <p:spPr>
          <a:xfrm>
            <a:off x="3136392" y="4087368"/>
            <a:ext cx="950976" cy="256032"/>
          </a:xfrm>
          <a:prstGeom prst="rect">
            <a:avLst/>
          </a:prstGeom>
          <a:noFill/>
          <a:ln/>
        </p:spPr>
        <p:txBody>
          <a:bodyPr wrap="square"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styles</a:t>
            </a:r>
            <a:endParaRPr lang="en-US" sz="800" dirty="0"/>
          </a:p>
        </p:txBody>
      </p:sp>
      <p:sp>
        <p:nvSpPr>
          <p:cNvPr id="24" name="Shape 22"/>
          <p:cNvSpPr/>
          <p:nvPr/>
        </p:nvSpPr>
        <p:spPr>
          <a:xfrm>
            <a:off x="7434072" y="3593592"/>
            <a:ext cx="950976" cy="950976"/>
          </a:xfrm>
          <a:prstGeom prst="ellipse">
            <a:avLst/>
          </a:prstGeom>
          <a:solidFill>
            <a:srgbClr val="0284C7"/>
          </a:solidFill>
          <a:ln/>
          <a:effectLst>
            <a:outerShdw sx="100000" sy="100000" kx="0" ky="0" algn="bl" rotWithShape="0" blurRad="139700" dist="38100" dir="5400000">
              <a:srgbClr val="9AA6BC">
                <a:alpha val="28000"/>
              </a:srgbClr>
            </a:outerShdw>
          </a:effectLst>
        </p:spPr>
      </p:sp>
      <p:sp>
        <p:nvSpPr>
          <p:cNvPr id="25" name="Text 23"/>
          <p:cNvSpPr/>
          <p:nvPr/>
        </p:nvSpPr>
        <p:spPr>
          <a:xfrm>
            <a:off x="7434072" y="3867912"/>
            <a:ext cx="950976" cy="274320"/>
          </a:xfrm>
          <a:prstGeom prst="rect">
            <a:avLst/>
          </a:prstGeom>
          <a:noFill/>
          <a:ln/>
        </p:spPr>
        <p:txBody>
          <a:bodyPr wrap="square" rtlCol="0" anchor="ctr"/>
          <a:lstStyle/>
          <a:p>
            <a:pPr algn="ctr" indent="0" marL="0">
              <a:buNone/>
            </a:pPr>
            <a:r>
              <a:rPr lang="en-US" sz="1150" b="1" dirty="0">
                <a:solidFill>
                  <a:srgbClr val="FFFFFF"/>
                </a:solidFill>
                <a:latin typeface="Consolas" pitchFamily="34" charset="0"/>
                <a:ea typeface="Consolas" pitchFamily="34" charset="-122"/>
                <a:cs typeface="Consolas" pitchFamily="34" charset="-120"/>
              </a:rPr>
              <a:t>build</a:t>
            </a:r>
            <a:endParaRPr lang="en-US" sz="1150" dirty="0"/>
          </a:p>
        </p:txBody>
      </p:sp>
      <p:sp>
        <p:nvSpPr>
          <p:cNvPr id="26" name="Text 24"/>
          <p:cNvSpPr/>
          <p:nvPr/>
        </p:nvSpPr>
        <p:spPr>
          <a:xfrm>
            <a:off x="7434072" y="4087368"/>
            <a:ext cx="950976" cy="256032"/>
          </a:xfrm>
          <a:prstGeom prst="rect">
            <a:avLst/>
          </a:prstGeom>
          <a:noFill/>
          <a:ln/>
        </p:spPr>
        <p:txBody>
          <a:bodyPr wrap="square"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assembles</a:t>
            </a:r>
            <a:endParaRPr lang="en-US" sz="800" dirty="0"/>
          </a:p>
        </p:txBody>
      </p:sp>
      <p:sp>
        <p:nvSpPr>
          <p:cNvPr id="27" name="Shape 25"/>
          <p:cNvSpPr/>
          <p:nvPr/>
        </p:nvSpPr>
        <p:spPr>
          <a:xfrm>
            <a:off x="5285232" y="4782312"/>
            <a:ext cx="950976" cy="950976"/>
          </a:xfrm>
          <a:prstGeom prst="ellipse">
            <a:avLst/>
          </a:prstGeom>
          <a:solidFill>
            <a:srgbClr val="E11D48"/>
          </a:solidFill>
          <a:ln/>
          <a:effectLst>
            <a:outerShdw sx="100000" sy="100000" kx="0" ky="0" algn="bl" rotWithShape="0" blurRad="139700" dist="38100" dir="5400000">
              <a:srgbClr val="9AA6BC">
                <a:alpha val="28000"/>
              </a:srgbClr>
            </a:outerShdw>
          </a:effectLst>
        </p:spPr>
      </p:sp>
      <p:sp>
        <p:nvSpPr>
          <p:cNvPr id="28" name="Text 26"/>
          <p:cNvSpPr/>
          <p:nvPr/>
        </p:nvSpPr>
        <p:spPr>
          <a:xfrm>
            <a:off x="5285232" y="5056632"/>
            <a:ext cx="950976" cy="274320"/>
          </a:xfrm>
          <a:prstGeom prst="rect">
            <a:avLst/>
          </a:prstGeom>
          <a:noFill/>
          <a:ln/>
        </p:spPr>
        <p:txBody>
          <a:bodyPr wrap="square" rtlCol="0" anchor="ctr"/>
          <a:lstStyle/>
          <a:p>
            <a:pPr algn="ctr" indent="0" marL="0">
              <a:buNone/>
            </a:pPr>
            <a:r>
              <a:rPr lang="en-US" sz="1150" b="1" dirty="0">
                <a:solidFill>
                  <a:srgbClr val="FFFFFF"/>
                </a:solidFill>
                <a:latin typeface="Consolas" pitchFamily="34" charset="0"/>
                <a:ea typeface="Consolas" pitchFamily="34" charset="-122"/>
                <a:cs typeface="Consolas" pitchFamily="34" charset="-120"/>
              </a:rPr>
              <a:t>skeptic</a:t>
            </a:r>
            <a:endParaRPr lang="en-US" sz="1150" dirty="0"/>
          </a:p>
        </p:txBody>
      </p:sp>
      <p:sp>
        <p:nvSpPr>
          <p:cNvPr id="29" name="Text 27"/>
          <p:cNvSpPr/>
          <p:nvPr/>
        </p:nvSpPr>
        <p:spPr>
          <a:xfrm>
            <a:off x="5285232" y="5276088"/>
            <a:ext cx="950976" cy="256032"/>
          </a:xfrm>
          <a:prstGeom prst="rect">
            <a:avLst/>
          </a:prstGeom>
          <a:noFill/>
          <a:ln/>
        </p:spPr>
        <p:txBody>
          <a:bodyPr wrap="square"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critiques</a:t>
            </a:r>
            <a:endParaRPr lang="en-US" sz="800" dirty="0"/>
          </a:p>
        </p:txBody>
      </p:sp>
      <p:sp>
        <p:nvSpPr>
          <p:cNvPr id="30" name="Text 28"/>
          <p:cNvSpPr/>
          <p:nvPr/>
        </p:nvSpPr>
        <p:spPr>
          <a:xfrm>
            <a:off x="2286000" y="6080760"/>
            <a:ext cx="7616952" cy="457200"/>
          </a:xfrm>
          <a:prstGeom prst="rect">
            <a:avLst/>
          </a:prstGeom>
          <a:noFill/>
          <a:ln/>
        </p:spPr>
        <p:txBody>
          <a:bodyPr wrap="square" rtlCol="0" anchor="ctr"/>
          <a:lstStyle/>
          <a:p>
            <a:pPr algn="ctr" indent="0" marL="0">
              <a:buNone/>
            </a:pPr>
            <a:r>
              <a:rPr lang="en-US" sz="1600" dirty="0">
                <a:solidFill>
                  <a:srgbClr val="666C7A"/>
                </a:solidFill>
                <a:latin typeface="Calibri" pitchFamily="34" charset="0"/>
                <a:ea typeface="Calibri" pitchFamily="34" charset="-122"/>
                <a:cs typeface="Calibri" pitchFamily="34" charset="-120"/>
              </a:rPr>
              <a:t>Every agent is the same local model. </a:t>
            </a:r>
            <a:pPr algn="ctr" indent="0" marL="0">
              <a:buNone/>
            </a:pPr>
            <a:r>
              <a:rPr lang="en-US" sz="1600" b="1" dirty="0">
                <a:solidFill>
                  <a:srgbClr val="4F46E5"/>
                </a:solidFill>
                <a:latin typeface="Calibri" pitchFamily="34" charset="0"/>
                <a:ea typeface="Calibri" pitchFamily="34" charset="-122"/>
                <a:cs typeface="Calibri" pitchFamily="34" charset="-120"/>
              </a:rPr>
              <a:t>The web is the architecture.</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indent="0" marL="0">
              <a:buNone/>
            </a:pPr>
            <a:r>
              <a:rPr lang="en-US" sz="1100" b="1" spc="300" kern="0" dirty="0">
                <a:solidFill>
                  <a:srgbClr val="4F46E5"/>
                </a:solidFill>
                <a:latin typeface="Arial" pitchFamily="34" charset="0"/>
                <a:ea typeface="Arial" pitchFamily="34" charset="-122"/>
                <a:cs typeface="Arial" pitchFamily="34" charset="-120"/>
              </a:rPr>
              <a:t>WHAT'S REALLY STEERING</a:t>
            </a:r>
            <a:endParaRPr lang="en-US" sz="1100" dirty="0"/>
          </a:p>
        </p:txBody>
      </p:sp>
      <p:sp>
        <p:nvSpPr>
          <p:cNvPr id="3" name="Text 1"/>
          <p:cNvSpPr/>
          <p:nvPr/>
        </p:nvSpPr>
        <p:spPr>
          <a:xfrm>
            <a:off x="841248" y="1463040"/>
            <a:ext cx="5486400" cy="1097280"/>
          </a:xfrm>
          <a:prstGeom prst="rect">
            <a:avLst/>
          </a:prstGeom>
          <a:noFill/>
          <a:ln/>
        </p:spPr>
        <p:txBody>
          <a:bodyPr wrap="square" rtlCol="0" anchor="ctr"/>
          <a:lstStyle/>
          <a:p>
            <a:pPr indent="0" marL="0">
              <a:buNone/>
            </a:pPr>
            <a:r>
              <a:rPr lang="en-US" sz="3600" b="1" dirty="0">
                <a:solidFill>
                  <a:srgbClr val="16181D"/>
                </a:solidFill>
                <a:latin typeface="Arial" pitchFamily="34" charset="0"/>
                <a:ea typeface="Arial" pitchFamily="34" charset="-122"/>
                <a:cs typeface="Arial" pitchFamily="34" charset="-120"/>
              </a:rPr>
              <a:t>The prompt barely </a:t>
            </a:r>
            <a:pPr indent="0" marL="0">
              <a:buNone/>
            </a:pPr>
            <a:r>
              <a:rPr lang="en-US" sz="3600" b="1" dirty="0">
                <a:solidFill>
                  <a:srgbClr val="4F46E5"/>
                </a:solidFill>
                <a:latin typeface="Arial" pitchFamily="34" charset="0"/>
                <a:ea typeface="Arial" pitchFamily="34" charset="-122"/>
                <a:cs typeface="Arial" pitchFamily="34" charset="-120"/>
              </a:rPr>
              <a:t>changed.</a:t>
            </a:r>
            <a:endParaRPr lang="en-US" sz="3600" dirty="0"/>
          </a:p>
        </p:txBody>
      </p:sp>
      <p:sp>
        <p:nvSpPr>
          <p:cNvPr id="4" name="Text 2"/>
          <p:cNvSpPr/>
          <p:nvPr/>
        </p:nvSpPr>
        <p:spPr>
          <a:xfrm>
            <a:off x="841248" y="2834640"/>
            <a:ext cx="4937760" cy="1097280"/>
          </a:xfrm>
          <a:prstGeom prst="rect">
            <a:avLst/>
          </a:prstGeom>
          <a:noFill/>
          <a:ln/>
        </p:spPr>
        <p:txBody>
          <a:bodyPr wrap="square" rtlCol="0" anchor="ctr"/>
          <a:lstStyle/>
          <a:p>
            <a:pPr indent="0" marL="0">
              <a:lnSpc>
                <a:spcPts val="2700"/>
              </a:lnSpc>
              <a:buNone/>
            </a:pPr>
            <a:r>
              <a:rPr lang="en-US" sz="1800" dirty="0">
                <a:solidFill>
                  <a:srgbClr val="666C7A"/>
                </a:solidFill>
                <a:latin typeface="Calibri" pitchFamily="34" charset="0"/>
                <a:ea typeface="Calibri" pitchFamily="34" charset="-122"/>
                <a:cs typeface="Calibri" pitchFamily="34" charset="-120"/>
              </a:rPr>
              <a:t>The power came from the levers around it, not from a cleverer sentence.</a:t>
            </a:r>
            <a:endParaRPr lang="en-US" sz="1800" dirty="0"/>
          </a:p>
        </p:txBody>
      </p:sp>
      <p:sp>
        <p:nvSpPr>
          <p:cNvPr id="5" name="Shape 3"/>
          <p:cNvSpPr/>
          <p:nvPr/>
        </p:nvSpPr>
        <p:spPr>
          <a:xfrm>
            <a:off x="6583680" y="1920240"/>
            <a:ext cx="4754880" cy="868680"/>
          </a:xfrm>
          <a:prstGeom prst="roundRect">
            <a:avLst>
              <a:gd name="adj" fmla="val 10526"/>
            </a:avLst>
          </a:prstGeom>
          <a:solidFill>
            <a:srgbClr val="F5F7FA"/>
          </a:solidFill>
          <a:ln w="12700">
            <a:solidFill>
              <a:srgbClr val="E1E5EC"/>
            </a:solidFill>
            <a:prstDash val="solid"/>
          </a:ln>
          <a:effectLst>
            <a:outerShdw sx="100000" sy="100000" kx="0" ky="0" algn="bl" rotWithShape="0" blurRad="139700" dist="38100" dir="5400000">
              <a:srgbClr val="9AA6BC">
                <a:alpha val="28000"/>
              </a:srgbClr>
            </a:outerShdw>
          </a:effectLst>
        </p:spPr>
      </p:sp>
      <p:sp>
        <p:nvSpPr>
          <p:cNvPr id="6" name="Shape 4"/>
          <p:cNvSpPr/>
          <p:nvPr/>
        </p:nvSpPr>
        <p:spPr>
          <a:xfrm>
            <a:off x="6876288" y="2098548"/>
            <a:ext cx="512064" cy="512064"/>
          </a:xfrm>
          <a:prstGeom prst="ellipse">
            <a:avLst/>
          </a:prstGeom>
          <a:solidFill>
            <a:srgbClr val="9AA1B0"/>
          </a:solidFill>
          <a:ln/>
          <a:effectLst>
            <a:outerShdw sx="100000" sy="100000" kx="0" ky="0" algn="bl" rotWithShape="0" blurRad="139700" dist="38100" dir="5400000">
              <a:srgbClr val="9AA6BC">
                <a:alpha val="28000"/>
              </a:srgbClr>
            </a:outerShdw>
          </a:effectLst>
        </p:spPr>
      </p:sp>
      <p:pic>
        <p:nvPicPr>
          <p:cNvPr id="7" name="Image 0" descr="preencoded.png">    </p:cNvPr>
          <p:cNvPicPr>
            <a:picLocks noChangeAspect="1"/>
          </p:cNvPicPr>
          <p:nvPr/>
        </p:nvPicPr>
        <p:blipFill>
          <a:blip r:embed="rId1"/>
          <a:stretch>
            <a:fillRect/>
          </a:stretch>
        </p:blipFill>
        <p:spPr>
          <a:xfrm>
            <a:off x="6999183" y="2221443"/>
            <a:ext cx="266273" cy="266273"/>
          </a:xfrm>
          <a:prstGeom prst="rect">
            <a:avLst/>
          </a:prstGeom>
        </p:spPr>
      </p:pic>
      <p:sp>
        <p:nvSpPr>
          <p:cNvPr id="8" name="Text 5"/>
          <p:cNvSpPr/>
          <p:nvPr/>
        </p:nvSpPr>
        <p:spPr>
          <a:xfrm>
            <a:off x="7543800" y="2194560"/>
            <a:ext cx="1737360" cy="320040"/>
          </a:xfrm>
          <a:prstGeom prst="rect">
            <a:avLst/>
          </a:prstGeom>
          <a:noFill/>
          <a:ln/>
        </p:spPr>
        <p:txBody>
          <a:bodyPr wrap="square" rtlCol="0" anchor="ctr"/>
          <a:lstStyle/>
          <a:p>
            <a:pPr indent="0" marL="0">
              <a:buNone/>
            </a:pPr>
            <a:r>
              <a:rPr lang="en-US" sz="1000" spc="150" kern="0" dirty="0">
                <a:solidFill>
                  <a:srgbClr val="666C7A"/>
                </a:solidFill>
                <a:latin typeface="Consolas" pitchFamily="34" charset="0"/>
                <a:ea typeface="Consolas" pitchFamily="34" charset="-122"/>
                <a:cs typeface="Consolas" pitchFamily="34" charset="-120"/>
              </a:rPr>
              <a:t>LEVER 01</a:t>
            </a:r>
            <a:endParaRPr lang="en-US" sz="1000" dirty="0"/>
          </a:p>
        </p:txBody>
      </p:sp>
      <p:sp>
        <p:nvSpPr>
          <p:cNvPr id="9" name="Text 6"/>
          <p:cNvSpPr/>
          <p:nvPr/>
        </p:nvSpPr>
        <p:spPr>
          <a:xfrm>
            <a:off x="8915400" y="2194560"/>
            <a:ext cx="2286000" cy="320040"/>
          </a:xfrm>
          <a:prstGeom prst="rect">
            <a:avLst/>
          </a:prstGeom>
          <a:noFill/>
          <a:ln/>
        </p:spPr>
        <p:txBody>
          <a:bodyPr wrap="square" rtlCol="0" anchor="ctr"/>
          <a:lstStyle/>
          <a:p>
            <a:pPr indent="0" marL="0">
              <a:buNone/>
            </a:pPr>
            <a:r>
              <a:rPr lang="en-US" sz="1400" b="1" dirty="0">
                <a:solidFill>
                  <a:srgbClr val="16181D"/>
                </a:solidFill>
                <a:latin typeface="Calibri" pitchFamily="34" charset="0"/>
                <a:ea typeface="Calibri" pitchFamily="34" charset="-122"/>
                <a:cs typeface="Calibri" pitchFamily="34" charset="-120"/>
              </a:rPr>
              <a:t>Prompt:  </a:t>
            </a:r>
            <a:pPr indent="0" marL="0">
              <a:buNone/>
            </a:pPr>
            <a:r>
              <a:rPr lang="en-US" sz="1400" dirty="0">
                <a:solidFill>
                  <a:srgbClr val="666C7A"/>
                </a:solidFill>
                <a:latin typeface="Calibri" pitchFamily="34" charset="0"/>
                <a:ea typeface="Calibri" pitchFamily="34" charset="-122"/>
                <a:cs typeface="Calibri" pitchFamily="34" charset="-120"/>
              </a:rPr>
              <a:t>one plain English line</a:t>
            </a:r>
            <a:endParaRPr lang="en-US" sz="1400" dirty="0"/>
          </a:p>
        </p:txBody>
      </p:sp>
      <p:sp>
        <p:nvSpPr>
          <p:cNvPr id="10" name="Shape 7"/>
          <p:cNvSpPr/>
          <p:nvPr/>
        </p:nvSpPr>
        <p:spPr>
          <a:xfrm>
            <a:off x="6583680" y="2971800"/>
            <a:ext cx="4754880" cy="868680"/>
          </a:xfrm>
          <a:prstGeom prst="roundRect">
            <a:avLst>
              <a:gd name="adj" fmla="val 10526"/>
            </a:avLst>
          </a:prstGeom>
          <a:solidFill>
            <a:srgbClr val="EEF0FE"/>
          </a:solidFill>
          <a:ln w="12700">
            <a:solidFill>
              <a:srgbClr val="4F46E5"/>
            </a:solidFill>
            <a:prstDash val="solid"/>
          </a:ln>
          <a:effectLst>
            <a:outerShdw sx="100000" sy="100000" kx="0" ky="0" algn="bl" rotWithShape="0" blurRad="139700" dist="38100" dir="5400000">
              <a:srgbClr val="9AA6BC">
                <a:alpha val="28000"/>
              </a:srgbClr>
            </a:outerShdw>
          </a:effectLst>
        </p:spPr>
      </p:sp>
      <p:sp>
        <p:nvSpPr>
          <p:cNvPr id="11" name="Shape 8"/>
          <p:cNvSpPr/>
          <p:nvPr/>
        </p:nvSpPr>
        <p:spPr>
          <a:xfrm>
            <a:off x="6876288" y="3150108"/>
            <a:ext cx="512064" cy="512064"/>
          </a:xfrm>
          <a:prstGeom prst="ellipse">
            <a:avLst/>
          </a:prstGeom>
          <a:solidFill>
            <a:srgbClr val="4F46E5"/>
          </a:solidFill>
          <a:ln/>
          <a:effectLst>
            <a:outerShdw sx="100000" sy="100000" kx="0" ky="0" algn="bl" rotWithShape="0" blurRad="139700" dist="38100" dir="5400000">
              <a:srgbClr val="9AA6BC">
                <a:alpha val="28000"/>
              </a:srgbClr>
            </a:outerShdw>
          </a:effectLst>
        </p:spPr>
      </p:sp>
      <p:pic>
        <p:nvPicPr>
          <p:cNvPr id="12" name="Image 1" descr="preencoded.png">    </p:cNvPr>
          <p:cNvPicPr>
            <a:picLocks noChangeAspect="1"/>
          </p:cNvPicPr>
          <p:nvPr/>
        </p:nvPicPr>
        <p:blipFill>
          <a:blip r:embed="rId2"/>
          <a:stretch>
            <a:fillRect/>
          </a:stretch>
        </p:blipFill>
        <p:spPr>
          <a:xfrm>
            <a:off x="6999183" y="3273003"/>
            <a:ext cx="266273" cy="266273"/>
          </a:xfrm>
          <a:prstGeom prst="rect">
            <a:avLst/>
          </a:prstGeom>
        </p:spPr>
      </p:pic>
      <p:sp>
        <p:nvSpPr>
          <p:cNvPr id="13" name="Text 9"/>
          <p:cNvSpPr/>
          <p:nvPr/>
        </p:nvSpPr>
        <p:spPr>
          <a:xfrm>
            <a:off x="7543800" y="3246120"/>
            <a:ext cx="1737360" cy="320040"/>
          </a:xfrm>
          <a:prstGeom prst="rect">
            <a:avLst/>
          </a:prstGeom>
          <a:noFill/>
          <a:ln/>
        </p:spPr>
        <p:txBody>
          <a:bodyPr wrap="square" rtlCol="0" anchor="ctr"/>
          <a:lstStyle/>
          <a:p>
            <a:pPr indent="0" marL="0">
              <a:buNone/>
            </a:pPr>
            <a:r>
              <a:rPr lang="en-US" sz="1000" spc="150" kern="0" dirty="0">
                <a:solidFill>
                  <a:srgbClr val="666C7A"/>
                </a:solidFill>
                <a:latin typeface="Consolas" pitchFamily="34" charset="0"/>
                <a:ea typeface="Consolas" pitchFamily="34" charset="-122"/>
                <a:cs typeface="Consolas" pitchFamily="34" charset="-120"/>
              </a:rPr>
              <a:t>LEVER 03</a:t>
            </a:r>
            <a:endParaRPr lang="en-US" sz="1000" dirty="0"/>
          </a:p>
        </p:txBody>
      </p:sp>
      <p:sp>
        <p:nvSpPr>
          <p:cNvPr id="14" name="Text 10"/>
          <p:cNvSpPr/>
          <p:nvPr/>
        </p:nvSpPr>
        <p:spPr>
          <a:xfrm>
            <a:off x="8915400" y="3246120"/>
            <a:ext cx="2286000" cy="320040"/>
          </a:xfrm>
          <a:prstGeom prst="rect">
            <a:avLst/>
          </a:prstGeom>
          <a:noFill/>
          <a:ln/>
        </p:spPr>
        <p:txBody>
          <a:bodyPr wrap="square" rtlCol="0" anchor="ctr"/>
          <a:lstStyle/>
          <a:p>
            <a:pPr indent="0" marL="0">
              <a:buNone/>
            </a:pPr>
            <a:r>
              <a:rPr lang="en-US" sz="1400" b="1" dirty="0">
                <a:solidFill>
                  <a:srgbClr val="16181D"/>
                </a:solidFill>
                <a:latin typeface="Calibri" pitchFamily="34" charset="0"/>
                <a:ea typeface="Calibri" pitchFamily="34" charset="-122"/>
                <a:cs typeface="Calibri" pitchFamily="34" charset="-120"/>
              </a:rPr>
              <a:t>Schema:  </a:t>
            </a:r>
            <a:pPr indent="0" marL="0">
              <a:buNone/>
            </a:pPr>
            <a:r>
              <a:rPr lang="en-US" sz="1400" dirty="0">
                <a:solidFill>
                  <a:srgbClr val="666C7A"/>
                </a:solidFill>
                <a:latin typeface="Calibri" pitchFamily="34" charset="0"/>
                <a:ea typeface="Calibri" pitchFamily="34" charset="-122"/>
                <a:cs typeface="Calibri" pitchFamily="34" charset="-120"/>
              </a:rPr>
              <a:t>a sentence becomes a typed crew</a:t>
            </a:r>
            <a:endParaRPr lang="en-US" sz="1400" dirty="0"/>
          </a:p>
        </p:txBody>
      </p:sp>
      <p:sp>
        <p:nvSpPr>
          <p:cNvPr id="15" name="Shape 11"/>
          <p:cNvSpPr/>
          <p:nvPr/>
        </p:nvSpPr>
        <p:spPr>
          <a:xfrm>
            <a:off x="6583680" y="4023360"/>
            <a:ext cx="4754880" cy="868680"/>
          </a:xfrm>
          <a:prstGeom prst="roundRect">
            <a:avLst>
              <a:gd name="adj" fmla="val 10526"/>
            </a:avLst>
          </a:prstGeom>
          <a:solidFill>
            <a:srgbClr val="EEF0FE"/>
          </a:solidFill>
          <a:ln w="12700">
            <a:solidFill>
              <a:srgbClr val="4F46E5"/>
            </a:solidFill>
            <a:prstDash val="solid"/>
          </a:ln>
          <a:effectLst>
            <a:outerShdw sx="100000" sy="100000" kx="0" ky="0" algn="bl" rotWithShape="0" blurRad="139700" dist="38100" dir="5400000">
              <a:srgbClr val="9AA6BC">
                <a:alpha val="28000"/>
              </a:srgbClr>
            </a:outerShdw>
          </a:effectLst>
        </p:spPr>
      </p:sp>
      <p:sp>
        <p:nvSpPr>
          <p:cNvPr id="16" name="Shape 12"/>
          <p:cNvSpPr/>
          <p:nvPr/>
        </p:nvSpPr>
        <p:spPr>
          <a:xfrm>
            <a:off x="6876288" y="4201668"/>
            <a:ext cx="512064" cy="512064"/>
          </a:xfrm>
          <a:prstGeom prst="ellipse">
            <a:avLst/>
          </a:prstGeom>
          <a:solidFill>
            <a:srgbClr val="4F46E5"/>
          </a:solidFill>
          <a:ln/>
          <a:effectLst>
            <a:outerShdw sx="100000" sy="100000" kx="0" ky="0" algn="bl" rotWithShape="0" blurRad="139700" dist="38100" dir="5400000">
              <a:srgbClr val="9AA6BC">
                <a:alpha val="28000"/>
              </a:srgbClr>
            </a:outerShdw>
          </a:effectLst>
        </p:spPr>
      </p:sp>
      <p:pic>
        <p:nvPicPr>
          <p:cNvPr id="17" name="Image 2" descr="preencoded.png">    </p:cNvPr>
          <p:cNvPicPr>
            <a:picLocks noChangeAspect="1"/>
          </p:cNvPicPr>
          <p:nvPr/>
        </p:nvPicPr>
        <p:blipFill>
          <a:blip r:embed="rId3"/>
          <a:stretch>
            <a:fillRect/>
          </a:stretch>
        </p:blipFill>
        <p:spPr>
          <a:xfrm>
            <a:off x="6999183" y="4324563"/>
            <a:ext cx="266273" cy="266273"/>
          </a:xfrm>
          <a:prstGeom prst="rect">
            <a:avLst/>
          </a:prstGeom>
        </p:spPr>
      </p:pic>
      <p:sp>
        <p:nvSpPr>
          <p:cNvPr id="18" name="Text 13"/>
          <p:cNvSpPr/>
          <p:nvPr/>
        </p:nvSpPr>
        <p:spPr>
          <a:xfrm>
            <a:off x="7543800" y="4297680"/>
            <a:ext cx="1737360" cy="320040"/>
          </a:xfrm>
          <a:prstGeom prst="rect">
            <a:avLst/>
          </a:prstGeom>
          <a:noFill/>
          <a:ln/>
        </p:spPr>
        <p:txBody>
          <a:bodyPr wrap="square" rtlCol="0" anchor="ctr"/>
          <a:lstStyle/>
          <a:p>
            <a:pPr indent="0" marL="0">
              <a:buNone/>
            </a:pPr>
            <a:r>
              <a:rPr lang="en-US" sz="1000" spc="150" kern="0" dirty="0">
                <a:solidFill>
                  <a:srgbClr val="666C7A"/>
                </a:solidFill>
                <a:latin typeface="Consolas" pitchFamily="34" charset="0"/>
                <a:ea typeface="Consolas" pitchFamily="34" charset="-122"/>
                <a:cs typeface="Consolas" pitchFamily="34" charset="-120"/>
              </a:rPr>
              <a:t>LEVER 06</a:t>
            </a:r>
            <a:endParaRPr lang="en-US" sz="1000" dirty="0"/>
          </a:p>
        </p:txBody>
      </p:sp>
      <p:sp>
        <p:nvSpPr>
          <p:cNvPr id="19" name="Text 14"/>
          <p:cNvSpPr/>
          <p:nvPr/>
        </p:nvSpPr>
        <p:spPr>
          <a:xfrm>
            <a:off x="8915400" y="4297680"/>
            <a:ext cx="2286000" cy="320040"/>
          </a:xfrm>
          <a:prstGeom prst="rect">
            <a:avLst/>
          </a:prstGeom>
          <a:noFill/>
          <a:ln/>
        </p:spPr>
        <p:txBody>
          <a:bodyPr wrap="square" rtlCol="0" anchor="ctr"/>
          <a:lstStyle/>
          <a:p>
            <a:pPr indent="0" marL="0">
              <a:buNone/>
            </a:pPr>
            <a:r>
              <a:rPr lang="en-US" sz="1400" b="1" dirty="0">
                <a:solidFill>
                  <a:srgbClr val="16181D"/>
                </a:solidFill>
                <a:latin typeface="Calibri" pitchFamily="34" charset="0"/>
                <a:ea typeface="Calibri" pitchFamily="34" charset="-122"/>
                <a:cs typeface="Calibri" pitchFamily="34" charset="-120"/>
              </a:rPr>
              <a:t>Orchestration:  </a:t>
            </a:r>
            <a:pPr indent="0" marL="0">
              <a:buNone/>
            </a:pPr>
            <a:r>
              <a:rPr lang="en-US" sz="1400" dirty="0">
                <a:solidFill>
                  <a:srgbClr val="666C7A"/>
                </a:solidFill>
                <a:latin typeface="Calibri" pitchFamily="34" charset="0"/>
                <a:ea typeface="Calibri" pitchFamily="34" charset="-122"/>
                <a:cs typeface="Calibri" pitchFamily="34" charset="-120"/>
              </a:rPr>
              <a:t>they run as a team</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indent="0" marL="0">
              <a:buNone/>
            </a:pPr>
            <a:r>
              <a:rPr lang="en-US" sz="1100" b="1" spc="300" kern="0" dirty="0">
                <a:solidFill>
                  <a:srgbClr val="D97706"/>
                </a:solidFill>
                <a:latin typeface="Arial" pitchFamily="34" charset="0"/>
                <a:ea typeface="Arial" pitchFamily="34" charset="-122"/>
                <a:cs typeface="Arial" pitchFamily="34" charset="-120"/>
              </a:rPr>
              <a:t>TONIGHT'S DEMO, WIRED UP</a:t>
            </a:r>
            <a:endParaRPr lang="en-US" sz="1100" dirty="0"/>
          </a:p>
        </p:txBody>
      </p:sp>
      <p:sp>
        <p:nvSpPr>
          <p:cNvPr id="3" name="Text 1"/>
          <p:cNvSpPr/>
          <p:nvPr/>
        </p:nvSpPr>
        <p:spPr>
          <a:xfrm>
            <a:off x="841248" y="1051560"/>
            <a:ext cx="10058400" cy="822960"/>
          </a:xfrm>
          <a:prstGeom prst="rect">
            <a:avLst/>
          </a:prstGeom>
          <a:noFill/>
          <a:ln/>
        </p:spPr>
        <p:txBody>
          <a:bodyPr wrap="square" rtlCol="0" anchor="ctr"/>
          <a:lstStyle/>
          <a:p>
            <a:pPr indent="0" marL="0">
              <a:buNone/>
            </a:pPr>
            <a:r>
              <a:rPr lang="en-US" sz="3200" b="1" dirty="0">
                <a:solidFill>
                  <a:srgbClr val="16181D"/>
                </a:solidFill>
                <a:latin typeface="Arial" pitchFamily="34" charset="0"/>
                <a:ea typeface="Arial" pitchFamily="34" charset="-122"/>
                <a:cs typeface="Arial" pitchFamily="34" charset="-120"/>
              </a:rPr>
              <a:t>How the </a:t>
            </a:r>
            <a:pPr indent="0" marL="0">
              <a:buNone/>
            </a:pPr>
            <a:r>
              <a:rPr lang="en-US" sz="3200" b="1" dirty="0">
                <a:solidFill>
                  <a:srgbClr val="4F46E5"/>
                </a:solidFill>
                <a:latin typeface="Arial" pitchFamily="34" charset="0"/>
                <a:ea typeface="Arial" pitchFamily="34" charset="-122"/>
                <a:cs typeface="Arial" pitchFamily="34" charset="-120"/>
              </a:rPr>
              <a:t>Live Build</a:t>
            </a:r>
            <a:pPr indent="0" marL="0">
              <a:buNone/>
            </a:pPr>
            <a:r>
              <a:rPr lang="en-US" sz="3200" b="1" dirty="0">
                <a:solidFill>
                  <a:srgbClr val="16181D"/>
                </a:solidFill>
                <a:latin typeface="Arial" pitchFamily="34" charset="0"/>
                <a:ea typeface="Arial" pitchFamily="34" charset="-122"/>
                <a:cs typeface="Arial" pitchFamily="34" charset="-120"/>
              </a:rPr>
              <a:t> works.</a:t>
            </a:r>
            <a:endParaRPr lang="en-US" sz="3200" dirty="0"/>
          </a:p>
        </p:txBody>
      </p:sp>
      <p:sp>
        <p:nvSpPr>
          <p:cNvPr id="4" name="Shape 2"/>
          <p:cNvSpPr/>
          <p:nvPr/>
        </p:nvSpPr>
        <p:spPr>
          <a:xfrm>
            <a:off x="841248" y="2697480"/>
            <a:ext cx="1783080" cy="2148840"/>
          </a:xfrm>
          <a:prstGeom prst="roundRect">
            <a:avLst>
              <a:gd name="adj" fmla="val 5128"/>
            </a:avLst>
          </a:prstGeom>
          <a:solidFill>
            <a:srgbClr val="F5F7FA"/>
          </a:solidFill>
          <a:ln w="12700">
            <a:solidFill>
              <a:srgbClr val="E1E5EC"/>
            </a:solidFill>
            <a:prstDash val="solid"/>
          </a:ln>
          <a:effectLst>
            <a:outerShdw sx="100000" sy="100000" kx="0" ky="0" algn="bl" rotWithShape="0" blurRad="139700" dist="38100" dir="5400000">
              <a:srgbClr val="9AA6BC">
                <a:alpha val="28000"/>
              </a:srgbClr>
            </a:outerShdw>
          </a:effectLst>
        </p:spPr>
      </p:sp>
      <p:sp>
        <p:nvSpPr>
          <p:cNvPr id="5" name="Shape 3"/>
          <p:cNvSpPr/>
          <p:nvPr/>
        </p:nvSpPr>
        <p:spPr>
          <a:xfrm>
            <a:off x="1412748" y="3035808"/>
            <a:ext cx="640080" cy="640080"/>
          </a:xfrm>
          <a:prstGeom prst="ellipse">
            <a:avLst/>
          </a:prstGeom>
          <a:solidFill>
            <a:srgbClr val="4F46E5"/>
          </a:solidFill>
          <a:ln/>
          <a:effectLst>
            <a:outerShdw sx="100000" sy="100000" kx="0" ky="0" algn="bl" rotWithShape="0" blurRad="139700" dist="38100" dir="5400000">
              <a:srgbClr val="9AA6BC">
                <a:alpha val="28000"/>
              </a:srgbClr>
            </a:outerShdw>
          </a:effectLst>
        </p:spPr>
      </p:sp>
      <p:pic>
        <p:nvPicPr>
          <p:cNvPr id="6" name="Image 0" descr="preencoded.png">    </p:cNvPr>
          <p:cNvPicPr>
            <a:picLocks noChangeAspect="1"/>
          </p:cNvPicPr>
          <p:nvPr/>
        </p:nvPicPr>
        <p:blipFill>
          <a:blip r:embed="rId1"/>
          <a:stretch>
            <a:fillRect/>
          </a:stretch>
        </p:blipFill>
        <p:spPr>
          <a:xfrm>
            <a:off x="1566367" y="3189427"/>
            <a:ext cx="332842" cy="332842"/>
          </a:xfrm>
          <a:prstGeom prst="rect">
            <a:avLst/>
          </a:prstGeom>
        </p:spPr>
      </p:pic>
      <p:sp>
        <p:nvSpPr>
          <p:cNvPr id="7" name="Text 4"/>
          <p:cNvSpPr/>
          <p:nvPr/>
        </p:nvSpPr>
        <p:spPr>
          <a:xfrm>
            <a:off x="841248" y="3813048"/>
            <a:ext cx="1783080" cy="365760"/>
          </a:xfrm>
          <a:prstGeom prst="rect">
            <a:avLst/>
          </a:prstGeom>
          <a:noFill/>
          <a:ln/>
        </p:spPr>
        <p:txBody>
          <a:bodyPr wrap="square" rtlCol="0" anchor="ctr"/>
          <a:lstStyle/>
          <a:p>
            <a:pPr algn="ctr" indent="0" marL="0">
              <a:buNone/>
            </a:pPr>
            <a:r>
              <a:rPr lang="en-US" sz="1500" b="1" dirty="0">
                <a:solidFill>
                  <a:srgbClr val="16181D"/>
                </a:solidFill>
                <a:latin typeface="Arial" pitchFamily="34" charset="0"/>
                <a:ea typeface="Arial" pitchFamily="34" charset="-122"/>
                <a:cs typeface="Arial" pitchFamily="34" charset="-120"/>
              </a:rPr>
              <a:t>Phone</a:t>
            </a:r>
            <a:endParaRPr lang="en-US" sz="1500" dirty="0"/>
          </a:p>
        </p:txBody>
      </p:sp>
      <p:sp>
        <p:nvSpPr>
          <p:cNvPr id="8" name="Text 5"/>
          <p:cNvSpPr/>
          <p:nvPr/>
        </p:nvSpPr>
        <p:spPr>
          <a:xfrm>
            <a:off x="932688" y="4160520"/>
            <a:ext cx="1600200" cy="548640"/>
          </a:xfrm>
          <a:prstGeom prst="rect">
            <a:avLst/>
          </a:prstGeom>
          <a:noFill/>
          <a:ln/>
        </p:spPr>
        <p:txBody>
          <a:bodyPr wrap="square" rtlCol="0" anchor="ctr"/>
          <a:lstStyle/>
          <a:p>
            <a:pPr algn="ctr" indent="0" marL="0">
              <a:lnSpc>
                <a:spcPts val="1200"/>
              </a:lnSpc>
              <a:buNone/>
            </a:pPr>
            <a:r>
              <a:rPr lang="en-US" sz="900" dirty="0">
                <a:solidFill>
                  <a:srgbClr val="666C7A"/>
                </a:solidFill>
                <a:latin typeface="Consolas" pitchFamily="34" charset="0"/>
                <a:ea typeface="Consolas" pitchFamily="34" charset="-122"/>
                <a:cs typeface="Consolas" pitchFamily="34" charset="-120"/>
              </a:rPr>
              <a:t>POST /submit</a:t>
            </a:r>
            <a:endParaRPr lang="en-US" sz="900" dirty="0"/>
          </a:p>
        </p:txBody>
      </p:sp>
      <p:sp>
        <p:nvSpPr>
          <p:cNvPr id="9" name="Shape 6"/>
          <p:cNvSpPr/>
          <p:nvPr/>
        </p:nvSpPr>
        <p:spPr>
          <a:xfrm>
            <a:off x="2684095" y="3771900"/>
            <a:ext cx="278915" cy="0"/>
          </a:xfrm>
          <a:prstGeom prst="line">
            <a:avLst/>
          </a:prstGeom>
          <a:noFill/>
          <a:ln w="20320">
            <a:solidFill>
              <a:srgbClr val="9AA1B0"/>
            </a:solidFill>
            <a:prstDash val="solid"/>
            <a:tailEnd type="triangle"/>
          </a:ln>
        </p:spPr>
      </p:sp>
      <p:sp>
        <p:nvSpPr>
          <p:cNvPr id="10" name="Shape 7"/>
          <p:cNvSpPr/>
          <p:nvPr/>
        </p:nvSpPr>
        <p:spPr>
          <a:xfrm>
            <a:off x="3022778" y="2697480"/>
            <a:ext cx="1783080" cy="2148840"/>
          </a:xfrm>
          <a:prstGeom prst="roundRect">
            <a:avLst>
              <a:gd name="adj" fmla="val 5128"/>
            </a:avLst>
          </a:prstGeom>
          <a:solidFill>
            <a:srgbClr val="F5F7FA"/>
          </a:solidFill>
          <a:ln w="12700">
            <a:solidFill>
              <a:srgbClr val="E1E5EC"/>
            </a:solidFill>
            <a:prstDash val="solid"/>
          </a:ln>
          <a:effectLst>
            <a:outerShdw sx="100000" sy="100000" kx="0" ky="0" algn="bl" rotWithShape="0" blurRad="139700" dist="38100" dir="5400000">
              <a:srgbClr val="9AA6BC">
                <a:alpha val="28000"/>
              </a:srgbClr>
            </a:outerShdw>
          </a:effectLst>
        </p:spPr>
      </p:sp>
      <p:sp>
        <p:nvSpPr>
          <p:cNvPr id="11" name="Shape 8"/>
          <p:cNvSpPr/>
          <p:nvPr/>
        </p:nvSpPr>
        <p:spPr>
          <a:xfrm>
            <a:off x="3594278" y="3035808"/>
            <a:ext cx="640080" cy="640080"/>
          </a:xfrm>
          <a:prstGeom prst="ellipse">
            <a:avLst/>
          </a:prstGeom>
          <a:solidFill>
            <a:srgbClr val="0284C7"/>
          </a:solidFill>
          <a:ln/>
          <a:effectLst>
            <a:outerShdw sx="100000" sy="100000" kx="0" ky="0" algn="bl" rotWithShape="0" blurRad="139700" dist="38100" dir="5400000">
              <a:srgbClr val="9AA6BC">
                <a:alpha val="28000"/>
              </a:srgbClr>
            </a:outerShdw>
          </a:effectLst>
        </p:spPr>
      </p:sp>
      <p:pic>
        <p:nvPicPr>
          <p:cNvPr id="12" name="Image 1" descr="preencoded.png">    </p:cNvPr>
          <p:cNvPicPr>
            <a:picLocks noChangeAspect="1"/>
          </p:cNvPicPr>
          <p:nvPr/>
        </p:nvPicPr>
        <p:blipFill>
          <a:blip r:embed="rId2"/>
          <a:stretch>
            <a:fillRect/>
          </a:stretch>
        </p:blipFill>
        <p:spPr>
          <a:xfrm>
            <a:off x="3747897" y="3189427"/>
            <a:ext cx="332842" cy="332842"/>
          </a:xfrm>
          <a:prstGeom prst="rect">
            <a:avLst/>
          </a:prstGeom>
        </p:spPr>
      </p:pic>
      <p:sp>
        <p:nvSpPr>
          <p:cNvPr id="13" name="Text 9"/>
          <p:cNvSpPr/>
          <p:nvPr/>
        </p:nvSpPr>
        <p:spPr>
          <a:xfrm>
            <a:off x="3022778" y="3813048"/>
            <a:ext cx="1783080" cy="365760"/>
          </a:xfrm>
          <a:prstGeom prst="rect">
            <a:avLst/>
          </a:prstGeom>
          <a:noFill/>
          <a:ln/>
        </p:spPr>
        <p:txBody>
          <a:bodyPr wrap="square" rtlCol="0" anchor="ctr"/>
          <a:lstStyle/>
          <a:p>
            <a:pPr algn="ctr" indent="0" marL="0">
              <a:buNone/>
            </a:pPr>
            <a:r>
              <a:rPr lang="en-US" sz="1500" b="1" dirty="0">
                <a:solidFill>
                  <a:srgbClr val="16181D"/>
                </a:solidFill>
                <a:latin typeface="Arial" pitchFamily="34" charset="0"/>
                <a:ea typeface="Arial" pitchFamily="34" charset="-122"/>
                <a:cs typeface="Arial" pitchFamily="34" charset="-120"/>
              </a:rPr>
              <a:t>Spring Boot</a:t>
            </a:r>
            <a:endParaRPr lang="en-US" sz="1500" dirty="0"/>
          </a:p>
        </p:txBody>
      </p:sp>
      <p:sp>
        <p:nvSpPr>
          <p:cNvPr id="14" name="Text 10"/>
          <p:cNvSpPr/>
          <p:nvPr/>
        </p:nvSpPr>
        <p:spPr>
          <a:xfrm>
            <a:off x="3114218" y="4160520"/>
            <a:ext cx="1600200" cy="548640"/>
          </a:xfrm>
          <a:prstGeom prst="rect">
            <a:avLst/>
          </a:prstGeom>
          <a:noFill/>
          <a:ln/>
        </p:spPr>
        <p:txBody>
          <a:bodyPr wrap="square" rtlCol="0" anchor="ctr"/>
          <a:lstStyle/>
          <a:p>
            <a:pPr algn="ctr" indent="0" marL="0">
              <a:lnSpc>
                <a:spcPts val="1200"/>
              </a:lnSpc>
              <a:buNone/>
            </a:pPr>
            <a:r>
              <a:rPr lang="en-US" sz="900" dirty="0">
                <a:solidFill>
                  <a:srgbClr val="666C7A"/>
                </a:solidFill>
                <a:latin typeface="Consolas" pitchFamily="34" charset="0"/>
                <a:ea typeface="Consolas" pitchFamily="34" charset="-122"/>
                <a:cs typeface="Consolas" pitchFamily="34" charset="-120"/>
              </a:rPr>
              <a:t>on your hotspot</a:t>
            </a:r>
            <a:endParaRPr lang="en-US" sz="900" dirty="0"/>
          </a:p>
        </p:txBody>
      </p:sp>
      <p:sp>
        <p:nvSpPr>
          <p:cNvPr id="15" name="Shape 11"/>
          <p:cNvSpPr/>
          <p:nvPr/>
        </p:nvSpPr>
        <p:spPr>
          <a:xfrm>
            <a:off x="4865625" y="3771900"/>
            <a:ext cx="278915" cy="0"/>
          </a:xfrm>
          <a:prstGeom prst="line">
            <a:avLst/>
          </a:prstGeom>
          <a:noFill/>
          <a:ln w="20320">
            <a:solidFill>
              <a:srgbClr val="9AA1B0"/>
            </a:solidFill>
            <a:prstDash val="solid"/>
            <a:tailEnd type="triangle"/>
          </a:ln>
        </p:spPr>
      </p:sp>
      <p:sp>
        <p:nvSpPr>
          <p:cNvPr id="16" name="Shape 12"/>
          <p:cNvSpPr/>
          <p:nvPr/>
        </p:nvSpPr>
        <p:spPr>
          <a:xfrm>
            <a:off x="5204308" y="2697480"/>
            <a:ext cx="1783080" cy="2148840"/>
          </a:xfrm>
          <a:prstGeom prst="roundRect">
            <a:avLst>
              <a:gd name="adj" fmla="val 5128"/>
            </a:avLst>
          </a:prstGeom>
          <a:solidFill>
            <a:srgbClr val="F5F7FA"/>
          </a:solidFill>
          <a:ln w="12700">
            <a:solidFill>
              <a:srgbClr val="E1E5EC"/>
            </a:solidFill>
            <a:prstDash val="solid"/>
          </a:ln>
          <a:effectLst>
            <a:outerShdw sx="100000" sy="100000" kx="0" ky="0" algn="bl" rotWithShape="0" blurRad="139700" dist="38100" dir="5400000">
              <a:srgbClr val="9AA6BC">
                <a:alpha val="28000"/>
              </a:srgbClr>
            </a:outerShdw>
          </a:effectLst>
        </p:spPr>
      </p:sp>
      <p:sp>
        <p:nvSpPr>
          <p:cNvPr id="17" name="Shape 13"/>
          <p:cNvSpPr/>
          <p:nvPr/>
        </p:nvSpPr>
        <p:spPr>
          <a:xfrm>
            <a:off x="5775808" y="3035808"/>
            <a:ext cx="640080" cy="640080"/>
          </a:xfrm>
          <a:prstGeom prst="ellipse">
            <a:avLst/>
          </a:prstGeom>
          <a:solidFill>
            <a:srgbClr val="7C3AED"/>
          </a:solidFill>
          <a:ln/>
          <a:effectLst>
            <a:outerShdw sx="100000" sy="100000" kx="0" ky="0" algn="bl" rotWithShape="0" blurRad="139700" dist="38100" dir="5400000">
              <a:srgbClr val="9AA6BC">
                <a:alpha val="28000"/>
              </a:srgbClr>
            </a:outerShdw>
          </a:effectLst>
        </p:spPr>
      </p:sp>
      <p:pic>
        <p:nvPicPr>
          <p:cNvPr id="18" name="Image 2" descr="preencoded.png">    </p:cNvPr>
          <p:cNvPicPr>
            <a:picLocks noChangeAspect="1"/>
          </p:cNvPicPr>
          <p:nvPr/>
        </p:nvPicPr>
        <p:blipFill>
          <a:blip r:embed="rId3"/>
          <a:stretch>
            <a:fillRect/>
          </a:stretch>
        </p:blipFill>
        <p:spPr>
          <a:xfrm>
            <a:off x="5929427" y="3189427"/>
            <a:ext cx="332842" cy="332842"/>
          </a:xfrm>
          <a:prstGeom prst="rect">
            <a:avLst/>
          </a:prstGeom>
        </p:spPr>
      </p:pic>
      <p:sp>
        <p:nvSpPr>
          <p:cNvPr id="19" name="Text 14"/>
          <p:cNvSpPr/>
          <p:nvPr/>
        </p:nvSpPr>
        <p:spPr>
          <a:xfrm>
            <a:off x="5204308" y="3813048"/>
            <a:ext cx="1783080" cy="365760"/>
          </a:xfrm>
          <a:prstGeom prst="rect">
            <a:avLst/>
          </a:prstGeom>
          <a:noFill/>
          <a:ln/>
        </p:spPr>
        <p:txBody>
          <a:bodyPr wrap="square" rtlCol="0" anchor="ctr"/>
          <a:lstStyle/>
          <a:p>
            <a:pPr algn="ctr" indent="0" marL="0">
              <a:buNone/>
            </a:pPr>
            <a:r>
              <a:rPr lang="en-US" sz="1500" b="1" dirty="0">
                <a:solidFill>
                  <a:srgbClr val="16181D"/>
                </a:solidFill>
                <a:latin typeface="Arial" pitchFamily="34" charset="0"/>
                <a:ea typeface="Arial" pitchFamily="34" charset="-122"/>
                <a:cs typeface="Arial" pitchFamily="34" charset="-120"/>
              </a:rPr>
              <a:t>The crew</a:t>
            </a:r>
            <a:endParaRPr lang="en-US" sz="1500" dirty="0"/>
          </a:p>
        </p:txBody>
      </p:sp>
      <p:sp>
        <p:nvSpPr>
          <p:cNvPr id="20" name="Text 15"/>
          <p:cNvSpPr/>
          <p:nvPr/>
        </p:nvSpPr>
        <p:spPr>
          <a:xfrm>
            <a:off x="5295748" y="4160520"/>
            <a:ext cx="1600200" cy="548640"/>
          </a:xfrm>
          <a:prstGeom prst="rect">
            <a:avLst/>
          </a:prstGeom>
          <a:noFill/>
          <a:ln/>
        </p:spPr>
        <p:txBody>
          <a:bodyPr wrap="square" rtlCol="0" anchor="ctr"/>
          <a:lstStyle/>
          <a:p>
            <a:pPr algn="ctr" indent="0" marL="0">
              <a:lnSpc>
                <a:spcPts val="1200"/>
              </a:lnSpc>
              <a:buNone/>
            </a:pPr>
            <a:r>
              <a:rPr lang="en-US" sz="900" dirty="0">
                <a:solidFill>
                  <a:srgbClr val="666C7A"/>
                </a:solidFill>
                <a:latin typeface="Consolas" pitchFamily="34" charset="0"/>
                <a:ea typeface="Consolas" pitchFamily="34" charset="-122"/>
                <a:cs typeface="Consolas" pitchFamily="34" charset="-120"/>
              </a:rPr>
              <a:t>LangChain4j + Qwen</a:t>
            </a:r>
            <a:endParaRPr lang="en-US" sz="900" dirty="0"/>
          </a:p>
        </p:txBody>
      </p:sp>
      <p:sp>
        <p:nvSpPr>
          <p:cNvPr id="21" name="Shape 16"/>
          <p:cNvSpPr/>
          <p:nvPr/>
        </p:nvSpPr>
        <p:spPr>
          <a:xfrm>
            <a:off x="7047155" y="3771900"/>
            <a:ext cx="278915" cy="0"/>
          </a:xfrm>
          <a:prstGeom prst="line">
            <a:avLst/>
          </a:prstGeom>
          <a:noFill/>
          <a:ln w="20320">
            <a:solidFill>
              <a:srgbClr val="9AA1B0"/>
            </a:solidFill>
            <a:prstDash val="solid"/>
            <a:tailEnd type="triangle"/>
          </a:ln>
        </p:spPr>
      </p:sp>
      <p:sp>
        <p:nvSpPr>
          <p:cNvPr id="22" name="Shape 17"/>
          <p:cNvSpPr/>
          <p:nvPr/>
        </p:nvSpPr>
        <p:spPr>
          <a:xfrm>
            <a:off x="7385837" y="2697480"/>
            <a:ext cx="1783080" cy="2148840"/>
          </a:xfrm>
          <a:prstGeom prst="roundRect">
            <a:avLst>
              <a:gd name="adj" fmla="val 5128"/>
            </a:avLst>
          </a:prstGeom>
          <a:solidFill>
            <a:srgbClr val="F5F7FA"/>
          </a:solidFill>
          <a:ln w="12700">
            <a:solidFill>
              <a:srgbClr val="E1E5EC"/>
            </a:solidFill>
            <a:prstDash val="solid"/>
          </a:ln>
          <a:effectLst>
            <a:outerShdw sx="100000" sy="100000" kx="0" ky="0" algn="bl" rotWithShape="0" blurRad="139700" dist="38100" dir="5400000">
              <a:srgbClr val="9AA6BC">
                <a:alpha val="28000"/>
              </a:srgbClr>
            </a:outerShdw>
          </a:effectLst>
        </p:spPr>
      </p:sp>
      <p:sp>
        <p:nvSpPr>
          <p:cNvPr id="23" name="Shape 18"/>
          <p:cNvSpPr/>
          <p:nvPr/>
        </p:nvSpPr>
        <p:spPr>
          <a:xfrm>
            <a:off x="7957337" y="3035808"/>
            <a:ext cx="640080" cy="640080"/>
          </a:xfrm>
          <a:prstGeom prst="ellipse">
            <a:avLst/>
          </a:prstGeom>
          <a:solidFill>
            <a:srgbClr val="D97706"/>
          </a:solidFill>
          <a:ln/>
          <a:effectLst>
            <a:outerShdw sx="100000" sy="100000" kx="0" ky="0" algn="bl" rotWithShape="0" blurRad="139700" dist="38100" dir="5400000">
              <a:srgbClr val="9AA6BC">
                <a:alpha val="28000"/>
              </a:srgbClr>
            </a:outerShdw>
          </a:effectLst>
        </p:spPr>
      </p:sp>
      <p:pic>
        <p:nvPicPr>
          <p:cNvPr id="24" name="Image 3" descr="preencoded.png">    </p:cNvPr>
          <p:cNvPicPr>
            <a:picLocks noChangeAspect="1"/>
          </p:cNvPicPr>
          <p:nvPr/>
        </p:nvPicPr>
        <p:blipFill>
          <a:blip r:embed="rId4"/>
          <a:stretch>
            <a:fillRect/>
          </a:stretch>
        </p:blipFill>
        <p:spPr>
          <a:xfrm>
            <a:off x="8110957" y="3189427"/>
            <a:ext cx="332842" cy="332842"/>
          </a:xfrm>
          <a:prstGeom prst="rect">
            <a:avLst/>
          </a:prstGeom>
        </p:spPr>
      </p:pic>
      <p:sp>
        <p:nvSpPr>
          <p:cNvPr id="25" name="Text 19"/>
          <p:cNvSpPr/>
          <p:nvPr/>
        </p:nvSpPr>
        <p:spPr>
          <a:xfrm>
            <a:off x="7385837" y="3813048"/>
            <a:ext cx="1783080" cy="365760"/>
          </a:xfrm>
          <a:prstGeom prst="rect">
            <a:avLst/>
          </a:prstGeom>
          <a:noFill/>
          <a:ln/>
        </p:spPr>
        <p:txBody>
          <a:bodyPr wrap="square" rtlCol="0" anchor="ctr"/>
          <a:lstStyle/>
          <a:p>
            <a:pPr algn="ctr" indent="0" marL="0">
              <a:buNone/>
            </a:pPr>
            <a:r>
              <a:rPr lang="en-US" sz="1500" b="1" dirty="0">
                <a:solidFill>
                  <a:srgbClr val="16181D"/>
                </a:solidFill>
                <a:latin typeface="Arial" pitchFamily="34" charset="0"/>
                <a:ea typeface="Arial" pitchFamily="34" charset="-122"/>
                <a:cs typeface="Arial" pitchFamily="34" charset="-120"/>
              </a:rPr>
              <a:t>Live events</a:t>
            </a:r>
            <a:endParaRPr lang="en-US" sz="1500" dirty="0"/>
          </a:p>
        </p:txBody>
      </p:sp>
      <p:sp>
        <p:nvSpPr>
          <p:cNvPr id="26" name="Text 20"/>
          <p:cNvSpPr/>
          <p:nvPr/>
        </p:nvSpPr>
        <p:spPr>
          <a:xfrm>
            <a:off x="7477277" y="4160520"/>
            <a:ext cx="1600200" cy="548640"/>
          </a:xfrm>
          <a:prstGeom prst="rect">
            <a:avLst/>
          </a:prstGeom>
          <a:noFill/>
          <a:ln/>
        </p:spPr>
        <p:txBody>
          <a:bodyPr wrap="square" rtlCol="0" anchor="ctr"/>
          <a:lstStyle/>
          <a:p>
            <a:pPr algn="ctr" indent="0" marL="0">
              <a:lnSpc>
                <a:spcPts val="1200"/>
              </a:lnSpc>
              <a:buNone/>
            </a:pPr>
            <a:r>
              <a:rPr lang="en-US" sz="900" dirty="0">
                <a:solidFill>
                  <a:srgbClr val="666C7A"/>
                </a:solidFill>
                <a:latin typeface="Consolas" pitchFamily="34" charset="0"/>
                <a:ea typeface="Consolas" pitchFamily="34" charset="-122"/>
                <a:cs typeface="Consolas" pitchFamily="34" charset="-120"/>
              </a:rPr>
              <a:t>server-sent stream</a:t>
            </a:r>
            <a:endParaRPr lang="en-US" sz="900" dirty="0"/>
          </a:p>
        </p:txBody>
      </p:sp>
      <p:sp>
        <p:nvSpPr>
          <p:cNvPr id="27" name="Shape 21"/>
          <p:cNvSpPr/>
          <p:nvPr/>
        </p:nvSpPr>
        <p:spPr>
          <a:xfrm>
            <a:off x="9228685" y="3771900"/>
            <a:ext cx="278915" cy="0"/>
          </a:xfrm>
          <a:prstGeom prst="line">
            <a:avLst/>
          </a:prstGeom>
          <a:noFill/>
          <a:ln w="20320">
            <a:solidFill>
              <a:srgbClr val="9AA1B0"/>
            </a:solidFill>
            <a:prstDash val="solid"/>
            <a:tailEnd type="triangle"/>
          </a:ln>
        </p:spPr>
      </p:sp>
      <p:sp>
        <p:nvSpPr>
          <p:cNvPr id="28" name="Shape 22"/>
          <p:cNvSpPr/>
          <p:nvPr/>
        </p:nvSpPr>
        <p:spPr>
          <a:xfrm>
            <a:off x="9567367" y="2697480"/>
            <a:ext cx="1783080" cy="2148840"/>
          </a:xfrm>
          <a:prstGeom prst="roundRect">
            <a:avLst>
              <a:gd name="adj" fmla="val 5128"/>
            </a:avLst>
          </a:prstGeom>
          <a:solidFill>
            <a:srgbClr val="F5F7FA"/>
          </a:solidFill>
          <a:ln w="12700">
            <a:solidFill>
              <a:srgbClr val="E1E5EC"/>
            </a:solidFill>
            <a:prstDash val="solid"/>
          </a:ln>
          <a:effectLst>
            <a:outerShdw sx="100000" sy="100000" kx="0" ky="0" algn="bl" rotWithShape="0" blurRad="139700" dist="38100" dir="5400000">
              <a:srgbClr val="9AA6BC">
                <a:alpha val="28000"/>
              </a:srgbClr>
            </a:outerShdw>
          </a:effectLst>
        </p:spPr>
      </p:sp>
      <p:sp>
        <p:nvSpPr>
          <p:cNvPr id="29" name="Shape 23"/>
          <p:cNvSpPr/>
          <p:nvPr/>
        </p:nvSpPr>
        <p:spPr>
          <a:xfrm>
            <a:off x="10138867" y="3035808"/>
            <a:ext cx="640080" cy="640080"/>
          </a:xfrm>
          <a:prstGeom prst="ellipse">
            <a:avLst/>
          </a:prstGeom>
          <a:solidFill>
            <a:srgbClr val="0F9E8E"/>
          </a:solidFill>
          <a:ln/>
          <a:effectLst>
            <a:outerShdw sx="100000" sy="100000" kx="0" ky="0" algn="bl" rotWithShape="0" blurRad="139700" dist="38100" dir="5400000">
              <a:srgbClr val="9AA6BC">
                <a:alpha val="28000"/>
              </a:srgbClr>
            </a:outerShdw>
          </a:effectLst>
        </p:spPr>
      </p:sp>
      <p:pic>
        <p:nvPicPr>
          <p:cNvPr id="30" name="Image 4" descr="preencoded.png">    </p:cNvPr>
          <p:cNvPicPr>
            <a:picLocks noChangeAspect="1"/>
          </p:cNvPicPr>
          <p:nvPr/>
        </p:nvPicPr>
        <p:blipFill>
          <a:blip r:embed="rId5"/>
          <a:stretch>
            <a:fillRect/>
          </a:stretch>
        </p:blipFill>
        <p:spPr>
          <a:xfrm>
            <a:off x="10292486" y="3189427"/>
            <a:ext cx="332842" cy="332842"/>
          </a:xfrm>
          <a:prstGeom prst="rect">
            <a:avLst/>
          </a:prstGeom>
        </p:spPr>
      </p:pic>
      <p:sp>
        <p:nvSpPr>
          <p:cNvPr id="31" name="Text 24"/>
          <p:cNvSpPr/>
          <p:nvPr/>
        </p:nvSpPr>
        <p:spPr>
          <a:xfrm>
            <a:off x="9567367" y="3813048"/>
            <a:ext cx="1783080" cy="365760"/>
          </a:xfrm>
          <a:prstGeom prst="rect">
            <a:avLst/>
          </a:prstGeom>
          <a:noFill/>
          <a:ln/>
        </p:spPr>
        <p:txBody>
          <a:bodyPr wrap="square" rtlCol="0" anchor="ctr"/>
          <a:lstStyle/>
          <a:p>
            <a:pPr algn="ctr" indent="0" marL="0">
              <a:buNone/>
            </a:pPr>
            <a:r>
              <a:rPr lang="en-US" sz="1500" b="1" dirty="0">
                <a:solidFill>
                  <a:srgbClr val="16181D"/>
                </a:solidFill>
                <a:latin typeface="Arial" pitchFamily="34" charset="0"/>
                <a:ea typeface="Arial" pitchFamily="34" charset="-122"/>
                <a:cs typeface="Arial" pitchFamily="34" charset="-120"/>
              </a:rPr>
              <a:t>The stage</a:t>
            </a:r>
            <a:endParaRPr lang="en-US" sz="1500" dirty="0"/>
          </a:p>
        </p:txBody>
      </p:sp>
      <p:sp>
        <p:nvSpPr>
          <p:cNvPr id="32" name="Text 25"/>
          <p:cNvSpPr/>
          <p:nvPr/>
        </p:nvSpPr>
        <p:spPr>
          <a:xfrm>
            <a:off x="9658807" y="4160520"/>
            <a:ext cx="1600200" cy="548640"/>
          </a:xfrm>
          <a:prstGeom prst="rect">
            <a:avLst/>
          </a:prstGeom>
          <a:noFill/>
          <a:ln/>
        </p:spPr>
        <p:txBody>
          <a:bodyPr wrap="square" rtlCol="0" anchor="ctr"/>
          <a:lstStyle/>
          <a:p>
            <a:pPr algn="ctr" indent="0" marL="0">
              <a:lnSpc>
                <a:spcPts val="1200"/>
              </a:lnSpc>
              <a:buNone/>
            </a:pPr>
            <a:r>
              <a:rPr lang="en-US" sz="900" dirty="0">
                <a:solidFill>
                  <a:srgbClr val="666C7A"/>
                </a:solidFill>
                <a:latin typeface="Consolas" pitchFamily="34" charset="0"/>
                <a:ea typeface="Consolas" pitchFamily="34" charset="-122"/>
                <a:cs typeface="Consolas" pitchFamily="34" charset="-120"/>
              </a:rPr>
              <a:t>page builds live</a:t>
            </a:r>
            <a:endParaRPr lang="en-US" sz="900" dirty="0"/>
          </a:p>
        </p:txBody>
      </p:sp>
      <p:sp>
        <p:nvSpPr>
          <p:cNvPr id="33" name="Text 26"/>
          <p:cNvSpPr/>
          <p:nvPr/>
        </p:nvSpPr>
        <p:spPr>
          <a:xfrm>
            <a:off x="1828800" y="5257800"/>
            <a:ext cx="8534095" cy="731520"/>
          </a:xfrm>
          <a:prstGeom prst="rect">
            <a:avLst/>
          </a:prstGeom>
          <a:noFill/>
          <a:ln/>
        </p:spPr>
        <p:txBody>
          <a:bodyPr wrap="square" rtlCol="0" anchor="ctr"/>
          <a:lstStyle/>
          <a:p>
            <a:pPr algn="ctr" indent="0" marL="0">
              <a:lnSpc>
                <a:spcPts val="2200"/>
              </a:lnSpc>
              <a:buNone/>
            </a:pPr>
            <a:r>
              <a:rPr lang="en-US" sz="1500" dirty="0">
                <a:solidFill>
                  <a:srgbClr val="666C7A"/>
                </a:solidFill>
                <a:latin typeface="Calibri" pitchFamily="34" charset="0"/>
                <a:ea typeface="Calibri" pitchFamily="34" charset="-122"/>
                <a:cs typeface="Calibri" pitchFamily="34" charset="-120"/>
              </a:rPr>
              <a:t>Their phone talks to a laptop on your hotspot. The agents build the page. Every step streams to the projector. Nothing touches the internet.</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indent="0" marL="0">
              <a:buNone/>
            </a:pPr>
            <a:r>
              <a:rPr lang="en-US" sz="1100" b="1" spc="300" kern="0" dirty="0">
                <a:solidFill>
                  <a:srgbClr val="4F46E5"/>
                </a:solidFill>
                <a:latin typeface="Arial" pitchFamily="34" charset="0"/>
                <a:ea typeface="Arial" pitchFamily="34" charset="-122"/>
                <a:cs typeface="Arial" pitchFamily="34" charset="-120"/>
              </a:rPr>
              <a:t>LEVER 3, UP CLOSE</a:t>
            </a:r>
            <a:endParaRPr lang="en-US" sz="1100" dirty="0"/>
          </a:p>
        </p:txBody>
      </p:sp>
      <p:sp>
        <p:nvSpPr>
          <p:cNvPr id="3" name="Text 1"/>
          <p:cNvSpPr/>
          <p:nvPr/>
        </p:nvSpPr>
        <p:spPr>
          <a:xfrm>
            <a:off x="841248" y="1051560"/>
            <a:ext cx="10058400" cy="822960"/>
          </a:xfrm>
          <a:prstGeom prst="rect">
            <a:avLst/>
          </a:prstGeom>
          <a:noFill/>
          <a:ln/>
        </p:spPr>
        <p:txBody>
          <a:bodyPr wrap="square" rtlCol="0" anchor="ctr"/>
          <a:lstStyle/>
          <a:p>
            <a:pPr indent="0" marL="0">
              <a:buNone/>
            </a:pPr>
            <a:r>
              <a:rPr lang="en-US" sz="3000" b="1" dirty="0">
                <a:solidFill>
                  <a:srgbClr val="16181D"/>
                </a:solidFill>
                <a:latin typeface="Arial" pitchFamily="34" charset="0"/>
                <a:ea typeface="Arial" pitchFamily="34" charset="-122"/>
                <a:cs typeface="Arial" pitchFamily="34" charset="-120"/>
              </a:rPr>
              <a:t>The crew returns </a:t>
            </a:r>
            <a:pPr indent="0" marL="0">
              <a:buNone/>
            </a:pPr>
            <a:r>
              <a:rPr lang="en-US" sz="3000" b="1" dirty="0">
                <a:solidFill>
                  <a:srgbClr val="4F46E5"/>
                </a:solidFill>
                <a:latin typeface="Arial" pitchFamily="34" charset="0"/>
                <a:ea typeface="Arial" pitchFamily="34" charset="-122"/>
                <a:cs typeface="Arial" pitchFamily="34" charset="-120"/>
              </a:rPr>
              <a:t>data</a:t>
            </a:r>
            <a:pPr indent="0" marL="0">
              <a:buNone/>
            </a:pPr>
            <a:r>
              <a:rPr lang="en-US" sz="3000" b="1" dirty="0">
                <a:solidFill>
                  <a:srgbClr val="16181D"/>
                </a:solidFill>
                <a:latin typeface="Arial" pitchFamily="34" charset="0"/>
                <a:ea typeface="Arial" pitchFamily="34" charset="-122"/>
                <a:cs typeface="Arial" pitchFamily="34" charset="-120"/>
              </a:rPr>
              <a:t>, not prose.</a:t>
            </a:r>
            <a:endParaRPr lang="en-US" sz="3000" dirty="0"/>
          </a:p>
        </p:txBody>
      </p:sp>
      <p:sp>
        <p:nvSpPr>
          <p:cNvPr id="4" name="Shape 2"/>
          <p:cNvSpPr/>
          <p:nvPr/>
        </p:nvSpPr>
        <p:spPr>
          <a:xfrm>
            <a:off x="841248" y="2057400"/>
            <a:ext cx="5029200" cy="3200400"/>
          </a:xfrm>
          <a:prstGeom prst="roundRect">
            <a:avLst>
              <a:gd name="adj" fmla="val 2857"/>
            </a:avLst>
          </a:prstGeom>
          <a:solidFill>
            <a:srgbClr val="16181D"/>
          </a:solidFill>
          <a:ln w="12700">
            <a:solidFill>
              <a:srgbClr val="16181D"/>
            </a:solidFill>
            <a:prstDash val="solid"/>
          </a:ln>
          <a:effectLst>
            <a:outerShdw sx="100000" sy="100000" kx="0" ky="0" algn="bl" rotWithShape="0" blurRad="139700" dist="38100" dir="5400000">
              <a:srgbClr val="9AA6BC">
                <a:alpha val="28000"/>
              </a:srgbClr>
            </a:outerShdw>
          </a:effectLst>
        </p:spPr>
      </p:sp>
      <p:sp>
        <p:nvSpPr>
          <p:cNvPr id="5" name="Text 3"/>
          <p:cNvSpPr/>
          <p:nvPr/>
        </p:nvSpPr>
        <p:spPr>
          <a:xfrm>
            <a:off x="1252728" y="2331720"/>
            <a:ext cx="4297680" cy="2651760"/>
          </a:xfrm>
          <a:prstGeom prst="rect">
            <a:avLst/>
          </a:prstGeom>
          <a:noFill/>
          <a:ln/>
        </p:spPr>
        <p:txBody>
          <a:bodyPr wrap="square" rtlCol="0" anchor="t"/>
          <a:lstStyle/>
          <a:p>
            <a:pPr indent="0" marL="0">
              <a:lnSpc>
                <a:spcPts val="2500"/>
              </a:lnSpc>
              <a:buNone/>
            </a:pPr>
            <a:r>
              <a:rPr lang="en-US" sz="1400" dirty="0">
                <a:solidFill>
                  <a:srgbClr val="6B7280"/>
                </a:solidFill>
                <a:latin typeface="Consolas" pitchFamily="34" charset="0"/>
                <a:ea typeface="Consolas" pitchFamily="34" charset="-122"/>
                <a:cs typeface="Consolas" pitchFamily="34" charset="-120"/>
              </a:rPr>
              <a:t>// the Copywriter's return type
</a:t>
            </a:r>
            <a:pPr indent="0" marL="0">
              <a:lnSpc>
                <a:spcPts val="2500"/>
              </a:lnSpc>
              <a:buNone/>
            </a:pPr>
            <a:r>
              <a:rPr lang="en-US" sz="1400" dirty="0">
                <a:solidFill>
                  <a:srgbClr val="C4B5FD"/>
                </a:solidFill>
                <a:latin typeface="Consolas" pitchFamily="34" charset="0"/>
                <a:ea typeface="Consolas" pitchFamily="34" charset="-122"/>
                <a:cs typeface="Consolas" pitchFamily="34" charset="-120"/>
              </a:rPr>
              <a:t>record </a:t>
            </a:r>
            <a:pPr indent="0" marL="0">
              <a:lnSpc>
                <a:spcPts val="2500"/>
              </a:lnSpc>
              <a:buNone/>
            </a:pPr>
            <a:r>
              <a:rPr lang="en-US" sz="1400" dirty="0">
                <a:solidFill>
                  <a:srgbClr val="7DD3FC"/>
                </a:solidFill>
                <a:latin typeface="Consolas" pitchFamily="34" charset="0"/>
                <a:ea typeface="Consolas" pitchFamily="34" charset="-122"/>
                <a:cs typeface="Consolas" pitchFamily="34" charset="-120"/>
              </a:rPr>
              <a:t>Copy</a:t>
            </a:r>
            <a:pPr indent="0" marL="0">
              <a:lnSpc>
                <a:spcPts val="2500"/>
              </a:lnSpc>
              <a:buNone/>
            </a:pPr>
            <a:r>
              <a:rPr lang="en-US" sz="1400" dirty="0">
                <a:solidFill>
                  <a:srgbClr val="E6E9F0"/>
                </a:solidFill>
                <a:latin typeface="Consolas" pitchFamily="34" charset="0"/>
                <a:ea typeface="Consolas" pitchFamily="34" charset="-122"/>
                <a:cs typeface="Consolas" pitchFamily="34" charset="-120"/>
              </a:rPr>
              <a:t>(
</a:t>
            </a:r>
            <a:pPr indent="0" marL="0">
              <a:lnSpc>
                <a:spcPts val="2500"/>
              </a:lnSpc>
              <a:buNone/>
            </a:pPr>
            <a:r>
              <a:rPr lang="en-US" sz="1400" dirty="0">
                <a:solidFill>
                  <a:srgbClr val="7DD3FC"/>
                </a:solidFill>
                <a:latin typeface="Consolas" pitchFamily="34" charset="0"/>
                <a:ea typeface="Consolas" pitchFamily="34" charset="-122"/>
                <a:cs typeface="Consolas" pitchFamily="34" charset="-120"/>
              </a:rPr>
              <a:t>   String </a:t>
            </a:r>
            <a:pPr indent="0" marL="0">
              <a:lnSpc>
                <a:spcPts val="2500"/>
              </a:lnSpc>
              <a:buNone/>
            </a:pPr>
            <a:r>
              <a:rPr lang="en-US" sz="1400" dirty="0">
                <a:solidFill>
                  <a:srgbClr val="E6E9F0"/>
                </a:solidFill>
                <a:latin typeface="Consolas" pitchFamily="34" charset="0"/>
                <a:ea typeface="Consolas" pitchFamily="34" charset="-122"/>
                <a:cs typeface="Consolas" pitchFamily="34" charset="-120"/>
              </a:rPr>
              <a:t>headline,
</a:t>
            </a:r>
            <a:pPr indent="0" marL="0">
              <a:lnSpc>
                <a:spcPts val="2500"/>
              </a:lnSpc>
              <a:buNone/>
            </a:pPr>
            <a:r>
              <a:rPr lang="en-US" sz="1400" dirty="0">
                <a:solidFill>
                  <a:srgbClr val="7DD3FC"/>
                </a:solidFill>
                <a:latin typeface="Consolas" pitchFamily="34" charset="0"/>
                <a:ea typeface="Consolas" pitchFamily="34" charset="-122"/>
                <a:cs typeface="Consolas" pitchFamily="34" charset="-120"/>
              </a:rPr>
              <a:t>   String </a:t>
            </a:r>
            <a:pPr indent="0" marL="0">
              <a:lnSpc>
                <a:spcPts val="2500"/>
              </a:lnSpc>
              <a:buNone/>
            </a:pPr>
            <a:r>
              <a:rPr lang="en-US" sz="1400" dirty="0">
                <a:solidFill>
                  <a:srgbClr val="E6E9F0"/>
                </a:solidFill>
                <a:latin typeface="Consolas" pitchFamily="34" charset="0"/>
                <a:ea typeface="Consolas" pitchFamily="34" charset="-122"/>
                <a:cs typeface="Consolas" pitchFamily="34" charset="-120"/>
              </a:rPr>
              <a:t>subhead,
</a:t>
            </a:r>
            <a:pPr indent="0" marL="0">
              <a:lnSpc>
                <a:spcPts val="2500"/>
              </a:lnSpc>
              <a:buNone/>
            </a:pPr>
            <a:r>
              <a:rPr lang="en-US" sz="1400" dirty="0">
                <a:solidFill>
                  <a:srgbClr val="7DD3FC"/>
                </a:solidFill>
                <a:latin typeface="Consolas" pitchFamily="34" charset="0"/>
                <a:ea typeface="Consolas" pitchFamily="34" charset="-122"/>
                <a:cs typeface="Consolas" pitchFamily="34" charset="-120"/>
              </a:rPr>
              <a:t>   String </a:t>
            </a:r>
            <a:pPr indent="0" marL="0">
              <a:lnSpc>
                <a:spcPts val="2500"/>
              </a:lnSpc>
              <a:buNone/>
            </a:pPr>
            <a:r>
              <a:rPr lang="en-US" sz="1400" dirty="0">
                <a:solidFill>
                  <a:srgbClr val="E6E9F0"/>
                </a:solidFill>
                <a:latin typeface="Consolas" pitchFamily="34" charset="0"/>
                <a:ea typeface="Consolas" pitchFamily="34" charset="-122"/>
                <a:cs typeface="Consolas" pitchFamily="34" charset="-120"/>
              </a:rPr>
              <a:t>cta,
</a:t>
            </a:r>
            <a:pPr indent="0" marL="0">
              <a:lnSpc>
                <a:spcPts val="2500"/>
              </a:lnSpc>
              <a:buNone/>
            </a:pPr>
            <a:r>
              <a:rPr lang="en-US" sz="1400" dirty="0">
                <a:solidFill>
                  <a:srgbClr val="7DD3FC"/>
                </a:solidFill>
                <a:latin typeface="Consolas" pitchFamily="34" charset="0"/>
                <a:ea typeface="Consolas" pitchFamily="34" charset="-122"/>
                <a:cs typeface="Consolas" pitchFamily="34" charset="-120"/>
              </a:rPr>
              <a:t>   List&lt;Feature&gt; </a:t>
            </a:r>
            <a:pPr indent="0" marL="0">
              <a:lnSpc>
                <a:spcPts val="2500"/>
              </a:lnSpc>
              <a:buNone/>
            </a:pPr>
            <a:r>
              <a:rPr lang="en-US" sz="1400" dirty="0">
                <a:solidFill>
                  <a:srgbClr val="E6E9F0"/>
                </a:solidFill>
                <a:latin typeface="Consolas" pitchFamily="34" charset="0"/>
                <a:ea typeface="Consolas" pitchFamily="34" charset="-122"/>
                <a:cs typeface="Consolas" pitchFamily="34" charset="-120"/>
              </a:rPr>
              <a:t>features
</a:t>
            </a:r>
            <a:pPr indent="0" marL="0">
              <a:lnSpc>
                <a:spcPts val="2500"/>
              </a:lnSpc>
              <a:buNone/>
            </a:pPr>
            <a:r>
              <a:rPr lang="en-US" sz="1400" dirty="0">
                <a:solidFill>
                  <a:srgbClr val="E6E9F0"/>
                </a:solidFill>
                <a:latin typeface="Consolas" pitchFamily="34" charset="0"/>
                <a:ea typeface="Consolas" pitchFamily="34" charset="-122"/>
                <a:cs typeface="Consolas" pitchFamily="34" charset="-120"/>
              </a:rPr>
              <a:t>) {}</a:t>
            </a:r>
            <a:endParaRPr lang="en-US" sz="1400" dirty="0"/>
          </a:p>
        </p:txBody>
      </p:sp>
      <p:sp>
        <p:nvSpPr>
          <p:cNvPr id="6" name="Shape 4"/>
          <p:cNvSpPr/>
          <p:nvPr/>
        </p:nvSpPr>
        <p:spPr>
          <a:xfrm>
            <a:off x="6400800" y="2057400"/>
            <a:ext cx="4937760" cy="3200400"/>
          </a:xfrm>
          <a:prstGeom prst="roundRect">
            <a:avLst>
              <a:gd name="adj" fmla="val 2857"/>
            </a:avLst>
          </a:prstGeom>
          <a:solidFill>
            <a:srgbClr val="F5F7FA"/>
          </a:solidFill>
          <a:ln w="12700">
            <a:solidFill>
              <a:srgbClr val="E1E5EC"/>
            </a:solidFill>
            <a:prstDash val="solid"/>
          </a:ln>
          <a:effectLst>
            <a:outerShdw sx="100000" sy="100000" kx="0" ky="0" algn="bl" rotWithShape="0" blurRad="139700" dist="38100" dir="5400000">
              <a:srgbClr val="9AA6BC">
                <a:alpha val="28000"/>
              </a:srgbClr>
            </a:outerShdw>
          </a:effectLst>
        </p:spPr>
      </p:sp>
      <p:sp>
        <p:nvSpPr>
          <p:cNvPr id="7" name="Text 5"/>
          <p:cNvSpPr/>
          <p:nvPr/>
        </p:nvSpPr>
        <p:spPr>
          <a:xfrm>
            <a:off x="6766560" y="2331720"/>
            <a:ext cx="4206240" cy="2651760"/>
          </a:xfrm>
          <a:prstGeom prst="rect">
            <a:avLst/>
          </a:prstGeom>
          <a:noFill/>
          <a:ln/>
        </p:spPr>
        <p:txBody>
          <a:bodyPr wrap="square" rtlCol="0" anchor="t"/>
          <a:lstStyle/>
          <a:p>
            <a:pPr indent="0" marL="0">
              <a:lnSpc>
                <a:spcPts val="2500"/>
              </a:lnSpc>
              <a:buNone/>
            </a:pPr>
            <a:r>
              <a:rPr lang="en-US" sz="1350" dirty="0">
                <a:solidFill>
                  <a:srgbClr val="666C7A"/>
                </a:solidFill>
                <a:latin typeface="Consolas" pitchFamily="34" charset="0"/>
                <a:ea typeface="Consolas" pitchFamily="34" charset="-122"/>
                <a:cs typeface="Consolas" pitchFamily="34" charset="-120"/>
              </a:rPr>
              <a:t>{
</a:t>
            </a:r>
            <a:pPr indent="0" marL="0">
              <a:lnSpc>
                <a:spcPts val="2500"/>
              </a:lnSpc>
              <a:buNone/>
            </a:pPr>
            <a:r>
              <a:rPr lang="en-US" sz="1350" dirty="0">
                <a:solidFill>
                  <a:srgbClr val="4F46E5"/>
                </a:solidFill>
                <a:latin typeface="Consolas" pitchFamily="34" charset="0"/>
                <a:ea typeface="Consolas" pitchFamily="34" charset="-122"/>
                <a:cs typeface="Consolas" pitchFamily="34" charset="-120"/>
              </a:rPr>
              <a:t>  "headline"</a:t>
            </a:r>
            <a:pPr indent="0" marL="0">
              <a:lnSpc>
                <a:spcPts val="2500"/>
              </a:lnSpc>
              <a:buNone/>
            </a:pPr>
            <a:r>
              <a:rPr lang="en-US" sz="1350" dirty="0">
                <a:solidFill>
                  <a:srgbClr val="16181D"/>
                </a:solidFill>
                <a:latin typeface="Consolas" pitchFamily="34" charset="0"/>
                <a:ea typeface="Consolas" pitchFamily="34" charset="-122"/>
                <a:cs typeface="Consolas" pitchFamily="34" charset="-120"/>
              </a:rPr>
              <a:t>: "Plants, but they text you.",
</a:t>
            </a:r>
            <a:pPr indent="0" marL="0">
              <a:lnSpc>
                <a:spcPts val="2500"/>
              </a:lnSpc>
              <a:buNone/>
            </a:pPr>
            <a:r>
              <a:rPr lang="en-US" sz="1350" dirty="0">
                <a:solidFill>
                  <a:srgbClr val="4F46E5"/>
                </a:solidFill>
                <a:latin typeface="Consolas" pitchFamily="34" charset="0"/>
                <a:ea typeface="Consolas" pitchFamily="34" charset="-122"/>
                <a:cs typeface="Consolas" pitchFamily="34" charset="-120"/>
              </a:rPr>
              <a:t>  "subhead"</a:t>
            </a:r>
            <a:pPr indent="0" marL="0">
              <a:lnSpc>
                <a:spcPts val="2500"/>
              </a:lnSpc>
              <a:buNone/>
            </a:pPr>
            <a:r>
              <a:rPr lang="en-US" sz="1350" dirty="0">
                <a:solidFill>
                  <a:srgbClr val="16181D"/>
                </a:solidFill>
                <a:latin typeface="Consolas" pitchFamily="34" charset="0"/>
                <a:ea typeface="Consolas" pitchFamily="34" charset="-122"/>
                <a:cs typeface="Consolas" pitchFamily="34" charset="-120"/>
              </a:rPr>
              <a:t>: "Never kill a fern again.",
</a:t>
            </a:r>
            <a:pPr indent="0" marL="0">
              <a:lnSpc>
                <a:spcPts val="2500"/>
              </a:lnSpc>
              <a:buNone/>
            </a:pPr>
            <a:r>
              <a:rPr lang="en-US" sz="1350" dirty="0">
                <a:solidFill>
                  <a:srgbClr val="4F46E5"/>
                </a:solidFill>
                <a:latin typeface="Consolas" pitchFamily="34" charset="0"/>
                <a:ea typeface="Consolas" pitchFamily="34" charset="-122"/>
                <a:cs typeface="Consolas" pitchFamily="34" charset="-120"/>
              </a:rPr>
              <a:t>  "cta"</a:t>
            </a:r>
            <a:pPr indent="0" marL="0">
              <a:lnSpc>
                <a:spcPts val="2500"/>
              </a:lnSpc>
              <a:buNone/>
            </a:pPr>
            <a:r>
              <a:rPr lang="en-US" sz="1350" dirty="0">
                <a:solidFill>
                  <a:srgbClr val="16181D"/>
                </a:solidFill>
                <a:latin typeface="Consolas" pitchFamily="34" charset="0"/>
                <a:ea typeface="Consolas" pitchFamily="34" charset="-122"/>
                <a:cs typeface="Consolas" pitchFamily="34" charset="-120"/>
              </a:rPr>
              <a:t>: "Get early access",
</a:t>
            </a:r>
            <a:pPr indent="0" marL="0">
              <a:lnSpc>
                <a:spcPts val="2500"/>
              </a:lnSpc>
              <a:buNone/>
            </a:pPr>
            <a:r>
              <a:rPr lang="en-US" sz="1350" dirty="0">
                <a:solidFill>
                  <a:srgbClr val="4F46E5"/>
                </a:solidFill>
                <a:latin typeface="Consolas" pitchFamily="34" charset="0"/>
                <a:ea typeface="Consolas" pitchFamily="34" charset="-122"/>
                <a:cs typeface="Consolas" pitchFamily="34" charset="-120"/>
              </a:rPr>
              <a:t>  "features"</a:t>
            </a:r>
            <a:pPr indent="0" marL="0">
              <a:lnSpc>
                <a:spcPts val="2500"/>
              </a:lnSpc>
              <a:buNone/>
            </a:pPr>
            <a:r>
              <a:rPr lang="en-US" sz="1350" dirty="0">
                <a:solidFill>
                  <a:srgbClr val="16181D"/>
                </a:solidFill>
                <a:latin typeface="Consolas" pitchFamily="34" charset="0"/>
                <a:ea typeface="Consolas" pitchFamily="34" charset="-122"/>
                <a:cs typeface="Consolas" pitchFamily="34" charset="-120"/>
              </a:rPr>
              <a:t>: [ {…}, {…}, {…} ]
</a:t>
            </a:r>
            <a:pPr indent="0" marL="0">
              <a:lnSpc>
                <a:spcPts val="2500"/>
              </a:lnSpc>
              <a:buNone/>
            </a:pPr>
            <a:r>
              <a:rPr lang="en-US" sz="1350" dirty="0">
                <a:solidFill>
                  <a:srgbClr val="666C7A"/>
                </a:solidFill>
                <a:latin typeface="Consolas" pitchFamily="34" charset="0"/>
                <a:ea typeface="Consolas" pitchFamily="34" charset="-122"/>
                <a:cs typeface="Consolas" pitchFamily="34" charset="-120"/>
              </a:rPr>
              <a:t>}</a:t>
            </a:r>
            <a:endParaRPr lang="en-US" sz="1350" dirty="0"/>
          </a:p>
        </p:txBody>
      </p:sp>
      <p:sp>
        <p:nvSpPr>
          <p:cNvPr id="8" name="Text 6"/>
          <p:cNvSpPr/>
          <p:nvPr/>
        </p:nvSpPr>
        <p:spPr>
          <a:xfrm>
            <a:off x="841248" y="5577840"/>
            <a:ext cx="10509199" cy="548640"/>
          </a:xfrm>
          <a:prstGeom prst="rect">
            <a:avLst/>
          </a:prstGeom>
          <a:noFill/>
          <a:ln/>
        </p:spPr>
        <p:txBody>
          <a:bodyPr wrap="square" rtlCol="0" anchor="ctr"/>
          <a:lstStyle/>
          <a:p>
            <a:pPr indent="0" marL="0">
              <a:buNone/>
            </a:pPr>
            <a:r>
              <a:rPr lang="en-US" sz="1500" dirty="0">
                <a:solidFill>
                  <a:srgbClr val="666C7A"/>
                </a:solidFill>
                <a:latin typeface="Calibri" pitchFamily="34" charset="0"/>
                <a:ea typeface="Calibri" pitchFamily="34" charset="-122"/>
                <a:cs typeface="Calibri" pitchFamily="34" charset="-120"/>
              </a:rPr>
              <a:t>No scraping a paragraph. The page is built field by field from a typed object, so it never surprises you.</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indent="0" marL="0">
              <a:buNone/>
            </a:pPr>
            <a:r>
              <a:rPr lang="en-US" sz="1100" b="1" spc="300" kern="0" dirty="0">
                <a:solidFill>
                  <a:srgbClr val="4F46E5"/>
                </a:solidFill>
                <a:latin typeface="Arial" pitchFamily="34" charset="0"/>
                <a:ea typeface="Arial" pitchFamily="34" charset="-122"/>
                <a:cs typeface="Arial" pitchFamily="34" charset="-120"/>
              </a:rPr>
              <a:t>LIVE CODE  /  1 OF 2</a:t>
            </a:r>
            <a:endParaRPr lang="en-US" sz="1100" dirty="0"/>
          </a:p>
        </p:txBody>
      </p:sp>
      <p:sp>
        <p:nvSpPr>
          <p:cNvPr id="3" name="Text 1"/>
          <p:cNvSpPr/>
          <p:nvPr/>
        </p:nvSpPr>
        <p:spPr>
          <a:xfrm>
            <a:off x="841248" y="960120"/>
            <a:ext cx="10058400" cy="640080"/>
          </a:xfrm>
          <a:prstGeom prst="rect">
            <a:avLst/>
          </a:prstGeom>
          <a:noFill/>
          <a:ln/>
        </p:spPr>
        <p:txBody>
          <a:bodyPr wrap="square" rtlCol="0" anchor="ctr"/>
          <a:lstStyle/>
          <a:p>
            <a:pPr indent="0" marL="0">
              <a:buNone/>
            </a:pPr>
            <a:r>
              <a:rPr lang="en-US" sz="2700" b="1" dirty="0">
                <a:solidFill>
                  <a:srgbClr val="16181D"/>
                </a:solidFill>
                <a:latin typeface="Arial" pitchFamily="34" charset="0"/>
                <a:ea typeface="Arial" pitchFamily="34" charset="-122"/>
                <a:cs typeface="Arial" pitchFamily="34" charset="-120"/>
              </a:rPr>
              <a:t>One interface. </a:t>
            </a:r>
            <a:pPr indent="0" marL="0">
              <a:buNone/>
            </a:pPr>
            <a:r>
              <a:rPr lang="en-US" sz="2700" b="1" dirty="0">
                <a:solidFill>
                  <a:srgbClr val="4F46E5"/>
                </a:solidFill>
                <a:latin typeface="Arial" pitchFamily="34" charset="0"/>
                <a:ea typeface="Arial" pitchFamily="34" charset="-122"/>
                <a:cs typeface="Arial" pitchFamily="34" charset="-120"/>
              </a:rPr>
              <a:t>Every worker.</a:t>
            </a:r>
            <a:endParaRPr lang="en-US" sz="2700" dirty="0"/>
          </a:p>
        </p:txBody>
      </p:sp>
      <p:sp>
        <p:nvSpPr>
          <p:cNvPr id="4" name="Shape 2"/>
          <p:cNvSpPr/>
          <p:nvPr/>
        </p:nvSpPr>
        <p:spPr>
          <a:xfrm>
            <a:off x="841248" y="1828800"/>
            <a:ext cx="10509199" cy="3383280"/>
          </a:xfrm>
          <a:prstGeom prst="roundRect">
            <a:avLst>
              <a:gd name="adj" fmla="val 2703"/>
            </a:avLst>
          </a:prstGeom>
          <a:solidFill>
            <a:srgbClr val="16181D"/>
          </a:solidFill>
          <a:ln w="12700">
            <a:solidFill>
              <a:srgbClr val="16181D"/>
            </a:solidFill>
            <a:prstDash val="solid"/>
          </a:ln>
          <a:effectLst>
            <a:outerShdw sx="100000" sy="100000" kx="0" ky="0" algn="bl" rotWithShape="0" blurRad="139700" dist="38100" dir="5400000">
              <a:srgbClr val="9AA6BC">
                <a:alpha val="28000"/>
              </a:srgbClr>
            </a:outerShdw>
          </a:effectLst>
        </p:spPr>
      </p:sp>
      <p:sp>
        <p:nvSpPr>
          <p:cNvPr id="5" name="Text 3"/>
          <p:cNvSpPr/>
          <p:nvPr/>
        </p:nvSpPr>
        <p:spPr>
          <a:xfrm>
            <a:off x="1298448" y="2148840"/>
            <a:ext cx="9594799" cy="2743200"/>
          </a:xfrm>
          <a:prstGeom prst="rect">
            <a:avLst/>
          </a:prstGeom>
          <a:noFill/>
          <a:ln/>
        </p:spPr>
        <p:txBody>
          <a:bodyPr wrap="square" rtlCol="0" anchor="t"/>
          <a:lstStyle/>
          <a:p>
            <a:pPr indent="0" marL="0">
              <a:lnSpc>
                <a:spcPts val="3000"/>
              </a:lnSpc>
              <a:buNone/>
            </a:pPr>
            <a:r>
              <a:rPr lang="en-US" sz="1550" dirty="0">
                <a:solidFill>
                  <a:srgbClr val="6B7280"/>
                </a:solidFill>
                <a:latin typeface="Consolas" pitchFamily="34" charset="0"/>
                <a:ea typeface="Consolas" pitchFamily="34" charset="-122"/>
                <a:cs typeface="Consolas" pitchFamily="34" charset="-120"/>
              </a:rPr>
              <a:t>// No implementation. The annotations are the program.</a:t>
            </a:r>
            <a:endParaRPr lang="en-US" sz="1550" dirty="0"/>
          </a:p>
          <a:p>
            <a:pPr indent="0" marL="0">
              <a:lnSpc>
                <a:spcPts val="3000"/>
              </a:lnSpc>
              <a:buNone/>
            </a:pPr>
            <a:r>
              <a:rPr lang="en-US" sz="1550" dirty="0">
                <a:solidFill>
                  <a:srgbClr val="C4B5FD"/>
                </a:solidFill>
                <a:latin typeface="Consolas" pitchFamily="34" charset="0"/>
                <a:ea typeface="Consolas" pitchFamily="34" charset="-122"/>
                <a:cs typeface="Consolas" pitchFamily="34" charset="-120"/>
              </a:rPr>
              <a:t>interface </a:t>
            </a:r>
            <a:pPr indent="0" marL="0">
              <a:lnSpc>
                <a:spcPts val="3000"/>
              </a:lnSpc>
              <a:buNone/>
            </a:pPr>
            <a:r>
              <a:rPr lang="en-US" sz="1550" dirty="0">
                <a:solidFill>
                  <a:srgbClr val="7DD3FC"/>
                </a:solidFill>
                <a:latin typeface="Consolas" pitchFamily="34" charset="0"/>
                <a:ea typeface="Consolas" pitchFamily="34" charset="-122"/>
                <a:cs typeface="Consolas" pitchFamily="34" charset="-120"/>
              </a:rPr>
              <a:t>Worker</a:t>
            </a:r>
            <a:pPr indent="0" marL="0">
              <a:lnSpc>
                <a:spcPts val="3000"/>
              </a:lnSpc>
              <a:buNone/>
            </a:pPr>
            <a:r>
              <a:rPr lang="en-US" sz="1550" dirty="0">
                <a:solidFill>
                  <a:srgbClr val="E6E9F0"/>
                </a:solidFill>
                <a:latin typeface="Consolas" pitchFamily="34" charset="0"/>
                <a:ea typeface="Consolas" pitchFamily="34" charset="-122"/>
                <a:cs typeface="Consolas" pitchFamily="34" charset="-120"/>
              </a:rPr>
              <a:t> {</a:t>
            </a:r>
            <a:endParaRPr lang="en-US" sz="1550" dirty="0"/>
          </a:p>
          <a:p>
            <a:pPr indent="0" marL="0">
              <a:lnSpc>
                <a:spcPts val="3000"/>
              </a:lnSpc>
              <a:buNone/>
            </a:pPr>
            <a:endParaRPr lang="en-US" sz="1550" dirty="0"/>
          </a:p>
          <a:p>
            <a:pPr indent="0" marL="0">
              <a:lnSpc>
                <a:spcPts val="3000"/>
              </a:lnSpc>
              <a:buNone/>
            </a:pPr>
            <a:r>
              <a:rPr lang="en-US" sz="1550" dirty="0">
                <a:solidFill>
                  <a:srgbClr val="FBBF24"/>
                </a:solidFill>
                <a:latin typeface="Consolas" pitchFamily="34" charset="0"/>
                <a:ea typeface="Consolas" pitchFamily="34" charset="-122"/>
                <a:cs typeface="Consolas" pitchFamily="34" charset="-120"/>
              </a:rPr>
              <a:t>  @SystemMessage</a:t>
            </a:r>
            <a:pPr indent="0" marL="0">
              <a:lnSpc>
                <a:spcPts val="3000"/>
              </a:lnSpc>
              <a:buNone/>
            </a:pPr>
            <a:r>
              <a:rPr lang="en-US" sz="1550" dirty="0">
                <a:solidFill>
                  <a:srgbClr val="E6E9F0"/>
                </a:solidFill>
                <a:latin typeface="Consolas" pitchFamily="34" charset="0"/>
                <a:ea typeface="Consolas" pitchFamily="34" charset="-122"/>
                <a:cs typeface="Consolas" pitchFamily="34" charset="-120"/>
              </a:rPr>
              <a:t>(</a:t>
            </a:r>
            <a:pPr indent="0" marL="0">
              <a:lnSpc>
                <a:spcPts val="3000"/>
              </a:lnSpc>
              <a:buNone/>
            </a:pPr>
            <a:r>
              <a:rPr lang="en-US" sz="1550" dirty="0">
                <a:solidFill>
                  <a:srgbClr val="6EE7D8"/>
                </a:solidFill>
                <a:latin typeface="Consolas" pitchFamily="34" charset="0"/>
                <a:ea typeface="Consolas" pitchFamily="34" charset="-122"/>
                <a:cs typeface="Consolas" pitchFamily="34" charset="-120"/>
              </a:rPr>
              <a:t>"You are a {{role}}.</a:t>
            </a:r>
            <a:pPr indent="0" marL="0">
              <a:lnSpc>
                <a:spcPts val="3000"/>
              </a:lnSpc>
              <a:buNone/>
            </a:pPr>
            <a:endParaRPr lang="en-US" sz="1550" dirty="0"/>
          </a:p>
          <a:p>
            <a:pPr indent="0" marL="0">
              <a:lnSpc>
                <a:spcPts val="3000"/>
              </a:lnSpc>
              <a:buNone/>
            </a:pPr>
            <a:r>
              <a:rPr lang="en-US" sz="1550" dirty="0">
                <a:solidFill>
                  <a:srgbClr val="6EE7D8"/>
                </a:solidFill>
                <a:latin typeface="Consolas" pitchFamily="34" charset="0"/>
                <a:ea typeface="Consolas" pitchFamily="34" charset="-122"/>
                <a:cs typeface="Consolas" pitchFamily="34" charset="-120"/>
              </a:rPr>
              <a:t>                 Answer only from that view."</a:t>
            </a:r>
            <a:pPr indent="0" marL="0">
              <a:lnSpc>
                <a:spcPts val="3000"/>
              </a:lnSpc>
              <a:buNone/>
            </a:pPr>
            <a:r>
              <a:rPr lang="en-US" sz="1550" dirty="0">
                <a:solidFill>
                  <a:srgbClr val="E6E9F0"/>
                </a:solidFill>
                <a:latin typeface="Consolas" pitchFamily="34" charset="0"/>
                <a:ea typeface="Consolas" pitchFamily="34" charset="-122"/>
                <a:cs typeface="Consolas" pitchFamily="34" charset="-120"/>
              </a:rPr>
              <a:t>)</a:t>
            </a:r>
            <a:endParaRPr lang="en-US" sz="1550" dirty="0"/>
          </a:p>
          <a:p>
            <a:pPr indent="0" marL="0">
              <a:lnSpc>
                <a:spcPts val="3000"/>
              </a:lnSpc>
              <a:buNone/>
            </a:pPr>
            <a:r>
              <a:rPr lang="en-US" sz="1550" dirty="0">
                <a:solidFill>
                  <a:srgbClr val="FBBF24"/>
                </a:solidFill>
                <a:latin typeface="Consolas" pitchFamily="34" charset="0"/>
                <a:ea typeface="Consolas" pitchFamily="34" charset="-122"/>
                <a:cs typeface="Consolas" pitchFamily="34" charset="-120"/>
              </a:rPr>
              <a:t>  @UserMessage</a:t>
            </a:r>
            <a:pPr indent="0" marL="0">
              <a:lnSpc>
                <a:spcPts val="3000"/>
              </a:lnSpc>
              <a:buNone/>
            </a:pPr>
            <a:r>
              <a:rPr lang="en-US" sz="1550" dirty="0">
                <a:solidFill>
                  <a:srgbClr val="E6E9F0"/>
                </a:solidFill>
                <a:latin typeface="Consolas" pitchFamily="34" charset="0"/>
                <a:ea typeface="Consolas" pitchFamily="34" charset="-122"/>
                <a:cs typeface="Consolas" pitchFamily="34" charset="-120"/>
              </a:rPr>
              <a:t>(</a:t>
            </a:r>
            <a:pPr indent="0" marL="0">
              <a:lnSpc>
                <a:spcPts val="3000"/>
              </a:lnSpc>
              <a:buNone/>
            </a:pPr>
            <a:r>
              <a:rPr lang="en-US" sz="1550" dirty="0">
                <a:solidFill>
                  <a:srgbClr val="6EE7D8"/>
                </a:solidFill>
                <a:latin typeface="Consolas" pitchFamily="34" charset="0"/>
                <a:ea typeface="Consolas" pitchFamily="34" charset="-122"/>
                <a:cs typeface="Consolas" pitchFamily="34" charset="-120"/>
              </a:rPr>
              <a:t>"{{task}}"</a:t>
            </a:r>
            <a:pPr indent="0" marL="0">
              <a:lnSpc>
                <a:spcPts val="3000"/>
              </a:lnSpc>
              <a:buNone/>
            </a:pPr>
            <a:r>
              <a:rPr lang="en-US" sz="1550" dirty="0">
                <a:solidFill>
                  <a:srgbClr val="E6E9F0"/>
                </a:solidFill>
                <a:latin typeface="Consolas" pitchFamily="34" charset="0"/>
                <a:ea typeface="Consolas" pitchFamily="34" charset="-122"/>
                <a:cs typeface="Consolas" pitchFamily="34" charset="-120"/>
              </a:rPr>
              <a:t>)</a:t>
            </a:r>
            <a:endParaRPr lang="en-US" sz="1550" dirty="0"/>
          </a:p>
          <a:p>
            <a:pPr indent="0" marL="0">
              <a:lnSpc>
                <a:spcPts val="3000"/>
              </a:lnSpc>
              <a:buNone/>
            </a:pPr>
            <a:r>
              <a:rPr lang="en-US" sz="1550" dirty="0">
                <a:solidFill>
                  <a:srgbClr val="7DD3FC"/>
                </a:solidFill>
                <a:latin typeface="Consolas" pitchFamily="34" charset="0"/>
                <a:ea typeface="Consolas" pitchFamily="34" charset="-122"/>
                <a:cs typeface="Consolas" pitchFamily="34" charset="-120"/>
              </a:rPr>
              <a:t>  String </a:t>
            </a:r>
            <a:pPr indent="0" marL="0">
              <a:lnSpc>
                <a:spcPts val="3000"/>
              </a:lnSpc>
              <a:buNone/>
            </a:pPr>
            <a:r>
              <a:rPr lang="en-US" sz="1550" dirty="0">
                <a:solidFill>
                  <a:srgbClr val="E6E9F0"/>
                </a:solidFill>
                <a:latin typeface="Consolas" pitchFamily="34" charset="0"/>
                <a:ea typeface="Consolas" pitchFamily="34" charset="-122"/>
                <a:cs typeface="Consolas" pitchFamily="34" charset="-120"/>
              </a:rPr>
              <a:t>work(</a:t>
            </a:r>
            <a:pPr indent="0" marL="0">
              <a:lnSpc>
                <a:spcPts val="3000"/>
              </a:lnSpc>
              <a:buNone/>
            </a:pPr>
            <a:r>
              <a:rPr lang="en-US" sz="1550" dirty="0">
                <a:solidFill>
                  <a:srgbClr val="FBBF24"/>
                </a:solidFill>
                <a:latin typeface="Consolas" pitchFamily="34" charset="0"/>
                <a:ea typeface="Consolas" pitchFamily="34" charset="-122"/>
                <a:cs typeface="Consolas" pitchFamily="34" charset="-120"/>
              </a:rPr>
              <a:t>@V</a:t>
            </a:r>
            <a:pPr indent="0" marL="0">
              <a:lnSpc>
                <a:spcPts val="3000"/>
              </a:lnSpc>
              <a:buNone/>
            </a:pPr>
            <a:r>
              <a:rPr lang="en-US" sz="1550" dirty="0">
                <a:solidFill>
                  <a:srgbClr val="E6E9F0"/>
                </a:solidFill>
                <a:latin typeface="Consolas" pitchFamily="34" charset="0"/>
                <a:ea typeface="Consolas" pitchFamily="34" charset="-122"/>
                <a:cs typeface="Consolas" pitchFamily="34" charset="-120"/>
              </a:rPr>
              <a:t>("role") String role,</a:t>
            </a:r>
            <a:endParaRPr lang="en-US" sz="1550" dirty="0"/>
          </a:p>
          <a:p>
            <a:pPr indent="0" marL="0">
              <a:lnSpc>
                <a:spcPts val="3000"/>
              </a:lnSpc>
              <a:buNone/>
            </a:pPr>
            <a:r>
              <a:rPr lang="en-US" sz="1550" dirty="0">
                <a:solidFill>
                  <a:srgbClr val="E6E9F0"/>
                </a:solidFill>
                <a:latin typeface="Consolas" pitchFamily="34" charset="0"/>
                <a:ea typeface="Consolas" pitchFamily="34" charset="-122"/>
                <a:cs typeface="Consolas" pitchFamily="34" charset="-120"/>
              </a:rPr>
              <a:t>              </a:t>
            </a:r>
            <a:pPr indent="0" marL="0">
              <a:lnSpc>
                <a:spcPts val="3000"/>
              </a:lnSpc>
              <a:buNone/>
            </a:pPr>
            <a:r>
              <a:rPr lang="en-US" sz="1550" dirty="0">
                <a:solidFill>
                  <a:srgbClr val="FBBF24"/>
                </a:solidFill>
                <a:latin typeface="Consolas" pitchFamily="34" charset="0"/>
                <a:ea typeface="Consolas" pitchFamily="34" charset="-122"/>
                <a:cs typeface="Consolas" pitchFamily="34" charset="-120"/>
              </a:rPr>
              <a:t>@V</a:t>
            </a:r>
            <a:pPr indent="0" marL="0">
              <a:lnSpc>
                <a:spcPts val="3000"/>
              </a:lnSpc>
              <a:buNone/>
            </a:pPr>
            <a:r>
              <a:rPr lang="en-US" sz="1550" dirty="0">
                <a:solidFill>
                  <a:srgbClr val="E6E9F0"/>
                </a:solidFill>
                <a:latin typeface="Consolas" pitchFamily="34" charset="0"/>
                <a:ea typeface="Consolas" pitchFamily="34" charset="-122"/>
                <a:cs typeface="Consolas" pitchFamily="34" charset="-120"/>
              </a:rPr>
              <a:t>("task") String task);</a:t>
            </a:r>
            <a:endParaRPr lang="en-US" sz="1550" dirty="0"/>
          </a:p>
          <a:p>
            <a:pPr indent="0" marL="0">
              <a:lnSpc>
                <a:spcPts val="3000"/>
              </a:lnSpc>
              <a:buNone/>
            </a:pPr>
            <a:r>
              <a:rPr lang="en-US" sz="1550" dirty="0">
                <a:solidFill>
                  <a:srgbClr val="E6E9F0"/>
                </a:solidFill>
                <a:latin typeface="Consolas" pitchFamily="34" charset="0"/>
                <a:ea typeface="Consolas" pitchFamily="34" charset="-122"/>
                <a:cs typeface="Consolas" pitchFamily="34" charset="-120"/>
              </a:rPr>
              <a:t>}</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indent="0" marL="0">
              <a:buNone/>
            </a:pPr>
            <a:r>
              <a:rPr lang="en-US" sz="1100" b="1" spc="300" kern="0" dirty="0">
                <a:solidFill>
                  <a:srgbClr val="4F46E5"/>
                </a:solidFill>
                <a:latin typeface="Arial" pitchFamily="34" charset="0"/>
                <a:ea typeface="Arial" pitchFamily="34" charset="-122"/>
                <a:cs typeface="Arial" pitchFamily="34" charset="-120"/>
              </a:rPr>
              <a:t>LIVE CODE  /  2 OF 2</a:t>
            </a:r>
            <a:endParaRPr lang="en-US" sz="1100" dirty="0"/>
          </a:p>
        </p:txBody>
      </p:sp>
      <p:sp>
        <p:nvSpPr>
          <p:cNvPr id="3" name="Text 1"/>
          <p:cNvSpPr/>
          <p:nvPr/>
        </p:nvSpPr>
        <p:spPr>
          <a:xfrm>
            <a:off x="841248" y="960120"/>
            <a:ext cx="10058400" cy="640080"/>
          </a:xfrm>
          <a:prstGeom prst="rect">
            <a:avLst/>
          </a:prstGeom>
          <a:noFill/>
          <a:ln/>
        </p:spPr>
        <p:txBody>
          <a:bodyPr wrap="square" rtlCol="0" anchor="ctr"/>
          <a:lstStyle/>
          <a:p>
            <a:pPr indent="0" marL="0">
              <a:buNone/>
            </a:pPr>
            <a:r>
              <a:rPr lang="en-US" sz="2700" b="1" dirty="0">
                <a:solidFill>
                  <a:srgbClr val="16181D"/>
                </a:solidFill>
                <a:latin typeface="Arial" pitchFamily="34" charset="0"/>
                <a:ea typeface="Arial" pitchFamily="34" charset="-122"/>
                <a:cs typeface="Arial" pitchFamily="34" charset="-120"/>
              </a:rPr>
              <a:t>Plan, dispatch, </a:t>
            </a:r>
            <a:pPr indent="0" marL="0">
              <a:buNone/>
            </a:pPr>
            <a:r>
              <a:rPr lang="en-US" sz="2700" b="1" dirty="0">
                <a:solidFill>
                  <a:srgbClr val="4F46E5"/>
                </a:solidFill>
                <a:latin typeface="Arial" pitchFamily="34" charset="0"/>
                <a:ea typeface="Arial" pitchFamily="34" charset="-122"/>
                <a:cs typeface="Arial" pitchFamily="34" charset="-120"/>
              </a:rPr>
              <a:t>synthesize.</a:t>
            </a:r>
            <a:endParaRPr lang="en-US" sz="2700" dirty="0"/>
          </a:p>
        </p:txBody>
      </p:sp>
      <p:sp>
        <p:nvSpPr>
          <p:cNvPr id="4" name="Shape 2"/>
          <p:cNvSpPr/>
          <p:nvPr/>
        </p:nvSpPr>
        <p:spPr>
          <a:xfrm>
            <a:off x="841248" y="1828800"/>
            <a:ext cx="10509199" cy="3383280"/>
          </a:xfrm>
          <a:prstGeom prst="roundRect">
            <a:avLst>
              <a:gd name="adj" fmla="val 2703"/>
            </a:avLst>
          </a:prstGeom>
          <a:solidFill>
            <a:srgbClr val="16181D"/>
          </a:solidFill>
          <a:ln w="12700">
            <a:solidFill>
              <a:srgbClr val="16181D"/>
            </a:solidFill>
            <a:prstDash val="solid"/>
          </a:ln>
          <a:effectLst>
            <a:outerShdw sx="100000" sy="100000" kx="0" ky="0" algn="bl" rotWithShape="0" blurRad="139700" dist="38100" dir="5400000">
              <a:srgbClr val="9AA6BC">
                <a:alpha val="28000"/>
              </a:srgbClr>
            </a:outerShdw>
          </a:effectLst>
        </p:spPr>
      </p:sp>
      <p:sp>
        <p:nvSpPr>
          <p:cNvPr id="5" name="Text 3"/>
          <p:cNvSpPr/>
          <p:nvPr/>
        </p:nvSpPr>
        <p:spPr>
          <a:xfrm>
            <a:off x="1298448" y="2148840"/>
            <a:ext cx="9594799" cy="2743200"/>
          </a:xfrm>
          <a:prstGeom prst="rect">
            <a:avLst/>
          </a:prstGeom>
          <a:noFill/>
          <a:ln/>
        </p:spPr>
        <p:txBody>
          <a:bodyPr wrap="square" rtlCol="0" anchor="t"/>
          <a:lstStyle/>
          <a:p>
            <a:pPr indent="0" marL="0">
              <a:lnSpc>
                <a:spcPts val="3000"/>
              </a:lnSpc>
              <a:buNone/>
            </a:pPr>
            <a:r>
              <a:rPr lang="en-US" sz="1550" dirty="0">
                <a:solidFill>
                  <a:srgbClr val="7DD3FC"/>
                </a:solidFill>
                <a:latin typeface="Consolas" pitchFamily="34" charset="0"/>
                <a:ea typeface="Consolas" pitchFamily="34" charset="-122"/>
                <a:cs typeface="Consolas" pitchFamily="34" charset="-120"/>
              </a:rPr>
              <a:t>Plan</a:t>
            </a:r>
            <a:pPr indent="0" marL="0">
              <a:lnSpc>
                <a:spcPts val="3000"/>
              </a:lnSpc>
              <a:buNone/>
            </a:pPr>
            <a:r>
              <a:rPr lang="en-US" sz="1550" dirty="0">
                <a:solidFill>
                  <a:srgbClr val="E6E9F0"/>
                </a:solidFill>
                <a:latin typeface="Consolas" pitchFamily="34" charset="0"/>
                <a:ea typeface="Consolas" pitchFamily="34" charset="-122"/>
                <a:cs typeface="Consolas" pitchFamily="34" charset="-120"/>
              </a:rPr>
              <a:t> plan = planner.assemble(prompt);</a:t>
            </a:r>
            <a:pPr indent="0" marL="0">
              <a:lnSpc>
                <a:spcPts val="3000"/>
              </a:lnSpc>
              <a:buNone/>
            </a:pPr>
            <a:r>
              <a:rPr lang="en-US" sz="1550" dirty="0">
                <a:solidFill>
                  <a:srgbClr val="6B7280"/>
                </a:solidFill>
                <a:latin typeface="Consolas" pitchFamily="34" charset="0"/>
                <a:ea typeface="Consolas" pitchFamily="34" charset="-122"/>
                <a:cs typeface="Consolas" pitchFamily="34" charset="-120"/>
              </a:rPr>
              <a:t>   // 1 prompt -&gt; a crew</a:t>
            </a:r>
            <a:endParaRPr lang="en-US" sz="1550" dirty="0"/>
          </a:p>
          <a:p>
            <a:pPr indent="0" marL="0">
              <a:lnSpc>
                <a:spcPts val="3000"/>
              </a:lnSpc>
              <a:buNone/>
            </a:pPr>
            <a:endParaRPr lang="en-US" sz="1550" dirty="0"/>
          </a:p>
          <a:p>
            <a:pPr indent="0" marL="0">
              <a:lnSpc>
                <a:spcPts val="3000"/>
              </a:lnSpc>
              <a:buNone/>
            </a:pPr>
            <a:r>
              <a:rPr lang="en-US" sz="1550" dirty="0">
                <a:solidFill>
                  <a:srgbClr val="C4B5FD"/>
                </a:solidFill>
                <a:latin typeface="Consolas" pitchFamily="34" charset="0"/>
                <a:ea typeface="Consolas" pitchFamily="34" charset="-122"/>
                <a:cs typeface="Consolas" pitchFamily="34" charset="-120"/>
              </a:rPr>
              <a:t>var</a:t>
            </a:r>
            <a:pPr indent="0" marL="0">
              <a:lnSpc>
                <a:spcPts val="3000"/>
              </a:lnSpc>
              <a:buNone/>
            </a:pPr>
            <a:r>
              <a:rPr lang="en-US" sz="1550" dirty="0">
                <a:solidFill>
                  <a:srgbClr val="E6E9F0"/>
                </a:solidFill>
                <a:latin typeface="Consolas" pitchFamily="34" charset="0"/>
                <a:ea typeface="Consolas" pitchFamily="34" charset="-122"/>
                <a:cs typeface="Consolas" pitchFamily="34" charset="-120"/>
              </a:rPr>
              <a:t> notes = </a:t>
            </a:r>
            <a:pPr indent="0" marL="0">
              <a:lnSpc>
                <a:spcPts val="3000"/>
              </a:lnSpc>
              <a:buNone/>
            </a:pPr>
            <a:r>
              <a:rPr lang="en-US" sz="1550" dirty="0">
                <a:solidFill>
                  <a:srgbClr val="C4B5FD"/>
                </a:solidFill>
                <a:latin typeface="Consolas" pitchFamily="34" charset="0"/>
                <a:ea typeface="Consolas" pitchFamily="34" charset="-122"/>
                <a:cs typeface="Consolas" pitchFamily="34" charset="-120"/>
              </a:rPr>
              <a:t>new</a:t>
            </a:r>
            <a:pPr indent="0" marL="0">
              <a:lnSpc>
                <a:spcPts val="3000"/>
              </a:lnSpc>
              <a:buNone/>
            </a:pPr>
            <a:r>
              <a:rPr lang="en-US" sz="1550" dirty="0">
                <a:solidFill>
                  <a:srgbClr val="E6E9F0"/>
                </a:solidFill>
                <a:latin typeface="Consolas" pitchFamily="34" charset="0"/>
                <a:ea typeface="Consolas" pitchFamily="34" charset="-122"/>
                <a:cs typeface="Consolas" pitchFamily="34" charset="-120"/>
              </a:rPr>
              <a:t> StringBuilder();</a:t>
            </a:r>
            <a:endParaRPr lang="en-US" sz="1550" dirty="0"/>
          </a:p>
          <a:p>
            <a:pPr indent="0" marL="0">
              <a:lnSpc>
                <a:spcPts val="3000"/>
              </a:lnSpc>
              <a:buNone/>
            </a:pPr>
            <a:r>
              <a:rPr lang="en-US" sz="1550" dirty="0">
                <a:solidFill>
                  <a:srgbClr val="C4B5FD"/>
                </a:solidFill>
                <a:latin typeface="Consolas" pitchFamily="34" charset="0"/>
                <a:ea typeface="Consolas" pitchFamily="34" charset="-122"/>
                <a:cs typeface="Consolas" pitchFamily="34" charset="-120"/>
              </a:rPr>
              <a:t>for</a:t>
            </a:r>
            <a:pPr indent="0" marL="0">
              <a:lnSpc>
                <a:spcPts val="3000"/>
              </a:lnSpc>
              <a:buNone/>
            </a:pPr>
            <a:r>
              <a:rPr lang="en-US" sz="1550" dirty="0">
                <a:solidFill>
                  <a:srgbClr val="E6E9F0"/>
                </a:solidFill>
                <a:latin typeface="Consolas" pitchFamily="34" charset="0"/>
                <a:ea typeface="Consolas" pitchFamily="34" charset="-122"/>
                <a:cs typeface="Consolas" pitchFamily="34" charset="-120"/>
              </a:rPr>
              <a:t> (</a:t>
            </a:r>
            <a:pPr indent="0" marL="0">
              <a:lnSpc>
                <a:spcPts val="3000"/>
              </a:lnSpc>
              <a:buNone/>
            </a:pPr>
            <a:r>
              <a:rPr lang="en-US" sz="1550" dirty="0">
                <a:solidFill>
                  <a:srgbClr val="C4B5FD"/>
                </a:solidFill>
                <a:latin typeface="Consolas" pitchFamily="34" charset="0"/>
                <a:ea typeface="Consolas" pitchFamily="34" charset="-122"/>
                <a:cs typeface="Consolas" pitchFamily="34" charset="-120"/>
              </a:rPr>
              <a:t>var</a:t>
            </a:r>
            <a:pPr indent="0" marL="0">
              <a:lnSpc>
                <a:spcPts val="3000"/>
              </a:lnSpc>
              <a:buNone/>
            </a:pPr>
            <a:r>
              <a:rPr lang="en-US" sz="1550" dirty="0">
                <a:solidFill>
                  <a:srgbClr val="E6E9F0"/>
                </a:solidFill>
                <a:latin typeface="Consolas" pitchFamily="34" charset="0"/>
                <a:ea typeface="Consolas" pitchFamily="34" charset="-122"/>
                <a:cs typeface="Consolas" pitchFamily="34" charset="-120"/>
              </a:rPr>
              <a:t> a : plan.crew()) {</a:t>
            </a:r>
            <a:pPr indent="0" marL="0">
              <a:lnSpc>
                <a:spcPts val="3000"/>
              </a:lnSpc>
              <a:buNone/>
            </a:pPr>
            <a:r>
              <a:rPr lang="en-US" sz="1550" dirty="0">
                <a:solidFill>
                  <a:srgbClr val="6B7280"/>
                </a:solidFill>
                <a:latin typeface="Consolas" pitchFamily="34" charset="0"/>
                <a:ea typeface="Consolas" pitchFamily="34" charset="-122"/>
                <a:cs typeface="Consolas" pitchFamily="34" charset="-120"/>
              </a:rPr>
              <a:t>        // fan out</a:t>
            </a:r>
            <a:endParaRPr lang="en-US" sz="1550" dirty="0"/>
          </a:p>
          <a:p>
            <a:pPr indent="0" marL="0">
              <a:lnSpc>
                <a:spcPts val="3000"/>
              </a:lnSpc>
              <a:buNone/>
            </a:pPr>
            <a:r>
              <a:rPr lang="en-US" sz="1550" dirty="0">
                <a:solidFill>
                  <a:srgbClr val="E6E9F0"/>
                </a:solidFill>
                <a:latin typeface="Consolas" pitchFamily="34" charset="0"/>
                <a:ea typeface="Consolas" pitchFamily="34" charset="-122"/>
                <a:cs typeface="Consolas" pitchFamily="34" charset="-120"/>
              </a:rPr>
              <a:t>    String answer = worker.work(a.role(), a.task());</a:t>
            </a:r>
            <a:endParaRPr lang="en-US" sz="1550" dirty="0"/>
          </a:p>
          <a:p>
            <a:pPr indent="0" marL="0">
              <a:lnSpc>
                <a:spcPts val="3000"/>
              </a:lnSpc>
              <a:buNone/>
            </a:pPr>
            <a:r>
              <a:rPr lang="en-US" sz="1550" dirty="0">
                <a:solidFill>
                  <a:srgbClr val="E6E9F0"/>
                </a:solidFill>
                <a:latin typeface="Consolas" pitchFamily="34" charset="0"/>
                <a:ea typeface="Consolas" pitchFamily="34" charset="-122"/>
                <a:cs typeface="Consolas" pitchFamily="34" charset="-120"/>
              </a:rPr>
              <a:t>    notes.append(a.role()).append(answer);</a:t>
            </a:r>
            <a:endParaRPr lang="en-US" sz="1550" dirty="0"/>
          </a:p>
          <a:p>
            <a:pPr indent="0" marL="0">
              <a:lnSpc>
                <a:spcPts val="3000"/>
              </a:lnSpc>
              <a:buNone/>
            </a:pPr>
            <a:r>
              <a:rPr lang="en-US" sz="1550" dirty="0">
                <a:solidFill>
                  <a:srgbClr val="E6E9F0"/>
                </a:solidFill>
                <a:latin typeface="Consolas" pitchFamily="34" charset="0"/>
                <a:ea typeface="Consolas" pitchFamily="34" charset="-122"/>
                <a:cs typeface="Consolas" pitchFamily="34" charset="-120"/>
              </a:rPr>
              <a:t>}</a:t>
            </a:r>
            <a:endParaRPr lang="en-US" sz="1550" dirty="0"/>
          </a:p>
          <a:p>
            <a:pPr indent="0" marL="0">
              <a:lnSpc>
                <a:spcPts val="3000"/>
              </a:lnSpc>
              <a:buNone/>
            </a:pPr>
            <a:endParaRPr lang="en-US" sz="1550" dirty="0"/>
          </a:p>
          <a:p>
            <a:pPr indent="0" marL="0">
              <a:lnSpc>
                <a:spcPts val="3000"/>
              </a:lnSpc>
              <a:buNone/>
            </a:pPr>
            <a:r>
              <a:rPr lang="en-US" sz="1550" dirty="0">
                <a:solidFill>
                  <a:srgbClr val="7DD3FC"/>
                </a:solidFill>
                <a:latin typeface="Consolas" pitchFamily="34" charset="0"/>
                <a:ea typeface="Consolas" pitchFamily="34" charset="-122"/>
                <a:cs typeface="Consolas" pitchFamily="34" charset="-120"/>
              </a:rPr>
              <a:t>String</a:t>
            </a:r>
            <a:pPr indent="0" marL="0">
              <a:lnSpc>
                <a:spcPts val="3000"/>
              </a:lnSpc>
              <a:buNone/>
            </a:pPr>
            <a:r>
              <a:rPr lang="en-US" sz="1550" dirty="0">
                <a:solidFill>
                  <a:srgbClr val="E6E9F0"/>
                </a:solidFill>
                <a:latin typeface="Consolas" pitchFamily="34" charset="0"/>
                <a:ea typeface="Consolas" pitchFamily="34" charset="-122"/>
                <a:cs typeface="Consolas" pitchFamily="34" charset="-120"/>
              </a:rPr>
              <a:t> result = synthesizer.synthesize(notes);</a:t>
            </a:r>
            <a:pPr indent="0" marL="0">
              <a:lnSpc>
                <a:spcPts val="3000"/>
              </a:lnSpc>
              <a:buNone/>
            </a:pPr>
            <a:r>
              <a:rPr lang="en-US" sz="1550" dirty="0">
                <a:solidFill>
                  <a:srgbClr val="6B7280"/>
                </a:solidFill>
                <a:latin typeface="Consolas" pitchFamily="34" charset="0"/>
                <a:ea typeface="Consolas" pitchFamily="34" charset="-122"/>
                <a:cs typeface="Consolas" pitchFamily="34" charset="-120"/>
              </a:rPr>
              <a:t>  // fan in</a:t>
            </a:r>
            <a:endParaRPr lang="en-US" sz="15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59536" y="621792"/>
            <a:ext cx="182880" cy="182880"/>
          </a:xfrm>
          <a:prstGeom prst="ellipse">
            <a:avLst/>
          </a:prstGeom>
          <a:solidFill>
            <a:srgbClr val="4F46E5"/>
          </a:solidFill>
          <a:ln/>
        </p:spPr>
      </p:sp>
      <p:sp>
        <p:nvSpPr>
          <p:cNvPr id="3" name="Text 1"/>
          <p:cNvSpPr/>
          <p:nvPr/>
        </p:nvSpPr>
        <p:spPr>
          <a:xfrm>
            <a:off x="1207008" y="566928"/>
            <a:ext cx="4572000" cy="292608"/>
          </a:xfrm>
          <a:prstGeom prst="rect">
            <a:avLst/>
          </a:prstGeom>
          <a:noFill/>
          <a:ln/>
        </p:spPr>
        <p:txBody>
          <a:bodyPr wrap="square" rtlCol="0" anchor="ctr"/>
          <a:lstStyle/>
          <a:p>
            <a:pPr indent="0" marL="0">
              <a:buNone/>
            </a:pPr>
            <a:r>
              <a:rPr lang="en-US" sz="1200" spc="400" kern="0" dirty="0">
                <a:solidFill>
                  <a:srgbClr val="4F46E5"/>
                </a:solidFill>
                <a:latin typeface="Consolas" pitchFamily="34" charset="0"/>
                <a:ea typeface="Consolas" pitchFamily="34" charset="-122"/>
                <a:cs typeface="Consolas" pitchFamily="34" charset="-120"/>
              </a:rPr>
              <a:t>THE LIVE BUILD</a:t>
            </a:r>
            <a:endParaRPr lang="en-US" sz="1200" dirty="0"/>
          </a:p>
        </p:txBody>
      </p:sp>
      <p:sp>
        <p:nvSpPr>
          <p:cNvPr id="4" name="Text 2"/>
          <p:cNvSpPr/>
          <p:nvPr/>
        </p:nvSpPr>
        <p:spPr>
          <a:xfrm>
            <a:off x="0" y="1828800"/>
            <a:ext cx="12191695" cy="1188720"/>
          </a:xfrm>
          <a:prstGeom prst="rect">
            <a:avLst/>
          </a:prstGeom>
          <a:noFill/>
          <a:ln/>
        </p:spPr>
        <p:txBody>
          <a:bodyPr wrap="square" rtlCol="0" anchor="ctr"/>
          <a:lstStyle/>
          <a:p>
            <a:pPr algn="ctr" indent="0" marL="0">
              <a:buNone/>
            </a:pPr>
            <a:r>
              <a:rPr lang="en-US" sz="5800" b="1" dirty="0">
                <a:solidFill>
                  <a:srgbClr val="16181D"/>
                </a:solidFill>
                <a:latin typeface="Arial" pitchFamily="34" charset="0"/>
                <a:ea typeface="Arial" pitchFamily="34" charset="-122"/>
                <a:cs typeface="Arial" pitchFamily="34" charset="-120"/>
              </a:rPr>
              <a:t>Let's build </a:t>
            </a:r>
            <a:pPr algn="ctr" indent="0" marL="0">
              <a:buNone/>
            </a:pPr>
            <a:r>
              <a:rPr lang="en-US" sz="5800" b="1" dirty="0">
                <a:solidFill>
                  <a:srgbClr val="4F46E5"/>
                </a:solidFill>
                <a:latin typeface="Arial" pitchFamily="34" charset="0"/>
                <a:ea typeface="Arial" pitchFamily="34" charset="-122"/>
                <a:cs typeface="Arial" pitchFamily="34" charset="-120"/>
              </a:rPr>
              <a:t>one of yours.</a:t>
            </a:r>
            <a:endParaRPr lang="en-US" sz="5800" dirty="0"/>
          </a:p>
        </p:txBody>
      </p:sp>
      <p:sp>
        <p:nvSpPr>
          <p:cNvPr id="5" name="Shape 3"/>
          <p:cNvSpPr/>
          <p:nvPr/>
        </p:nvSpPr>
        <p:spPr>
          <a:xfrm>
            <a:off x="1158088" y="3383280"/>
            <a:ext cx="2743200" cy="822960"/>
          </a:xfrm>
          <a:prstGeom prst="roundRect">
            <a:avLst>
              <a:gd name="adj" fmla="val 13333"/>
            </a:avLst>
          </a:prstGeom>
          <a:solidFill>
            <a:srgbClr val="F5F7FA"/>
          </a:solidFill>
          <a:ln w="19050">
            <a:solidFill>
              <a:srgbClr val="4F46E5"/>
            </a:solidFill>
            <a:prstDash val="solid"/>
          </a:ln>
          <a:effectLst>
            <a:outerShdw sx="100000" sy="100000" kx="0" ky="0" algn="bl" rotWithShape="0" blurRad="139700" dist="38100" dir="5400000">
              <a:srgbClr val="9AA6BC">
                <a:alpha val="28000"/>
              </a:srgbClr>
            </a:outerShdw>
          </a:effectLst>
        </p:spPr>
      </p:sp>
      <p:sp>
        <p:nvSpPr>
          <p:cNvPr id="6" name="Text 4"/>
          <p:cNvSpPr/>
          <p:nvPr/>
        </p:nvSpPr>
        <p:spPr>
          <a:xfrm>
            <a:off x="1158088" y="3383280"/>
            <a:ext cx="2743200" cy="822960"/>
          </a:xfrm>
          <a:prstGeom prst="rect">
            <a:avLst/>
          </a:prstGeom>
          <a:noFill/>
          <a:ln/>
        </p:spPr>
        <p:txBody>
          <a:bodyPr wrap="square" rtlCol="0" anchor="ctr"/>
          <a:lstStyle/>
          <a:p>
            <a:pPr algn="ctr" indent="0" marL="0">
              <a:buNone/>
            </a:pPr>
            <a:r>
              <a:rPr lang="en-US" sz="1600" b="1" dirty="0">
                <a:solidFill>
                  <a:srgbClr val="16181D"/>
                </a:solidFill>
                <a:latin typeface="Arial" pitchFamily="34" charset="0"/>
                <a:ea typeface="Arial" pitchFamily="34" charset="-122"/>
                <a:cs typeface="Arial" pitchFamily="34" charset="-120"/>
              </a:rPr>
              <a:t>your idea</a:t>
            </a:r>
            <a:endParaRPr lang="en-US" sz="1600" dirty="0"/>
          </a:p>
        </p:txBody>
      </p:sp>
      <p:sp>
        <p:nvSpPr>
          <p:cNvPr id="7" name="Shape 5"/>
          <p:cNvSpPr/>
          <p:nvPr/>
        </p:nvSpPr>
        <p:spPr>
          <a:xfrm>
            <a:off x="4065880" y="3794760"/>
            <a:ext cx="493776" cy="0"/>
          </a:xfrm>
          <a:prstGeom prst="line">
            <a:avLst/>
          </a:prstGeom>
          <a:noFill/>
          <a:ln w="22860">
            <a:solidFill>
              <a:srgbClr val="9AA1B0"/>
            </a:solidFill>
            <a:prstDash val="solid"/>
            <a:tailEnd type="triangle"/>
          </a:ln>
        </p:spPr>
      </p:sp>
      <p:sp>
        <p:nvSpPr>
          <p:cNvPr id="8" name="Shape 6"/>
          <p:cNvSpPr/>
          <p:nvPr/>
        </p:nvSpPr>
        <p:spPr>
          <a:xfrm>
            <a:off x="4724248" y="3383280"/>
            <a:ext cx="2743200" cy="822960"/>
          </a:xfrm>
          <a:prstGeom prst="roundRect">
            <a:avLst>
              <a:gd name="adj" fmla="val 13333"/>
            </a:avLst>
          </a:prstGeom>
          <a:solidFill>
            <a:srgbClr val="F5F7FA"/>
          </a:solidFill>
          <a:ln w="19050">
            <a:solidFill>
              <a:srgbClr val="7C3AED"/>
            </a:solidFill>
            <a:prstDash val="solid"/>
          </a:ln>
          <a:effectLst>
            <a:outerShdw sx="100000" sy="100000" kx="0" ky="0" algn="bl" rotWithShape="0" blurRad="139700" dist="38100" dir="5400000">
              <a:srgbClr val="9AA6BC">
                <a:alpha val="28000"/>
              </a:srgbClr>
            </a:outerShdw>
          </a:effectLst>
        </p:spPr>
      </p:sp>
      <p:sp>
        <p:nvSpPr>
          <p:cNvPr id="9" name="Text 7"/>
          <p:cNvSpPr/>
          <p:nvPr/>
        </p:nvSpPr>
        <p:spPr>
          <a:xfrm>
            <a:off x="4724248" y="3383280"/>
            <a:ext cx="2743200" cy="822960"/>
          </a:xfrm>
          <a:prstGeom prst="rect">
            <a:avLst/>
          </a:prstGeom>
          <a:noFill/>
          <a:ln/>
        </p:spPr>
        <p:txBody>
          <a:bodyPr wrap="square" rtlCol="0" anchor="ctr"/>
          <a:lstStyle/>
          <a:p>
            <a:pPr algn="ctr" indent="0" marL="0">
              <a:buNone/>
            </a:pPr>
            <a:r>
              <a:rPr lang="en-US" sz="1600" b="1" dirty="0">
                <a:solidFill>
                  <a:srgbClr val="16181D"/>
                </a:solidFill>
                <a:latin typeface="Arial" pitchFamily="34" charset="0"/>
                <a:ea typeface="Arial" pitchFamily="34" charset="-122"/>
                <a:cs typeface="Arial" pitchFamily="34" charset="-120"/>
              </a:rPr>
              <a:t>the crew</a:t>
            </a:r>
            <a:endParaRPr lang="en-US" sz="1600" dirty="0"/>
          </a:p>
        </p:txBody>
      </p:sp>
      <p:sp>
        <p:nvSpPr>
          <p:cNvPr id="10" name="Shape 8"/>
          <p:cNvSpPr/>
          <p:nvPr/>
        </p:nvSpPr>
        <p:spPr>
          <a:xfrm>
            <a:off x="7632040" y="3794760"/>
            <a:ext cx="493776" cy="0"/>
          </a:xfrm>
          <a:prstGeom prst="line">
            <a:avLst/>
          </a:prstGeom>
          <a:noFill/>
          <a:ln w="22860">
            <a:solidFill>
              <a:srgbClr val="9AA1B0"/>
            </a:solidFill>
            <a:prstDash val="solid"/>
            <a:tailEnd type="triangle"/>
          </a:ln>
        </p:spPr>
      </p:sp>
      <p:sp>
        <p:nvSpPr>
          <p:cNvPr id="11" name="Shape 9"/>
          <p:cNvSpPr/>
          <p:nvPr/>
        </p:nvSpPr>
        <p:spPr>
          <a:xfrm>
            <a:off x="8290408" y="3383280"/>
            <a:ext cx="2743200" cy="822960"/>
          </a:xfrm>
          <a:prstGeom prst="roundRect">
            <a:avLst>
              <a:gd name="adj" fmla="val 13333"/>
            </a:avLst>
          </a:prstGeom>
          <a:solidFill>
            <a:srgbClr val="F5F7FA"/>
          </a:solidFill>
          <a:ln w="19050">
            <a:solidFill>
              <a:srgbClr val="0F9E8E"/>
            </a:solidFill>
            <a:prstDash val="solid"/>
          </a:ln>
          <a:effectLst>
            <a:outerShdw sx="100000" sy="100000" kx="0" ky="0" algn="bl" rotWithShape="0" blurRad="139700" dist="38100" dir="5400000">
              <a:srgbClr val="9AA6BC">
                <a:alpha val="28000"/>
              </a:srgbClr>
            </a:outerShdw>
          </a:effectLst>
        </p:spPr>
      </p:sp>
      <p:sp>
        <p:nvSpPr>
          <p:cNvPr id="12" name="Text 10"/>
          <p:cNvSpPr/>
          <p:nvPr/>
        </p:nvSpPr>
        <p:spPr>
          <a:xfrm>
            <a:off x="8290408" y="3383280"/>
            <a:ext cx="2743200" cy="822960"/>
          </a:xfrm>
          <a:prstGeom prst="rect">
            <a:avLst/>
          </a:prstGeom>
          <a:noFill/>
          <a:ln/>
        </p:spPr>
        <p:txBody>
          <a:bodyPr wrap="square" rtlCol="0" anchor="ctr"/>
          <a:lstStyle/>
          <a:p>
            <a:pPr algn="ctr" indent="0" marL="0">
              <a:buNone/>
            </a:pPr>
            <a:r>
              <a:rPr lang="en-US" sz="1600" b="1" dirty="0">
                <a:solidFill>
                  <a:srgbClr val="16181D"/>
                </a:solidFill>
                <a:latin typeface="Arial" pitchFamily="34" charset="0"/>
                <a:ea typeface="Arial" pitchFamily="34" charset="-122"/>
                <a:cs typeface="Arial" pitchFamily="34" charset="-120"/>
              </a:rPr>
              <a:t>a live landing page</a:t>
            </a:r>
            <a:endParaRPr lang="en-US" sz="1600" dirty="0"/>
          </a:p>
        </p:txBody>
      </p:sp>
      <p:sp>
        <p:nvSpPr>
          <p:cNvPr id="13" name="Text 11"/>
          <p:cNvSpPr/>
          <p:nvPr/>
        </p:nvSpPr>
        <p:spPr>
          <a:xfrm>
            <a:off x="1828800" y="4892040"/>
            <a:ext cx="8534095" cy="640080"/>
          </a:xfrm>
          <a:prstGeom prst="rect">
            <a:avLst/>
          </a:prstGeom>
          <a:noFill/>
          <a:ln/>
        </p:spPr>
        <p:txBody>
          <a:bodyPr wrap="square" rtlCol="0" anchor="ctr"/>
          <a:lstStyle/>
          <a:p>
            <a:pPr algn="ctr" indent="0" marL="0">
              <a:buNone/>
            </a:pPr>
            <a:r>
              <a:rPr lang="en-US" sz="1600" dirty="0">
                <a:solidFill>
                  <a:srgbClr val="666C7A"/>
                </a:solidFill>
                <a:latin typeface="Calibri" pitchFamily="34" charset="0"/>
                <a:ea typeface="Calibri" pitchFamily="34" charset="-122"/>
                <a:cs typeface="Calibri" pitchFamily="34" charset="-120"/>
              </a:rPr>
              <a:t>Didn't send one yet? Scan the code. I'll pick a good one and we watch the crew build it, live.</a:t>
            </a:r>
            <a:endParaRPr lang="en-US" sz="1600" dirty="0"/>
          </a:p>
        </p:txBody>
      </p:sp>
      <p:pic>
        <p:nvPicPr>
          <p:cNvPr id="14" name="Image 0" descr="preencoded.png">    </p:cNvPr>
          <p:cNvPicPr>
            <a:picLocks noChangeAspect="1"/>
          </p:cNvPicPr>
          <p:nvPr/>
        </p:nvPicPr>
        <p:blipFill>
          <a:blip r:embed="rId1"/>
          <a:stretch>
            <a:fillRect/>
          </a:stretch>
        </p:blipFill>
        <p:spPr>
          <a:xfrm>
            <a:off x="5547208" y="5577840"/>
            <a:ext cx="960120" cy="96012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indent="0" marL="0">
              <a:buNone/>
            </a:pPr>
            <a:r>
              <a:rPr lang="en-US" sz="1100" b="1" spc="300" kern="0" dirty="0">
                <a:solidFill>
                  <a:srgbClr val="D97706"/>
                </a:solidFill>
                <a:latin typeface="Arial" pitchFamily="34" charset="0"/>
                <a:ea typeface="Arial" pitchFamily="34" charset="-122"/>
                <a:cs typeface="Arial" pitchFamily="34" charset="-120"/>
              </a:rPr>
              <a:t>WHAT JUST HAPPENED</a:t>
            </a:r>
            <a:endParaRPr lang="en-US" sz="1100" dirty="0"/>
          </a:p>
        </p:txBody>
      </p:sp>
      <p:sp>
        <p:nvSpPr>
          <p:cNvPr id="3" name="Text 1"/>
          <p:cNvSpPr/>
          <p:nvPr/>
        </p:nvSpPr>
        <p:spPr>
          <a:xfrm>
            <a:off x="841248" y="1051560"/>
            <a:ext cx="10058400" cy="822960"/>
          </a:xfrm>
          <a:prstGeom prst="rect">
            <a:avLst/>
          </a:prstGeom>
          <a:noFill/>
          <a:ln/>
        </p:spPr>
        <p:txBody>
          <a:bodyPr wrap="square" rtlCol="0" anchor="ctr"/>
          <a:lstStyle/>
          <a:p>
            <a:pPr indent="0" marL="0">
              <a:buNone/>
            </a:pPr>
            <a:r>
              <a:rPr lang="en-US" sz="3200" b="1" dirty="0">
                <a:solidFill>
                  <a:srgbClr val="16181D"/>
                </a:solidFill>
                <a:latin typeface="Arial" pitchFamily="34" charset="0"/>
                <a:ea typeface="Arial" pitchFamily="34" charset="-122"/>
                <a:cs typeface="Arial" pitchFamily="34" charset="-120"/>
              </a:rPr>
              <a:t>One sentence became a </a:t>
            </a:r>
            <a:pPr indent="0" marL="0">
              <a:buNone/>
            </a:pPr>
            <a:r>
              <a:rPr lang="en-US" sz="3200" b="1" dirty="0">
                <a:solidFill>
                  <a:srgbClr val="4F46E5"/>
                </a:solidFill>
                <a:latin typeface="Arial" pitchFamily="34" charset="0"/>
                <a:ea typeface="Arial" pitchFamily="34" charset="-122"/>
                <a:cs typeface="Arial" pitchFamily="34" charset="-120"/>
              </a:rPr>
              <a:t>team.</a:t>
            </a:r>
            <a:endParaRPr lang="en-US" sz="3200" dirty="0"/>
          </a:p>
        </p:txBody>
      </p:sp>
      <p:sp>
        <p:nvSpPr>
          <p:cNvPr id="4" name="Shape 2"/>
          <p:cNvSpPr/>
          <p:nvPr/>
        </p:nvSpPr>
        <p:spPr>
          <a:xfrm>
            <a:off x="841248" y="2377440"/>
            <a:ext cx="3383280" cy="2743200"/>
          </a:xfrm>
          <a:prstGeom prst="roundRect">
            <a:avLst>
              <a:gd name="adj" fmla="val 3333"/>
            </a:avLst>
          </a:prstGeom>
          <a:solidFill>
            <a:srgbClr val="F5F7FA"/>
          </a:solidFill>
          <a:ln w="12700">
            <a:solidFill>
              <a:srgbClr val="E1E5EC"/>
            </a:solidFill>
            <a:prstDash val="solid"/>
          </a:ln>
          <a:effectLst>
            <a:outerShdw sx="100000" sy="100000" kx="0" ky="0" algn="bl" rotWithShape="0" blurRad="139700" dist="38100" dir="5400000">
              <a:srgbClr val="9AA6BC">
                <a:alpha val="28000"/>
              </a:srgbClr>
            </a:outerShdw>
          </a:effectLst>
        </p:spPr>
      </p:sp>
      <p:sp>
        <p:nvSpPr>
          <p:cNvPr id="5" name="Shape 3"/>
          <p:cNvSpPr/>
          <p:nvPr/>
        </p:nvSpPr>
        <p:spPr>
          <a:xfrm>
            <a:off x="1161288" y="2734056"/>
            <a:ext cx="603504" cy="603504"/>
          </a:xfrm>
          <a:prstGeom prst="ellipse">
            <a:avLst/>
          </a:prstGeom>
          <a:solidFill>
            <a:srgbClr val="0F9E8E"/>
          </a:solidFill>
          <a:ln/>
          <a:effectLst>
            <a:outerShdw sx="100000" sy="100000" kx="0" ky="0" algn="bl" rotWithShape="0" blurRad="139700" dist="38100" dir="5400000">
              <a:srgbClr val="9AA6BC">
                <a:alpha val="28000"/>
              </a:srgbClr>
            </a:outerShdw>
          </a:effectLst>
        </p:spPr>
      </p:sp>
      <p:pic>
        <p:nvPicPr>
          <p:cNvPr id="6" name="Image 0" descr="preencoded.png">    </p:cNvPr>
          <p:cNvPicPr>
            <a:picLocks noChangeAspect="1"/>
          </p:cNvPicPr>
          <p:nvPr/>
        </p:nvPicPr>
        <p:blipFill>
          <a:blip r:embed="rId1"/>
          <a:stretch>
            <a:fillRect/>
          </a:stretch>
        </p:blipFill>
        <p:spPr>
          <a:xfrm>
            <a:off x="1306129" y="2878897"/>
            <a:ext cx="313822" cy="313822"/>
          </a:xfrm>
          <a:prstGeom prst="rect">
            <a:avLst/>
          </a:prstGeom>
        </p:spPr>
      </p:pic>
      <p:sp>
        <p:nvSpPr>
          <p:cNvPr id="7" name="Text 4"/>
          <p:cNvSpPr/>
          <p:nvPr/>
        </p:nvSpPr>
        <p:spPr>
          <a:xfrm>
            <a:off x="1207008" y="3611880"/>
            <a:ext cx="2651760" cy="548640"/>
          </a:xfrm>
          <a:prstGeom prst="rect">
            <a:avLst/>
          </a:prstGeom>
          <a:noFill/>
          <a:ln/>
        </p:spPr>
        <p:txBody>
          <a:bodyPr wrap="square" rtlCol="0" anchor="ctr"/>
          <a:lstStyle/>
          <a:p>
            <a:pPr indent="0" marL="0">
              <a:buNone/>
            </a:pPr>
            <a:r>
              <a:rPr lang="en-US" sz="2100" b="1" dirty="0">
                <a:solidFill>
                  <a:srgbClr val="16181D"/>
                </a:solidFill>
                <a:latin typeface="Arial" pitchFamily="34" charset="0"/>
                <a:ea typeface="Arial" pitchFamily="34" charset="-122"/>
                <a:cs typeface="Arial" pitchFamily="34" charset="-120"/>
              </a:rPr>
              <a:t>It self-assembled</a:t>
            </a:r>
            <a:endParaRPr lang="en-US" sz="2100" dirty="0"/>
          </a:p>
        </p:txBody>
      </p:sp>
      <p:sp>
        <p:nvSpPr>
          <p:cNvPr id="8" name="Text 5"/>
          <p:cNvSpPr/>
          <p:nvPr/>
        </p:nvSpPr>
        <p:spPr>
          <a:xfrm>
            <a:off x="1207008" y="4206240"/>
            <a:ext cx="2651760" cy="914400"/>
          </a:xfrm>
          <a:prstGeom prst="rect">
            <a:avLst/>
          </a:prstGeom>
          <a:noFill/>
          <a:ln/>
        </p:spPr>
        <p:txBody>
          <a:bodyPr wrap="square" rtlCol="0" anchor="ctr"/>
          <a:lstStyle/>
          <a:p>
            <a:pPr indent="0" marL="0">
              <a:lnSpc>
                <a:spcPts val="2000"/>
              </a:lnSpc>
              <a:buNone/>
            </a:pPr>
            <a:r>
              <a:rPr lang="en-US" sz="1400" dirty="0">
                <a:solidFill>
                  <a:srgbClr val="666C7A"/>
                </a:solidFill>
                <a:latin typeface="Calibri" pitchFamily="34" charset="0"/>
                <a:ea typeface="Calibri" pitchFamily="34" charset="-122"/>
                <a:cs typeface="Calibri" pitchFamily="34" charset="-120"/>
              </a:rPr>
              <a:t>You never named the crew. The planner chose who to hire.</a:t>
            </a:r>
            <a:endParaRPr lang="en-US" sz="1400" dirty="0"/>
          </a:p>
        </p:txBody>
      </p:sp>
      <p:sp>
        <p:nvSpPr>
          <p:cNvPr id="9" name="Shape 6"/>
          <p:cNvSpPr/>
          <p:nvPr/>
        </p:nvSpPr>
        <p:spPr>
          <a:xfrm>
            <a:off x="4544568" y="2377440"/>
            <a:ext cx="3383280" cy="2743200"/>
          </a:xfrm>
          <a:prstGeom prst="roundRect">
            <a:avLst>
              <a:gd name="adj" fmla="val 3333"/>
            </a:avLst>
          </a:prstGeom>
          <a:solidFill>
            <a:srgbClr val="F5F7FA"/>
          </a:solidFill>
          <a:ln w="12700">
            <a:solidFill>
              <a:srgbClr val="E1E5EC"/>
            </a:solidFill>
            <a:prstDash val="solid"/>
          </a:ln>
          <a:effectLst>
            <a:outerShdw sx="100000" sy="100000" kx="0" ky="0" algn="bl" rotWithShape="0" blurRad="139700" dist="38100" dir="5400000">
              <a:srgbClr val="9AA6BC">
                <a:alpha val="28000"/>
              </a:srgbClr>
            </a:outerShdw>
          </a:effectLst>
        </p:spPr>
      </p:sp>
      <p:sp>
        <p:nvSpPr>
          <p:cNvPr id="10" name="Shape 7"/>
          <p:cNvSpPr/>
          <p:nvPr/>
        </p:nvSpPr>
        <p:spPr>
          <a:xfrm>
            <a:off x="4864608" y="2734056"/>
            <a:ext cx="603504" cy="603504"/>
          </a:xfrm>
          <a:prstGeom prst="ellipse">
            <a:avLst/>
          </a:prstGeom>
          <a:solidFill>
            <a:srgbClr val="7C3AED"/>
          </a:solidFill>
          <a:ln/>
          <a:effectLst>
            <a:outerShdw sx="100000" sy="100000" kx="0" ky="0" algn="bl" rotWithShape="0" blurRad="139700" dist="38100" dir="5400000">
              <a:srgbClr val="9AA6BC">
                <a:alpha val="28000"/>
              </a:srgbClr>
            </a:outerShdw>
          </a:effectLst>
        </p:spPr>
      </p:sp>
      <p:pic>
        <p:nvPicPr>
          <p:cNvPr id="11" name="Image 1" descr="preencoded.png">    </p:cNvPr>
          <p:cNvPicPr>
            <a:picLocks noChangeAspect="1"/>
          </p:cNvPicPr>
          <p:nvPr/>
        </p:nvPicPr>
        <p:blipFill>
          <a:blip r:embed="rId2"/>
          <a:stretch>
            <a:fillRect/>
          </a:stretch>
        </p:blipFill>
        <p:spPr>
          <a:xfrm>
            <a:off x="5009449" y="2878897"/>
            <a:ext cx="313822" cy="313822"/>
          </a:xfrm>
          <a:prstGeom prst="rect">
            <a:avLst/>
          </a:prstGeom>
        </p:spPr>
      </p:pic>
      <p:sp>
        <p:nvSpPr>
          <p:cNvPr id="12" name="Text 8"/>
          <p:cNvSpPr/>
          <p:nvPr/>
        </p:nvSpPr>
        <p:spPr>
          <a:xfrm>
            <a:off x="4910328" y="3611880"/>
            <a:ext cx="2651760" cy="548640"/>
          </a:xfrm>
          <a:prstGeom prst="rect">
            <a:avLst/>
          </a:prstGeom>
          <a:noFill/>
          <a:ln/>
        </p:spPr>
        <p:txBody>
          <a:bodyPr wrap="square" rtlCol="0" anchor="ctr"/>
          <a:lstStyle/>
          <a:p>
            <a:pPr indent="0" marL="0">
              <a:buNone/>
            </a:pPr>
            <a:r>
              <a:rPr lang="en-US" sz="2100" b="1" dirty="0">
                <a:solidFill>
                  <a:srgbClr val="16181D"/>
                </a:solidFill>
                <a:latin typeface="Arial" pitchFamily="34" charset="0"/>
                <a:ea typeface="Arial" pitchFamily="34" charset="-122"/>
                <a:cs typeface="Arial" pitchFamily="34" charset="-120"/>
              </a:rPr>
              <a:t>It stayed home</a:t>
            </a:r>
            <a:endParaRPr lang="en-US" sz="2100" dirty="0"/>
          </a:p>
        </p:txBody>
      </p:sp>
      <p:sp>
        <p:nvSpPr>
          <p:cNvPr id="13" name="Text 9"/>
          <p:cNvSpPr/>
          <p:nvPr/>
        </p:nvSpPr>
        <p:spPr>
          <a:xfrm>
            <a:off x="4910328" y="4206240"/>
            <a:ext cx="2651760" cy="914400"/>
          </a:xfrm>
          <a:prstGeom prst="rect">
            <a:avLst/>
          </a:prstGeom>
          <a:noFill/>
          <a:ln/>
        </p:spPr>
        <p:txBody>
          <a:bodyPr wrap="square" rtlCol="0" anchor="ctr"/>
          <a:lstStyle/>
          <a:p>
            <a:pPr indent="0" marL="0">
              <a:lnSpc>
                <a:spcPts val="2000"/>
              </a:lnSpc>
              <a:buNone/>
            </a:pPr>
            <a:r>
              <a:rPr lang="en-US" sz="1400" dirty="0">
                <a:solidFill>
                  <a:srgbClr val="666C7A"/>
                </a:solidFill>
                <a:latin typeface="Calibri" pitchFamily="34" charset="0"/>
                <a:ea typeface="Calibri" pitchFamily="34" charset="-122"/>
                <a:cs typeface="Calibri" pitchFamily="34" charset="-120"/>
              </a:rPr>
              <a:t>Every token ran on this laptop. Nothing left the room.</a:t>
            </a:r>
            <a:endParaRPr lang="en-US" sz="1400" dirty="0"/>
          </a:p>
        </p:txBody>
      </p:sp>
      <p:sp>
        <p:nvSpPr>
          <p:cNvPr id="14" name="Shape 10"/>
          <p:cNvSpPr/>
          <p:nvPr/>
        </p:nvSpPr>
        <p:spPr>
          <a:xfrm>
            <a:off x="8247888" y="2377440"/>
            <a:ext cx="3383280" cy="2743200"/>
          </a:xfrm>
          <a:prstGeom prst="roundRect">
            <a:avLst>
              <a:gd name="adj" fmla="val 3333"/>
            </a:avLst>
          </a:prstGeom>
          <a:solidFill>
            <a:srgbClr val="F5F7FA"/>
          </a:solidFill>
          <a:ln w="12700">
            <a:solidFill>
              <a:srgbClr val="E1E5EC"/>
            </a:solidFill>
            <a:prstDash val="solid"/>
          </a:ln>
          <a:effectLst>
            <a:outerShdw sx="100000" sy="100000" kx="0" ky="0" algn="bl" rotWithShape="0" blurRad="139700" dist="38100" dir="5400000">
              <a:srgbClr val="9AA6BC">
                <a:alpha val="28000"/>
              </a:srgbClr>
            </a:outerShdw>
          </a:effectLst>
        </p:spPr>
      </p:sp>
      <p:sp>
        <p:nvSpPr>
          <p:cNvPr id="15" name="Shape 11"/>
          <p:cNvSpPr/>
          <p:nvPr/>
        </p:nvSpPr>
        <p:spPr>
          <a:xfrm>
            <a:off x="8567928" y="2734056"/>
            <a:ext cx="603504" cy="603504"/>
          </a:xfrm>
          <a:prstGeom prst="ellipse">
            <a:avLst/>
          </a:prstGeom>
          <a:solidFill>
            <a:srgbClr val="4F46E5"/>
          </a:solidFill>
          <a:ln/>
          <a:effectLst>
            <a:outerShdw sx="100000" sy="100000" kx="0" ky="0" algn="bl" rotWithShape="0" blurRad="139700" dist="38100" dir="5400000">
              <a:srgbClr val="9AA6BC">
                <a:alpha val="28000"/>
              </a:srgbClr>
            </a:outerShdw>
          </a:effectLst>
        </p:spPr>
      </p:sp>
      <p:pic>
        <p:nvPicPr>
          <p:cNvPr id="16" name="Image 2" descr="preencoded.png">    </p:cNvPr>
          <p:cNvPicPr>
            <a:picLocks noChangeAspect="1"/>
          </p:cNvPicPr>
          <p:nvPr/>
        </p:nvPicPr>
        <p:blipFill>
          <a:blip r:embed="rId3"/>
          <a:stretch>
            <a:fillRect/>
          </a:stretch>
        </p:blipFill>
        <p:spPr>
          <a:xfrm>
            <a:off x="8712769" y="2878897"/>
            <a:ext cx="313822" cy="313822"/>
          </a:xfrm>
          <a:prstGeom prst="rect">
            <a:avLst/>
          </a:prstGeom>
        </p:spPr>
      </p:pic>
      <p:sp>
        <p:nvSpPr>
          <p:cNvPr id="17" name="Text 12"/>
          <p:cNvSpPr/>
          <p:nvPr/>
        </p:nvSpPr>
        <p:spPr>
          <a:xfrm>
            <a:off x="8613648" y="3611880"/>
            <a:ext cx="2651760" cy="548640"/>
          </a:xfrm>
          <a:prstGeom prst="rect">
            <a:avLst/>
          </a:prstGeom>
          <a:noFill/>
          <a:ln/>
        </p:spPr>
        <p:txBody>
          <a:bodyPr wrap="square" rtlCol="0" anchor="ctr"/>
          <a:lstStyle/>
          <a:p>
            <a:pPr indent="0" marL="0">
              <a:buNone/>
            </a:pPr>
            <a:r>
              <a:rPr lang="en-US" sz="2100" b="1" dirty="0">
                <a:solidFill>
                  <a:srgbClr val="16181D"/>
                </a:solidFill>
                <a:latin typeface="Arial" pitchFamily="34" charset="0"/>
                <a:ea typeface="Arial" pitchFamily="34" charset="-122"/>
                <a:cs typeface="Arial" pitchFamily="34" charset="-120"/>
              </a:rPr>
              <a:t>It was small</a:t>
            </a:r>
            <a:endParaRPr lang="en-US" sz="2100" dirty="0"/>
          </a:p>
        </p:txBody>
      </p:sp>
      <p:sp>
        <p:nvSpPr>
          <p:cNvPr id="18" name="Text 13"/>
          <p:cNvSpPr/>
          <p:nvPr/>
        </p:nvSpPr>
        <p:spPr>
          <a:xfrm>
            <a:off x="8613648" y="4206240"/>
            <a:ext cx="2651760" cy="914400"/>
          </a:xfrm>
          <a:prstGeom prst="rect">
            <a:avLst/>
          </a:prstGeom>
          <a:noFill/>
          <a:ln/>
        </p:spPr>
        <p:txBody>
          <a:bodyPr wrap="square" rtlCol="0" anchor="ctr"/>
          <a:lstStyle/>
          <a:p>
            <a:pPr indent="0" marL="0">
              <a:lnSpc>
                <a:spcPts val="2000"/>
              </a:lnSpc>
              <a:buNone/>
            </a:pPr>
            <a:r>
              <a:rPr lang="en-US" sz="1400" dirty="0">
                <a:solidFill>
                  <a:srgbClr val="666C7A"/>
                </a:solidFill>
                <a:latin typeface="Calibri" pitchFamily="34" charset="0"/>
                <a:ea typeface="Calibri" pitchFamily="34" charset="-122"/>
                <a:cs typeface="Calibri" pitchFamily="34" charset="-120"/>
              </a:rPr>
              <a:t>Roughly a hundred lines of Java. That's the scary part.</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640080"/>
            <a:ext cx="9144000" cy="292608"/>
          </a:xfrm>
          <a:prstGeom prst="rect">
            <a:avLst/>
          </a:prstGeom>
          <a:noFill/>
          <a:ln/>
        </p:spPr>
        <p:txBody>
          <a:bodyPr wrap="square" rtlCol="0" anchor="ctr"/>
          <a:lstStyle/>
          <a:p>
            <a:pPr indent="0" marL="0">
              <a:buNone/>
            </a:pPr>
            <a:r>
              <a:rPr lang="en-US" sz="1100" b="1" spc="300" kern="0" dirty="0">
                <a:solidFill>
                  <a:srgbClr val="4F46E5"/>
                </a:solidFill>
                <a:latin typeface="Arial" pitchFamily="34" charset="0"/>
                <a:ea typeface="Arial" pitchFamily="34" charset="-122"/>
                <a:cs typeface="Arial" pitchFamily="34" charset="-120"/>
              </a:rPr>
              <a:t>THE TAKEAWAY</a:t>
            </a:r>
            <a:endParaRPr lang="en-US" sz="1100" dirty="0"/>
          </a:p>
        </p:txBody>
      </p:sp>
      <p:sp>
        <p:nvSpPr>
          <p:cNvPr id="3" name="Text 1"/>
          <p:cNvSpPr/>
          <p:nvPr/>
        </p:nvSpPr>
        <p:spPr>
          <a:xfrm>
            <a:off x="841248" y="1325880"/>
            <a:ext cx="5943600" cy="2377440"/>
          </a:xfrm>
          <a:prstGeom prst="rect">
            <a:avLst/>
          </a:prstGeom>
          <a:noFill/>
          <a:ln/>
        </p:spPr>
        <p:txBody>
          <a:bodyPr wrap="square" rtlCol="0" anchor="ctr"/>
          <a:lstStyle/>
          <a:p>
            <a:pPr indent="0" marL="0">
              <a:lnSpc>
                <a:spcPts val="4400"/>
              </a:lnSpc>
              <a:buNone/>
            </a:pPr>
            <a:r>
              <a:rPr lang="en-US" sz="3600" b="1" dirty="0">
                <a:solidFill>
                  <a:srgbClr val="16181D"/>
                </a:solidFill>
                <a:latin typeface="Arial" pitchFamily="34" charset="0"/>
                <a:ea typeface="Arial" pitchFamily="34" charset="-122"/>
                <a:cs typeface="Arial" pitchFamily="34" charset="-120"/>
              </a:rPr>
              <a:t>Your codebase</a:t>
            </a:r>
            <a:endParaRPr lang="en-US" sz="3600" dirty="0"/>
          </a:p>
          <a:p>
            <a:pPr indent="0" marL="0">
              <a:lnSpc>
                <a:spcPts val="4400"/>
              </a:lnSpc>
              <a:buNone/>
            </a:pPr>
            <a:r>
              <a:rPr lang="en-US" sz="3600" b="1" dirty="0">
                <a:solidFill>
                  <a:srgbClr val="16181D"/>
                </a:solidFill>
                <a:latin typeface="Arial" pitchFamily="34" charset="0"/>
                <a:ea typeface="Arial" pitchFamily="34" charset="-122"/>
                <a:cs typeface="Arial" pitchFamily="34" charset="-120"/>
              </a:rPr>
              <a:t>becomes a </a:t>
            </a:r>
            <a:endParaRPr lang="en-US" sz="3600" dirty="0"/>
          </a:p>
          <a:p>
            <a:pPr indent="0" marL="0">
              <a:lnSpc>
                <a:spcPts val="4400"/>
              </a:lnSpc>
              <a:buNone/>
            </a:pPr>
            <a:r>
              <a:rPr lang="en-US" sz="3600" b="1" dirty="0">
                <a:solidFill>
                  <a:srgbClr val="4F46E5"/>
                </a:solidFill>
                <a:latin typeface="Arial" pitchFamily="34" charset="0"/>
                <a:ea typeface="Arial" pitchFamily="34" charset="-122"/>
                <a:cs typeface="Arial" pitchFamily="34" charset="-120"/>
              </a:rPr>
              <a:t>team</a:t>
            </a:r>
            <a:endParaRPr lang="en-US" sz="3600" dirty="0"/>
          </a:p>
          <a:p>
            <a:pPr indent="0" marL="0">
              <a:lnSpc>
                <a:spcPts val="4400"/>
              </a:lnSpc>
              <a:buNone/>
            </a:pPr>
            <a:r>
              <a:rPr lang="en-US" sz="3600" b="1" dirty="0">
                <a:solidFill>
                  <a:srgbClr val="4F46E5"/>
                </a:solidFill>
                <a:latin typeface="Arial" pitchFamily="34" charset="0"/>
                <a:ea typeface="Arial" pitchFamily="34" charset="-122"/>
                <a:cs typeface="Arial" pitchFamily="34" charset="-120"/>
              </a:rPr>
              <a:t>you direct</a:t>
            </a:r>
            <a:endParaRPr lang="en-US" sz="3600" dirty="0"/>
          </a:p>
          <a:p>
            <a:pPr indent="0" marL="0">
              <a:lnSpc>
                <a:spcPts val="4400"/>
              </a:lnSpc>
              <a:buNone/>
            </a:pPr>
            <a:r>
              <a:rPr lang="en-US" sz="3600" b="1" dirty="0">
                <a:solidFill>
                  <a:srgbClr val="16181D"/>
                </a:solidFill>
                <a:latin typeface="Arial" pitchFamily="34" charset="0"/>
                <a:ea typeface="Arial" pitchFamily="34" charset="-122"/>
                <a:cs typeface="Arial" pitchFamily="34" charset="-120"/>
              </a:rPr>
              <a:t> in English.</a:t>
            </a:r>
            <a:endParaRPr lang="en-US" sz="3600" dirty="0"/>
          </a:p>
        </p:txBody>
      </p:sp>
      <p:sp>
        <p:nvSpPr>
          <p:cNvPr id="4" name="Text 2"/>
          <p:cNvSpPr/>
          <p:nvPr/>
        </p:nvSpPr>
        <p:spPr>
          <a:xfrm>
            <a:off x="841248" y="4160520"/>
            <a:ext cx="5760720" cy="1280160"/>
          </a:xfrm>
          <a:prstGeom prst="rect">
            <a:avLst/>
          </a:prstGeom>
          <a:noFill/>
          <a:ln/>
        </p:spPr>
        <p:txBody>
          <a:bodyPr wrap="square" rtlCol="0" anchor="ctr"/>
          <a:lstStyle/>
          <a:p>
            <a:pPr indent="0" marL="0">
              <a:lnSpc>
                <a:spcPts val="2500"/>
              </a:lnSpc>
              <a:buNone/>
            </a:pPr>
            <a:r>
              <a:rPr lang="en-US" sz="1600" dirty="0">
                <a:solidFill>
                  <a:srgbClr val="666C7A"/>
                </a:solidFill>
                <a:latin typeface="Calibri" pitchFamily="34" charset="0"/>
                <a:ea typeface="Calibri" pitchFamily="34" charset="-122"/>
                <a:cs typeface="Calibri" pitchFamily="34" charset="-120"/>
              </a:rPr>
              <a:t>One prompt. Many workers. In Java, on your own machine. The skill ahead is knowing what to ask, and how to constrain the answer.</a:t>
            </a:r>
            <a:endParaRPr lang="en-US" sz="1600" dirty="0"/>
          </a:p>
        </p:txBody>
      </p:sp>
      <p:sp>
        <p:nvSpPr>
          <p:cNvPr id="5" name="Text 3"/>
          <p:cNvSpPr/>
          <p:nvPr/>
        </p:nvSpPr>
        <p:spPr>
          <a:xfrm>
            <a:off x="841248" y="5669280"/>
            <a:ext cx="5486400" cy="822960"/>
          </a:xfrm>
          <a:prstGeom prst="rect">
            <a:avLst/>
          </a:prstGeom>
          <a:noFill/>
          <a:ln/>
        </p:spPr>
        <p:txBody>
          <a:bodyPr wrap="square" rtlCol="0" anchor="ctr"/>
          <a:lstStyle/>
          <a:p>
            <a:pPr indent="0" marL="0">
              <a:lnSpc>
                <a:spcPts val="2200"/>
              </a:lnSpc>
              <a:buNone/>
            </a:pPr>
            <a:r>
              <a:rPr lang="en-US" sz="1250" b="1" dirty="0">
                <a:solidFill>
                  <a:srgbClr val="16181D"/>
                </a:solidFill>
                <a:latin typeface="Consolas" pitchFamily="34" charset="0"/>
                <a:ea typeface="Consolas" pitchFamily="34" charset="-122"/>
                <a:cs typeface="Consolas" pitchFamily="34" charset="-120"/>
              </a:rPr>
              <a:t>Nevin Tom</a:t>
            </a:r>
            <a:pPr indent="0" marL="0">
              <a:lnSpc>
                <a:spcPts val="2200"/>
              </a:lnSpc>
              <a:buNone/>
            </a:pPr>
            <a:r>
              <a:rPr lang="en-US" sz="1250" b="1" dirty="0">
                <a:solidFill>
                  <a:srgbClr val="4F46E5"/>
                </a:solidFill>
                <a:latin typeface="Consolas" pitchFamily="34" charset="0"/>
                <a:ea typeface="Consolas" pitchFamily="34" charset="-122"/>
                <a:cs typeface="Consolas" pitchFamily="34" charset="-120"/>
              </a:rPr>
              <a:t>   /   BBD</a:t>
            </a:r>
            <a:pPr indent="0" marL="0">
              <a:lnSpc>
                <a:spcPts val="2200"/>
              </a:lnSpc>
              <a:buNone/>
            </a:pPr>
            <a:endParaRPr lang="en-US" sz="1250" dirty="0"/>
          </a:p>
          <a:p>
            <a:pPr indent="0" marL="0">
              <a:lnSpc>
                <a:spcPts val="2200"/>
              </a:lnSpc>
              <a:buNone/>
            </a:pPr>
            <a:r>
              <a:rPr lang="en-US" sz="1250" dirty="0">
                <a:solidFill>
                  <a:srgbClr val="9AA1B0"/>
                </a:solidFill>
                <a:latin typeface="Consolas" pitchFamily="34" charset="0"/>
                <a:ea typeface="Consolas" pitchFamily="34" charset="-122"/>
                <a:cs typeface="Consolas" pitchFamily="34" charset="-120"/>
              </a:rPr>
              <a:t>what do you want to break first?</a:t>
            </a:r>
            <a:endParaRPr lang="en-US" sz="1250" dirty="0"/>
          </a:p>
        </p:txBody>
      </p:sp>
      <p:sp>
        <p:nvSpPr>
          <p:cNvPr id="6" name="Shape 4"/>
          <p:cNvSpPr/>
          <p:nvPr/>
        </p:nvSpPr>
        <p:spPr>
          <a:xfrm>
            <a:off x="7360920" y="1691640"/>
            <a:ext cx="1874520" cy="3154680"/>
          </a:xfrm>
          <a:prstGeom prst="roundRect">
            <a:avLst>
              <a:gd name="adj" fmla="val 4878"/>
            </a:avLst>
          </a:prstGeom>
          <a:solidFill>
            <a:srgbClr val="F5F7FA"/>
          </a:solidFill>
          <a:ln w="12700">
            <a:solidFill>
              <a:srgbClr val="E1E5EC"/>
            </a:solidFill>
            <a:prstDash val="solid"/>
          </a:ln>
          <a:effectLst>
            <a:outerShdw sx="100000" sy="100000" kx="0" ky="0" algn="bl" rotWithShape="0" blurRad="139700" dist="38100" dir="5400000">
              <a:srgbClr val="9AA6BC">
                <a:alpha val="28000"/>
              </a:srgbClr>
            </a:outerShdw>
          </a:effectLst>
        </p:spPr>
      </p:sp>
      <p:pic>
        <p:nvPicPr>
          <p:cNvPr id="7" name="Image 0" descr="preencoded.png">    </p:cNvPr>
          <p:cNvPicPr>
            <a:picLocks noChangeAspect="1"/>
          </p:cNvPicPr>
          <p:nvPr/>
        </p:nvPicPr>
        <p:blipFill>
          <a:blip r:embed="rId1"/>
          <a:stretch>
            <a:fillRect/>
          </a:stretch>
        </p:blipFill>
        <p:spPr>
          <a:xfrm>
            <a:off x="7612380" y="1965960"/>
            <a:ext cx="1371600" cy="1371600"/>
          </a:xfrm>
          <a:prstGeom prst="rect">
            <a:avLst/>
          </a:prstGeom>
        </p:spPr>
      </p:pic>
      <p:sp>
        <p:nvSpPr>
          <p:cNvPr id="8" name="Shape 5"/>
          <p:cNvSpPr/>
          <p:nvPr/>
        </p:nvSpPr>
        <p:spPr>
          <a:xfrm>
            <a:off x="8087868" y="3566160"/>
            <a:ext cx="420624" cy="420624"/>
          </a:xfrm>
          <a:prstGeom prst="ellipse">
            <a:avLst/>
          </a:prstGeom>
          <a:solidFill>
            <a:srgbClr val="4F46E5"/>
          </a:solidFill>
          <a:ln/>
          <a:effectLst>
            <a:outerShdw sx="100000" sy="100000" kx="0" ky="0" algn="bl" rotWithShape="0" blurRad="139700" dist="38100" dir="5400000">
              <a:srgbClr val="9AA6BC">
                <a:alpha val="28000"/>
              </a:srgbClr>
            </a:outerShdw>
          </a:effectLst>
        </p:spPr>
      </p:sp>
      <p:pic>
        <p:nvPicPr>
          <p:cNvPr id="9" name="Image 1" descr="preencoded.png">    </p:cNvPr>
          <p:cNvPicPr>
            <a:picLocks noChangeAspect="1"/>
          </p:cNvPicPr>
          <p:nvPr/>
        </p:nvPicPr>
        <p:blipFill>
          <a:blip r:embed="rId2"/>
          <a:stretch>
            <a:fillRect/>
          </a:stretch>
        </p:blipFill>
        <p:spPr>
          <a:xfrm>
            <a:off x="8188818" y="3667110"/>
            <a:ext cx="218724" cy="218724"/>
          </a:xfrm>
          <a:prstGeom prst="rect">
            <a:avLst/>
          </a:prstGeom>
        </p:spPr>
      </p:pic>
      <p:sp>
        <p:nvSpPr>
          <p:cNvPr id="10" name="Text 6"/>
          <p:cNvSpPr/>
          <p:nvPr/>
        </p:nvSpPr>
        <p:spPr>
          <a:xfrm>
            <a:off x="7360920" y="4069080"/>
            <a:ext cx="1874520" cy="320040"/>
          </a:xfrm>
          <a:prstGeom prst="rect">
            <a:avLst/>
          </a:prstGeom>
          <a:noFill/>
          <a:ln/>
        </p:spPr>
        <p:txBody>
          <a:bodyPr wrap="square" rtlCol="0" anchor="ctr"/>
          <a:lstStyle/>
          <a:p>
            <a:pPr algn="ctr" indent="0" marL="0">
              <a:buNone/>
            </a:pPr>
            <a:r>
              <a:rPr lang="en-US" sz="1500" b="1" dirty="0">
                <a:solidFill>
                  <a:srgbClr val="16181D"/>
                </a:solidFill>
                <a:latin typeface="Arial" pitchFamily="34" charset="0"/>
                <a:ea typeface="Arial" pitchFamily="34" charset="-122"/>
                <a:cs typeface="Arial" pitchFamily="34" charset="-120"/>
              </a:rPr>
              <a:t>LinkedIn</a:t>
            </a:r>
            <a:endParaRPr lang="en-US" sz="1500" dirty="0"/>
          </a:p>
        </p:txBody>
      </p:sp>
      <p:sp>
        <p:nvSpPr>
          <p:cNvPr id="11" name="Text 7"/>
          <p:cNvSpPr/>
          <p:nvPr/>
        </p:nvSpPr>
        <p:spPr>
          <a:xfrm>
            <a:off x="7360920" y="4379976"/>
            <a:ext cx="1874520" cy="274320"/>
          </a:xfrm>
          <a:prstGeom prst="rect">
            <a:avLst/>
          </a:prstGeom>
          <a:noFill/>
          <a:ln/>
        </p:spPr>
        <p:txBody>
          <a:bodyPr wrap="square" rtlCol="0" anchor="ctr"/>
          <a:lstStyle/>
          <a:p>
            <a:pPr algn="ctr" indent="0" marL="0">
              <a:buNone/>
            </a:pPr>
            <a:r>
              <a:rPr lang="en-US" sz="1150" dirty="0">
                <a:solidFill>
                  <a:srgbClr val="666C7A"/>
                </a:solidFill>
                <a:latin typeface="Calibri" pitchFamily="34" charset="0"/>
                <a:ea typeface="Calibri" pitchFamily="34" charset="-122"/>
                <a:cs typeface="Calibri" pitchFamily="34" charset="-120"/>
              </a:rPr>
              <a:t>Nevin Tom</a:t>
            </a:r>
            <a:endParaRPr lang="en-US" sz="1150" dirty="0"/>
          </a:p>
        </p:txBody>
      </p:sp>
      <p:sp>
        <p:nvSpPr>
          <p:cNvPr id="12" name="Shape 8"/>
          <p:cNvSpPr/>
          <p:nvPr/>
        </p:nvSpPr>
        <p:spPr>
          <a:xfrm>
            <a:off x="9555480" y="1691640"/>
            <a:ext cx="1874520" cy="3154680"/>
          </a:xfrm>
          <a:prstGeom prst="roundRect">
            <a:avLst>
              <a:gd name="adj" fmla="val 4878"/>
            </a:avLst>
          </a:prstGeom>
          <a:solidFill>
            <a:srgbClr val="F5F7FA"/>
          </a:solidFill>
          <a:ln w="12700">
            <a:solidFill>
              <a:srgbClr val="E1E5EC"/>
            </a:solidFill>
            <a:prstDash val="solid"/>
          </a:ln>
          <a:effectLst>
            <a:outerShdw sx="100000" sy="100000" kx="0" ky="0" algn="bl" rotWithShape="0" blurRad="139700" dist="38100" dir="5400000">
              <a:srgbClr val="9AA6BC">
                <a:alpha val="28000"/>
              </a:srgbClr>
            </a:outerShdw>
          </a:effectLst>
        </p:spPr>
      </p:sp>
      <p:pic>
        <p:nvPicPr>
          <p:cNvPr id="13" name="Image 2" descr="preencoded.png">    </p:cNvPr>
          <p:cNvPicPr>
            <a:picLocks noChangeAspect="1"/>
          </p:cNvPicPr>
          <p:nvPr/>
        </p:nvPicPr>
        <p:blipFill>
          <a:blip r:embed="rId3"/>
          <a:stretch>
            <a:fillRect/>
          </a:stretch>
        </p:blipFill>
        <p:spPr>
          <a:xfrm>
            <a:off x="9806940" y="1965960"/>
            <a:ext cx="1371600" cy="1371600"/>
          </a:xfrm>
          <a:prstGeom prst="rect">
            <a:avLst/>
          </a:prstGeom>
        </p:spPr>
      </p:pic>
      <p:sp>
        <p:nvSpPr>
          <p:cNvPr id="14" name="Shape 9"/>
          <p:cNvSpPr/>
          <p:nvPr/>
        </p:nvSpPr>
        <p:spPr>
          <a:xfrm>
            <a:off x="10282428" y="3566160"/>
            <a:ext cx="420624" cy="420624"/>
          </a:xfrm>
          <a:prstGeom prst="ellipse">
            <a:avLst/>
          </a:prstGeom>
          <a:solidFill>
            <a:srgbClr val="16181D"/>
          </a:solidFill>
          <a:ln/>
          <a:effectLst>
            <a:outerShdw sx="100000" sy="100000" kx="0" ky="0" algn="bl" rotWithShape="0" blurRad="139700" dist="38100" dir="5400000">
              <a:srgbClr val="9AA6BC">
                <a:alpha val="28000"/>
              </a:srgbClr>
            </a:outerShdw>
          </a:effectLst>
        </p:spPr>
      </p:sp>
      <p:pic>
        <p:nvPicPr>
          <p:cNvPr id="15" name="Image 3" descr="preencoded.png">    </p:cNvPr>
          <p:cNvPicPr>
            <a:picLocks noChangeAspect="1"/>
          </p:cNvPicPr>
          <p:nvPr/>
        </p:nvPicPr>
        <p:blipFill>
          <a:blip r:embed="rId4"/>
          <a:stretch>
            <a:fillRect/>
          </a:stretch>
        </p:blipFill>
        <p:spPr>
          <a:xfrm>
            <a:off x="10383378" y="3667110"/>
            <a:ext cx="218724" cy="218724"/>
          </a:xfrm>
          <a:prstGeom prst="rect">
            <a:avLst/>
          </a:prstGeom>
        </p:spPr>
      </p:pic>
      <p:sp>
        <p:nvSpPr>
          <p:cNvPr id="16" name="Text 10"/>
          <p:cNvSpPr/>
          <p:nvPr/>
        </p:nvSpPr>
        <p:spPr>
          <a:xfrm>
            <a:off x="9555480" y="4069080"/>
            <a:ext cx="1874520" cy="320040"/>
          </a:xfrm>
          <a:prstGeom prst="rect">
            <a:avLst/>
          </a:prstGeom>
          <a:noFill/>
          <a:ln/>
        </p:spPr>
        <p:txBody>
          <a:bodyPr wrap="square" rtlCol="0" anchor="ctr"/>
          <a:lstStyle/>
          <a:p>
            <a:pPr algn="ctr" indent="0" marL="0">
              <a:buNone/>
            </a:pPr>
            <a:r>
              <a:rPr lang="en-US" sz="1500" b="1" dirty="0">
                <a:solidFill>
                  <a:srgbClr val="16181D"/>
                </a:solidFill>
                <a:latin typeface="Arial" pitchFamily="34" charset="0"/>
                <a:ea typeface="Arial" pitchFamily="34" charset="-122"/>
                <a:cs typeface="Arial" pitchFamily="34" charset="-120"/>
              </a:rPr>
              <a:t>GitHub</a:t>
            </a:r>
            <a:endParaRPr lang="en-US" sz="1500" dirty="0"/>
          </a:p>
        </p:txBody>
      </p:sp>
      <p:sp>
        <p:nvSpPr>
          <p:cNvPr id="17" name="Text 11"/>
          <p:cNvSpPr/>
          <p:nvPr/>
        </p:nvSpPr>
        <p:spPr>
          <a:xfrm>
            <a:off x="9555480" y="4379976"/>
            <a:ext cx="1874520" cy="274320"/>
          </a:xfrm>
          <a:prstGeom prst="rect">
            <a:avLst/>
          </a:prstGeom>
          <a:noFill/>
          <a:ln/>
        </p:spPr>
        <p:txBody>
          <a:bodyPr wrap="square" rtlCol="0" anchor="ctr"/>
          <a:lstStyle/>
          <a:p>
            <a:pPr algn="ctr" indent="0" marL="0">
              <a:buNone/>
            </a:pPr>
            <a:r>
              <a:rPr lang="en-US" sz="1150" dirty="0">
                <a:solidFill>
                  <a:srgbClr val="666C7A"/>
                </a:solidFill>
                <a:latin typeface="Calibri" pitchFamily="34" charset="0"/>
                <a:ea typeface="Calibri" pitchFamily="34" charset="-122"/>
                <a:cs typeface="Calibri" pitchFamily="34" charset="-120"/>
              </a:rPr>
              <a:t>the demo repo</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2026-08-05T12:10:35Z</dcterms:created>
  <dcterms:modified xsi:type="dcterms:W3CDTF">2026-08-05T12:10:35Z</dcterms:modified>
</cp:coreProperties>
</file>