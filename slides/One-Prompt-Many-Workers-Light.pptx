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from wherever you are, no wifi to join, and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whatever model you point it at.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runs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demos the model. Nobody demos the harness, and the harness is the product. A brain in a jar cannot build a website. Between the model's guess and the finished page sits validation, structure, assets, taste rules. Swap the model, the harness is untouched. Improve the harness and every model you ever plug in gets better. That is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harness. Sixteen agents, each with one job. Eighteen deterministic taste rules that reject output the model was happy with. An architect that decides what sections the page even needs, so a food truck gets a menu and a story instead of the same template. And best of three on the name and the headline. Every one of these exists because we looked at the output and were not happy.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should care as engineers. It is model agnostic, one config line moves it from a laptop model to a frontier API. Quality has a floor because the guards run every time. It is cheap to improve, every fix is a rule, not a retrain. You can explain it, when it goes wrong you point at the agent that did it. And it survives the model, models change every few months, the harness outlives them. Everyone is chasing the next model. The harness is the part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Eight agents that are one model with eight different system prompts. Nine endpoints. Eight dependencies. Zero cloud calls. You could read the whole thing on the train home, and the repo is in the QR at the end. Nothing here is a framework you have to buy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you admit something, and it lands better than any claim. Say: 'I built a guard with eight rules and every page passed it. Then I put six of them side by side and they were obviously made by a machine. Three opened with the same four words. My guard checked for the absence of tells. Nothing in it required the presence of quality. So I added colour rules that are arithmetic, three real layouts, and a memory that refuses a value the last few pages used. The colour rules failed two of my own palettes on the first run. And the memory had two bugs worth your time: it remembered finished sentences instead of templates, so the same sentence with a word swapped looked like variety. And it only recorded its own choices, so when the model picked waves five times in a row, nothing stopped it. Both of those are harness bugs, not model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'let the model decide' is not automatically the right call. I asked Qwen which interface to draw and it said dashboard for a stokvel tracker and calendar for a coffee subscription. A twenty-line keyword scorer beats it, so the scorer decides when the idea's own words are decisive and the model only breaks ties. That is a harness decision, and it is the opposite of the reflex. Also worth saying: this one is deliberately NOT on the variety ledger. Two booking apps should both get a calendar. A mockup that does not match the product is much worse than one that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here. First, the structural point: a crew of specialists has a blind spot exactly where the specialisms meet, and the only fix is an agent whose input is the finished artefact. Second, the practical one: this agent does not get trusted just because it is the reviewer. Its rewrite goes through the same guard as everything else, and it does get refused. If you take one design idea home, take that one: the reviewer is not privileged.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Eight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eight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Type one line, any product idea</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Watch the crew build it live</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37360"/>
            <a:ext cx="2194560" cy="2194560"/>
          </a:xfrm>
          <a:prstGeom prst="rect">
            <a:avLst/>
          </a:prstGeom>
        </p:spPr>
      </p:pic>
      <p:sp>
        <p:nvSpPr>
          <p:cNvPr id="16" name="Shape 13"/>
          <p:cNvSpPr/>
          <p:nvPr/>
        </p:nvSpPr>
        <p:spPr>
          <a:xfrm>
            <a:off x="9326880" y="406908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178808"/>
            <a:ext cx="237744" cy="237744"/>
          </a:xfrm>
          <a:prstGeom prst="rect">
            <a:avLst/>
          </a:prstGeom>
        </p:spPr>
      </p:pic>
      <p:sp>
        <p:nvSpPr>
          <p:cNvPr id="18" name="Text 14"/>
          <p:cNvSpPr/>
          <p:nvPr/>
        </p:nvSpPr>
        <p:spPr>
          <a:xfrm>
            <a:off x="7955280" y="4590288"/>
            <a:ext cx="3200400" cy="292608"/>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8065008" y="4910328"/>
            <a:ext cx="2980944" cy="457200"/>
          </a:xfrm>
          <a:prstGeom prst="rect">
            <a:avLst/>
          </a:prstGeom>
          <a:noFill/>
          <a:ln/>
        </p:spPr>
        <p:txBody>
          <a:bodyPr wrap="square" rtlCol="0" anchor="ctr"/>
          <a:lstStyle/>
          <a:p>
            <a:pPr algn="ctr" indent="0" marL="0">
              <a:lnSpc>
                <a:spcPts val="1200"/>
              </a:lnSpc>
              <a:buNone/>
            </a:pPr>
            <a:r>
              <a:rPr lang="en-US" sz="850" dirty="0">
                <a:solidFill>
                  <a:srgbClr val="4F46E5"/>
                </a:solidFill>
                <a:latin typeface="Consolas" pitchFamily="34" charset="0"/>
                <a:ea typeface="Consolas" pitchFamily="34" charset="-122"/>
                <a:cs typeface="Consolas" pitchFamily="34" charset="-120"/>
              </a:rPr>
              <a:t>makers-farming-rpg-alert.trycloudflare.com</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Ask the same question twice and you get two different answers.</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cannot look anything up unless you hand it a tool.</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Everything tonight is scaffolding around this one call.</a:t>
            </a:r>
            <a:endParaRPr lang="en-US" sz="1350" dirty="0"/>
          </a:p>
        </p:txBody>
      </p:sp>
      <p:sp>
        <p:nvSpPr>
          <p:cNvPr id="12" name="Shape 10"/>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4709160"/>
            <a:ext cx="7616952" cy="457200"/>
          </a:xfrm>
          <a:prstGeom prst="rect">
            <a:avLst/>
          </a:prstGeom>
          <a:noFill/>
          <a:ln/>
        </p:spPr>
        <p:txBody>
          <a:bodyPr wrap="square" rtlCol="0" anchor="ctr"/>
          <a:lstStyle/>
          <a:p>
            <a:pPr algn="ctr" indent="0" marL="0">
              <a:buNone/>
            </a:pPr>
            <a:r>
              <a:rPr lang="en-US" sz="1800" dirty="0">
                <a:solidFill>
                  <a:srgbClr val="666C7A"/>
                </a:solidFill>
                <a:latin typeface="Calibri" pitchFamily="34" charset="0"/>
                <a:ea typeface="Calibri" pitchFamily="34" charset="-122"/>
                <a:cs typeface="Calibri" pitchFamily="34" charset="-120"/>
              </a:rPr>
              <a:t>That is an agent. Everything else is decoration.</a:t>
            </a:r>
            <a:endParaRPr lang="en-US" sz="1800" dirty="0"/>
          </a:p>
        </p:txBody>
      </p:sp>
      <p:sp>
        <p:nvSpPr>
          <p:cNvPr id="21" name="Shape 16"/>
          <p:cNvSpPr/>
          <p:nvPr/>
        </p:nvSpPr>
        <p:spPr>
          <a:xfrm>
            <a:off x="3072384" y="5312664"/>
            <a:ext cx="128016" cy="128016"/>
          </a:xfrm>
          <a:prstGeom prst="ellipse">
            <a:avLst/>
          </a:prstGeom>
          <a:solidFill>
            <a:srgbClr val="0F9E8E"/>
          </a:solidFill>
          <a:ln/>
        </p:spPr>
      </p:sp>
      <p:sp>
        <p:nvSpPr>
          <p:cNvPr id="22" name="Text 17"/>
          <p:cNvSpPr/>
          <p:nvPr/>
        </p:nvSpPr>
        <p:spPr>
          <a:xfrm>
            <a:off x="3355848" y="5221224"/>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Model: guesses the next step. Tools: let it change something real.</a:t>
            </a:r>
            <a:endParaRPr lang="en-US" sz="1350" dirty="0"/>
          </a:p>
        </p:txBody>
      </p:sp>
      <p:sp>
        <p:nvSpPr>
          <p:cNvPr id="23" name="Shape 18"/>
          <p:cNvSpPr/>
          <p:nvPr/>
        </p:nvSpPr>
        <p:spPr>
          <a:xfrm>
            <a:off x="3072384" y="5715000"/>
            <a:ext cx="128016" cy="128016"/>
          </a:xfrm>
          <a:prstGeom prst="ellipse">
            <a:avLst/>
          </a:prstGeom>
          <a:solidFill>
            <a:srgbClr val="0F9E8E"/>
          </a:solidFill>
          <a:ln/>
        </p:spPr>
      </p:sp>
      <p:sp>
        <p:nvSpPr>
          <p:cNvPr id="24" name="Text 19"/>
          <p:cNvSpPr/>
          <p:nvPr/>
        </p:nvSpPr>
        <p:spPr>
          <a:xfrm>
            <a:off x="3355848" y="5623560"/>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loop: run again until the job is actually finished, not just answered.</a:t>
            </a:r>
            <a:endParaRPr lang="en-US" sz="1350" dirty="0"/>
          </a:p>
        </p:txBody>
      </p:sp>
      <p:sp>
        <p:nvSpPr>
          <p:cNvPr id="25" name="Shape 20"/>
          <p:cNvSpPr/>
          <p:nvPr/>
        </p:nvSpPr>
        <p:spPr>
          <a:xfrm>
            <a:off x="3072384" y="6117336"/>
            <a:ext cx="128016" cy="128016"/>
          </a:xfrm>
          <a:prstGeom prst="ellipse">
            <a:avLst/>
          </a:prstGeom>
          <a:solidFill>
            <a:srgbClr val="0F9E8E"/>
          </a:solidFill>
          <a:ln/>
        </p:spPr>
      </p:sp>
      <p:sp>
        <p:nvSpPr>
          <p:cNvPr id="26" name="Text 21"/>
          <p:cNvSpPr/>
          <p:nvPr/>
        </p:nvSpPr>
        <p:spPr>
          <a:xfrm>
            <a:off x="3355848" y="6025896"/>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Drop any one of the three and you are back to a chatbot.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892040"/>
            <a:ext cx="5120640" cy="36576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50392" y="5358384"/>
            <a:ext cx="128016" cy="128016"/>
          </a:xfrm>
          <a:prstGeom prst="ellipse">
            <a:avLst/>
          </a:prstGeom>
          <a:solidFill>
            <a:srgbClr val="0F9E8E"/>
          </a:solidFill>
          <a:ln/>
        </p:spPr>
      </p:sp>
      <p:sp>
        <p:nvSpPr>
          <p:cNvPr id="7" name="Text 5"/>
          <p:cNvSpPr/>
          <p:nvPr/>
        </p:nvSpPr>
        <p:spPr>
          <a:xfrm>
            <a:off x="1133856" y="526694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REASON: decide the next move from what it knows right now.</a:t>
            </a:r>
            <a:endParaRPr lang="en-US" sz="1350" dirty="0"/>
          </a:p>
        </p:txBody>
      </p:sp>
      <p:sp>
        <p:nvSpPr>
          <p:cNvPr id="8" name="Shape 6"/>
          <p:cNvSpPr/>
          <p:nvPr/>
        </p:nvSpPr>
        <p:spPr>
          <a:xfrm>
            <a:off x="850392" y="5760720"/>
            <a:ext cx="128016" cy="128016"/>
          </a:xfrm>
          <a:prstGeom prst="ellipse">
            <a:avLst/>
          </a:prstGeom>
          <a:solidFill>
            <a:srgbClr val="0F9E8E"/>
          </a:solidFill>
          <a:ln/>
        </p:spPr>
      </p:sp>
      <p:sp>
        <p:nvSpPr>
          <p:cNvPr id="9" name="Text 7"/>
          <p:cNvSpPr/>
          <p:nvPr/>
        </p:nvSpPr>
        <p:spPr>
          <a:xfrm>
            <a:off x="1133856" y="566928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ACT: call a tool. This is the only part that touches the real world.</a:t>
            </a:r>
            <a:endParaRPr lang="en-US" sz="1350" dirty="0"/>
          </a:p>
        </p:txBody>
      </p:sp>
      <p:sp>
        <p:nvSpPr>
          <p:cNvPr id="10" name="Shape 8"/>
          <p:cNvSpPr/>
          <p:nvPr/>
        </p:nvSpPr>
        <p:spPr>
          <a:xfrm>
            <a:off x="850392" y="6163056"/>
            <a:ext cx="128016" cy="128016"/>
          </a:xfrm>
          <a:prstGeom prst="ellipse">
            <a:avLst/>
          </a:prstGeom>
          <a:solidFill>
            <a:srgbClr val="0F9E8E"/>
          </a:solidFill>
          <a:ln/>
        </p:spPr>
      </p:sp>
      <p:sp>
        <p:nvSpPr>
          <p:cNvPr id="11" name="Text 9"/>
          <p:cNvSpPr/>
          <p:nvPr/>
        </p:nvSpPr>
        <p:spPr>
          <a:xfrm>
            <a:off x="1133856" y="607161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OBSERVE: read what came back, and ask whether the job is done.</a:t>
            </a:r>
            <a:endParaRPr lang="en-US" sz="1350" dirty="0"/>
          </a:p>
        </p:txBody>
      </p:sp>
      <p:sp>
        <p:nvSpPr>
          <p:cNvPr id="12" name="Shape 10"/>
          <p:cNvSpPr/>
          <p:nvPr/>
        </p:nvSpPr>
        <p:spPr>
          <a:xfrm>
            <a:off x="8869680" y="2103120"/>
            <a:ext cx="1312621" cy="2263140"/>
          </a:xfrm>
          <a:prstGeom prst="line">
            <a:avLst/>
          </a:prstGeom>
          <a:noFill/>
          <a:ln w="25400">
            <a:solidFill>
              <a:srgbClr val="C7CBD6"/>
            </a:solidFill>
            <a:prstDash val="solid"/>
            <a:tailEnd type="triangle"/>
          </a:ln>
        </p:spPr>
      </p:sp>
      <p:sp>
        <p:nvSpPr>
          <p:cNvPr id="13" name="Shape 11"/>
          <p:cNvSpPr/>
          <p:nvPr/>
        </p:nvSpPr>
        <p:spPr>
          <a:xfrm flipH="1">
            <a:off x="7557059" y="4366260"/>
            <a:ext cx="2625242" cy="0"/>
          </a:xfrm>
          <a:prstGeom prst="line">
            <a:avLst/>
          </a:prstGeom>
          <a:noFill/>
          <a:ln w="25400">
            <a:solidFill>
              <a:srgbClr val="C7CBD6"/>
            </a:solidFill>
            <a:prstDash val="solid"/>
            <a:tailEnd type="triangle"/>
          </a:ln>
        </p:spPr>
      </p:sp>
      <p:sp>
        <p:nvSpPr>
          <p:cNvPr id="14" name="Shape 12"/>
          <p:cNvSpPr/>
          <p:nvPr/>
        </p:nvSpPr>
        <p:spPr>
          <a:xfrm flipV="1">
            <a:off x="7557059" y="2103120"/>
            <a:ext cx="1312621" cy="2263140"/>
          </a:xfrm>
          <a:prstGeom prst="line">
            <a:avLst/>
          </a:prstGeom>
          <a:noFill/>
          <a:ln w="25400">
            <a:solidFill>
              <a:srgbClr val="C7CBD6"/>
            </a:solidFill>
            <a:prstDash val="solid"/>
            <a:tailEnd type="triangle"/>
          </a:ln>
        </p:spPr>
      </p:sp>
      <p:sp>
        <p:nvSpPr>
          <p:cNvPr id="15" name="Shape 13"/>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7" name="Shape 14"/>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9" name="Shape 15"/>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21" name="Text 16"/>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22" name="Text 17"/>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23" name="Text 18"/>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24" name="Text 19"/>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model behind one interface. </a:t>
            </a:r>
            <a:pPr indent="0" marL="0">
              <a:buNone/>
            </a:pPr>
            <a:r>
              <a:rPr lang="en-US" sz="1650" dirty="0">
                <a:solidFill>
                  <a:srgbClr val="666C7A"/>
                </a:solidFill>
                <a:latin typeface="Calibri" pitchFamily="34" charset="0"/>
                <a:ea typeface="Calibri" pitchFamily="34" charset="-122"/>
                <a:cs typeface="Calibri" pitchFamily="34" charset="-120"/>
              </a:rPr>
              <a:t>Local on a laptop, or a hosted API. Swappable.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LangChain4j AiServices. </a:t>
            </a:r>
            <a:pPr indent="0" marL="0">
              <a:buNone/>
            </a:pPr>
            <a:r>
              <a:rPr lang="en-US" sz="1650" dirty="0">
                <a:solidFill>
                  <a:srgbClr val="666C7A"/>
                </a:solidFill>
                <a:latin typeface="Calibri" pitchFamily="34" charset="0"/>
                <a:ea typeface="Calibri" pitchFamily="34" charset="-122"/>
                <a:cs typeface="Calibri" pitchFamily="34" charset="-120"/>
              </a:rPr>
              <a:t>Java 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Plain Java methods. </a:t>
            </a:r>
            <a:pPr indent="0" marL="0">
              <a:buNone/>
            </a:pP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queue and a result per idea. </a:t>
            </a:r>
            <a:pPr indent="0" marL="0">
              <a:buNone/>
            </a:pP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Java records: Copy, Palette, Tier. </a:t>
            </a:r>
            <a:pPr indent="0" marL="0">
              <a:buNone/>
            </a:pP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617720"/>
            <a:ext cx="5212080" cy="45720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 rewrite: the agent is a bean like any other service.</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Your existing auth, logging and transactions still apply to it.</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Typed records mean the compiler checks the model's answer.</a:t>
            </a:r>
            <a:endParaRPr lang="en-US" sz="1350" dirty="0"/>
          </a:p>
        </p:txBody>
      </p:sp>
      <p:sp>
        <p:nvSpPr>
          <p:cNvPr id="12" name="Shape 10"/>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Shape 11"/>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15" name="Text 12"/>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6" name="Text 13"/>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7" name="Shape 14"/>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20" name="Text 16"/>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21" name="Text 17"/>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22" name="Shape 18"/>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9"/>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25" name="Text 20"/>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6" name="Text 21"/>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IT RUNS</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Local.</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The model runs on this laptop. No cloud call, no per-token bill, no data leaving the building. That last part is what your regulated clients care about most.</a:t>
            </a:r>
            <a:endParaRPr lang="en-US" sz="1600" dirty="0"/>
          </a:p>
        </p:txBody>
      </p:sp>
      <p:sp>
        <p:nvSpPr>
          <p:cNvPr id="5" name="Shape 3"/>
          <p:cNvSpPr/>
          <p:nvPr/>
        </p:nvSpPr>
        <p:spPr>
          <a:xfrm>
            <a:off x="850392" y="4882896"/>
            <a:ext cx="128016" cy="128016"/>
          </a:xfrm>
          <a:prstGeom prst="ellipse">
            <a:avLst/>
          </a:prstGeom>
          <a:solidFill>
            <a:srgbClr val="0F9E8E"/>
          </a:solidFill>
          <a:ln/>
        </p:spPr>
      </p:sp>
      <p:sp>
        <p:nvSpPr>
          <p:cNvPr id="6" name="Text 4"/>
          <p:cNvSpPr/>
          <p:nvPr/>
        </p:nvSpPr>
        <p:spPr>
          <a:xfrm>
            <a:off x="1133856" y="479145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Nothing to sign, no data processing agreement, no vendor review.</a:t>
            </a:r>
            <a:endParaRPr lang="en-US" sz="1350" dirty="0"/>
          </a:p>
        </p:txBody>
      </p:sp>
      <p:sp>
        <p:nvSpPr>
          <p:cNvPr id="7" name="Shape 5"/>
          <p:cNvSpPr/>
          <p:nvPr/>
        </p:nvSpPr>
        <p:spPr>
          <a:xfrm>
            <a:off x="850392" y="5285232"/>
            <a:ext cx="128016" cy="128016"/>
          </a:xfrm>
          <a:prstGeom prst="ellipse">
            <a:avLst/>
          </a:prstGeom>
          <a:solidFill>
            <a:srgbClr val="0F9E8E"/>
          </a:solidFill>
          <a:ln/>
        </p:spPr>
      </p:sp>
      <p:sp>
        <p:nvSpPr>
          <p:cNvPr id="8" name="Text 6"/>
          <p:cNvSpPr/>
          <p:nvPr/>
        </p:nvSpPr>
        <p:spPr>
          <a:xfrm>
            <a:off x="1133856" y="519379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still works on a plane, or when the venue wifi dies.</a:t>
            </a:r>
            <a:endParaRPr lang="en-US" sz="1350" dirty="0"/>
          </a:p>
        </p:txBody>
      </p:sp>
      <p:sp>
        <p:nvSpPr>
          <p:cNvPr id="9" name="Text 7"/>
          <p:cNvSpPr/>
          <p:nvPr/>
        </p:nvSpPr>
        <p:spPr>
          <a:xfrm>
            <a:off x="841248" y="557784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10" name="Text 8"/>
          <p:cNvSpPr/>
          <p:nvPr/>
        </p:nvSpPr>
        <p:spPr>
          <a:xfrm>
            <a:off x="8412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11" name="Text 9"/>
          <p:cNvSpPr/>
          <p:nvPr/>
        </p:nvSpPr>
        <p:spPr>
          <a:xfrm>
            <a:off x="2670048" y="557784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26700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13" name="Text 11"/>
          <p:cNvSpPr/>
          <p:nvPr/>
        </p:nvSpPr>
        <p:spPr>
          <a:xfrm>
            <a:off x="4361688" y="55778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4" name="Text 12"/>
          <p:cNvSpPr/>
          <p:nvPr/>
        </p:nvSpPr>
        <p:spPr>
          <a:xfrm>
            <a:off x="436168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5" name="Shape 13"/>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6" name="Text 14"/>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7" name="Shape 15"/>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8" name="Shape 16"/>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9" name="Shape 17"/>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0"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21" name="Shape 18"/>
          <p:cNvSpPr/>
          <p:nvPr/>
        </p:nvSpPr>
        <p:spPr>
          <a:xfrm>
            <a:off x="7973568" y="2715768"/>
            <a:ext cx="146304" cy="146304"/>
          </a:xfrm>
          <a:prstGeom prst="ellipse">
            <a:avLst/>
          </a:prstGeom>
          <a:solidFill>
            <a:srgbClr val="0F9E8E"/>
          </a:solidFill>
          <a:ln/>
        </p:spPr>
      </p:sp>
      <p:sp>
        <p:nvSpPr>
          <p:cNvPr id="22" name="Shape 19"/>
          <p:cNvSpPr/>
          <p:nvPr/>
        </p:nvSpPr>
        <p:spPr>
          <a:xfrm>
            <a:off x="9802368" y="2715768"/>
            <a:ext cx="146304" cy="146304"/>
          </a:xfrm>
          <a:prstGeom prst="ellipse">
            <a:avLst/>
          </a:prstGeom>
          <a:solidFill>
            <a:srgbClr val="7C3AED"/>
          </a:solidFill>
          <a:ln/>
        </p:spPr>
      </p:sp>
      <p:sp>
        <p:nvSpPr>
          <p:cNvPr id="23" name="Shape 20"/>
          <p:cNvSpPr/>
          <p:nvPr/>
        </p:nvSpPr>
        <p:spPr>
          <a:xfrm>
            <a:off x="7973568" y="3538728"/>
            <a:ext cx="146304" cy="146304"/>
          </a:xfrm>
          <a:prstGeom prst="ellipse">
            <a:avLst/>
          </a:prstGeom>
          <a:solidFill>
            <a:srgbClr val="0284C7"/>
          </a:solidFill>
          <a:ln/>
        </p:spPr>
      </p:sp>
      <p:sp>
        <p:nvSpPr>
          <p:cNvPr id="24" name="Shape 21"/>
          <p:cNvSpPr/>
          <p:nvPr/>
        </p:nvSpPr>
        <p:spPr>
          <a:xfrm>
            <a:off x="9802368" y="3538728"/>
            <a:ext cx="146304" cy="146304"/>
          </a:xfrm>
          <a:prstGeom prst="ellipse">
            <a:avLst/>
          </a:prstGeom>
          <a:solidFill>
            <a:srgbClr val="E11D48"/>
          </a:solidFill>
          <a:ln/>
        </p:spPr>
      </p:sp>
      <p:sp>
        <p:nvSpPr>
          <p:cNvPr id="25" name="Text 22"/>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6" name="Shape 23"/>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7"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8" name="Shape 24"/>
          <p:cNvSpPr/>
          <p:nvPr/>
        </p:nvSpPr>
        <p:spPr>
          <a:xfrm>
            <a:off x="11109960" y="1600200"/>
            <a:ext cx="731520" cy="731520"/>
          </a:xfrm>
          <a:prstGeom prst="line">
            <a:avLst/>
          </a:prstGeom>
          <a:noFill/>
          <a:ln w="31750">
            <a:solidFill>
              <a:srgbClr val="E11D48"/>
            </a:solidFill>
            <a:prstDash val="solid"/>
          </a:ln>
        </p:spPr>
      </p:sp>
      <p:sp>
        <p:nvSpPr>
          <p:cNvPr id="29" name="Text 25"/>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806440"/>
            <a:ext cx="7616952" cy="41148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
        <p:nvSpPr>
          <p:cNvPr id="11" name="Text 9"/>
          <p:cNvSpPr/>
          <p:nvPr/>
        </p:nvSpPr>
        <p:spPr>
          <a:xfrm>
            <a:off x="2651760" y="6217920"/>
            <a:ext cx="6858000" cy="502920"/>
          </a:xfrm>
          <a:prstGeom prst="rect">
            <a:avLst/>
          </a:prstGeom>
          <a:noFill/>
          <a:ln/>
        </p:spPr>
        <p:txBody>
          <a:bodyPr wrap="square" rtlCol="0" anchor="ctr"/>
          <a:lstStyle/>
          <a:p>
            <a:pPr algn="ctr" indent="0" marL="0">
              <a:lnSpc>
                <a:spcPts val="1700"/>
              </a:lnSpc>
              <a:buNone/>
            </a:pPr>
            <a:r>
              <a:rPr lang="en-US" sz="1300" dirty="0">
                <a:solidFill>
                  <a:srgbClr val="9AA1B0"/>
                </a:solidFill>
                <a:latin typeface="Calibri" pitchFamily="34" charset="0"/>
                <a:ea typeface="Calibri" pitchFamily="34" charset="-122"/>
                <a:cs typeface="Calibri" pitchFamily="34" charset="-120"/>
              </a:rPr>
              <a:t>When output is wrong, the fix is almost never a longer prompt. It is a tighter tool, a stricter schema, or a different agent doing the job.</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743200"/>
            <a:ext cx="4937760" cy="82296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850392" y="3849624"/>
            <a:ext cx="128016" cy="128016"/>
          </a:xfrm>
          <a:prstGeom prst="ellipse">
            <a:avLst/>
          </a:prstGeom>
          <a:solidFill>
            <a:srgbClr val="4F46E5"/>
          </a:solidFill>
          <a:ln/>
        </p:spPr>
      </p:sp>
      <p:sp>
        <p:nvSpPr>
          <p:cNvPr id="6" name="Text 4"/>
          <p:cNvSpPr/>
          <p:nvPr/>
        </p:nvSpPr>
        <p:spPr>
          <a:xfrm>
            <a:off x="1133856" y="375818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Same instruction, wildly different output, because the shape changed.</a:t>
            </a:r>
            <a:endParaRPr lang="en-US" sz="1350" dirty="0"/>
          </a:p>
        </p:txBody>
      </p:sp>
      <p:sp>
        <p:nvSpPr>
          <p:cNvPr id="7" name="Shape 5"/>
          <p:cNvSpPr/>
          <p:nvPr/>
        </p:nvSpPr>
        <p:spPr>
          <a:xfrm>
            <a:off x="850392" y="4251960"/>
            <a:ext cx="128016" cy="128016"/>
          </a:xfrm>
          <a:prstGeom prst="ellipse">
            <a:avLst/>
          </a:prstGeom>
          <a:solidFill>
            <a:srgbClr val="4F46E5"/>
          </a:solidFill>
          <a:ln/>
        </p:spPr>
      </p:sp>
      <p:sp>
        <p:nvSpPr>
          <p:cNvPr id="8" name="Text 6"/>
          <p:cNvSpPr/>
          <p:nvPr/>
        </p:nvSpPr>
        <p:spPr>
          <a:xfrm>
            <a:off x="1133856" y="416052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Prompt tweaking is the slowest way to fix an agent.</a:t>
            </a:r>
            <a:endParaRPr lang="en-US" sz="1350" dirty="0"/>
          </a:p>
        </p:txBody>
      </p:sp>
      <p:sp>
        <p:nvSpPr>
          <p:cNvPr id="9" name="Shape 7"/>
          <p:cNvSpPr/>
          <p:nvPr/>
        </p:nvSpPr>
        <p:spPr>
          <a:xfrm>
            <a:off x="850392" y="4654296"/>
            <a:ext cx="128016" cy="128016"/>
          </a:xfrm>
          <a:prstGeom prst="ellipse">
            <a:avLst/>
          </a:prstGeom>
          <a:solidFill>
            <a:srgbClr val="4F46E5"/>
          </a:solidFill>
          <a:ln/>
        </p:spPr>
      </p:sp>
      <p:sp>
        <p:nvSpPr>
          <p:cNvPr id="10" name="Text 8"/>
          <p:cNvSpPr/>
          <p:nvPr/>
        </p:nvSpPr>
        <p:spPr>
          <a:xfrm>
            <a:off x="1133856" y="456285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Schema and orchestration are the two levers people forget.</a:t>
            </a:r>
            <a:endParaRPr lang="en-US" sz="1350" dirty="0"/>
          </a:p>
        </p:txBody>
      </p:sp>
      <p:sp>
        <p:nvSpPr>
          <p:cNvPr id="11" name="Shape 9"/>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14" name="Text 11"/>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15" name="Text 12"/>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6" name="Shape 13"/>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9" name="Text 15"/>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20" name="Text 16"/>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21" name="Shape 17"/>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24" name="Text 19"/>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25" name="Text 20"/>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THE PART NOBODY DEMOS</a:t>
            </a:r>
            <a:endParaRPr lang="en-US" sz="1100" dirty="0"/>
          </a:p>
        </p:txBody>
      </p:sp>
      <p:sp>
        <p:nvSpPr>
          <p:cNvPr id="3" name="Text 1"/>
          <p:cNvSpPr/>
          <p:nvPr/>
        </p:nvSpPr>
        <p:spPr>
          <a:xfrm>
            <a:off x="841248" y="1325880"/>
            <a:ext cx="6583680" cy="1737360"/>
          </a:xfrm>
          <a:prstGeom prst="rect">
            <a:avLst/>
          </a:prstGeom>
          <a:noFill/>
          <a:ln/>
        </p:spPr>
        <p:txBody>
          <a:bodyPr wrap="square" rtlCol="0" anchor="ctr"/>
          <a:lstStyle/>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model is the brain.</a:t>
            </a:r>
            <a:endParaRPr lang="en-US" sz="3600" dirty="0"/>
          </a:p>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a:t>
            </a:r>
            <a:endParaRPr lang="en-US" sz="3600" dirty="0"/>
          </a:p>
          <a:p>
            <a:pPr indent="0" marL="0">
              <a:lnSpc>
                <a:spcPts val="4600"/>
              </a:lnSpc>
              <a:buNone/>
            </a:pPr>
            <a:r>
              <a:rPr lang="en-US" sz="3600" b="1" dirty="0">
                <a:solidFill>
                  <a:srgbClr val="4F46E5"/>
                </a:solidFill>
                <a:latin typeface="Arial" pitchFamily="34" charset="0"/>
                <a:ea typeface="Arial" pitchFamily="34" charset="-122"/>
                <a:cs typeface="Arial" pitchFamily="34" charset="-120"/>
              </a:rPr>
              <a:t>harness</a:t>
            </a:r>
            <a:pPr indent="0" marL="0">
              <a:lnSpc>
                <a:spcPts val="4600"/>
              </a:lnSpc>
              <a:buNone/>
            </a:pPr>
            <a:r>
              <a:rPr lang="en-US" sz="3600" b="1" dirty="0">
                <a:solidFill>
                  <a:srgbClr val="16181D"/>
                </a:solidFill>
                <a:latin typeface="Arial" pitchFamily="34" charset="0"/>
                <a:ea typeface="Arial" pitchFamily="34" charset="-122"/>
                <a:cs typeface="Arial" pitchFamily="34" charset="-120"/>
              </a:rPr>
              <a:t> is the body.</a:t>
            </a:r>
            <a:endParaRPr lang="en-US" sz="3600" dirty="0"/>
          </a:p>
        </p:txBody>
      </p:sp>
      <p:sp>
        <p:nvSpPr>
          <p:cNvPr id="4" name="Text 2"/>
          <p:cNvSpPr/>
          <p:nvPr/>
        </p:nvSpPr>
        <p:spPr>
          <a:xfrm>
            <a:off x="841248" y="3200400"/>
            <a:ext cx="5394960" cy="118872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A brain in a jar cannot build a website. Everything between the model's guess and the finished page is the harness, and that is where the quality actually comes from.</a:t>
            </a:r>
            <a:endParaRPr lang="en-US" sz="1700" dirty="0"/>
          </a:p>
        </p:txBody>
      </p:sp>
      <p:sp>
        <p:nvSpPr>
          <p:cNvPr id="5" name="Shape 3"/>
          <p:cNvSpPr/>
          <p:nvPr/>
        </p:nvSpPr>
        <p:spPr>
          <a:xfrm>
            <a:off x="850392" y="4626864"/>
            <a:ext cx="128016" cy="128016"/>
          </a:xfrm>
          <a:prstGeom prst="ellipse">
            <a:avLst/>
          </a:prstGeom>
          <a:solidFill>
            <a:srgbClr val="7C3AED"/>
          </a:solidFill>
          <a:ln/>
        </p:spPr>
      </p:sp>
      <p:sp>
        <p:nvSpPr>
          <p:cNvPr id="6" name="Text 4"/>
          <p:cNvSpPr/>
          <p:nvPr/>
        </p:nvSpPr>
        <p:spPr>
          <a:xfrm>
            <a:off x="1133856" y="45354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Swap the model and the harness is untouched.</a:t>
            </a:r>
            <a:endParaRPr lang="en-US" sz="1350" dirty="0"/>
          </a:p>
        </p:txBody>
      </p:sp>
      <p:sp>
        <p:nvSpPr>
          <p:cNvPr id="7" name="Shape 5"/>
          <p:cNvSpPr/>
          <p:nvPr/>
        </p:nvSpPr>
        <p:spPr>
          <a:xfrm>
            <a:off x="850392" y="5029200"/>
            <a:ext cx="128016" cy="128016"/>
          </a:xfrm>
          <a:prstGeom prst="ellipse">
            <a:avLst/>
          </a:prstGeom>
          <a:solidFill>
            <a:srgbClr val="7C3AED"/>
          </a:solidFill>
          <a:ln/>
        </p:spPr>
      </p:sp>
      <p:sp>
        <p:nvSpPr>
          <p:cNvPr id="8" name="Text 6"/>
          <p:cNvSpPr/>
          <p:nvPr/>
        </p:nvSpPr>
        <p:spPr>
          <a:xfrm>
            <a:off x="1133856" y="4937760"/>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Improve the harness and every model gets better.</a:t>
            </a:r>
            <a:endParaRPr lang="en-US" sz="1350" dirty="0"/>
          </a:p>
        </p:txBody>
      </p:sp>
      <p:sp>
        <p:nvSpPr>
          <p:cNvPr id="9" name="Shape 7"/>
          <p:cNvSpPr/>
          <p:nvPr/>
        </p:nvSpPr>
        <p:spPr>
          <a:xfrm>
            <a:off x="850392" y="5431536"/>
            <a:ext cx="128016" cy="128016"/>
          </a:xfrm>
          <a:prstGeom prst="ellipse">
            <a:avLst/>
          </a:prstGeom>
          <a:solidFill>
            <a:srgbClr val="7C3AED"/>
          </a:solidFill>
          <a:ln/>
        </p:spPr>
      </p:sp>
      <p:sp>
        <p:nvSpPr>
          <p:cNvPr id="10" name="Text 8"/>
          <p:cNvSpPr/>
          <p:nvPr/>
        </p:nvSpPr>
        <p:spPr>
          <a:xfrm>
            <a:off x="1133856" y="534009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same prompt, through a better harness, is a better page.</a:t>
            </a:r>
            <a:endParaRPr lang="en-US" sz="1350" dirty="0"/>
          </a:p>
        </p:txBody>
      </p:sp>
      <p:sp>
        <p:nvSpPr>
          <p:cNvPr id="11" name="Shape 9"/>
          <p:cNvSpPr/>
          <p:nvPr/>
        </p:nvSpPr>
        <p:spPr>
          <a:xfrm>
            <a:off x="6858000" y="1600200"/>
            <a:ext cx="4480560" cy="786384"/>
          </a:xfrm>
          <a:prstGeom prst="roundRect">
            <a:avLst>
              <a:gd name="adj" fmla="val 11628"/>
            </a:avLst>
          </a:prstGeom>
          <a:solidFill>
            <a:srgbClr val="EEF1F6"/>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114032" y="1746504"/>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7232538" y="1865010"/>
            <a:ext cx="256764" cy="256764"/>
          </a:xfrm>
          <a:prstGeom prst="rect">
            <a:avLst/>
          </a:prstGeom>
        </p:spPr>
      </p:pic>
      <p:sp>
        <p:nvSpPr>
          <p:cNvPr id="14" name="Text 11"/>
          <p:cNvSpPr/>
          <p:nvPr/>
        </p:nvSpPr>
        <p:spPr>
          <a:xfrm>
            <a:off x="7772400" y="1691640"/>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model</a:t>
            </a:r>
            <a:endParaRPr lang="en-US" sz="1150" dirty="0"/>
          </a:p>
        </p:txBody>
      </p:sp>
      <p:sp>
        <p:nvSpPr>
          <p:cNvPr id="15" name="Text 12"/>
          <p:cNvSpPr/>
          <p:nvPr/>
        </p:nvSpPr>
        <p:spPr>
          <a:xfrm>
            <a:off x="7772400" y="1984248"/>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guesses words</a:t>
            </a:r>
            <a:endParaRPr lang="en-US" sz="1250" dirty="0"/>
          </a:p>
        </p:txBody>
      </p:sp>
      <p:sp>
        <p:nvSpPr>
          <p:cNvPr id="16" name="Shape 13"/>
          <p:cNvSpPr/>
          <p:nvPr/>
        </p:nvSpPr>
        <p:spPr>
          <a:xfrm>
            <a:off x="7360920" y="2386584"/>
            <a:ext cx="0" cy="146304"/>
          </a:xfrm>
          <a:prstGeom prst="line">
            <a:avLst/>
          </a:prstGeom>
          <a:noFill/>
          <a:ln w="17780">
            <a:solidFill>
              <a:srgbClr val="9AA1B0"/>
            </a:solidFill>
            <a:prstDash val="solid"/>
            <a:tailEnd type="triangle"/>
          </a:ln>
        </p:spPr>
      </p:sp>
      <p:sp>
        <p:nvSpPr>
          <p:cNvPr id="17" name="Shape 14"/>
          <p:cNvSpPr/>
          <p:nvPr/>
        </p:nvSpPr>
        <p:spPr>
          <a:xfrm>
            <a:off x="6858000" y="2532888"/>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7114032" y="26791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232538" y="2797698"/>
            <a:ext cx="256764" cy="256764"/>
          </a:xfrm>
          <a:prstGeom prst="rect">
            <a:avLst/>
          </a:prstGeom>
        </p:spPr>
      </p:pic>
      <p:sp>
        <p:nvSpPr>
          <p:cNvPr id="20" name="Text 16"/>
          <p:cNvSpPr/>
          <p:nvPr/>
        </p:nvSpPr>
        <p:spPr>
          <a:xfrm>
            <a:off x="7772400" y="2624328"/>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guards</a:t>
            </a:r>
            <a:endParaRPr lang="en-US" sz="1150" dirty="0"/>
          </a:p>
        </p:txBody>
      </p:sp>
      <p:sp>
        <p:nvSpPr>
          <p:cNvPr id="21" name="Text 17"/>
          <p:cNvSpPr/>
          <p:nvPr/>
        </p:nvSpPr>
        <p:spPr>
          <a:xfrm>
            <a:off x="7772400" y="2916936"/>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refuse bad output</a:t>
            </a:r>
            <a:endParaRPr lang="en-US" sz="1250" dirty="0"/>
          </a:p>
        </p:txBody>
      </p:sp>
      <p:sp>
        <p:nvSpPr>
          <p:cNvPr id="22" name="Shape 18"/>
          <p:cNvSpPr/>
          <p:nvPr/>
        </p:nvSpPr>
        <p:spPr>
          <a:xfrm>
            <a:off x="7360920" y="3319272"/>
            <a:ext cx="0" cy="146304"/>
          </a:xfrm>
          <a:prstGeom prst="line">
            <a:avLst/>
          </a:prstGeom>
          <a:noFill/>
          <a:ln w="17780">
            <a:solidFill>
              <a:srgbClr val="9AA1B0"/>
            </a:solidFill>
            <a:prstDash val="solid"/>
            <a:tailEnd type="triangle"/>
          </a:ln>
        </p:spPr>
      </p:sp>
      <p:sp>
        <p:nvSpPr>
          <p:cNvPr id="23" name="Shape 19"/>
          <p:cNvSpPr/>
          <p:nvPr/>
        </p:nvSpPr>
        <p:spPr>
          <a:xfrm>
            <a:off x="6858000" y="3465576"/>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4" name="Shape 20"/>
          <p:cNvSpPr/>
          <p:nvPr/>
        </p:nvSpPr>
        <p:spPr>
          <a:xfrm>
            <a:off x="7114032" y="3611880"/>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5" name="Image 2" descr="preencoded.png">    </p:cNvPr>
          <p:cNvPicPr>
            <a:picLocks noChangeAspect="1"/>
          </p:cNvPicPr>
          <p:nvPr/>
        </p:nvPicPr>
        <p:blipFill>
          <a:blip r:embed="rId3"/>
          <a:stretch>
            <a:fillRect/>
          </a:stretch>
        </p:blipFill>
        <p:spPr>
          <a:xfrm>
            <a:off x="7232538" y="3730386"/>
            <a:ext cx="256764" cy="256764"/>
          </a:xfrm>
          <a:prstGeom prst="rect">
            <a:avLst/>
          </a:prstGeom>
        </p:spPr>
      </p:pic>
      <p:sp>
        <p:nvSpPr>
          <p:cNvPr id="26" name="Text 21"/>
          <p:cNvSpPr/>
          <p:nvPr/>
        </p:nvSpPr>
        <p:spPr>
          <a:xfrm>
            <a:off x="7772400" y="3557016"/>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structure</a:t>
            </a:r>
            <a:endParaRPr lang="en-US" sz="1150" dirty="0"/>
          </a:p>
        </p:txBody>
      </p:sp>
      <p:sp>
        <p:nvSpPr>
          <p:cNvPr id="27" name="Text 22"/>
          <p:cNvSpPr/>
          <p:nvPr/>
        </p:nvSpPr>
        <p:spPr>
          <a:xfrm>
            <a:off x="7772400" y="3849624"/>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decide the page shape</a:t>
            </a:r>
            <a:endParaRPr lang="en-US" sz="1250" dirty="0"/>
          </a:p>
        </p:txBody>
      </p:sp>
      <p:sp>
        <p:nvSpPr>
          <p:cNvPr id="28" name="Shape 23"/>
          <p:cNvSpPr/>
          <p:nvPr/>
        </p:nvSpPr>
        <p:spPr>
          <a:xfrm>
            <a:off x="7360920" y="4251960"/>
            <a:ext cx="0" cy="146304"/>
          </a:xfrm>
          <a:prstGeom prst="line">
            <a:avLst/>
          </a:prstGeom>
          <a:noFill/>
          <a:ln w="17780">
            <a:solidFill>
              <a:srgbClr val="9AA1B0"/>
            </a:solidFill>
            <a:prstDash val="solid"/>
            <a:tailEnd type="triangle"/>
          </a:ln>
        </p:spPr>
      </p:sp>
      <p:sp>
        <p:nvSpPr>
          <p:cNvPr id="29" name="Shape 24"/>
          <p:cNvSpPr/>
          <p:nvPr/>
        </p:nvSpPr>
        <p:spPr>
          <a:xfrm>
            <a:off x="6858000" y="4398264"/>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5"/>
          <p:cNvSpPr/>
          <p:nvPr/>
        </p:nvSpPr>
        <p:spPr>
          <a:xfrm>
            <a:off x="7114032" y="454456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1" name="Image 3" descr="preencoded.png">    </p:cNvPr>
          <p:cNvPicPr>
            <a:picLocks noChangeAspect="1"/>
          </p:cNvPicPr>
          <p:nvPr/>
        </p:nvPicPr>
        <p:blipFill>
          <a:blip r:embed="rId4"/>
          <a:stretch>
            <a:fillRect/>
          </a:stretch>
        </p:blipFill>
        <p:spPr>
          <a:xfrm>
            <a:off x="7232538" y="4663074"/>
            <a:ext cx="256764" cy="256764"/>
          </a:xfrm>
          <a:prstGeom prst="rect">
            <a:avLst/>
          </a:prstGeom>
        </p:spPr>
      </p:pic>
      <p:sp>
        <p:nvSpPr>
          <p:cNvPr id="32" name="Text 26"/>
          <p:cNvSpPr/>
          <p:nvPr/>
        </p:nvSpPr>
        <p:spPr>
          <a:xfrm>
            <a:off x="7772400" y="4489704"/>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assets</a:t>
            </a:r>
            <a:endParaRPr lang="en-US" sz="1150" dirty="0"/>
          </a:p>
        </p:txBody>
      </p:sp>
      <p:sp>
        <p:nvSpPr>
          <p:cNvPr id="33" name="Text 27"/>
          <p:cNvSpPr/>
          <p:nvPr/>
        </p:nvSpPr>
        <p:spPr>
          <a:xfrm>
            <a:off x="7772400" y="4782312"/>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real pictures, real palettes</a:t>
            </a:r>
            <a:endParaRPr lang="en-US" sz="1250" dirty="0"/>
          </a:p>
        </p:txBody>
      </p:sp>
      <p:sp>
        <p:nvSpPr>
          <p:cNvPr id="34" name="Shape 28"/>
          <p:cNvSpPr/>
          <p:nvPr/>
        </p:nvSpPr>
        <p:spPr>
          <a:xfrm>
            <a:off x="7360920" y="5184648"/>
            <a:ext cx="0" cy="146304"/>
          </a:xfrm>
          <a:prstGeom prst="line">
            <a:avLst/>
          </a:prstGeom>
          <a:noFill/>
          <a:ln w="17780">
            <a:solidFill>
              <a:srgbClr val="9AA1B0"/>
            </a:solidFill>
            <a:prstDash val="solid"/>
            <a:tailEnd type="triangle"/>
          </a:ln>
        </p:spPr>
      </p:sp>
      <p:sp>
        <p:nvSpPr>
          <p:cNvPr id="35" name="Shape 29"/>
          <p:cNvSpPr/>
          <p:nvPr/>
        </p:nvSpPr>
        <p:spPr>
          <a:xfrm>
            <a:off x="6858000" y="5330952"/>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30"/>
          <p:cNvSpPr/>
          <p:nvPr/>
        </p:nvSpPr>
        <p:spPr>
          <a:xfrm>
            <a:off x="7114032" y="5477256"/>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7" name="Image 4" descr="preencoded.png">    </p:cNvPr>
          <p:cNvPicPr>
            <a:picLocks noChangeAspect="1"/>
          </p:cNvPicPr>
          <p:nvPr/>
        </p:nvPicPr>
        <p:blipFill>
          <a:blip r:embed="rId5"/>
          <a:stretch>
            <a:fillRect/>
          </a:stretch>
        </p:blipFill>
        <p:spPr>
          <a:xfrm>
            <a:off x="7232538" y="5595762"/>
            <a:ext cx="256764" cy="256764"/>
          </a:xfrm>
          <a:prstGeom prst="rect">
            <a:avLst/>
          </a:prstGeom>
        </p:spPr>
      </p:pic>
      <p:sp>
        <p:nvSpPr>
          <p:cNvPr id="38" name="Text 31"/>
          <p:cNvSpPr/>
          <p:nvPr/>
        </p:nvSpPr>
        <p:spPr>
          <a:xfrm>
            <a:off x="7772400" y="5422392"/>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page</a:t>
            </a:r>
            <a:endParaRPr lang="en-US" sz="1150" dirty="0"/>
          </a:p>
        </p:txBody>
      </p:sp>
      <p:sp>
        <p:nvSpPr>
          <p:cNvPr id="39" name="Text 32"/>
          <p:cNvSpPr/>
          <p:nvPr/>
        </p:nvSpPr>
        <p:spPr>
          <a:xfrm>
            <a:off x="7772400" y="5715000"/>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what the room sees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WE ACTUALLY BUILT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Sixteen agents and a </a:t>
            </a:r>
            <a:pPr indent="0" marL="0">
              <a:buNone/>
            </a:pPr>
            <a:r>
              <a:rPr lang="en-US" sz="3200" b="1" dirty="0">
                <a:solidFill>
                  <a:srgbClr val="4F46E5"/>
                </a:solidFill>
                <a:latin typeface="Arial" pitchFamily="34" charset="0"/>
                <a:ea typeface="Arial" pitchFamily="34" charset="-122"/>
                <a:cs typeface="Arial" pitchFamily="34" charset="-120"/>
              </a:rPr>
              <a:t>set of rules.</a:t>
            </a:r>
            <a:endParaRPr lang="en-US" sz="3200" dirty="0"/>
          </a:p>
        </p:txBody>
      </p:sp>
      <p:sp>
        <p:nvSpPr>
          <p:cNvPr id="4" name="Text 2"/>
          <p:cNvSpPr/>
          <p:nvPr/>
        </p:nvSpPr>
        <p:spPr>
          <a:xfrm>
            <a:off x="841248" y="1783080"/>
            <a:ext cx="7315200" cy="36576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one of these started as output we were not happy with.</a:t>
            </a:r>
            <a:endParaRPr lang="en-US" sz="1550" dirty="0"/>
          </a:p>
        </p:txBody>
      </p:sp>
      <p:sp>
        <p:nvSpPr>
          <p:cNvPr id="5" name="Shape 3"/>
          <p:cNvSpPr/>
          <p:nvPr/>
        </p:nvSpPr>
        <p:spPr>
          <a:xfrm>
            <a:off x="841248" y="2331720"/>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24712" y="2514600"/>
            <a:ext cx="530352" cy="53035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51996" y="2641884"/>
            <a:ext cx="275783" cy="275783"/>
          </a:xfrm>
          <a:prstGeom prst="rect">
            <a:avLst/>
          </a:prstGeom>
        </p:spPr>
      </p:pic>
      <p:sp>
        <p:nvSpPr>
          <p:cNvPr id="8" name="Text 5"/>
          <p:cNvSpPr/>
          <p:nvPr/>
        </p:nvSpPr>
        <p:spPr>
          <a:xfrm>
            <a:off x="1892808" y="2441448"/>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16 agents</a:t>
            </a:r>
            <a:endParaRPr lang="en-US" sz="1600" dirty="0"/>
          </a:p>
        </p:txBody>
      </p:sp>
      <p:sp>
        <p:nvSpPr>
          <p:cNvPr id="9" name="Text 6"/>
          <p:cNvSpPr/>
          <p:nvPr/>
        </p:nvSpPr>
        <p:spPr>
          <a:xfrm>
            <a:off x="4270248" y="2423160"/>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Insight, researcher, namer, copywriter, designer, illustrator, pricer, strategist, architect, critic, skeptic, proofreader and more.</a:t>
            </a:r>
            <a:endParaRPr lang="en-US" sz="1250" dirty="0"/>
          </a:p>
        </p:txBody>
      </p:sp>
      <p:sp>
        <p:nvSpPr>
          <p:cNvPr id="10" name="Shape 7"/>
          <p:cNvSpPr/>
          <p:nvPr/>
        </p:nvSpPr>
        <p:spPr>
          <a:xfrm>
            <a:off x="841248" y="3355848"/>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1124712" y="3538728"/>
            <a:ext cx="530352" cy="530352"/>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251996" y="3666012"/>
            <a:ext cx="275783" cy="275783"/>
          </a:xfrm>
          <a:prstGeom prst="rect">
            <a:avLst/>
          </a:prstGeom>
        </p:spPr>
      </p:pic>
      <p:sp>
        <p:nvSpPr>
          <p:cNvPr id="13" name="Text 9"/>
          <p:cNvSpPr/>
          <p:nvPr/>
        </p:nvSpPr>
        <p:spPr>
          <a:xfrm>
            <a:off x="1892808" y="3465576"/>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18 taste rules</a:t>
            </a:r>
            <a:endParaRPr lang="en-US" sz="1600" dirty="0"/>
          </a:p>
        </p:txBody>
      </p:sp>
      <p:sp>
        <p:nvSpPr>
          <p:cNvPr id="14" name="Text 10"/>
          <p:cNvSpPr/>
          <p:nvPr/>
        </p:nvSpPr>
        <p:spPr>
          <a:xfrm>
            <a:off x="4270248" y="3447288"/>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Deterministic checks that reject em dashes, three equal cards, AI purple, low-contrast buttons, widowed headlines.</a:t>
            </a:r>
            <a:endParaRPr lang="en-US" sz="1250" dirty="0"/>
          </a:p>
        </p:txBody>
      </p:sp>
      <p:sp>
        <p:nvSpPr>
          <p:cNvPr id="15" name="Shape 11"/>
          <p:cNvSpPr/>
          <p:nvPr/>
        </p:nvSpPr>
        <p:spPr>
          <a:xfrm>
            <a:off x="841248" y="4379976"/>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1124712" y="4562856"/>
            <a:ext cx="530352" cy="53035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1251996" y="4690140"/>
            <a:ext cx="275783" cy="275783"/>
          </a:xfrm>
          <a:prstGeom prst="rect">
            <a:avLst/>
          </a:prstGeom>
        </p:spPr>
      </p:pic>
      <p:sp>
        <p:nvSpPr>
          <p:cNvPr id="18" name="Text 13"/>
          <p:cNvSpPr/>
          <p:nvPr/>
        </p:nvSpPr>
        <p:spPr>
          <a:xfrm>
            <a:off x="1892808" y="4489704"/>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Page architect</a:t>
            </a:r>
            <a:endParaRPr lang="en-US" sz="1600" dirty="0"/>
          </a:p>
        </p:txBody>
      </p:sp>
      <p:sp>
        <p:nvSpPr>
          <p:cNvPr id="19" name="Text 14"/>
          <p:cNvSpPr/>
          <p:nvPr/>
        </p:nvSpPr>
        <p:spPr>
          <a:xfrm>
            <a:off x="4270248" y="4471416"/>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AI picks the sections: a food truck gets a menu and a story, a tool gets three steps. No fixed template.</a:t>
            </a:r>
            <a:endParaRPr lang="en-US" sz="1250" dirty="0"/>
          </a:p>
        </p:txBody>
      </p:sp>
      <p:sp>
        <p:nvSpPr>
          <p:cNvPr id="20" name="Shape 15"/>
          <p:cNvSpPr/>
          <p:nvPr/>
        </p:nvSpPr>
        <p:spPr>
          <a:xfrm>
            <a:off x="841248" y="5404104"/>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24712" y="5586984"/>
            <a:ext cx="530352" cy="530352"/>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51996" y="5714268"/>
            <a:ext cx="275783" cy="275783"/>
          </a:xfrm>
          <a:prstGeom prst="rect">
            <a:avLst/>
          </a:prstGeom>
        </p:spPr>
      </p:pic>
      <p:sp>
        <p:nvSpPr>
          <p:cNvPr id="23" name="Text 17"/>
          <p:cNvSpPr/>
          <p:nvPr/>
        </p:nvSpPr>
        <p:spPr>
          <a:xfrm>
            <a:off x="1892808" y="5513832"/>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Best of three</a:t>
            </a:r>
            <a:endParaRPr lang="en-US" sz="1600" dirty="0"/>
          </a:p>
        </p:txBody>
      </p:sp>
      <p:sp>
        <p:nvSpPr>
          <p:cNvPr id="24" name="Text 18"/>
          <p:cNvSpPr/>
          <p:nvPr/>
        </p:nvSpPr>
        <p:spPr>
          <a:xfrm>
            <a:off x="4270248" y="5495544"/>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crew drafts several names and headlines, then a judge picks the sharpest one.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WHY THIS IS WORTH YOUR TIME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harness is the </a:t>
            </a:r>
            <a:pPr indent="0" marL="0">
              <a:buNone/>
            </a:pPr>
            <a:r>
              <a:rPr lang="en-US" sz="3200" b="1" dirty="0">
                <a:solidFill>
                  <a:srgbClr val="4F46E5"/>
                </a:solidFill>
                <a:latin typeface="Arial" pitchFamily="34" charset="0"/>
                <a:ea typeface="Arial" pitchFamily="34" charset="-122"/>
                <a:cs typeface="Arial" pitchFamily="34" charset="-120"/>
              </a:rPr>
              <a:t>asset.</a:t>
            </a:r>
            <a:endParaRPr lang="en-US" sz="3200" dirty="0"/>
          </a:p>
        </p:txBody>
      </p:sp>
      <p:sp>
        <p:nvSpPr>
          <p:cNvPr id="4" name="Shape 2"/>
          <p:cNvSpPr/>
          <p:nvPr/>
        </p:nvSpPr>
        <p:spPr>
          <a:xfrm>
            <a:off x="8412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33856" y="2286000"/>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56751" y="2408895"/>
            <a:ext cx="266273" cy="266273"/>
          </a:xfrm>
          <a:prstGeom prst="rect">
            <a:avLst/>
          </a:prstGeom>
        </p:spPr>
      </p:pic>
      <p:sp>
        <p:nvSpPr>
          <p:cNvPr id="7" name="Text 4"/>
          <p:cNvSpPr/>
          <p:nvPr/>
        </p:nvSpPr>
        <p:spPr>
          <a:xfrm>
            <a:off x="18013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Model agnostic</a:t>
            </a:r>
            <a:endParaRPr lang="en-US" sz="1550" dirty="0"/>
          </a:p>
        </p:txBody>
      </p:sp>
      <p:sp>
        <p:nvSpPr>
          <p:cNvPr id="8" name="Text 5"/>
          <p:cNvSpPr/>
          <p:nvPr/>
        </p:nvSpPr>
        <p:spPr>
          <a:xfrm>
            <a:off x="11612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Point it at a local model, or a frontier API. One config line. The crew never changes.</a:t>
            </a:r>
            <a:endParaRPr lang="en-US" sz="1200" dirty="0"/>
          </a:p>
        </p:txBody>
      </p:sp>
      <p:sp>
        <p:nvSpPr>
          <p:cNvPr id="9" name="Shape 6"/>
          <p:cNvSpPr/>
          <p:nvPr/>
        </p:nvSpPr>
        <p:spPr>
          <a:xfrm>
            <a:off x="44988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791456" y="2286000"/>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4914351" y="2408895"/>
            <a:ext cx="266273" cy="266273"/>
          </a:xfrm>
          <a:prstGeom prst="rect">
            <a:avLst/>
          </a:prstGeom>
        </p:spPr>
      </p:pic>
      <p:sp>
        <p:nvSpPr>
          <p:cNvPr id="12" name="Text 8"/>
          <p:cNvSpPr/>
          <p:nvPr/>
        </p:nvSpPr>
        <p:spPr>
          <a:xfrm>
            <a:off x="54589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Quality has a floor</a:t>
            </a:r>
            <a:endParaRPr lang="en-US" sz="1550" dirty="0"/>
          </a:p>
        </p:txBody>
      </p:sp>
      <p:sp>
        <p:nvSpPr>
          <p:cNvPr id="13" name="Text 9"/>
          <p:cNvSpPr/>
          <p:nvPr/>
        </p:nvSpPr>
        <p:spPr>
          <a:xfrm>
            <a:off x="48188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Guards run every time. The bad version cannot reach the client, even on a bad day.</a:t>
            </a:r>
            <a:endParaRPr lang="en-US" sz="1200" dirty="0"/>
          </a:p>
        </p:txBody>
      </p:sp>
      <p:sp>
        <p:nvSpPr>
          <p:cNvPr id="14" name="Shape 10"/>
          <p:cNvSpPr/>
          <p:nvPr/>
        </p:nvSpPr>
        <p:spPr>
          <a:xfrm>
            <a:off x="81564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449056" y="2286000"/>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571951" y="2408895"/>
            <a:ext cx="266273" cy="266273"/>
          </a:xfrm>
          <a:prstGeom prst="rect">
            <a:avLst/>
          </a:prstGeom>
        </p:spPr>
      </p:pic>
      <p:sp>
        <p:nvSpPr>
          <p:cNvPr id="17" name="Text 12"/>
          <p:cNvSpPr/>
          <p:nvPr/>
        </p:nvSpPr>
        <p:spPr>
          <a:xfrm>
            <a:off x="91165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Cheap to improve</a:t>
            </a:r>
            <a:endParaRPr lang="en-US" sz="1550" dirty="0"/>
          </a:p>
        </p:txBody>
      </p:sp>
      <p:sp>
        <p:nvSpPr>
          <p:cNvPr id="18" name="Text 13"/>
          <p:cNvSpPr/>
          <p:nvPr/>
        </p:nvSpPr>
        <p:spPr>
          <a:xfrm>
            <a:off x="84764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fix is a rule or an agent, not a retrain. Ship it this afternoon.</a:t>
            </a:r>
            <a:endParaRPr lang="en-US" sz="1200" dirty="0"/>
          </a:p>
        </p:txBody>
      </p:sp>
      <p:sp>
        <p:nvSpPr>
          <p:cNvPr id="19" name="Shape 14"/>
          <p:cNvSpPr/>
          <p:nvPr/>
        </p:nvSpPr>
        <p:spPr>
          <a:xfrm>
            <a:off x="8412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0" name="Shape 15"/>
          <p:cNvSpPr/>
          <p:nvPr/>
        </p:nvSpPr>
        <p:spPr>
          <a:xfrm>
            <a:off x="1133856" y="4325112"/>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3" descr="preencoded.png">    </p:cNvPr>
          <p:cNvPicPr>
            <a:picLocks noChangeAspect="1"/>
          </p:cNvPicPr>
          <p:nvPr/>
        </p:nvPicPr>
        <p:blipFill>
          <a:blip r:embed="rId4"/>
          <a:stretch>
            <a:fillRect/>
          </a:stretch>
        </p:blipFill>
        <p:spPr>
          <a:xfrm>
            <a:off x="1256751" y="4448007"/>
            <a:ext cx="266273" cy="266273"/>
          </a:xfrm>
          <a:prstGeom prst="rect">
            <a:avLst/>
          </a:prstGeom>
        </p:spPr>
      </p:pic>
      <p:sp>
        <p:nvSpPr>
          <p:cNvPr id="22" name="Text 16"/>
          <p:cNvSpPr/>
          <p:nvPr/>
        </p:nvSpPr>
        <p:spPr>
          <a:xfrm>
            <a:off x="18013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You can explain it</a:t>
            </a:r>
            <a:endParaRPr lang="en-US" sz="1550" dirty="0"/>
          </a:p>
        </p:txBody>
      </p:sp>
      <p:sp>
        <p:nvSpPr>
          <p:cNvPr id="23" name="Text 17"/>
          <p:cNvSpPr/>
          <p:nvPr/>
        </p:nvSpPr>
        <p:spPr>
          <a:xfrm>
            <a:off x="11612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When it goes wrong you can point at the agent that did it. Not a black box.</a:t>
            </a:r>
            <a:endParaRPr lang="en-US" sz="1200" dirty="0"/>
          </a:p>
        </p:txBody>
      </p:sp>
      <p:sp>
        <p:nvSpPr>
          <p:cNvPr id="24" name="Shape 18"/>
          <p:cNvSpPr/>
          <p:nvPr/>
        </p:nvSpPr>
        <p:spPr>
          <a:xfrm>
            <a:off x="44988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5" name="Shape 19"/>
          <p:cNvSpPr/>
          <p:nvPr/>
        </p:nvSpPr>
        <p:spPr>
          <a:xfrm>
            <a:off x="4791456" y="4325112"/>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4914351" y="4448007"/>
            <a:ext cx="266273" cy="266273"/>
          </a:xfrm>
          <a:prstGeom prst="rect">
            <a:avLst/>
          </a:prstGeom>
        </p:spPr>
      </p:pic>
      <p:sp>
        <p:nvSpPr>
          <p:cNvPr id="27" name="Text 20"/>
          <p:cNvSpPr/>
          <p:nvPr/>
        </p:nvSpPr>
        <p:spPr>
          <a:xfrm>
            <a:off x="54589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survives the model</a:t>
            </a:r>
            <a:endParaRPr lang="en-US" sz="1550" dirty="0"/>
          </a:p>
        </p:txBody>
      </p:sp>
      <p:sp>
        <p:nvSpPr>
          <p:cNvPr id="28" name="Text 21"/>
          <p:cNvSpPr/>
          <p:nvPr/>
        </p:nvSpPr>
        <p:spPr>
          <a:xfrm>
            <a:off x="48188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Models change every few months. The harness you build outlives all of them.</a:t>
            </a:r>
            <a:endParaRPr lang="en-US" sz="1200" dirty="0"/>
          </a:p>
        </p:txBody>
      </p:sp>
      <p:sp>
        <p:nvSpPr>
          <p:cNvPr id="29" name="Shape 22"/>
          <p:cNvSpPr/>
          <p:nvPr/>
        </p:nvSpPr>
        <p:spPr>
          <a:xfrm>
            <a:off x="81564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3"/>
          <p:cNvSpPr/>
          <p:nvPr/>
        </p:nvSpPr>
        <p:spPr>
          <a:xfrm>
            <a:off x="8449056" y="4325112"/>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1" name="Image 5" descr="preencoded.png">    </p:cNvPr>
          <p:cNvPicPr>
            <a:picLocks noChangeAspect="1"/>
          </p:cNvPicPr>
          <p:nvPr/>
        </p:nvPicPr>
        <p:blipFill>
          <a:blip r:embed="rId6"/>
          <a:stretch>
            <a:fillRect/>
          </a:stretch>
        </p:blipFill>
        <p:spPr>
          <a:xfrm>
            <a:off x="8571951" y="4448007"/>
            <a:ext cx="266273" cy="266273"/>
          </a:xfrm>
          <a:prstGeom prst="rect">
            <a:avLst/>
          </a:prstGeom>
        </p:spPr>
      </p:pic>
      <p:sp>
        <p:nvSpPr>
          <p:cNvPr id="32" name="Text 24"/>
          <p:cNvSpPr/>
          <p:nvPr/>
        </p:nvSpPr>
        <p:spPr>
          <a:xfrm>
            <a:off x="91165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compounds</a:t>
            </a:r>
            <a:endParaRPr lang="en-US" sz="1550" dirty="0"/>
          </a:p>
        </p:txBody>
      </p:sp>
      <p:sp>
        <p:nvSpPr>
          <p:cNvPr id="33" name="Text 25"/>
          <p:cNvSpPr/>
          <p:nvPr/>
        </p:nvSpPr>
        <p:spPr>
          <a:xfrm>
            <a:off x="84764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Each rule makes every future build better, forever. That is the whole bet.</a:t>
            </a:r>
            <a:endParaRPr lang="en-US" sz="1200" dirty="0"/>
          </a:p>
        </p:txBody>
      </p:sp>
      <p:sp>
        <p:nvSpPr>
          <p:cNvPr id="34" name="Text 26"/>
          <p:cNvSpPr/>
          <p:nvPr/>
        </p:nvSpPr>
        <p:spPr>
          <a:xfrm>
            <a:off x="2286000" y="6053328"/>
            <a:ext cx="7616952" cy="411480"/>
          </a:xfrm>
          <a:prstGeom prst="rect">
            <a:avLst/>
          </a:prstGeom>
          <a:noFill/>
          <a:ln/>
        </p:spPr>
        <p:txBody>
          <a:bodyPr wrap="square" rtlCol="0" anchor="ctr"/>
          <a:lstStyle/>
          <a:p>
            <a:pPr algn="ctr" indent="0" marL="0">
              <a:buNone/>
            </a:pPr>
            <a:r>
              <a:rPr lang="en-US" sz="1600" dirty="0">
                <a:solidFill>
                  <a:srgbClr val="4F46E5"/>
                </a:solidFill>
                <a:latin typeface="Calibri" pitchFamily="34" charset="0"/>
                <a:ea typeface="Calibri" pitchFamily="34" charset="-122"/>
                <a:cs typeface="Calibri" pitchFamily="34" charset="-120"/>
              </a:rPr>
              <a:t>Everyone is chasing the next model. The harness is the part you own.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this laptop</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reaches this laptop through a tunnel. The agents build the page here. Every step streams to the projector.</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whole thing, </a:t>
            </a:r>
            <a:pPr indent="0" marL="0">
              <a:buNone/>
            </a:pP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61288" y="2670048"/>
            <a:ext cx="2761488" cy="566928"/>
          </a:xfrm>
          <a:prstGeom prst="rect">
            <a:avLst/>
          </a:prstGeom>
          <a:noFill/>
          <a:ln/>
        </p:spPr>
        <p:txBody>
          <a:bodyPr wrap="square" rtlCol="0" anchor="ctr"/>
          <a:lstStyle/>
          <a:p>
            <a:pPr indent="0" marL="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Text 8"/>
          <p:cNvSpPr/>
          <p:nvPr/>
        </p:nvSpPr>
        <p:spPr>
          <a:xfrm>
            <a:off x="4818888" y="2670048"/>
            <a:ext cx="2761488" cy="566928"/>
          </a:xfrm>
          <a:prstGeom prst="rect">
            <a:avLst/>
          </a:prstGeom>
          <a:noFill/>
          <a:ln/>
        </p:spPr>
        <p:txBody>
          <a:bodyPr wrap="square" rtlCol="0" anchor="ctr"/>
          <a:lstStyle/>
          <a:p>
            <a:pPr indent="0" marL="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4" name="Text 12"/>
          <p:cNvSpPr/>
          <p:nvPr/>
        </p:nvSpPr>
        <p:spPr>
          <a:xfrm>
            <a:off x="8476488" y="2670048"/>
            <a:ext cx="2761488" cy="566928"/>
          </a:xfrm>
          <a:prstGeom prst="rect">
            <a:avLst/>
          </a:prstGeom>
          <a:noFill/>
          <a:ln/>
        </p:spPr>
        <p:txBody>
          <a:bodyPr wrap="square" rtlCol="0" anchor="ctr"/>
          <a:lstStyle/>
          <a:p>
            <a:pPr indent="0" marL="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Text 16"/>
          <p:cNvSpPr/>
          <p:nvPr/>
        </p:nvSpPr>
        <p:spPr>
          <a:xfrm>
            <a:off x="1161288" y="4389120"/>
            <a:ext cx="2761488" cy="566928"/>
          </a:xfrm>
          <a:prstGeom prst="rect">
            <a:avLst/>
          </a:prstGeom>
          <a:noFill/>
          <a:ln/>
        </p:spPr>
        <p:txBody>
          <a:bodyPr wrap="square" rtlCol="0" anchor="ctr"/>
          <a:lstStyle/>
          <a:p>
            <a:pPr indent="0" marL="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Text 20"/>
          <p:cNvSpPr/>
          <p:nvPr/>
        </p:nvSpPr>
        <p:spPr>
          <a:xfrm>
            <a:off x="4818888" y="4389120"/>
            <a:ext cx="2761488" cy="566928"/>
          </a:xfrm>
          <a:prstGeom prst="rect">
            <a:avLst/>
          </a:prstGeom>
          <a:noFill/>
          <a:ln/>
        </p:spPr>
        <p:txBody>
          <a:bodyPr wrap="square" rtlCol="0" anchor="ctr"/>
          <a:lstStyle/>
          <a:p>
            <a:pPr indent="0" marL="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Text 24"/>
          <p:cNvSpPr/>
          <p:nvPr/>
        </p:nvSpPr>
        <p:spPr>
          <a:xfrm>
            <a:off x="8476488" y="4389120"/>
            <a:ext cx="2761488" cy="566928"/>
          </a:xfrm>
          <a:prstGeom prst="rect">
            <a:avLst/>
          </a:prstGeom>
          <a:noFill/>
          <a:ln/>
        </p:spPr>
        <p:txBody>
          <a:bodyPr wrap="square" rtlCol="0" anchor="ctr"/>
          <a:lstStyle/>
          <a:p>
            <a:pPr indent="0" marL="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algn="ctr" indent="0" marL="0">
              <a:buNone/>
            </a:pPr>
            <a:r>
              <a:rPr lang="en-US" sz="1500" dirty="0">
                <a:solidFill>
                  <a:srgbClr val="666C7A"/>
                </a:solidFill>
                <a:latin typeface="Calibri" pitchFamily="34" charset="0"/>
                <a:ea typeface="Calibri" pitchFamily="34" charset="-122"/>
                <a:cs typeface="Calibri" pitchFamily="34" charset="-120"/>
              </a:rPr>
              <a:t>A landing page comes out as </a:t>
            </a:r>
            <a:pPr algn="ctr" indent="0" marL="0">
              <a:buNone/>
            </a:pPr>
            <a:r>
              <a:rPr lang="en-US" sz="1500" b="1" dirty="0">
                <a:solidFill>
                  <a:srgbClr val="4F46E5"/>
                </a:solidFill>
                <a:latin typeface="Calibri" pitchFamily="34" charset="0"/>
                <a:ea typeface="Calibri" pitchFamily="34" charset="-122"/>
                <a:cs typeface="Calibri" pitchFamily="34" charset="-120"/>
              </a:rPr>
              <a:t>one file</a:t>
            </a:r>
            <a:pPr algn="ctr" indent="0" marL="0">
              <a:buNone/>
            </a:pPr>
            <a:r>
              <a:rPr lang="en-US" sz="1500" dirty="0">
                <a:solidFill>
                  <a:srgbClr val="666C7A"/>
                </a:solidFill>
                <a:latin typeface="Calibri" pitchFamily="34" charset="0"/>
                <a:ea typeface="Calibri" pitchFamily="34" charset="-122"/>
                <a:cs typeface="Calibri" pitchFamily="34" charset="-120"/>
              </a:rPr>
              <a:t>: about 24 KB of markup, plus the photograph embedded in it. No framework, no build step, no network.</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LEVER FOUR, THE HONEST VERSION</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Every page passed. </a:t>
            </a:r>
            <a:pPr indent="0" marL="0">
              <a:buNone/>
            </a:pPr>
            <a:r>
              <a:rPr lang="en-US" sz="3000" b="1" dirty="0">
                <a:solidFill>
                  <a:srgbClr val="E11D48"/>
                </a:solidFill>
                <a:latin typeface="Arial" pitchFamily="34" charset="0"/>
                <a:ea typeface="Arial" pitchFamily="34" charset="-122"/>
                <a:cs typeface="Arial" pitchFamily="34" charset="-120"/>
              </a:rPr>
              <a:t>Together they looked machine-made.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 guard that reads one page at a time cannot see the thing a room notices first. Six ideas, six clean pages, and three of them opened with the same four words.</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Absence is not quality</a:t>
            </a:r>
            <a:endParaRPr lang="en-US" sz="1500" dirty="0"/>
          </a:p>
        </p:txBody>
      </p:sp>
      <p:sp>
        <p:nvSpPr>
          <p:cNvPr id="9" name="Text 6"/>
          <p:cNvSpPr/>
          <p:nvPr/>
        </p:nvSpPr>
        <p:spPr>
          <a:xfrm>
            <a:off x="11612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Eight rules checked that tells were missing. Nothing required anything to be good, so the output was clean and forgettable.</a:t>
            </a:r>
            <a:endParaRPr lang="en-US" sz="115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Colour, computed</a:t>
            </a:r>
            <a:endParaRPr lang="en-US" sz="1500" dirty="0"/>
          </a:p>
        </p:txBody>
      </p:sp>
      <p:sp>
        <p:nvSpPr>
          <p:cNvPr id="14" name="Text 10"/>
          <p:cNvSpPr/>
          <p:nvPr/>
        </p:nvSpPr>
        <p:spPr>
          <a:xfrm>
            <a:off x="48188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Nine of thirty-six palette values sat in the blue-violet band. Now the hue, the WCAG contrast and the accent separation are arithmetic.</a:t>
            </a:r>
            <a:endParaRPr lang="en-US" sz="115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One template is the tell</a:t>
            </a:r>
            <a:endParaRPr lang="en-US" sz="1500" dirty="0"/>
          </a:p>
        </p:txBody>
      </p:sp>
      <p:sp>
        <p:nvSpPr>
          <p:cNvPr id="19" name="Text 14"/>
          <p:cNvSpPr/>
          <p:nvPr/>
        </p:nvSpPr>
        <p:spPr>
          <a:xfrm>
            <a:off x="84764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Three hero compositions, eight palette families, five artworks. The layout is a decision per idea, not a constant.</a:t>
            </a:r>
            <a:endParaRPr lang="en-US" sz="115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Remember the slot</a:t>
            </a:r>
            <a:endParaRPr lang="en-US" sz="1500" dirty="0"/>
          </a:p>
        </p:txBody>
      </p:sp>
      <p:sp>
        <p:nvSpPr>
          <p:cNvPr id="24" name="Text 18"/>
          <p:cNvSpPr/>
          <p:nvPr/>
        </p:nvSpPr>
        <p:spPr>
          <a:xfrm>
            <a:off x="11612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The ledger first remembered finished sentences, so two pages that shared a template looked like two values. A room sees the template.</a:t>
            </a:r>
            <a:endParaRPr lang="en-US" sz="115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Record the model's pick too</a:t>
            </a:r>
            <a:endParaRPr lang="en-US" sz="1500" dirty="0"/>
          </a:p>
        </p:txBody>
      </p:sp>
      <p:sp>
        <p:nvSpPr>
          <p:cNvPr id="29" name="Text 22"/>
          <p:cNvSpPr/>
          <p:nvPr/>
        </p:nvSpPr>
        <p:spPr>
          <a:xfrm>
            <a:off x="48188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It only wrote down its own choices. The Illustrator answered 'waves' five times running and nothing stopped it.</a:t>
            </a:r>
            <a:endParaRPr lang="en-US" sz="115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The schema is a lever</a:t>
            </a:r>
            <a:endParaRPr lang="en-US" sz="1500" dirty="0"/>
          </a:p>
        </p:txBody>
      </p:sp>
      <p:sp>
        <p:nvSpPr>
          <p:cNvPr id="34" name="Text 26"/>
          <p:cNvSpPr/>
          <p:nvPr/>
        </p:nvSpPr>
        <p:spPr>
          <a:xfrm>
            <a:off x="84764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A nested object failed every call on a 3b model. Five flat labelled lines land nearly every time. Same model, same prompt.</a:t>
            </a:r>
            <a:endParaRPr lang="en-US" sz="115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The guard reads one page. </a:t>
            </a:r>
            <a:pPr algn="ctr" indent="0" marL="0">
              <a:buNone/>
            </a:pPr>
            <a:r>
              <a:rPr lang="en-US" sz="1550" b="1" dirty="0">
                <a:solidFill>
                  <a:srgbClr val="E11D48"/>
                </a:solidFill>
                <a:latin typeface="Calibri" pitchFamily="34" charset="0"/>
                <a:ea typeface="Calibri" pitchFamily="34" charset="-122"/>
                <a:cs typeface="Calibri" pitchFamily="34" charset="-120"/>
              </a:rPr>
              <a:t>The harness has to read the room.</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WHAT THE PAGE ACTUALLY SHOWS</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Abstract art is decoration. </a:t>
            </a:r>
            <a:pPr indent="0" marL="0">
              <a:buNone/>
            </a:pPr>
            <a:r>
              <a:rPr lang="en-US" sz="3000" b="1" dirty="0">
                <a:solidFill>
                  <a:srgbClr val="0F9E8E"/>
                </a:solidFill>
                <a:latin typeface="Arial" pitchFamily="34" charset="0"/>
                <a:ea typeface="Arial" pitchFamily="34" charset="-122"/>
                <a:cs typeface="Arial" pitchFamily="34" charset="-120"/>
              </a:rPr>
              <a:t>Decoration is slop.</a:t>
            </a:r>
            <a:endParaRPr lang="en-US" sz="3000" dirty="0"/>
          </a:p>
        </p:txBody>
      </p:sp>
      <p:sp>
        <p:nvSpPr>
          <p:cNvPr id="4" name="Text 2"/>
          <p:cNvSpPr/>
          <p:nvPr/>
        </p:nvSpPr>
        <p:spPr>
          <a:xfrm>
            <a:off x="841248" y="1783080"/>
            <a:ext cx="859536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The Illustrator used to pick rings, waves or a field of dots. Every page got a pattern. A real landing page shows the product, so now it draws one: nine interfaces, in SVG, offline.</a:t>
            </a:r>
            <a:endParaRPr lang="en-US" sz="1550" dirty="0"/>
          </a:p>
        </p:txBody>
      </p:sp>
      <p:sp>
        <p:nvSpPr>
          <p:cNvPr id="5" name="Shape 3"/>
          <p:cNvSpPr/>
          <p:nvPr/>
        </p:nvSpPr>
        <p:spPr>
          <a:xfrm>
            <a:off x="8412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33856" y="2679192"/>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34806" y="2780142"/>
            <a:ext cx="218724" cy="218724"/>
          </a:xfrm>
          <a:prstGeom prst="rect">
            <a:avLst/>
          </a:prstGeom>
        </p:spPr>
      </p:pic>
      <p:sp>
        <p:nvSpPr>
          <p:cNvPr id="8" name="Text 5"/>
          <p:cNvSpPr/>
          <p:nvPr/>
        </p:nvSpPr>
        <p:spPr>
          <a:xfrm>
            <a:off x="17099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calendar</a:t>
            </a:r>
            <a:endParaRPr lang="en-US" sz="1300" dirty="0"/>
          </a:p>
        </p:txBody>
      </p:sp>
      <p:sp>
        <p:nvSpPr>
          <p:cNvPr id="9" name="Text 6"/>
          <p:cNvSpPr/>
          <p:nvPr/>
        </p:nvSpPr>
        <p:spPr>
          <a:xfrm>
            <a:off x="17099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slots taken, one booked</a:t>
            </a:r>
            <a:endParaRPr lang="en-US" sz="1150" dirty="0"/>
          </a:p>
        </p:txBody>
      </p:sp>
      <p:sp>
        <p:nvSpPr>
          <p:cNvPr id="10" name="Shape 7"/>
          <p:cNvSpPr/>
          <p:nvPr/>
        </p:nvSpPr>
        <p:spPr>
          <a:xfrm>
            <a:off x="44988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791456" y="2679192"/>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892406" y="2780142"/>
            <a:ext cx="218724" cy="218724"/>
          </a:xfrm>
          <a:prstGeom prst="rect">
            <a:avLst/>
          </a:prstGeom>
        </p:spPr>
      </p:pic>
      <p:sp>
        <p:nvSpPr>
          <p:cNvPr id="13" name="Text 9"/>
          <p:cNvSpPr/>
          <p:nvPr/>
        </p:nvSpPr>
        <p:spPr>
          <a:xfrm>
            <a:off x="53675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timer</a:t>
            </a:r>
            <a:endParaRPr lang="en-US" sz="1300" dirty="0"/>
          </a:p>
        </p:txBody>
      </p:sp>
      <p:sp>
        <p:nvSpPr>
          <p:cNvPr id="14" name="Text 10"/>
          <p:cNvSpPr/>
          <p:nvPr/>
        </p:nvSpPr>
        <p:spPr>
          <a:xfrm>
            <a:off x="53675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dial and the time left</a:t>
            </a:r>
            <a:endParaRPr lang="en-US" sz="1150" dirty="0"/>
          </a:p>
        </p:txBody>
      </p:sp>
      <p:sp>
        <p:nvSpPr>
          <p:cNvPr id="15" name="Shape 11"/>
          <p:cNvSpPr/>
          <p:nvPr/>
        </p:nvSpPr>
        <p:spPr>
          <a:xfrm>
            <a:off x="81564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49056" y="2679192"/>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50006" y="2780142"/>
            <a:ext cx="218724" cy="218724"/>
          </a:xfrm>
          <a:prstGeom prst="rect">
            <a:avLst/>
          </a:prstGeom>
        </p:spPr>
      </p:pic>
      <p:sp>
        <p:nvSpPr>
          <p:cNvPr id="18" name="Text 13"/>
          <p:cNvSpPr/>
          <p:nvPr/>
        </p:nvSpPr>
        <p:spPr>
          <a:xfrm>
            <a:off x="90251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ledger</a:t>
            </a:r>
            <a:endParaRPr lang="en-US" sz="1300" dirty="0"/>
          </a:p>
        </p:txBody>
      </p:sp>
      <p:sp>
        <p:nvSpPr>
          <p:cNvPr id="19" name="Text 14"/>
          <p:cNvSpPr/>
          <p:nvPr/>
        </p:nvSpPr>
        <p:spPr>
          <a:xfrm>
            <a:off x="90251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contributions and a total</a:t>
            </a:r>
            <a:endParaRPr lang="en-US" sz="1150" dirty="0"/>
          </a:p>
        </p:txBody>
      </p:sp>
      <p:sp>
        <p:nvSpPr>
          <p:cNvPr id="20" name="Shape 15"/>
          <p:cNvSpPr/>
          <p:nvPr/>
        </p:nvSpPr>
        <p:spPr>
          <a:xfrm>
            <a:off x="8412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33856" y="3977640"/>
            <a:ext cx="420624" cy="42062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34806" y="4078590"/>
            <a:ext cx="218724" cy="218724"/>
          </a:xfrm>
          <a:prstGeom prst="rect">
            <a:avLst/>
          </a:prstGeom>
        </p:spPr>
      </p:pic>
      <p:sp>
        <p:nvSpPr>
          <p:cNvPr id="23" name="Text 17"/>
          <p:cNvSpPr/>
          <p:nvPr/>
        </p:nvSpPr>
        <p:spPr>
          <a:xfrm>
            <a:off x="17099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chart</a:t>
            </a:r>
            <a:endParaRPr lang="en-US" sz="1300" dirty="0"/>
          </a:p>
        </p:txBody>
      </p:sp>
      <p:sp>
        <p:nvSpPr>
          <p:cNvPr id="24" name="Text 18"/>
          <p:cNvSpPr/>
          <p:nvPr/>
        </p:nvSpPr>
        <p:spPr>
          <a:xfrm>
            <a:off x="17099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threshold, and the breach</a:t>
            </a:r>
            <a:endParaRPr lang="en-US" sz="1150" dirty="0"/>
          </a:p>
        </p:txBody>
      </p:sp>
      <p:sp>
        <p:nvSpPr>
          <p:cNvPr id="25" name="Shape 19"/>
          <p:cNvSpPr/>
          <p:nvPr/>
        </p:nvSpPr>
        <p:spPr>
          <a:xfrm>
            <a:off x="44988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791456" y="3977640"/>
            <a:ext cx="420624" cy="42062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892406" y="4078590"/>
            <a:ext cx="218724" cy="218724"/>
          </a:xfrm>
          <a:prstGeom prst="rect">
            <a:avLst/>
          </a:prstGeom>
        </p:spPr>
      </p:pic>
      <p:sp>
        <p:nvSpPr>
          <p:cNvPr id="28" name="Text 21"/>
          <p:cNvSpPr/>
          <p:nvPr/>
        </p:nvSpPr>
        <p:spPr>
          <a:xfrm>
            <a:off x="53675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checklist</a:t>
            </a:r>
            <a:endParaRPr lang="en-US" sz="1300" dirty="0"/>
          </a:p>
        </p:txBody>
      </p:sp>
      <p:sp>
        <p:nvSpPr>
          <p:cNvPr id="29" name="Text 22"/>
          <p:cNvSpPr/>
          <p:nvPr/>
        </p:nvSpPr>
        <p:spPr>
          <a:xfrm>
            <a:off x="53675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ticked off, and whose turn</a:t>
            </a:r>
            <a:endParaRPr lang="en-US" sz="1150" dirty="0"/>
          </a:p>
        </p:txBody>
      </p:sp>
      <p:sp>
        <p:nvSpPr>
          <p:cNvPr id="30" name="Shape 23"/>
          <p:cNvSpPr/>
          <p:nvPr/>
        </p:nvSpPr>
        <p:spPr>
          <a:xfrm>
            <a:off x="81564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49056" y="3977640"/>
            <a:ext cx="420624" cy="42062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50006" y="4078590"/>
            <a:ext cx="218724" cy="218724"/>
          </a:xfrm>
          <a:prstGeom prst="rect">
            <a:avLst/>
          </a:prstGeom>
        </p:spPr>
      </p:pic>
      <p:sp>
        <p:nvSpPr>
          <p:cNvPr id="33" name="Text 25"/>
          <p:cNvSpPr/>
          <p:nvPr/>
        </p:nvSpPr>
        <p:spPr>
          <a:xfrm>
            <a:off x="90251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route</a:t>
            </a:r>
            <a:endParaRPr lang="en-US" sz="1300" dirty="0"/>
          </a:p>
        </p:txBody>
      </p:sp>
      <p:sp>
        <p:nvSpPr>
          <p:cNvPr id="34" name="Text 26"/>
          <p:cNvSpPr/>
          <p:nvPr/>
        </p:nvSpPr>
        <p:spPr>
          <a:xfrm>
            <a:off x="90251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stops, and a destination pin</a:t>
            </a:r>
            <a:endParaRPr lang="en-US" sz="1150" dirty="0"/>
          </a:p>
        </p:txBody>
      </p:sp>
      <p:sp>
        <p:nvSpPr>
          <p:cNvPr id="35" name="Shape 27"/>
          <p:cNvSpPr/>
          <p:nvPr/>
        </p:nvSpPr>
        <p:spPr>
          <a:xfrm>
            <a:off x="8412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28"/>
          <p:cNvSpPr/>
          <p:nvPr/>
        </p:nvSpPr>
        <p:spPr>
          <a:xfrm>
            <a:off x="1133856" y="5276088"/>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37" name="Image 6" descr="preencoded.png">    </p:cNvPr>
          <p:cNvPicPr>
            <a:picLocks noChangeAspect="1"/>
          </p:cNvPicPr>
          <p:nvPr/>
        </p:nvPicPr>
        <p:blipFill>
          <a:blip r:embed="rId7"/>
          <a:stretch>
            <a:fillRect/>
          </a:stretch>
        </p:blipFill>
        <p:spPr>
          <a:xfrm>
            <a:off x="1234806" y="5377038"/>
            <a:ext cx="218724" cy="218724"/>
          </a:xfrm>
          <a:prstGeom prst="rect">
            <a:avLst/>
          </a:prstGeom>
        </p:spPr>
      </p:pic>
      <p:sp>
        <p:nvSpPr>
          <p:cNvPr id="38" name="Text 29"/>
          <p:cNvSpPr/>
          <p:nvPr/>
        </p:nvSpPr>
        <p:spPr>
          <a:xfrm>
            <a:off x="17099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inbox</a:t>
            </a:r>
            <a:endParaRPr lang="en-US" sz="1300" dirty="0"/>
          </a:p>
        </p:txBody>
      </p:sp>
      <p:sp>
        <p:nvSpPr>
          <p:cNvPr id="39" name="Text 30"/>
          <p:cNvSpPr/>
          <p:nvPr/>
        </p:nvSpPr>
        <p:spPr>
          <a:xfrm>
            <a:off x="17099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thread and a reply box</a:t>
            </a:r>
            <a:endParaRPr lang="en-US" sz="1150" dirty="0"/>
          </a:p>
        </p:txBody>
      </p:sp>
      <p:sp>
        <p:nvSpPr>
          <p:cNvPr id="40" name="Shape 31"/>
          <p:cNvSpPr/>
          <p:nvPr/>
        </p:nvSpPr>
        <p:spPr>
          <a:xfrm>
            <a:off x="44988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1" name="Shape 32"/>
          <p:cNvSpPr/>
          <p:nvPr/>
        </p:nvSpPr>
        <p:spPr>
          <a:xfrm>
            <a:off x="4791456" y="5276088"/>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42" name="Image 7" descr="preencoded.png">    </p:cNvPr>
          <p:cNvPicPr>
            <a:picLocks noChangeAspect="1"/>
          </p:cNvPicPr>
          <p:nvPr/>
        </p:nvPicPr>
        <p:blipFill>
          <a:blip r:embed="rId8"/>
          <a:stretch>
            <a:fillRect/>
          </a:stretch>
        </p:blipFill>
        <p:spPr>
          <a:xfrm>
            <a:off x="4892406" y="5377038"/>
            <a:ext cx="218724" cy="218724"/>
          </a:xfrm>
          <a:prstGeom prst="rect">
            <a:avLst/>
          </a:prstGeom>
        </p:spPr>
      </p:pic>
      <p:sp>
        <p:nvSpPr>
          <p:cNvPr id="43" name="Text 33"/>
          <p:cNvSpPr/>
          <p:nvPr/>
        </p:nvSpPr>
        <p:spPr>
          <a:xfrm>
            <a:off x="53675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catalog</a:t>
            </a:r>
            <a:endParaRPr lang="en-US" sz="1300" dirty="0"/>
          </a:p>
        </p:txBody>
      </p:sp>
      <p:sp>
        <p:nvSpPr>
          <p:cNvPr id="44" name="Text 34"/>
          <p:cNvSpPr/>
          <p:nvPr/>
        </p:nvSpPr>
        <p:spPr>
          <a:xfrm>
            <a:off x="53675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product cards and a basket</a:t>
            </a:r>
            <a:endParaRPr lang="en-US" sz="1150" dirty="0"/>
          </a:p>
        </p:txBody>
      </p:sp>
      <p:sp>
        <p:nvSpPr>
          <p:cNvPr id="45" name="Shape 35"/>
          <p:cNvSpPr/>
          <p:nvPr/>
        </p:nvSpPr>
        <p:spPr>
          <a:xfrm>
            <a:off x="81564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6" name="Shape 36"/>
          <p:cNvSpPr/>
          <p:nvPr/>
        </p:nvSpPr>
        <p:spPr>
          <a:xfrm>
            <a:off x="8449056" y="5276088"/>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47" name="Image 8" descr="preencoded.png">    </p:cNvPr>
          <p:cNvPicPr>
            <a:picLocks noChangeAspect="1"/>
          </p:cNvPicPr>
          <p:nvPr/>
        </p:nvPicPr>
        <p:blipFill>
          <a:blip r:embed="rId9"/>
          <a:stretch>
            <a:fillRect/>
          </a:stretch>
        </p:blipFill>
        <p:spPr>
          <a:xfrm>
            <a:off x="8550006" y="5377038"/>
            <a:ext cx="218724" cy="218724"/>
          </a:xfrm>
          <a:prstGeom prst="rect">
            <a:avLst/>
          </a:prstGeom>
        </p:spPr>
      </p:pic>
      <p:sp>
        <p:nvSpPr>
          <p:cNvPr id="48" name="Text 37"/>
          <p:cNvSpPr/>
          <p:nvPr/>
        </p:nvSpPr>
        <p:spPr>
          <a:xfrm>
            <a:off x="90251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dashboard</a:t>
            </a:r>
            <a:endParaRPr lang="en-US" sz="1300" dirty="0"/>
          </a:p>
        </p:txBody>
      </p:sp>
      <p:sp>
        <p:nvSpPr>
          <p:cNvPr id="49" name="Text 38"/>
          <p:cNvSpPr/>
          <p:nvPr/>
        </p:nvSpPr>
        <p:spPr>
          <a:xfrm>
            <a:off x="90251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when nothing else fits</a:t>
            </a:r>
            <a:endParaRPr lang="en-US" sz="1150" dirty="0"/>
          </a:p>
        </p:txBody>
      </p:sp>
      <p:sp>
        <p:nvSpPr>
          <p:cNvPr id="50" name="Text 39"/>
          <p:cNvSpPr/>
          <p:nvPr/>
        </p:nvSpPr>
        <p:spPr>
          <a:xfrm>
            <a:off x="1280160" y="6309360"/>
            <a:ext cx="963137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Asked to choose, Qwen said dashboard for a stokvel tracker. </a:t>
            </a:r>
            <a:pPr algn="ctr" indent="0" marL="0">
              <a:buNone/>
            </a:pPr>
            <a:r>
              <a:rPr lang="en-US" sz="1450" b="1" dirty="0">
                <a:solidFill>
                  <a:srgbClr val="0F9E8E"/>
                </a:solidFill>
                <a:latin typeface="Calibri" pitchFamily="34" charset="0"/>
                <a:ea typeface="Calibri" pitchFamily="34" charset="-122"/>
                <a:cs typeface="Calibri" pitchFamily="34" charset="-120"/>
              </a:rPr>
              <a:t>When the idea's own words are clear, the words win.</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THE LAST EDGE IN THE WEB</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Seven agents wrote a field. </a:t>
            </a:r>
            <a:pPr indent="0" marL="0">
              <a:buNone/>
            </a:pPr>
            <a:r>
              <a:rPr lang="en-US" sz="3000" b="1" dirty="0">
                <a:solidFill>
                  <a:srgbClr val="E11D48"/>
                </a:solidFill>
                <a:latin typeface="Arial" pitchFamily="34" charset="0"/>
                <a:ea typeface="Arial" pitchFamily="34" charset="-122"/>
                <a:cs typeface="Arial" pitchFamily="34" charset="-120"/>
              </a:rPr>
              <a:t>Nobody read the page.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worker owns one slice, so nothing in the crew ever saw the assembled result. That is how copy ships that is individually fine and collectively flat.</a:t>
            </a:r>
            <a:endParaRPr lang="en-US" sz="1550" dirty="0"/>
          </a:p>
        </p:txBody>
      </p:sp>
      <p:sp>
        <p:nvSpPr>
          <p:cNvPr id="5" name="Shape 3"/>
          <p:cNvSpPr/>
          <p:nvPr/>
        </p:nvSpPr>
        <p:spPr>
          <a:xfrm>
            <a:off x="8412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9077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3026298"/>
            <a:ext cx="256764" cy="256764"/>
          </a:xfrm>
          <a:prstGeom prst="rect">
            <a:avLst/>
          </a:prstGeom>
        </p:spPr>
      </p:pic>
      <p:sp>
        <p:nvSpPr>
          <p:cNvPr id="8" name="Text 5"/>
          <p:cNvSpPr/>
          <p:nvPr/>
        </p:nvSpPr>
        <p:spPr>
          <a:xfrm>
            <a:off x="17739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sees the whole page</a:t>
            </a:r>
            <a:endParaRPr lang="en-US" sz="1500" dirty="0"/>
          </a:p>
        </p:txBody>
      </p:sp>
      <p:sp>
        <p:nvSpPr>
          <p:cNvPr id="9" name="Text 6"/>
          <p:cNvSpPr/>
          <p:nvPr/>
        </p:nvSpPr>
        <p:spPr>
          <a:xfrm>
            <a:off x="11612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Headline, subhead, button and all three features, together, after everything else has run.</a:t>
            </a:r>
            <a:endParaRPr lang="en-US" sz="1200" dirty="0"/>
          </a:p>
        </p:txBody>
      </p:sp>
      <p:sp>
        <p:nvSpPr>
          <p:cNvPr id="10" name="Shape 7"/>
          <p:cNvSpPr/>
          <p:nvPr/>
        </p:nvSpPr>
        <p:spPr>
          <a:xfrm>
            <a:off x="44988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907792"/>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3026298"/>
            <a:ext cx="256764" cy="256764"/>
          </a:xfrm>
          <a:prstGeom prst="rect">
            <a:avLst/>
          </a:prstGeom>
        </p:spPr>
      </p:pic>
      <p:sp>
        <p:nvSpPr>
          <p:cNvPr id="13" name="Text 9"/>
          <p:cNvSpPr/>
          <p:nvPr/>
        </p:nvSpPr>
        <p:spPr>
          <a:xfrm>
            <a:off x="54315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changes one line</a:t>
            </a:r>
            <a:endParaRPr lang="en-US" sz="1500" dirty="0"/>
          </a:p>
        </p:txBody>
      </p:sp>
      <p:sp>
        <p:nvSpPr>
          <p:cNvPr id="14" name="Text 10"/>
          <p:cNvSpPr/>
          <p:nvPr/>
        </p:nvSpPr>
        <p:spPr>
          <a:xfrm>
            <a:off x="48188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One field, one replacement. Ask for everything wrong and you get a list nobody acts on.</a:t>
            </a:r>
            <a:endParaRPr lang="en-US" sz="1200" dirty="0"/>
          </a:p>
        </p:txBody>
      </p:sp>
      <p:sp>
        <p:nvSpPr>
          <p:cNvPr id="15" name="Shape 11"/>
          <p:cNvSpPr/>
          <p:nvPr/>
        </p:nvSpPr>
        <p:spPr>
          <a:xfrm>
            <a:off x="81564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907792"/>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3026298"/>
            <a:ext cx="256764" cy="256764"/>
          </a:xfrm>
          <a:prstGeom prst="rect">
            <a:avLst/>
          </a:prstGeom>
        </p:spPr>
      </p:pic>
      <p:sp>
        <p:nvSpPr>
          <p:cNvPr id="18" name="Text 13"/>
          <p:cNvSpPr/>
          <p:nvPr/>
        </p:nvSpPr>
        <p:spPr>
          <a:xfrm>
            <a:off x="90891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Its rewrite is not trusted</a:t>
            </a:r>
            <a:endParaRPr lang="en-US" sz="1500" dirty="0"/>
          </a:p>
        </p:txBody>
      </p:sp>
      <p:sp>
        <p:nvSpPr>
          <p:cNvPr id="19" name="Text 14"/>
          <p:cNvSpPr/>
          <p:nvPr/>
        </p:nvSpPr>
        <p:spPr>
          <a:xfrm>
            <a:off x="84764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replacement clears the same checks as any other copy, and gets refused if it does not.</a:t>
            </a:r>
            <a:endParaRPr lang="en-US" sz="1200" dirty="0"/>
          </a:p>
        </p:txBody>
      </p:sp>
      <p:sp>
        <p:nvSpPr>
          <p:cNvPr id="20" name="Text 15"/>
          <p:cNvSpPr/>
          <p:nvPr/>
        </p:nvSpPr>
        <p:spPr>
          <a:xfrm>
            <a:off x="1097280" y="5120640"/>
            <a:ext cx="999713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It was asked for two labelled lines. It replies </a:t>
            </a:r>
            <a:pPr algn="ctr" indent="0" marL="0">
              <a:buNone/>
            </a:pPr>
            <a:r>
              <a:rPr lang="en-US" sz="1450" b="1" dirty="0">
                <a:solidFill>
                  <a:srgbClr val="E11D48"/>
                </a:solidFill>
                <a:latin typeface="Consolas" pitchFamily="34" charset="0"/>
                <a:ea typeface="Consolas" pitchFamily="34" charset="-122"/>
                <a:cs typeface="Consolas" pitchFamily="34" charset="-120"/>
              </a:rPr>
              <a:t>subhead: &lt;rewrite&gt;</a:t>
            </a:r>
            <a:pPr algn="ctr" indent="0" marL="0">
              <a:buNone/>
            </a:pPr>
            <a:r>
              <a:rPr lang="en-US" sz="1450" dirty="0">
                <a:solidFill>
                  <a:srgbClr val="666C7A"/>
                </a:solidFill>
                <a:latin typeface="Calibri" pitchFamily="34" charset="0"/>
                <a:ea typeface="Calibri" pitchFamily="34" charset="-122"/>
                <a:cs typeface="Calibri" pitchFamily="34" charset="-120"/>
              </a:rPr>
              <a:t> instead. That is a usable answer, so the parser takes both.</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eight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eight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2026-08-12T09:30:51Z</dcterms:created>
  <dcterms:modified xsi:type="dcterms:W3CDTF">2026-08-12T09:30:51Z</dcterms:modified>
</cp:coreProperties>
</file>