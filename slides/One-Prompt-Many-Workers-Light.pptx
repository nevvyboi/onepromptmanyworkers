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talk has a live build. Scan that, hop on the wifi, and send my agents a product idea, anything, the sillier the better. Later we pick one and build a real landing page for it, live, on this screen. It all runs on this laptop.' Then carry on. Submissions pile up while you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Ollama with Qwen. Orchestration, LangChain4j or Spring AI. Tools, the hands. Memory, the notebook. Structured output, so the answer comes back as data, not a paragraph. Hold that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Qwen through Ollama, entirely on this laptop. The client's data never leaves the building. No token bill that scales with success. Works on a plane. For a bank, it never leaves the building is the whole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One prompt hits a planner. The planner decides who should work and hands back a typed crew. Each worker is the same model wearing a different hat. A synthesizer folds every answer into one plan. Fan out, fan in. Nobody hardcoded those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worker in LangChain4j is an interface. No implementation. The annotations are the program. The system message makes it a specialist, role and task get slotted in. One interface backs every worker, that is the many workers line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is the whole talk in fifteen lines. The planner turns one prompt into a crew, a typed Plan. We loop, each worker does its job, we collect notes, the synthesizer folds them into one answer. Fan out, fan in. Now, let's run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One Prompt.</a:t>
            </a:r>
            <a:endParaRPr lang="en-US" sz="6000" dirty="0"/>
          </a:p>
          <a:p>
            <a:pPr indent="0" marL="0">
              <a:lnSpc>
                <a:spcPts val="6200"/>
              </a:lnSpc>
              <a:buNone/>
            </a:pPr>
            <a:r>
              <a:rPr lang="en-US" sz="6000" b="1" spc="-50" kern="0" dirty="0">
                <a:solidFill>
                  <a:srgbClr val="16181D"/>
                </a:solidFill>
                <a:latin typeface="Arial" pitchFamily="34" charset="0"/>
                <a:ea typeface="Arial" pitchFamily="34" charset="-122"/>
                <a:cs typeface="Arial" pitchFamily="34" charset="-120"/>
              </a:rPr>
              <a:t>Many Workers</a:t>
            </a:r>
            <a:pPr indent="0" marL="0">
              <a:lnSpc>
                <a:spcPts val="6200"/>
              </a:lnSpc>
              <a:buNone/>
            </a:pPr>
            <a:r>
              <a:rPr lang="en-US" sz="6000" b="1" spc="-50" kern="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indent="0" marL="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4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400"/>
              </a:lnSpc>
              <a:buNone/>
            </a:pPr>
            <a:endParaRPr lang="en-US" sz="1250" dirty="0"/>
          </a:p>
          <a:p>
            <a:pPr indent="0" marL="0">
              <a:lnSpc>
                <a:spcPts val="2400"/>
              </a:lnSpc>
              <a:buNone/>
            </a:pPr>
            <a:r>
              <a:rPr lang="en-US" sz="1250" dirty="0">
                <a:solidFill>
                  <a:srgbClr val="666C7A"/>
                </a:solidFill>
                <a:latin typeface="Consolas" pitchFamily="34" charset="0"/>
                <a:ea typeface="Consolas" pitchFamily="34" charset="-122"/>
                <a:cs typeface="Consolas" pitchFamily="34" charset="-120"/>
              </a:rPr>
              <a:t>local model   ·   no cloud   ·   live code</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sp>
      <p:sp>
        <p:nvSpPr>
          <p:cNvPr id="7" name="Shape 5"/>
          <p:cNvSpPr/>
          <p:nvPr/>
        </p:nvSpPr>
        <p:spPr>
          <a:xfrm flipV="1">
            <a:off x="8366760" y="2331720"/>
            <a:ext cx="2377440" cy="1097280"/>
          </a:xfrm>
          <a:prstGeom prst="line">
            <a:avLst/>
          </a:prstGeom>
          <a:noFill/>
          <a:ln w="22225">
            <a:solidFill>
              <a:srgbClr val="7C3AED"/>
            </a:solidFill>
            <a:prstDash val="solid"/>
          </a:ln>
        </p:spPr>
      </p:sp>
      <p:sp>
        <p:nvSpPr>
          <p:cNvPr id="8" name="Shape 6"/>
          <p:cNvSpPr/>
          <p:nvPr/>
        </p:nvSpPr>
        <p:spPr>
          <a:xfrm>
            <a:off x="8366760" y="3429000"/>
            <a:ext cx="2377440" cy="0"/>
          </a:xfrm>
          <a:prstGeom prst="line">
            <a:avLst/>
          </a:prstGeom>
          <a:noFill/>
          <a:ln w="22225">
            <a:solidFill>
              <a:srgbClr val="4F46E5"/>
            </a:solidFill>
            <a:prstDash val="solid"/>
          </a:ln>
        </p:spPr>
      </p:sp>
      <p:sp>
        <p:nvSpPr>
          <p:cNvPr id="9" name="Shape 7"/>
          <p:cNvSpPr/>
          <p:nvPr/>
        </p:nvSpPr>
        <p:spPr>
          <a:xfrm>
            <a:off x="8366760" y="3429000"/>
            <a:ext cx="2377440" cy="1097280"/>
          </a:xfrm>
          <a:prstGeom prst="line">
            <a:avLst/>
          </a:prstGeom>
          <a:noFill/>
          <a:ln w="22225">
            <a:solidFill>
              <a:srgbClr val="E11D48"/>
            </a:solidFill>
            <a:prstDash val="solid"/>
          </a:ln>
        </p:spPr>
      </p:sp>
      <p:sp>
        <p:nvSpPr>
          <p:cNvPr id="10" name="Shape 8"/>
          <p:cNvSpPr/>
          <p:nvPr/>
        </p:nvSpPr>
        <p:spPr>
          <a:xfrm>
            <a:off x="8366760" y="3429000"/>
            <a:ext cx="2377440" cy="2148840"/>
          </a:xfrm>
          <a:prstGeom prst="line">
            <a:avLst/>
          </a:prstGeom>
          <a:noFill/>
          <a:ln w="22225">
            <a:solidFill>
              <a:srgbClr val="0284C7"/>
            </a:solidFill>
            <a:prstDash val="solid"/>
          </a:ln>
        </p:spPr>
      </p:sp>
      <p:sp>
        <p:nvSpPr>
          <p:cNvPr id="11" name="Shape 9"/>
          <p:cNvSpPr/>
          <p:nvPr/>
        </p:nvSpPr>
        <p:spPr>
          <a:xfrm>
            <a:off x="10634472" y="1170432"/>
            <a:ext cx="219456" cy="219456"/>
          </a:xfrm>
          <a:prstGeom prst="ellipse">
            <a:avLst/>
          </a:prstGeom>
          <a:solidFill>
            <a:srgbClr val="0F9E8E"/>
          </a:solidFill>
          <a:ln/>
        </p:spPr>
      </p:sp>
      <p:sp>
        <p:nvSpPr>
          <p:cNvPr id="12" name="Shape 10"/>
          <p:cNvSpPr/>
          <p:nvPr/>
        </p:nvSpPr>
        <p:spPr>
          <a:xfrm>
            <a:off x="10634472" y="2221992"/>
            <a:ext cx="219456" cy="219456"/>
          </a:xfrm>
          <a:prstGeom prst="ellipse">
            <a:avLst/>
          </a:prstGeom>
          <a:solidFill>
            <a:srgbClr val="7C3AED"/>
          </a:solidFill>
          <a:ln/>
        </p:spPr>
      </p:sp>
      <p:sp>
        <p:nvSpPr>
          <p:cNvPr id="13" name="Shape 11"/>
          <p:cNvSpPr/>
          <p:nvPr/>
        </p:nvSpPr>
        <p:spPr>
          <a:xfrm>
            <a:off x="10634472" y="3319272"/>
            <a:ext cx="219456" cy="219456"/>
          </a:xfrm>
          <a:prstGeom prst="ellipse">
            <a:avLst/>
          </a:prstGeom>
          <a:solidFill>
            <a:srgbClr val="4F46E5"/>
          </a:solidFill>
          <a:ln/>
        </p:spPr>
      </p:sp>
      <p:sp>
        <p:nvSpPr>
          <p:cNvPr id="14" name="Shape 12"/>
          <p:cNvSpPr/>
          <p:nvPr/>
        </p:nvSpPr>
        <p:spPr>
          <a:xfrm>
            <a:off x="10634472" y="4416552"/>
            <a:ext cx="219456" cy="219456"/>
          </a:xfrm>
          <a:prstGeom prst="ellipse">
            <a:avLst/>
          </a:prstGeom>
          <a:solidFill>
            <a:srgbClr val="E11D48"/>
          </a:solidFill>
          <a:ln/>
        </p:spPr>
      </p:sp>
      <p:sp>
        <p:nvSpPr>
          <p:cNvPr id="15" name="Shape 13"/>
          <p:cNvSpPr/>
          <p:nvPr/>
        </p:nvSpPr>
        <p:spPr>
          <a:xfrm>
            <a:off x="10634472" y="5468112"/>
            <a:ext cx="219456" cy="219456"/>
          </a:xfrm>
          <a:prstGeom prst="ellipse">
            <a:avLst/>
          </a:prstGeom>
          <a:solidFill>
            <a:srgbClr val="0284C7"/>
          </a:solidFill>
          <a:ln/>
        </p:spPr>
      </p:sp>
      <p:sp>
        <p:nvSpPr>
          <p:cNvPr id="16" name="Shape 14"/>
          <p:cNvSpPr/>
          <p:nvPr/>
        </p:nvSpPr>
        <p:spPr>
          <a:xfrm>
            <a:off x="8156448" y="3218688"/>
            <a:ext cx="420624" cy="420624"/>
          </a:xfrm>
          <a:prstGeom prst="ellipse">
            <a:avLst/>
          </a:prstGeom>
          <a:solidFill>
            <a:srgbClr val="4F46E5"/>
          </a:solidFill>
          <a:ln/>
        </p:spPr>
      </p:sp>
      <p:pic>
        <p:nvPicPr>
          <p:cNvPr id="17" name="Image 0" descr="preencoded.png">    </p:cNvPr>
          <p:cNvPicPr>
            <a:picLocks noChangeAspect="1"/>
          </p:cNvPicPr>
          <p:nvPr/>
        </p:nvPicPr>
        <p:blipFill>
          <a:blip r:embed="rId1"/>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algn="ctr" indent="0" marL="0">
              <a:buNone/>
            </a:pPr>
            <a:r>
              <a:rPr lang="en-US" sz="900" spc="200" kern="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algn="ctr" indent="0" marL="0">
              <a:buNone/>
            </a:pPr>
            <a:r>
              <a:rPr lang="en-US" sz="900" spc="200" kern="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indent="0" marL="0">
              <a:lnSpc>
                <a:spcPts val="4800"/>
              </a:lnSpc>
              <a:buNone/>
            </a:pPr>
            <a:r>
              <a:rPr lang="en-US" sz="3800" b="1" dirty="0">
                <a:solidFill>
                  <a:srgbClr val="16181D"/>
                </a:solidFill>
                <a:latin typeface="Arial" pitchFamily="34" charset="0"/>
                <a:ea typeface="Arial" pitchFamily="34" charset="-122"/>
                <a:cs typeface="Arial" pitchFamily="34" charset="-120"/>
              </a:rPr>
              <a:t>I typed </a:t>
            </a:r>
            <a:pPr indent="0" marL="0">
              <a:lnSpc>
                <a:spcPts val="4800"/>
              </a:lnSpc>
              <a:buNone/>
            </a:pPr>
            <a:r>
              <a:rPr lang="en-US" sz="3800" b="1" dirty="0">
                <a:solidFill>
                  <a:srgbClr val="4F46E5"/>
                </a:solidFill>
                <a:latin typeface="Arial" pitchFamily="34" charset="0"/>
                <a:ea typeface="Arial" pitchFamily="34" charset="-122"/>
                <a:cs typeface="Arial" pitchFamily="34" charset="-120"/>
              </a:rPr>
              <a:t>one sentence.</a:t>
            </a:r>
            <a:pPr indent="0" marL="0">
              <a:lnSpc>
                <a:spcPts val="4800"/>
              </a:lnSpc>
              <a:buNone/>
            </a:pPr>
            <a:endParaRPr lang="en-US" sz="3800" dirty="0"/>
          </a:p>
          <a:p>
            <a:pPr indent="0" marL="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indent="0" marL="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indent="0" marL="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algn="ctr" indent="0" marL="0">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sp>
      <p:sp>
        <p:nvSpPr>
          <p:cNvPr id="13" name="Shape 11"/>
          <p:cNvSpPr/>
          <p:nvPr/>
        </p:nvSpPr>
        <p:spPr>
          <a:xfrm>
            <a:off x="9893808" y="2139696"/>
            <a:ext cx="329184" cy="32918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4" name="Image 0" descr="preencoded.png">    </p:cNvPr>
          <p:cNvPicPr>
            <a:picLocks noChangeAspect="1"/>
          </p:cNvPicPr>
          <p:nvPr/>
        </p:nvPicPr>
        <p:blipFill>
          <a:blip r:embed="rId1"/>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0" name="Image 2" descr="preencoded.png">    </p:cNvPr>
          <p:cNvPicPr>
            <a:picLocks noChangeAspect="1"/>
          </p:cNvPicPr>
          <p:nvPr/>
        </p:nvPicPr>
        <p:blipFill>
          <a:blip r:embed="rId3"/>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3" name="Image 3" descr="preencoded.png">    </p:cNvPr>
          <p:cNvPicPr>
            <a:picLocks noChangeAspect="1"/>
          </p:cNvPicPr>
          <p:nvPr/>
        </p:nvPicPr>
        <p:blipFill>
          <a:blip r:embed="rId4"/>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26" name="Image 4" descr="preencoded.png">    </p:cNvPr>
          <p:cNvPicPr>
            <a:picLocks noChangeAspect="1"/>
          </p:cNvPicPr>
          <p:nvPr/>
        </p:nvPicPr>
        <p:blipFill>
          <a:blip r:embed="rId5"/>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indent="0" marL="0">
              <a:buNone/>
            </a:pPr>
            <a:r>
              <a:rPr lang="en-US" sz="1100" spc="200" kern="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Scan it. Type </a:t>
            </a:r>
            <a:pPr indent="0" marL="0">
              <a:lnSpc>
                <a:spcPts val="4600"/>
              </a:lnSpc>
              <a:buNone/>
            </a:pPr>
            <a:r>
              <a:rPr lang="en-US" sz="3800" b="1" dirty="0">
                <a:solidFill>
                  <a:srgbClr val="4F46E5"/>
                </a:solidFill>
                <a:latin typeface="Arial" pitchFamily="34" charset="0"/>
                <a:ea typeface="Arial" pitchFamily="34" charset="-122"/>
                <a:cs typeface="Arial" pitchFamily="34" charset="-120"/>
              </a:rPr>
              <a:t>one line.</a:t>
            </a:r>
            <a:pPr indent="0" marL="0">
              <a:lnSpc>
                <a:spcPts val="4600"/>
              </a:lnSpc>
              <a:buNone/>
            </a:pP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We build one live, later.</a:t>
            </a:r>
            <a:endParaRPr lang="en-US" sz="3800" dirty="0"/>
          </a:p>
        </p:txBody>
      </p:sp>
      <p:sp>
        <p:nvSpPr>
          <p:cNvPr id="4" name="Shape 2"/>
          <p:cNvSpPr/>
          <p:nvPr/>
        </p:nvSpPr>
        <p:spPr>
          <a:xfrm>
            <a:off x="841248" y="3520440"/>
            <a:ext cx="402336" cy="402336"/>
          </a:xfrm>
          <a:prstGeom prst="ellipse">
            <a:avLst/>
          </a:prstGeom>
          <a:solidFill>
            <a:srgbClr val="4F46E5"/>
          </a:solidFill>
          <a:ln/>
        </p:spPr>
      </p:sp>
      <p:sp>
        <p:nvSpPr>
          <p:cNvPr id="5" name="Text 3"/>
          <p:cNvSpPr/>
          <p:nvPr/>
        </p:nvSpPr>
        <p:spPr>
          <a:xfrm>
            <a:off x="841248" y="3520440"/>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Join the room's Wi-Fi hotspot</a:t>
            </a:r>
            <a:endParaRPr lang="en-US" sz="1650" dirty="0"/>
          </a:p>
        </p:txBody>
      </p:sp>
      <p:sp>
        <p:nvSpPr>
          <p:cNvPr id="7" name="Shape 5"/>
          <p:cNvSpPr/>
          <p:nvPr/>
        </p:nvSpPr>
        <p:spPr>
          <a:xfrm>
            <a:off x="841248" y="4197096"/>
            <a:ext cx="402336" cy="402336"/>
          </a:xfrm>
          <a:prstGeom prst="ellipse">
            <a:avLst/>
          </a:prstGeom>
          <a:solidFill>
            <a:srgbClr val="4F46E5"/>
          </a:solidFill>
          <a:ln/>
        </p:spPr>
      </p:sp>
      <p:sp>
        <p:nvSpPr>
          <p:cNvPr id="8" name="Text 6"/>
          <p:cNvSpPr/>
          <p:nvPr/>
        </p:nvSpPr>
        <p:spPr>
          <a:xfrm>
            <a:off x="841248" y="4197096"/>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10" name="Shape 8"/>
          <p:cNvSpPr/>
          <p:nvPr/>
        </p:nvSpPr>
        <p:spPr>
          <a:xfrm>
            <a:off x="841248" y="4873752"/>
            <a:ext cx="402336" cy="402336"/>
          </a:xfrm>
          <a:prstGeom prst="ellipse">
            <a:avLst/>
          </a:prstGeom>
          <a:solidFill>
            <a:srgbClr val="4F46E5"/>
          </a:solidFill>
          <a:ln/>
        </p:spPr>
      </p:sp>
      <p:sp>
        <p:nvSpPr>
          <p:cNvPr id="11" name="Text 9"/>
          <p:cNvSpPr/>
          <p:nvPr/>
        </p:nvSpPr>
        <p:spPr>
          <a:xfrm>
            <a:off x="841248" y="4873752"/>
            <a:ext cx="402336" cy="402336"/>
          </a:xfrm>
          <a:prstGeom prst="rect">
            <a:avLst/>
          </a:prstGeom>
          <a:noFill/>
          <a:ln/>
        </p:spPr>
        <p:txBody>
          <a:bodyPr wrap="square"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indent="0" marL="0">
              <a:buNone/>
            </a:pPr>
            <a:r>
              <a:rPr lang="en-US" sz="1650" dirty="0">
                <a:solidFill>
                  <a:srgbClr val="666C7A"/>
                </a:solidFill>
                <a:latin typeface="Calibri" pitchFamily="34" charset="0"/>
                <a:ea typeface="Calibri" pitchFamily="34" charset="-122"/>
                <a:cs typeface="Calibri" pitchFamily="34" charset="-120"/>
              </a:rPr>
              <a:t>Send the crew a product idea</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indent="0" marL="0">
              <a:lnSpc>
                <a:spcPts val="1600"/>
              </a:lnSpc>
              <a:buNone/>
            </a:pPr>
            <a:r>
              <a:rPr lang="en-US" sz="1100" dirty="0">
                <a:solidFill>
                  <a:srgbClr val="9AA1B0"/>
                </a:solidFill>
                <a:latin typeface="Consolas" pitchFamily="34" charset="0"/>
                <a:ea typeface="Consolas" pitchFamily="34" charset="-122"/>
                <a:cs typeface="Consolas" pitchFamily="34" charset="-120"/>
              </a:rPr>
              <a:t>Every idea runs on the laptop up here. Nothing you type leaves the room.</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5" name="Image 0" descr="preencoded.png">    </p:cNvPr>
          <p:cNvPicPr>
            <a:picLocks noChangeAspect="1"/>
          </p:cNvPicPr>
          <p:nvPr/>
        </p:nvPicPr>
        <p:blipFill>
          <a:blip r:embed="rId1"/>
          <a:stretch>
            <a:fillRect/>
          </a:stretch>
        </p:blipFill>
        <p:spPr>
          <a:xfrm>
            <a:off x="8458200" y="1783080"/>
            <a:ext cx="2194560" cy="2194560"/>
          </a:xfrm>
          <a:prstGeom prst="rect">
            <a:avLst/>
          </a:prstGeom>
        </p:spPr>
      </p:pic>
      <p:sp>
        <p:nvSpPr>
          <p:cNvPr id="16" name="Shape 13"/>
          <p:cNvSpPr/>
          <p:nvPr/>
        </p:nvSpPr>
        <p:spPr>
          <a:xfrm>
            <a:off x="9326880" y="420624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1" descr="preencoded.png">    </p:cNvPr>
          <p:cNvPicPr>
            <a:picLocks noChangeAspect="1"/>
          </p:cNvPicPr>
          <p:nvPr/>
        </p:nvPicPr>
        <p:blipFill>
          <a:blip r:embed="rId2"/>
          <a:stretch>
            <a:fillRect/>
          </a:stretch>
        </p:blipFill>
        <p:spPr>
          <a:xfrm>
            <a:off x="9436608" y="4315968"/>
            <a:ext cx="237744" cy="237744"/>
          </a:xfrm>
          <a:prstGeom prst="rect">
            <a:avLst/>
          </a:prstGeom>
        </p:spPr>
      </p:pic>
      <p:sp>
        <p:nvSpPr>
          <p:cNvPr id="18" name="Text 14"/>
          <p:cNvSpPr/>
          <p:nvPr/>
        </p:nvSpPr>
        <p:spPr>
          <a:xfrm>
            <a:off x="7955280" y="4727448"/>
            <a:ext cx="3200400" cy="32004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7955280" y="5029200"/>
            <a:ext cx="3200400" cy="274320"/>
          </a:xfrm>
          <a:prstGeom prst="rect">
            <a:avLst/>
          </a:prstGeom>
          <a:noFill/>
          <a:ln/>
        </p:spPr>
        <p:txBody>
          <a:bodyPr wrap="square" rtlCol="0" anchor="ctr"/>
          <a:lstStyle/>
          <a:p>
            <a:pPr algn="ctr" indent="0" marL="0">
              <a:buNone/>
            </a:pPr>
            <a:r>
              <a:rPr lang="en-US" sz="1200" dirty="0">
                <a:solidFill>
                  <a:srgbClr val="666C7A"/>
                </a:solidFill>
                <a:latin typeface="Calibri" pitchFamily="34" charset="0"/>
                <a:ea typeface="Calibri" pitchFamily="34" charset="-122"/>
                <a:cs typeface="Calibri" pitchFamily="34" charset="-120"/>
              </a:rPr>
              <a:t>the crew is waiting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rungs from </a:t>
            </a:r>
            <a:pPr indent="0" marL="0">
              <a:buNone/>
            </a:pPr>
            <a:r>
              <a:rPr lang="en-US" sz="3200" b="1" dirty="0">
                <a:solidFill>
                  <a:srgbClr val="4F46E5"/>
                </a:solidFill>
                <a:latin typeface="Arial" pitchFamily="34" charset="0"/>
                <a:ea typeface="Arial" pitchFamily="34" charset="-122"/>
                <a:cs typeface="Arial" pitchFamily="34" charset="-120"/>
              </a:rPr>
              <a:t>a sentence</a:t>
            </a:r>
            <a:pPr indent="0" marL="0">
              <a:buNone/>
            </a:pPr>
            <a:r>
              <a:rPr lang="en-US" sz="3200" b="1" dirty="0">
                <a:solidFill>
                  <a:srgbClr val="16181D"/>
                </a:solidFill>
                <a:latin typeface="Arial" pitchFamily="34" charset="0"/>
                <a:ea typeface="Arial" pitchFamily="34" charset="-122"/>
                <a:cs typeface="Arial" pitchFamily="34" charset="-120"/>
              </a:rPr>
              <a:t> to </a:t>
            </a:r>
            <a:pPr indent="0" marL="0">
              <a:buNone/>
            </a:pP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atom. </a:t>
            </a:r>
            <a:pPr indent="0" marL="0">
              <a:buNone/>
            </a:pP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loop </a:t>
            </a:r>
            <a:pPr indent="0" marL="0">
              <a:buNone/>
            </a:pP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The infrastructure, </a:t>
            </a:r>
            <a:pPr indent="0" marL="0">
              <a:buNone/>
            </a:pP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Six levers </a:t>
            </a:r>
            <a:pPr indent="0" marL="0">
              <a:buNone/>
            </a:pP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indent="0" marL="0">
              <a:buNone/>
            </a:pPr>
            <a:r>
              <a:rPr lang="en-US" sz="1150" spc="150" kern="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indent="0" marL="0">
              <a:buNone/>
            </a:pPr>
            <a:r>
              <a:rPr lang="en-US" sz="1700" b="1" dirty="0">
                <a:solidFill>
                  <a:srgbClr val="16181D"/>
                </a:solidFill>
                <a:latin typeface="Calibri" pitchFamily="34" charset="0"/>
                <a:ea typeface="Calibri" pitchFamily="34" charset="-122"/>
                <a:cs typeface="Calibri" pitchFamily="34" charset="-120"/>
              </a:rPr>
              <a:t>One prompt, many workers, </a:t>
            </a:r>
            <a:pPr indent="0" marL="0">
              <a:buNone/>
            </a:pP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indent="0" marL="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pPr indent="0" marL="0">
              <a:lnSpc>
                <a:spcPts val="4400"/>
              </a:lnSpc>
              <a:buNone/>
            </a:pP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indent="0" marL="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indent="0" marL="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7132320" y="1920240"/>
            <a:ext cx="3931920" cy="2743200"/>
          </a:xfrm>
          <a:prstGeom prst="rect">
            <a:avLst/>
          </a:prstGeom>
          <a:noFill/>
          <a:ln/>
        </p:spPr>
        <p:txBody>
          <a:bodyPr wrap="square" rtlCol="0" anchor="t"/>
          <a:lstStyle/>
          <a:p>
            <a:pPr indent="0" marL="0">
              <a:lnSpc>
                <a:spcPts val="3000"/>
              </a:lnSpc>
              <a:buNone/>
            </a:pPr>
            <a:r>
              <a:rPr lang="en-US" sz="1500" dirty="0">
                <a:solidFill>
                  <a:srgbClr val="C4B5FD"/>
                </a:solidFill>
                <a:latin typeface="Consolas" pitchFamily="34" charset="0"/>
                <a:ea typeface="Consolas" pitchFamily="34" charset="-122"/>
                <a:cs typeface="Consolas" pitchFamily="34" charset="-120"/>
              </a:rPr>
              <a:t>String</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 reply = </a:t>
            </a:r>
            <a:pPr indent="0" marL="0">
              <a:lnSpc>
                <a:spcPts val="3000"/>
              </a:lnSpc>
              <a:buNone/>
            </a:pPr>
            <a:endParaRPr lang="en-US" sz="1500" dirty="0"/>
          </a:p>
          <a:p>
            <a:pPr indent="0" marL="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indent="0" marL="0">
              <a:lnSpc>
                <a:spcPts val="3000"/>
              </a:lnSpc>
              <a:buNone/>
            </a:pPr>
            <a:r>
              <a:rPr lang="en-US" sz="1500" dirty="0">
                <a:solidFill>
                  <a:srgbClr val="FBBF24"/>
                </a:solidFill>
                <a:latin typeface="Consolas" pitchFamily="34" charset="0"/>
                <a:ea typeface="Consolas" pitchFamily="34" charset="-122"/>
                <a:cs typeface="Consolas" pitchFamily="34" charset="-120"/>
              </a:rPr>
              <a:t>chat</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r>
              <a:rPr lang="en-US" sz="1500" dirty="0">
                <a:solidFill>
                  <a:srgbClr val="6EE7D8"/>
                </a:solidFill>
                <a:latin typeface="Consolas" pitchFamily="34" charset="0"/>
                <a:ea typeface="Consolas" pitchFamily="34" charset="-122"/>
                <a:cs typeface="Consolas" pitchFamily="34" charset="-120"/>
              </a:rPr>
              <a:t>"summarise this"</a:t>
            </a:r>
            <a:pPr indent="0" marL="0">
              <a:lnSpc>
                <a:spcPts val="3000"/>
              </a:lnSpc>
              <a:buNone/>
            </a:pPr>
            <a:r>
              <a:rPr lang="en-US" sz="1500" dirty="0">
                <a:solidFill>
                  <a:srgbClr val="9AA1B0"/>
                </a:solidFill>
                <a:latin typeface="Consolas" pitchFamily="34" charset="0"/>
                <a:ea typeface="Consolas" pitchFamily="34" charset="-122"/>
                <a:cs typeface="Consolas" pitchFamily="34" charset="-120"/>
              </a:rPr>
              <a:t>);</a:t>
            </a:r>
            <a:pPr indent="0" marL="0">
              <a:lnSpc>
                <a:spcPts val="3000"/>
              </a:lnSpc>
              <a:buNone/>
            </a:pP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indent="0" marL="0">
              <a:lnSpc>
                <a:spcPts val="3000"/>
              </a:lnSpc>
              <a:buNone/>
            </a:pPr>
            <a:endParaRPr lang="en-US" sz="1500" dirty="0"/>
          </a:p>
          <a:p>
            <a:pPr indent="0" marL="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A raw prompt hits </a:t>
            </a:r>
            <a:pPr indent="0" marL="0">
              <a:buNone/>
            </a:pP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6460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567928" y="2734056"/>
            <a:ext cx="603504" cy="60350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algn="r" indent="0" marL="0">
              <a:buNone/>
            </a:pPr>
            <a:r>
              <a:rPr lang="en-US" sz="950" spc="200" kern="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4" name="Shape 2"/>
          <p:cNvSpPr/>
          <p:nvPr/>
        </p:nvSpPr>
        <p:spPr>
          <a:xfrm>
            <a:off x="2310232" y="2322576"/>
            <a:ext cx="713232" cy="713232"/>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5739232" y="2322576"/>
            <a:ext cx="713232" cy="713232"/>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algn="ctr" indent="0" marL="0">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9168232" y="2322576"/>
            <a:ext cx="713232" cy="713232"/>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algn="ctr" indent="0" marL="0">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algn="ctr" indent="0" marL="0">
              <a:buNone/>
            </a:pPr>
            <a:r>
              <a:rPr lang="en-US" sz="1000" spc="200" kern="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5029200"/>
            <a:ext cx="7616952" cy="731520"/>
          </a:xfrm>
          <a:prstGeom prst="rect">
            <a:avLst/>
          </a:prstGeom>
          <a:noFill/>
          <a:ln/>
        </p:spPr>
        <p:txBody>
          <a:bodyPr wrap="square" rtlCol="0" anchor="ctr"/>
          <a:lstStyle/>
          <a:p>
            <a:pPr algn="ctr" indent="0" marL="0">
              <a:lnSpc>
                <a:spcPts val="2600"/>
              </a:lnSpc>
              <a:buNone/>
            </a:pPr>
            <a:r>
              <a:rPr lang="en-US" sz="1800" dirty="0">
                <a:solidFill>
                  <a:srgbClr val="666C7A"/>
                </a:solidFill>
                <a:latin typeface="Calibri" pitchFamily="34" charset="0"/>
                <a:ea typeface="Calibri" pitchFamily="34" charset="-122"/>
                <a:cs typeface="Calibri" pitchFamily="34" charset="-120"/>
              </a:rPr>
              <a:t>That is an agent. Everything else is decoration. The loop is where the magic actually lives.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indent="0" marL="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indent="0" marL="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indent="0" marL="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indent="0" marL="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937760"/>
            <a:ext cx="5120640" cy="457200"/>
          </a:xfrm>
          <a:prstGeom prst="rect">
            <a:avLst/>
          </a:prstGeom>
          <a:noFill/>
          <a:ln/>
        </p:spPr>
        <p:txBody>
          <a:bodyPr wrap="square" rtlCol="0" anchor="ctr"/>
          <a:lstStyle/>
          <a:p>
            <a:pPr indent="0" marL="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869680" y="2103120"/>
            <a:ext cx="1312621" cy="2263140"/>
          </a:xfrm>
          <a:prstGeom prst="line">
            <a:avLst/>
          </a:prstGeom>
          <a:noFill/>
          <a:ln w="25400">
            <a:solidFill>
              <a:srgbClr val="C7CBD6"/>
            </a:solidFill>
            <a:prstDash val="solid"/>
            <a:tailEnd type="triangle"/>
          </a:ln>
        </p:spPr>
      </p:sp>
      <p:sp>
        <p:nvSpPr>
          <p:cNvPr id="7" name="Shape 5"/>
          <p:cNvSpPr/>
          <p:nvPr/>
        </p:nvSpPr>
        <p:spPr>
          <a:xfrm flipH="1">
            <a:off x="7557059" y="4366260"/>
            <a:ext cx="2625242" cy="0"/>
          </a:xfrm>
          <a:prstGeom prst="line">
            <a:avLst/>
          </a:prstGeom>
          <a:noFill/>
          <a:ln w="25400">
            <a:solidFill>
              <a:srgbClr val="C7CBD6"/>
            </a:solidFill>
            <a:prstDash val="solid"/>
            <a:tailEnd type="triangle"/>
          </a:ln>
        </p:spPr>
      </p:sp>
      <p:sp>
        <p:nvSpPr>
          <p:cNvPr id="8" name="Shape 6"/>
          <p:cNvSpPr/>
          <p:nvPr/>
        </p:nvSpPr>
        <p:spPr>
          <a:xfrm flipV="1">
            <a:off x="7557059" y="2103120"/>
            <a:ext cx="1312621" cy="2263140"/>
          </a:xfrm>
          <a:prstGeom prst="line">
            <a:avLst/>
          </a:prstGeom>
          <a:noFill/>
          <a:ln w="25400">
            <a:solidFill>
              <a:srgbClr val="C7CBD6"/>
            </a:solidFill>
            <a:prstDash val="solid"/>
            <a:tailEnd type="triangle"/>
          </a:ln>
        </p:spPr>
      </p:sp>
      <p:sp>
        <p:nvSpPr>
          <p:cNvPr id="9" name="Shape 7"/>
          <p:cNvSpPr/>
          <p:nvPr/>
        </p:nvSpPr>
        <p:spPr>
          <a:xfrm>
            <a:off x="8641080" y="1874520"/>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0" name="Image 0" descr="preencoded.png">    </p:cNvPr>
          <p:cNvPicPr>
            <a:picLocks noChangeAspect="1"/>
          </p:cNvPicPr>
          <p:nvPr/>
        </p:nvPicPr>
        <p:blipFill>
          <a:blip r:embed="rId1"/>
          <a:stretch>
            <a:fillRect/>
          </a:stretch>
        </p:blipFill>
        <p:spPr>
          <a:xfrm>
            <a:off x="8750808" y="1984248"/>
            <a:ext cx="237744" cy="237744"/>
          </a:xfrm>
          <a:prstGeom prst="rect">
            <a:avLst/>
          </a:prstGeom>
        </p:spPr>
      </p:pic>
      <p:sp>
        <p:nvSpPr>
          <p:cNvPr id="11" name="Shape 8"/>
          <p:cNvSpPr/>
          <p:nvPr/>
        </p:nvSpPr>
        <p:spPr>
          <a:xfrm>
            <a:off x="9953701" y="4137660"/>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10063429" y="4247388"/>
            <a:ext cx="237744" cy="237744"/>
          </a:xfrm>
          <a:prstGeom prst="rect">
            <a:avLst/>
          </a:prstGeom>
        </p:spPr>
      </p:pic>
      <p:sp>
        <p:nvSpPr>
          <p:cNvPr id="13" name="Shape 9"/>
          <p:cNvSpPr/>
          <p:nvPr/>
        </p:nvSpPr>
        <p:spPr>
          <a:xfrm>
            <a:off x="7328459" y="413766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4" name="Image 2" descr="preencoded.png">    </p:cNvPr>
          <p:cNvPicPr>
            <a:picLocks noChangeAspect="1"/>
          </p:cNvPicPr>
          <p:nvPr/>
        </p:nvPicPr>
        <p:blipFill>
          <a:blip r:embed="rId3"/>
          <a:stretch>
            <a:fillRect/>
          </a:stretch>
        </p:blipFill>
        <p:spPr>
          <a:xfrm>
            <a:off x="7438187" y="4247388"/>
            <a:ext cx="237744" cy="237744"/>
          </a:xfrm>
          <a:prstGeom prst="rect">
            <a:avLst/>
          </a:prstGeom>
        </p:spPr>
      </p:pic>
      <p:sp>
        <p:nvSpPr>
          <p:cNvPr id="15" name="Text 10"/>
          <p:cNvSpPr/>
          <p:nvPr/>
        </p:nvSpPr>
        <p:spPr>
          <a:xfrm>
            <a:off x="7955280" y="1554480"/>
            <a:ext cx="1828800" cy="274320"/>
          </a:xfrm>
          <a:prstGeom prst="rect">
            <a:avLst/>
          </a:prstGeom>
          <a:noFill/>
          <a:ln/>
        </p:spPr>
        <p:txBody>
          <a:bodyPr wrap="square" rtlCol="0" anchor="ctr"/>
          <a:lstStyle/>
          <a:p>
            <a:pPr algn="ctr" indent="0" marL="0">
              <a:buNone/>
            </a:pPr>
            <a:r>
              <a:rPr lang="en-US" sz="1100" spc="100" kern="0" dirty="0">
                <a:solidFill>
                  <a:srgbClr val="16181D"/>
                </a:solidFill>
                <a:latin typeface="Consolas" pitchFamily="34" charset="0"/>
                <a:ea typeface="Consolas" pitchFamily="34" charset="-122"/>
                <a:cs typeface="Consolas" pitchFamily="34" charset="-120"/>
              </a:rPr>
              <a:t>REASON</a:t>
            </a:r>
            <a:endParaRPr lang="en-US" sz="1100" dirty="0"/>
          </a:p>
        </p:txBody>
      </p:sp>
      <p:sp>
        <p:nvSpPr>
          <p:cNvPr id="16" name="Text 11"/>
          <p:cNvSpPr/>
          <p:nvPr/>
        </p:nvSpPr>
        <p:spPr>
          <a:xfrm>
            <a:off x="10502341" y="4238244"/>
            <a:ext cx="1280160" cy="274320"/>
          </a:xfrm>
          <a:prstGeom prst="rect">
            <a:avLst/>
          </a:prstGeom>
          <a:noFill/>
          <a:ln/>
        </p:spPr>
        <p:txBody>
          <a:bodyPr wrap="square" rtlCol="0" anchor="ctr"/>
          <a:lstStyle/>
          <a:p>
            <a:pPr indent="0" marL="0">
              <a:buNone/>
            </a:pPr>
            <a:r>
              <a:rPr lang="en-US" sz="1100" spc="100" kern="0" dirty="0">
                <a:solidFill>
                  <a:srgbClr val="16181D"/>
                </a:solidFill>
                <a:latin typeface="Consolas" pitchFamily="34" charset="0"/>
                <a:ea typeface="Consolas" pitchFamily="34" charset="-122"/>
                <a:cs typeface="Consolas" pitchFamily="34" charset="-120"/>
              </a:rPr>
              <a:t>ACT</a:t>
            </a:r>
            <a:endParaRPr lang="en-US" sz="1100" dirty="0"/>
          </a:p>
        </p:txBody>
      </p:sp>
      <p:sp>
        <p:nvSpPr>
          <p:cNvPr id="17" name="Text 12"/>
          <p:cNvSpPr/>
          <p:nvPr/>
        </p:nvSpPr>
        <p:spPr>
          <a:xfrm>
            <a:off x="5956859" y="4238244"/>
            <a:ext cx="1280160" cy="274320"/>
          </a:xfrm>
          <a:prstGeom prst="rect">
            <a:avLst/>
          </a:prstGeom>
          <a:noFill/>
          <a:ln/>
        </p:spPr>
        <p:txBody>
          <a:bodyPr wrap="square" rtlCol="0" anchor="ctr"/>
          <a:lstStyle/>
          <a:p>
            <a:pPr algn="r" indent="0" marL="0">
              <a:buNone/>
            </a:pPr>
            <a:r>
              <a:rPr lang="en-US" sz="1100" spc="100" kern="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18" name="Text 13"/>
          <p:cNvSpPr/>
          <p:nvPr/>
        </p:nvSpPr>
        <p:spPr>
          <a:xfrm>
            <a:off x="8229600" y="3474720"/>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Five layers under every </a:t>
            </a:r>
            <a:pPr indent="0" marL="0">
              <a:buNone/>
            </a:pP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5" name="Image 0" descr="preencoded.png">    </p:cNvPr>
          <p:cNvPicPr>
            <a:picLocks noChangeAspect="1"/>
          </p:cNvPicPr>
          <p:nvPr/>
        </p:nvPicPr>
        <p:blipFill>
          <a:blip r:embed="rId1"/>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model host. </a:t>
            </a:r>
            <a:pPr indent="0" marL="0">
              <a:buNone/>
            </a:pPr>
            <a:r>
              <a:rPr lang="en-US" sz="1650" dirty="0">
                <a:solidFill>
                  <a:srgbClr val="666C7A"/>
                </a:solidFill>
                <a:latin typeface="Calibri" pitchFamily="34" charset="0"/>
                <a:ea typeface="Calibri" pitchFamily="34" charset="-122"/>
                <a:cs typeface="Calibri" pitchFamily="34" charset="-120"/>
              </a:rPr>
              <a:t>Ollama, running Qwen on your machine.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loop and wiring. </a:t>
            </a:r>
            <a:pPr indent="0" marL="0">
              <a:buNone/>
            </a:pPr>
            <a:r>
              <a:rPr lang="en-US" sz="1650" dirty="0">
                <a:solidFill>
                  <a:srgbClr val="666C7A"/>
                </a:solidFill>
                <a:latin typeface="Calibri" pitchFamily="34" charset="0"/>
                <a:ea typeface="Calibri" pitchFamily="34" charset="-122"/>
                <a:cs typeface="Calibri" pitchFamily="34" charset="-120"/>
              </a:rPr>
              <a:t>LangChain4j or Spring AI.</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hands. </a:t>
            </a:r>
            <a:pPr indent="0" marL="0">
              <a:buNone/>
            </a:pPr>
            <a:r>
              <a:rPr lang="en-US" sz="1650" dirty="0">
                <a:solidFill>
                  <a:srgbClr val="666C7A"/>
                </a:solidFill>
                <a:latin typeface="Calibri" pitchFamily="34" charset="0"/>
                <a:ea typeface="Calibri" pitchFamily="34" charset="-122"/>
                <a:cs typeface="Calibri" pitchFamily="34" charset="-120"/>
              </a:rPr>
              <a:t>Java methods the model may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7" name="Image 3" descr="preencoded.png">    </p:cNvPr>
          <p:cNvPicPr>
            <a:picLocks noChangeAspect="1"/>
          </p:cNvPicPr>
          <p:nvPr/>
        </p:nvPicPr>
        <p:blipFill>
          <a:blip r:embed="rId4"/>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The notebook. </a:t>
            </a:r>
            <a:pPr indent="0" marL="0">
              <a:buNone/>
            </a:pPr>
            <a:r>
              <a:rPr lang="en-US" sz="1650" dirty="0">
                <a:solidFill>
                  <a:srgbClr val="666C7A"/>
                </a:solidFill>
                <a:latin typeface="Calibri" pitchFamily="34" charset="0"/>
                <a:ea typeface="Calibri" pitchFamily="34" charset="-122"/>
                <a:cs typeface="Calibri" pitchFamily="34" charset="-120"/>
              </a:rPr>
              <a:t>What it carries between turns.</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21" name="Image 4" descr="preencoded.png">    </p:cNvPr>
          <p:cNvPicPr>
            <a:picLocks noChangeAspect="1"/>
          </p:cNvPicPr>
          <p:nvPr/>
        </p:nvPicPr>
        <p:blipFill>
          <a:blip r:embed="rId5"/>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indent="0" marL="0">
              <a:buNone/>
            </a:pPr>
            <a:r>
              <a:rPr lang="en-US" sz="1200" spc="150" kern="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indent="0" marL="0">
              <a:buNone/>
            </a:pPr>
            <a:r>
              <a:rPr lang="en-US" sz="1650" b="1" dirty="0">
                <a:solidFill>
                  <a:srgbClr val="16181D"/>
                </a:solidFill>
                <a:latin typeface="Calibri" pitchFamily="34" charset="0"/>
                <a:ea typeface="Calibri" pitchFamily="34" charset="-122"/>
                <a:cs typeface="Calibri" pitchFamily="34" charset="-120"/>
              </a:rPr>
              <a:t>Typed output. </a:t>
            </a:r>
            <a:pPr indent="0" marL="0">
              <a:buNone/>
            </a:pPr>
            <a:r>
              <a:rPr lang="en-US" sz="1650" dirty="0">
                <a:solidFill>
                  <a:srgbClr val="666C7A"/>
                </a:solidFill>
                <a:latin typeface="Calibri" pitchFamily="34" charset="0"/>
                <a:ea typeface="Calibri" pitchFamily="34" charset="-122"/>
                <a:cs typeface="Calibri" pitchFamily="34" charset="-120"/>
              </a:rPr>
              <a:t>Answers as objects, not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indent="0" marL="0">
              <a:buNone/>
            </a:pPr>
            <a:r>
              <a:rPr lang="en-US" sz="4400" b="1" dirty="0">
                <a:solidFill>
                  <a:srgbClr val="16181D"/>
                </a:solidFill>
                <a:latin typeface="Arial" pitchFamily="34" charset="0"/>
                <a:ea typeface="Arial" pitchFamily="34" charset="-122"/>
                <a:cs typeface="Arial" pitchFamily="34" charset="-120"/>
              </a:rPr>
              <a:t>Why </a:t>
            </a:r>
            <a:pPr indent="0" marL="0">
              <a:buNone/>
            </a:pP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indent="0" marL="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pPr indent="0" marL="0">
              <a:lnSpc>
                <a:spcPts val="2700"/>
              </a:lnSpc>
              <a:buNone/>
            </a:pPr>
            <a:r>
              <a:rPr lang="en-US" sz="1700" b="1" dirty="0">
                <a:solidFill>
                  <a:srgbClr val="16181D"/>
                </a:solidFill>
                <a:latin typeface="Calibri" pitchFamily="34" charset="0"/>
                <a:ea typeface="Calibri" pitchFamily="34" charset="-122"/>
                <a:cs typeface="Calibri" pitchFamily="34" charset="-120"/>
              </a:rPr>
              <a:t>next to the business</a:t>
            </a:r>
            <a:pPr indent="0" marL="0">
              <a:lnSpc>
                <a:spcPts val="2700"/>
              </a:lnSpc>
              <a:buNone/>
            </a:pP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754880"/>
            <a:ext cx="5212080" cy="731520"/>
          </a:xfrm>
          <a:prstGeom prst="rect">
            <a:avLst/>
          </a:prstGeom>
          <a:noFill/>
          <a:ln/>
        </p:spPr>
        <p:txBody>
          <a:bodyPr wrap="square" rtlCol="0" anchor="ctr"/>
          <a:lstStyle/>
          <a:p>
            <a:pPr indent="0" marL="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Shape 5"/>
          <p:cNvSpPr/>
          <p:nvPr/>
        </p:nvSpPr>
        <p:spPr>
          <a:xfrm>
            <a:off x="6967728" y="218998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8" name="Image 0" descr="preencoded.png">    </p:cNvPr>
          <p:cNvPicPr>
            <a:picLocks noChangeAspect="1"/>
          </p:cNvPicPr>
          <p:nvPr/>
        </p:nvPicPr>
        <p:blipFill>
          <a:blip r:embed="rId1"/>
          <a:stretch>
            <a:fillRect/>
          </a:stretch>
        </p:blipFill>
        <p:spPr>
          <a:xfrm>
            <a:off x="7090623" y="2312883"/>
            <a:ext cx="266273" cy="266273"/>
          </a:xfrm>
          <a:prstGeom prst="rect">
            <a:avLst/>
          </a:prstGeom>
        </p:spPr>
      </p:pic>
      <p:sp>
        <p:nvSpPr>
          <p:cNvPr id="9" name="Text 6"/>
          <p:cNvSpPr/>
          <p:nvPr/>
        </p:nvSpPr>
        <p:spPr>
          <a:xfrm>
            <a:off x="7635240" y="214884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0" name="Text 7"/>
          <p:cNvSpPr/>
          <p:nvPr/>
        </p:nvSpPr>
        <p:spPr>
          <a:xfrm>
            <a:off x="7635240" y="244144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1" name="Shape 8"/>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2" name="Shape 9"/>
          <p:cNvSpPr/>
          <p:nvPr/>
        </p:nvSpPr>
        <p:spPr>
          <a:xfrm>
            <a:off x="6967728" y="324154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3" name="Image 1" descr="preencoded.png">    </p:cNvPr>
          <p:cNvPicPr>
            <a:picLocks noChangeAspect="1"/>
          </p:cNvPicPr>
          <p:nvPr/>
        </p:nvPicPr>
        <p:blipFill>
          <a:blip r:embed="rId2"/>
          <a:stretch>
            <a:fillRect/>
          </a:stretch>
        </p:blipFill>
        <p:spPr>
          <a:xfrm>
            <a:off x="7090623" y="3364443"/>
            <a:ext cx="266273" cy="266273"/>
          </a:xfrm>
          <a:prstGeom prst="rect">
            <a:avLst/>
          </a:prstGeom>
        </p:spPr>
      </p:pic>
      <p:sp>
        <p:nvSpPr>
          <p:cNvPr id="14" name="Text 10"/>
          <p:cNvSpPr/>
          <p:nvPr/>
        </p:nvSpPr>
        <p:spPr>
          <a:xfrm>
            <a:off x="7635240" y="320040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15" name="Text 11"/>
          <p:cNvSpPr/>
          <p:nvPr/>
        </p:nvSpPr>
        <p:spPr>
          <a:xfrm>
            <a:off x="7635240" y="349300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16" name="Shape 12"/>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6967728" y="4293108"/>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7090623" y="4416003"/>
            <a:ext cx="266273" cy="266273"/>
          </a:xfrm>
          <a:prstGeom prst="rect">
            <a:avLst/>
          </a:prstGeom>
        </p:spPr>
      </p:pic>
      <p:sp>
        <p:nvSpPr>
          <p:cNvPr id="19" name="Text 14"/>
          <p:cNvSpPr/>
          <p:nvPr/>
        </p:nvSpPr>
        <p:spPr>
          <a:xfrm>
            <a:off x="7635240" y="4251960"/>
            <a:ext cx="3520440" cy="320040"/>
          </a:xfrm>
          <a:prstGeom prst="rect">
            <a:avLst/>
          </a:prstGeom>
          <a:noFill/>
          <a:ln/>
        </p:spPr>
        <p:txBody>
          <a:bodyPr wrap="square" rtlCol="0" anchor="ctr"/>
          <a:lstStyle/>
          <a:p>
            <a:pPr indent="0" marL="0">
              <a:buNone/>
            </a:pPr>
            <a:r>
              <a:rPr lang="en-US" sz="1200" spc="100" kern="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0" name="Text 15"/>
          <p:cNvSpPr/>
          <p:nvPr/>
        </p:nvSpPr>
        <p:spPr>
          <a:xfrm>
            <a:off x="7635240" y="4544568"/>
            <a:ext cx="3566160" cy="365760"/>
          </a:xfrm>
          <a:prstGeom prst="rect">
            <a:avLst/>
          </a:prstGeom>
          <a:noFill/>
          <a:ln/>
        </p:spPr>
        <p:txBody>
          <a:bodyPr wrap="square" rtlCol="0" anchor="ctr"/>
          <a:lstStyle/>
          <a:p>
            <a:pPr indent="0" marL="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MODEL, TONIGHT</a:t>
            </a:r>
            <a:endParaRPr lang="en-US" sz="1100" dirty="0"/>
          </a:p>
        </p:txBody>
      </p:sp>
      <p:sp>
        <p:nvSpPr>
          <p:cNvPr id="3" name="Text 1"/>
          <p:cNvSpPr/>
          <p:nvPr/>
        </p:nvSpPr>
        <p:spPr>
          <a:xfrm>
            <a:off x="841248" y="1463040"/>
            <a:ext cx="5486400" cy="1828800"/>
          </a:xfrm>
          <a:prstGeom prst="rect">
            <a:avLst/>
          </a:prstGeom>
          <a:noFill/>
          <a:ln/>
        </p:spPr>
        <p:txBody>
          <a:bodyPr wrap="square" rtlCol="0" anchor="ctr"/>
          <a:lstStyle/>
          <a:p>
            <a:pPr indent="0" marL="0">
              <a:lnSpc>
                <a:spcPts val="4400"/>
              </a:lnSpc>
              <a:buNone/>
            </a:pPr>
            <a:r>
              <a:rPr lang="en-US" sz="3600" b="1" dirty="0">
                <a:solidFill>
                  <a:srgbClr val="4F46E5"/>
                </a:solidFill>
                <a:latin typeface="Arial" pitchFamily="34" charset="0"/>
                <a:ea typeface="Arial" pitchFamily="34" charset="-122"/>
                <a:cs typeface="Arial" pitchFamily="34" charset="-120"/>
              </a:rPr>
              <a:t>Qwen.</a:t>
            </a:r>
            <a:pPr indent="0" marL="0">
              <a:lnSpc>
                <a:spcPts val="4400"/>
              </a:lnSpc>
              <a:buNone/>
            </a:pPr>
            <a:r>
              <a:rPr lang="en-US" sz="3600" b="1" dirty="0">
                <a:solidFill>
                  <a:srgbClr val="16181D"/>
                </a:solidFill>
                <a:latin typeface="Arial" pitchFamily="34" charset="0"/>
                <a:ea typeface="Arial" pitchFamily="34" charset="-122"/>
                <a:cs typeface="Arial" pitchFamily="34" charset="-120"/>
              </a:rPr>
              <a:t> Local. Free.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Never leaves the room.</a:t>
            </a:r>
            <a:endParaRPr lang="en-US" sz="3600" dirty="0"/>
          </a:p>
        </p:txBody>
      </p:sp>
      <p:sp>
        <p:nvSpPr>
          <p:cNvPr id="4" name="Text 2"/>
          <p:cNvSpPr/>
          <p:nvPr/>
        </p:nvSpPr>
        <p:spPr>
          <a:xfrm>
            <a:off x="841248" y="3520440"/>
            <a:ext cx="5120640" cy="137160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Ollama serves the model from this laptop. No cloud call, no per-token bill, no data leaving the building. That last part is what your regulated clients care about most.</a:t>
            </a:r>
            <a:endParaRPr lang="en-US" sz="1600" dirty="0"/>
          </a:p>
        </p:txBody>
      </p:sp>
      <p:sp>
        <p:nvSpPr>
          <p:cNvPr id="5" name="Text 3"/>
          <p:cNvSpPr/>
          <p:nvPr/>
        </p:nvSpPr>
        <p:spPr>
          <a:xfrm>
            <a:off x="841248" y="5074920"/>
            <a:ext cx="1828800" cy="685800"/>
          </a:xfrm>
          <a:prstGeom prst="rect">
            <a:avLst/>
          </a:prstGeom>
          <a:noFill/>
          <a:ln/>
        </p:spPr>
        <p:txBody>
          <a:bodyPr wrap="square" rtlCol="0" anchor="ctr"/>
          <a:lstStyle/>
          <a:p>
            <a:pPr indent="0" marL="0">
              <a:buNone/>
            </a:pPr>
            <a:r>
              <a:rPr lang="en-US" sz="3800" b="1" dirty="0">
                <a:solidFill>
                  <a:srgbClr val="0284C7"/>
                </a:solidFill>
                <a:latin typeface="Arial" pitchFamily="34" charset="0"/>
                <a:ea typeface="Arial" pitchFamily="34" charset="-122"/>
                <a:cs typeface="Arial" pitchFamily="34" charset="-120"/>
              </a:rPr>
              <a:t>3B</a:t>
            </a:r>
            <a:endParaRPr lang="en-US" sz="3800" dirty="0"/>
          </a:p>
        </p:txBody>
      </p:sp>
      <p:sp>
        <p:nvSpPr>
          <p:cNvPr id="6" name="Text 4"/>
          <p:cNvSpPr/>
          <p:nvPr/>
        </p:nvSpPr>
        <p:spPr>
          <a:xfrm>
            <a:off x="8412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PARAMS, ON A LAPTOP</a:t>
            </a:r>
            <a:endParaRPr lang="en-US" sz="950" dirty="0"/>
          </a:p>
        </p:txBody>
      </p:sp>
      <p:sp>
        <p:nvSpPr>
          <p:cNvPr id="7" name="Text 5"/>
          <p:cNvSpPr/>
          <p:nvPr/>
        </p:nvSpPr>
        <p:spPr>
          <a:xfrm>
            <a:off x="2670048" y="5074920"/>
            <a:ext cx="1828800" cy="685800"/>
          </a:xfrm>
          <a:prstGeom prst="rect">
            <a:avLst/>
          </a:prstGeom>
          <a:noFill/>
          <a:ln/>
        </p:spPr>
        <p:txBody>
          <a:bodyPr wrap="square" rtlCol="0" anchor="ctr"/>
          <a:lstStyle/>
          <a:p>
            <a:pPr indent="0" marL="0">
              <a:buNone/>
            </a:pPr>
            <a:r>
              <a:rPr lang="en-US" sz="3800" b="1" dirty="0">
                <a:solidFill>
                  <a:srgbClr val="0F9E8E"/>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67004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PER TOKEN, EVER</a:t>
            </a:r>
            <a:endParaRPr lang="en-US" sz="950" dirty="0"/>
          </a:p>
        </p:txBody>
      </p:sp>
      <p:sp>
        <p:nvSpPr>
          <p:cNvPr id="9" name="Text 7"/>
          <p:cNvSpPr/>
          <p:nvPr/>
        </p:nvSpPr>
        <p:spPr>
          <a:xfrm>
            <a:off x="4361688" y="5074920"/>
            <a:ext cx="1828800" cy="685800"/>
          </a:xfrm>
          <a:prstGeom prst="rect">
            <a:avLst/>
          </a:prstGeom>
          <a:noFill/>
          <a:ln/>
        </p:spPr>
        <p:txBody>
          <a:bodyPr wrap="square" rtlCol="0" anchor="ctr"/>
          <a:lstStyle/>
          <a:p>
            <a:pPr indent="0" marL="0">
              <a:buNone/>
            </a:pPr>
            <a:r>
              <a:rPr lang="en-US" sz="3800" b="1" dirty="0">
                <a:solidFill>
                  <a:srgbClr val="4F46E5"/>
                </a:solidFill>
                <a:latin typeface="Arial" pitchFamily="34" charset="0"/>
                <a:ea typeface="Arial" pitchFamily="34" charset="-122"/>
                <a:cs typeface="Arial" pitchFamily="34" charset="-120"/>
              </a:rPr>
              <a:t>0</a:t>
            </a:r>
            <a:endParaRPr lang="en-US" sz="3800" dirty="0"/>
          </a:p>
        </p:txBody>
      </p:sp>
      <p:sp>
        <p:nvSpPr>
          <p:cNvPr id="10" name="Text 8"/>
          <p:cNvSpPr/>
          <p:nvPr/>
        </p:nvSpPr>
        <p:spPr>
          <a:xfrm>
            <a:off x="4361688" y="5733288"/>
            <a:ext cx="1920240" cy="548640"/>
          </a:xfrm>
          <a:prstGeom prst="rect">
            <a:avLst/>
          </a:prstGeom>
          <a:noFill/>
          <a:ln/>
        </p:spPr>
        <p:txBody>
          <a:bodyPr wrap="square" rtlCol="0" anchor="ctr"/>
          <a:lstStyle/>
          <a:p>
            <a:pPr indent="0" marL="0">
              <a:lnSpc>
                <a:spcPts val="1200"/>
              </a:lnSpc>
              <a:buNone/>
            </a:pPr>
            <a:r>
              <a:rPr lang="en-US" sz="950" spc="150" kern="0" dirty="0">
                <a:solidFill>
                  <a:srgbClr val="666C7A"/>
                </a:solidFill>
                <a:latin typeface="Consolas" pitchFamily="34" charset="0"/>
                <a:ea typeface="Consolas" pitchFamily="34" charset="-122"/>
                <a:cs typeface="Consolas" pitchFamily="34" charset="-120"/>
              </a:rPr>
              <a:t>BYTES LEAVE THE ROOM</a:t>
            </a:r>
            <a:endParaRPr lang="en-US" sz="950" dirty="0"/>
          </a:p>
        </p:txBody>
      </p:sp>
      <p:sp>
        <p:nvSpPr>
          <p:cNvPr id="11" name="Shape 9"/>
          <p:cNvSpPr/>
          <p:nvPr/>
        </p:nvSpPr>
        <p:spPr>
          <a:xfrm>
            <a:off x="7040880" y="1554480"/>
            <a:ext cx="3840480" cy="3566160"/>
          </a:xfrm>
          <a:prstGeom prst="roundRect">
            <a:avLst>
              <a:gd name="adj" fmla="val 3077"/>
            </a:avLst>
          </a:prstGeom>
          <a:solidFill>
            <a:srgbClr val="F5F7FA"/>
          </a:solidFill>
          <a:ln w="15240">
            <a:solidFill>
              <a:srgbClr val="E1E5EC"/>
            </a:solidFill>
            <a:prstDash val="dash"/>
          </a:ln>
          <a:effectLst>
            <a:outerShdw sx="100000" sy="100000" kx="0" ky="0" algn="bl" rotWithShape="0" blurRad="139700" dist="38100" dir="5400000">
              <a:srgbClr val="9AA6BC">
                <a:alpha val="28000"/>
              </a:srgbClr>
            </a:outerShdw>
          </a:effectLst>
        </p:spPr>
      </p:sp>
      <p:sp>
        <p:nvSpPr>
          <p:cNvPr id="12" name="Text 10"/>
          <p:cNvSpPr/>
          <p:nvPr/>
        </p:nvSpPr>
        <p:spPr>
          <a:xfrm>
            <a:off x="7315200" y="1755648"/>
            <a:ext cx="2743200" cy="274320"/>
          </a:xfrm>
          <a:prstGeom prst="rect">
            <a:avLst/>
          </a:prstGeom>
          <a:noFill/>
          <a:ln/>
        </p:spPr>
        <p:txBody>
          <a:bodyPr wrap="square" rtlCol="0" anchor="ctr"/>
          <a:lstStyle/>
          <a:p>
            <a:pPr indent="0" marL="0">
              <a:buNone/>
            </a:pPr>
            <a:r>
              <a:rPr lang="en-US" sz="1000" spc="200" kern="0" dirty="0">
                <a:solidFill>
                  <a:srgbClr val="0F9E8E"/>
                </a:solidFill>
                <a:latin typeface="Consolas" pitchFamily="34" charset="0"/>
                <a:ea typeface="Consolas" pitchFamily="34" charset="-122"/>
                <a:cs typeface="Consolas" pitchFamily="34" charset="-120"/>
              </a:rPr>
              <a:t>YOUR BUILDING</a:t>
            </a:r>
            <a:endParaRPr lang="en-US" sz="1000" dirty="0"/>
          </a:p>
        </p:txBody>
      </p:sp>
      <p:sp>
        <p:nvSpPr>
          <p:cNvPr id="13" name="Shape 11"/>
          <p:cNvSpPr/>
          <p:nvPr/>
        </p:nvSpPr>
        <p:spPr>
          <a:xfrm>
            <a:off x="7726680" y="2423160"/>
            <a:ext cx="2468880" cy="1554480"/>
          </a:xfrm>
          <a:prstGeom prst="roundRect">
            <a:avLst>
              <a:gd name="adj" fmla="val 4706"/>
            </a:avLst>
          </a:prstGeom>
          <a:solidFill>
            <a:srgbClr val="FFFFFF"/>
          </a:solidFill>
          <a:ln w="15240">
            <a:solidFill>
              <a:srgbClr val="666C7A"/>
            </a:solidFill>
            <a:prstDash val="solid"/>
          </a:ln>
        </p:spPr>
      </p:sp>
      <p:sp>
        <p:nvSpPr>
          <p:cNvPr id="14" name="Shape 12"/>
          <p:cNvSpPr/>
          <p:nvPr/>
        </p:nvSpPr>
        <p:spPr>
          <a:xfrm rot="10800000">
            <a:off x="7452360" y="3977640"/>
            <a:ext cx="3017520" cy="256032"/>
          </a:xfrm>
          <a:prstGeom prst="trapezoid">
            <a:avLst/>
          </a:prstGeom>
          <a:solidFill>
            <a:srgbClr val="EEF1F6"/>
          </a:solidFill>
          <a:ln w="15240">
            <a:solidFill>
              <a:srgbClr val="666C7A"/>
            </a:solidFill>
            <a:prstDash val="solid"/>
          </a:ln>
        </p:spPr>
      </p:sp>
      <p:sp>
        <p:nvSpPr>
          <p:cNvPr id="15" name="Shape 13"/>
          <p:cNvSpPr/>
          <p:nvPr/>
        </p:nvSpPr>
        <p:spPr>
          <a:xfrm>
            <a:off x="8631936" y="2807208"/>
            <a:ext cx="658368" cy="658368"/>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0" descr="preencoded.png">    </p:cNvPr>
          <p:cNvPicPr>
            <a:picLocks noChangeAspect="1"/>
          </p:cNvPicPr>
          <p:nvPr/>
        </p:nvPicPr>
        <p:blipFill>
          <a:blip r:embed="rId1"/>
          <a:stretch>
            <a:fillRect/>
          </a:stretch>
        </p:blipFill>
        <p:spPr>
          <a:xfrm>
            <a:off x="8789944" y="2965216"/>
            <a:ext cx="342351" cy="342351"/>
          </a:xfrm>
          <a:prstGeom prst="rect">
            <a:avLst/>
          </a:prstGeom>
        </p:spPr>
      </p:pic>
      <p:sp>
        <p:nvSpPr>
          <p:cNvPr id="17" name="Shape 14"/>
          <p:cNvSpPr/>
          <p:nvPr/>
        </p:nvSpPr>
        <p:spPr>
          <a:xfrm>
            <a:off x="7973568" y="2715768"/>
            <a:ext cx="146304" cy="146304"/>
          </a:xfrm>
          <a:prstGeom prst="ellipse">
            <a:avLst/>
          </a:prstGeom>
          <a:solidFill>
            <a:srgbClr val="0F9E8E"/>
          </a:solidFill>
          <a:ln/>
        </p:spPr>
      </p:sp>
      <p:sp>
        <p:nvSpPr>
          <p:cNvPr id="18" name="Shape 15"/>
          <p:cNvSpPr/>
          <p:nvPr/>
        </p:nvSpPr>
        <p:spPr>
          <a:xfrm>
            <a:off x="9802368" y="2715768"/>
            <a:ext cx="146304" cy="146304"/>
          </a:xfrm>
          <a:prstGeom prst="ellipse">
            <a:avLst/>
          </a:prstGeom>
          <a:solidFill>
            <a:srgbClr val="7C3AED"/>
          </a:solidFill>
          <a:ln/>
        </p:spPr>
      </p:sp>
      <p:sp>
        <p:nvSpPr>
          <p:cNvPr id="19" name="Shape 16"/>
          <p:cNvSpPr/>
          <p:nvPr/>
        </p:nvSpPr>
        <p:spPr>
          <a:xfrm>
            <a:off x="7973568" y="3538728"/>
            <a:ext cx="146304" cy="146304"/>
          </a:xfrm>
          <a:prstGeom prst="ellipse">
            <a:avLst/>
          </a:prstGeom>
          <a:solidFill>
            <a:srgbClr val="0284C7"/>
          </a:solidFill>
          <a:ln/>
        </p:spPr>
      </p:sp>
      <p:sp>
        <p:nvSpPr>
          <p:cNvPr id="20" name="Shape 17"/>
          <p:cNvSpPr/>
          <p:nvPr/>
        </p:nvSpPr>
        <p:spPr>
          <a:xfrm>
            <a:off x="9802368" y="3538728"/>
            <a:ext cx="146304" cy="146304"/>
          </a:xfrm>
          <a:prstGeom prst="ellipse">
            <a:avLst/>
          </a:prstGeom>
          <a:solidFill>
            <a:srgbClr val="E11D48"/>
          </a:solidFill>
          <a:ln/>
        </p:spPr>
      </p:sp>
      <p:sp>
        <p:nvSpPr>
          <p:cNvPr id="21" name="Text 18"/>
          <p:cNvSpPr/>
          <p:nvPr/>
        </p:nvSpPr>
        <p:spPr>
          <a:xfrm>
            <a:off x="7040880" y="4663440"/>
            <a:ext cx="3840480" cy="274320"/>
          </a:xfrm>
          <a:prstGeom prst="rect">
            <a:avLst/>
          </a:prstGeom>
          <a:noFill/>
          <a:ln/>
        </p:spPr>
        <p:txBody>
          <a:bodyPr wrap="square" rtlCol="0" anchor="ctr"/>
          <a:lstStyle/>
          <a:p>
            <a:pPr algn="ctr" indent="0" marL="0">
              <a:buNone/>
            </a:pPr>
            <a:r>
              <a:rPr lang="en-US" sz="1000" spc="100" kern="0" dirty="0">
                <a:solidFill>
                  <a:srgbClr val="666C7A"/>
                </a:solidFill>
                <a:latin typeface="Consolas" pitchFamily="34" charset="0"/>
                <a:ea typeface="Consolas" pitchFamily="34" charset="-122"/>
                <a:cs typeface="Consolas" pitchFamily="34" charset="-120"/>
              </a:rPr>
              <a:t>every token stays inside</a:t>
            </a:r>
            <a:endParaRPr lang="en-US" sz="1000" dirty="0"/>
          </a:p>
        </p:txBody>
      </p:sp>
      <p:sp>
        <p:nvSpPr>
          <p:cNvPr id="22" name="Shape 19"/>
          <p:cNvSpPr/>
          <p:nvPr/>
        </p:nvSpPr>
        <p:spPr>
          <a:xfrm>
            <a:off x="11109960" y="1600200"/>
            <a:ext cx="731520" cy="731520"/>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23" name="Image 1" descr="preencoded.png">    </p:cNvPr>
          <p:cNvPicPr>
            <a:picLocks noChangeAspect="1"/>
          </p:cNvPicPr>
          <p:nvPr/>
        </p:nvPicPr>
        <p:blipFill>
          <a:blip r:embed="rId2"/>
          <a:stretch>
            <a:fillRect/>
          </a:stretch>
        </p:blipFill>
        <p:spPr>
          <a:xfrm>
            <a:off x="11285525" y="1775765"/>
            <a:ext cx="380390" cy="380390"/>
          </a:xfrm>
          <a:prstGeom prst="rect">
            <a:avLst/>
          </a:prstGeom>
        </p:spPr>
      </p:pic>
      <p:sp>
        <p:nvSpPr>
          <p:cNvPr id="24" name="Shape 20"/>
          <p:cNvSpPr/>
          <p:nvPr/>
        </p:nvSpPr>
        <p:spPr>
          <a:xfrm>
            <a:off x="11109960" y="1600200"/>
            <a:ext cx="731520" cy="731520"/>
          </a:xfrm>
          <a:prstGeom prst="line">
            <a:avLst/>
          </a:prstGeom>
          <a:noFill/>
          <a:ln w="31750">
            <a:solidFill>
              <a:srgbClr val="E11D48"/>
            </a:solidFill>
            <a:prstDash val="solid"/>
          </a:ln>
        </p:spPr>
      </p:sp>
      <p:sp>
        <p:nvSpPr>
          <p:cNvPr id="25" name="Text 21"/>
          <p:cNvSpPr/>
          <p:nvPr/>
        </p:nvSpPr>
        <p:spPr>
          <a:xfrm>
            <a:off x="10835640" y="2487168"/>
            <a:ext cx="1280160" cy="274320"/>
          </a:xfrm>
          <a:prstGeom prst="rect">
            <a:avLst/>
          </a:prstGeom>
          <a:noFill/>
          <a:ln/>
        </p:spPr>
        <p:txBody>
          <a:bodyPr wrap="square" rtlCol="0" anchor="ctr"/>
          <a:lstStyle/>
          <a:p>
            <a:pPr algn="ctr" indent="0" marL="0">
              <a:buNone/>
            </a:pPr>
            <a:r>
              <a:rPr lang="en-US" sz="1000" dirty="0">
                <a:solidFill>
                  <a:srgbClr val="9AA1B0"/>
                </a:solidFill>
                <a:latin typeface="Consolas" pitchFamily="34" charset="0"/>
                <a:ea typeface="Consolas" pitchFamily="34" charset="-122"/>
                <a:cs typeface="Consolas" pitchFamily="34" charset="-120"/>
              </a:rPr>
              <a:t>no cloud</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Six ways to steer. Only </a:t>
            </a:r>
            <a:pPr indent="0" marL="0">
              <a:buNone/>
            </a:pPr>
            <a:r>
              <a:rPr lang="en-US" sz="3000" b="1" dirty="0">
                <a:solidFill>
                  <a:srgbClr val="4F46E5"/>
                </a:solidFill>
                <a:latin typeface="Arial" pitchFamily="34" charset="0"/>
                <a:ea typeface="Arial" pitchFamily="34" charset="-122"/>
                <a:cs typeface="Arial" pitchFamily="34" charset="-120"/>
              </a:rPr>
              <a:t>one</a:t>
            </a:r>
            <a:pPr indent="0" marL="0">
              <a:buNone/>
            </a:pP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52144" y="23500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4809744" y="2350008"/>
            <a:ext cx="512064" cy="51206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8467344" y="2350008"/>
            <a:ext cx="512064" cy="51206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1152144" y="4434840"/>
            <a:ext cx="512064" cy="512064"/>
          </a:xfrm>
          <a:prstGeom prst="ellipse">
            <a:avLst/>
          </a:prstGeom>
          <a:solidFill>
            <a:srgbClr val="E11D48"/>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4809744" y="4434840"/>
            <a:ext cx="512064" cy="512064"/>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35" name="Shape 28"/>
          <p:cNvSpPr/>
          <p:nvPr/>
        </p:nvSpPr>
        <p:spPr>
          <a:xfrm>
            <a:off x="8467344" y="4434840"/>
            <a:ext cx="512064" cy="512064"/>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36" name="Image 5" descr="preencoded.png">    </p:cNvPr>
          <p:cNvPicPr>
            <a:picLocks noChangeAspect="1"/>
          </p:cNvPicPr>
          <p:nvPr/>
        </p:nvPicPr>
        <p:blipFill>
          <a:blip r:embed="rId6"/>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indent="0" marL="0">
              <a:buNone/>
            </a:pPr>
            <a:r>
              <a:rPr lang="en-US" sz="950" spc="200" kern="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indent="0" marL="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indent="0" marL="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don't </a:t>
            </a:r>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program</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an agent.</a:t>
            </a:r>
            <a:endParaRPr lang="en-US" sz="4400" dirty="0"/>
          </a:p>
          <a:p>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algn="ctr" indent="0" marL="0">
              <a:lnSpc>
                <a:spcPts val="5200"/>
              </a:lnSpc>
              <a:buNone/>
            </a:pPr>
            <a:r>
              <a:rPr lang="en-US" sz="4400" b="1" dirty="0">
                <a:solidFill>
                  <a:srgbClr val="4F46E5"/>
                </a:solidFill>
                <a:latin typeface="Arial" pitchFamily="34" charset="0"/>
                <a:ea typeface="Arial" pitchFamily="34" charset="-122"/>
                <a:cs typeface="Arial" pitchFamily="34" charset="-120"/>
              </a:rPr>
              <a:t>constrain</a:t>
            </a:r>
            <a:pPr algn="ctr" indent="0" marL="0">
              <a:lnSpc>
                <a:spcPts val="5200"/>
              </a:lnSpc>
              <a:buNone/>
            </a:pP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sp>
      <p:sp>
        <p:nvSpPr>
          <p:cNvPr id="5" name="Shape 3"/>
          <p:cNvSpPr/>
          <p:nvPr/>
        </p:nvSpPr>
        <p:spPr>
          <a:xfrm>
            <a:off x="5958688" y="4251960"/>
            <a:ext cx="274320" cy="274320"/>
          </a:xfrm>
          <a:prstGeom prst="ellipse">
            <a:avLst/>
          </a:prstGeom>
          <a:solidFill>
            <a:srgbClr val="4F46E5"/>
          </a:solidFill>
          <a:ln/>
        </p:spPr>
      </p:sp>
      <p:sp>
        <p:nvSpPr>
          <p:cNvPr id="6" name="Text 4"/>
          <p:cNvSpPr/>
          <p:nvPr/>
        </p:nvSpPr>
        <p:spPr>
          <a:xfrm>
            <a:off x="4632808" y="3429000"/>
            <a:ext cx="2926080" cy="292608"/>
          </a:xfrm>
          <a:prstGeom prst="rect">
            <a:avLst/>
          </a:prstGeom>
          <a:noFill/>
          <a:ln/>
        </p:spPr>
        <p:txBody>
          <a:bodyPr wrap="square" rtlCol="0" anchor="ctr"/>
          <a:lstStyle/>
          <a:p>
            <a:pPr algn="ctr" indent="0" marL="0">
              <a:buNone/>
            </a:pPr>
            <a:r>
              <a:rPr lang="en-US" sz="1100" b="1" spc="100" kern="0" dirty="0">
                <a:solidFill>
                  <a:srgbClr val="0F9E8E"/>
                </a:solidFill>
                <a:latin typeface="Consolas" pitchFamily="34" charset="0"/>
                <a:ea typeface="Consolas" pitchFamily="34" charset="-122"/>
                <a:cs typeface="Consolas" pitchFamily="34" charset="-120"/>
              </a:rPr>
              <a:t>PROMPT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algn="l" indent="0" marL="0">
              <a:buNone/>
            </a:pPr>
            <a:r>
              <a:rPr lang="en-US" sz="1100" b="1" spc="100" kern="0" dirty="0">
                <a:solidFill>
                  <a:srgbClr val="7C3AED"/>
                </a:solidFill>
                <a:latin typeface="Consolas" pitchFamily="34" charset="0"/>
                <a:ea typeface="Consolas" pitchFamily="34" charset="-122"/>
                <a:cs typeface="Consolas" pitchFamily="34" charset="-120"/>
              </a:rPr>
              <a:t>TOOLS  </a:t>
            </a:r>
            <a:pPr algn="l" indent="0" marL="0">
              <a:buNone/>
            </a:pPr>
            <a:r>
              <a:rPr lang="en-US" sz="1100" spc="100" kern="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algn="ctr" indent="0" marL="0">
              <a:buNone/>
            </a:pPr>
            <a:r>
              <a:rPr lang="en-US" sz="1100" b="1" spc="100" kern="0" dirty="0">
                <a:solidFill>
                  <a:srgbClr val="0284C7"/>
                </a:solidFill>
                <a:latin typeface="Consolas" pitchFamily="34" charset="0"/>
                <a:ea typeface="Consolas" pitchFamily="34" charset="-122"/>
                <a:cs typeface="Consolas" pitchFamily="34" charset="-120"/>
              </a:rPr>
              <a:t>SCHEMA  </a:t>
            </a:r>
            <a:pPr algn="ctr" indent="0" marL="0">
              <a:buNone/>
            </a:pPr>
            <a:r>
              <a:rPr lang="en-US" sz="1100" spc="100" kern="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algn="r" indent="0" marL="0">
              <a:buNone/>
            </a:pPr>
            <a:r>
              <a:rPr lang="en-US" sz="1100" b="1" spc="100" kern="0" dirty="0">
                <a:solidFill>
                  <a:srgbClr val="E11D48"/>
                </a:solidFill>
                <a:latin typeface="Consolas" pitchFamily="34" charset="0"/>
                <a:ea typeface="Consolas" pitchFamily="34" charset="-122"/>
                <a:cs typeface="Consolas" pitchFamily="34" charset="-120"/>
              </a:rPr>
              <a:t>ORCHESTRATION  </a:t>
            </a:r>
            <a:pPr algn="r" indent="0" marL="0">
              <a:buNone/>
            </a:pPr>
            <a:r>
              <a:rPr lang="en-US" sz="1100" spc="100" kern="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943600"/>
            <a:ext cx="7616952" cy="457200"/>
          </a:xfrm>
          <a:prstGeom prst="rect">
            <a:avLst/>
          </a:prstGeom>
          <a:noFill/>
          <a:ln/>
        </p:spPr>
        <p:txBody>
          <a:bodyPr wrap="square" rtlCol="0" anchor="ctr"/>
          <a:lstStyle/>
          <a:p>
            <a:pPr algn="ctr" indent="0" marL="0">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indent="0" marL="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indent="0" marL="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indent="0" marL="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indent="0" marL="0">
              <a:lnSpc>
                <a:spcPts val="2500"/>
              </a:lnSpc>
              <a:buNone/>
            </a:pPr>
            <a:r>
              <a:rPr lang="en-US" sz="1700" dirty="0">
                <a:solidFill>
                  <a:srgbClr val="666C7A"/>
                </a:solidFill>
                <a:latin typeface="Calibri" pitchFamily="34" charset="0"/>
                <a:ea typeface="Calibri" pitchFamily="34" charset="-122"/>
                <a:cs typeface="Calibri" pitchFamily="34" charset="-120"/>
              </a:rPr>
              <a:t>The orchestrator-worker pattern. Then we run it, live.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Plan. Dispatch. </a:t>
            </a:r>
            <a:pPr indent="0" marL="0">
              <a:buNone/>
            </a:pPr>
            <a:r>
              <a:rPr lang="en-US" sz="3200" b="1" dirty="0">
                <a:solidFill>
                  <a:srgbClr val="4F46E5"/>
                </a:solidFill>
                <a:latin typeface="Arial" pitchFamily="34" charset="0"/>
                <a:ea typeface="Arial" pitchFamily="34" charset="-122"/>
                <a:cs typeface="Arial" pitchFamily="34" charset="-120"/>
              </a:rPr>
              <a:t>Synthesize.</a:t>
            </a:r>
            <a:endParaRPr lang="en-US" sz="3200" dirty="0"/>
          </a:p>
        </p:txBody>
      </p:sp>
      <p:sp>
        <p:nvSpPr>
          <p:cNvPr id="4" name="Shape 2"/>
          <p:cNvSpPr/>
          <p:nvPr/>
        </p:nvSpPr>
        <p:spPr>
          <a:xfrm>
            <a:off x="841248" y="3017520"/>
            <a:ext cx="155448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841248" y="3127248"/>
            <a:ext cx="155448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one prompt</a:t>
            </a:r>
            <a:endParaRPr lang="en-US" sz="1300" dirty="0"/>
          </a:p>
        </p:txBody>
      </p:sp>
      <p:sp>
        <p:nvSpPr>
          <p:cNvPr id="6" name="Text 4"/>
          <p:cNvSpPr/>
          <p:nvPr/>
        </p:nvSpPr>
        <p:spPr>
          <a:xfrm>
            <a:off x="841248" y="3465576"/>
            <a:ext cx="155448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ENGLISH</a:t>
            </a:r>
            <a:endParaRPr lang="en-US" sz="850" dirty="0"/>
          </a:p>
        </p:txBody>
      </p:sp>
      <p:sp>
        <p:nvSpPr>
          <p:cNvPr id="7" name="Shape 5"/>
          <p:cNvSpPr/>
          <p:nvPr/>
        </p:nvSpPr>
        <p:spPr>
          <a:xfrm>
            <a:off x="2487168" y="3429000"/>
            <a:ext cx="457200" cy="0"/>
          </a:xfrm>
          <a:prstGeom prst="line">
            <a:avLst/>
          </a:prstGeom>
          <a:noFill/>
          <a:ln w="22860">
            <a:solidFill>
              <a:srgbClr val="9AA1B0"/>
            </a:solidFill>
            <a:prstDash val="solid"/>
            <a:tailEnd type="triangle"/>
          </a:ln>
        </p:spPr>
      </p:sp>
      <p:sp>
        <p:nvSpPr>
          <p:cNvPr id="8" name="Shape 6"/>
          <p:cNvSpPr/>
          <p:nvPr/>
        </p:nvSpPr>
        <p:spPr>
          <a:xfrm>
            <a:off x="3035808" y="3017520"/>
            <a:ext cx="173736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3035808" y="3127248"/>
            <a:ext cx="173736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Planner</a:t>
            </a:r>
            <a:endParaRPr lang="en-US" sz="1300" dirty="0"/>
          </a:p>
        </p:txBody>
      </p:sp>
      <p:sp>
        <p:nvSpPr>
          <p:cNvPr id="10" name="Text 8"/>
          <p:cNvSpPr/>
          <p:nvPr/>
        </p:nvSpPr>
        <p:spPr>
          <a:xfrm>
            <a:off x="3035808" y="3465576"/>
            <a:ext cx="173736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STRUCTURED</a:t>
            </a:r>
            <a:endParaRPr lang="en-US" sz="850" dirty="0"/>
          </a:p>
        </p:txBody>
      </p:sp>
      <p:sp>
        <p:nvSpPr>
          <p:cNvPr id="11" name="Shape 9"/>
          <p:cNvSpPr/>
          <p:nvPr/>
        </p:nvSpPr>
        <p:spPr>
          <a:xfrm>
            <a:off x="4864608" y="3429000"/>
            <a:ext cx="457200" cy="0"/>
          </a:xfrm>
          <a:prstGeom prst="line">
            <a:avLst/>
          </a:prstGeom>
          <a:noFill/>
          <a:ln w="22860">
            <a:solidFill>
              <a:srgbClr val="9AA1B0"/>
            </a:solidFill>
            <a:prstDash val="solid"/>
            <a:tailEnd type="triangle"/>
          </a:ln>
        </p:spPr>
      </p:sp>
      <p:sp>
        <p:nvSpPr>
          <p:cNvPr id="12" name="Shape 10"/>
          <p:cNvSpPr/>
          <p:nvPr/>
        </p:nvSpPr>
        <p:spPr>
          <a:xfrm>
            <a:off x="5413248" y="2194560"/>
            <a:ext cx="1691640" cy="658368"/>
          </a:xfrm>
          <a:prstGeom prst="roundRect">
            <a:avLst>
              <a:gd name="adj" fmla="val 13889"/>
            </a:avLst>
          </a:prstGeom>
          <a:solidFill>
            <a:srgbClr val="F5F7FA"/>
          </a:solidFill>
          <a:ln w="16510">
            <a:solidFill>
              <a:srgbClr val="0F9E8E"/>
            </a:solidFill>
            <a:prstDash val="solid"/>
          </a:ln>
          <a:effectLst>
            <a:outerShdw sx="100000" sy="100000" kx="0" ky="0" algn="bl" rotWithShape="0" blurRad="139700" dist="38100" dir="5400000">
              <a:srgbClr val="9AA6BC">
                <a:alpha val="28000"/>
              </a:srgbClr>
            </a:outerShdw>
          </a:effectLst>
        </p:spPr>
      </p:sp>
      <p:sp>
        <p:nvSpPr>
          <p:cNvPr id="13" name="Text 11"/>
          <p:cNvSpPr/>
          <p:nvPr/>
        </p:nvSpPr>
        <p:spPr>
          <a:xfrm>
            <a:off x="5413248" y="2221992"/>
            <a:ext cx="16916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Worker</a:t>
            </a:r>
            <a:endParaRPr lang="en-US" sz="1300" dirty="0"/>
          </a:p>
        </p:txBody>
      </p:sp>
      <p:sp>
        <p:nvSpPr>
          <p:cNvPr id="14" name="Text 12"/>
          <p:cNvSpPr/>
          <p:nvPr/>
        </p:nvSpPr>
        <p:spPr>
          <a:xfrm>
            <a:off x="5413248" y="2560320"/>
            <a:ext cx="16916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ENGINEER</a:t>
            </a:r>
            <a:endParaRPr lang="en-US" sz="850" dirty="0"/>
          </a:p>
        </p:txBody>
      </p:sp>
      <p:sp>
        <p:nvSpPr>
          <p:cNvPr id="15" name="Shape 13"/>
          <p:cNvSpPr/>
          <p:nvPr/>
        </p:nvSpPr>
        <p:spPr>
          <a:xfrm>
            <a:off x="5413248" y="3099816"/>
            <a:ext cx="1691640" cy="658368"/>
          </a:xfrm>
          <a:prstGeom prst="roundRect">
            <a:avLst>
              <a:gd name="adj" fmla="val 13889"/>
            </a:avLst>
          </a:prstGeom>
          <a:solidFill>
            <a:srgbClr val="F5F7FA"/>
          </a:solidFill>
          <a:ln w="16510">
            <a:solidFill>
              <a:srgbClr val="7C3AED"/>
            </a:solidFill>
            <a:prstDash val="solid"/>
          </a:ln>
          <a:effectLst>
            <a:outerShdw sx="100000" sy="100000" kx="0" ky="0" algn="bl" rotWithShape="0" blurRad="139700" dist="38100" dir="5400000">
              <a:srgbClr val="9AA6BC">
                <a:alpha val="28000"/>
              </a:srgbClr>
            </a:outerShdw>
          </a:effectLst>
        </p:spPr>
      </p:sp>
      <p:sp>
        <p:nvSpPr>
          <p:cNvPr id="16" name="Text 14"/>
          <p:cNvSpPr/>
          <p:nvPr/>
        </p:nvSpPr>
        <p:spPr>
          <a:xfrm>
            <a:off x="5413248" y="3127248"/>
            <a:ext cx="16916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Worker</a:t>
            </a:r>
            <a:endParaRPr lang="en-US" sz="1300" dirty="0"/>
          </a:p>
        </p:txBody>
      </p:sp>
      <p:sp>
        <p:nvSpPr>
          <p:cNvPr id="17" name="Text 15"/>
          <p:cNvSpPr/>
          <p:nvPr/>
        </p:nvSpPr>
        <p:spPr>
          <a:xfrm>
            <a:off x="5413248" y="3465576"/>
            <a:ext cx="16916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MARKETER</a:t>
            </a:r>
            <a:endParaRPr lang="en-US" sz="850" dirty="0"/>
          </a:p>
        </p:txBody>
      </p:sp>
      <p:sp>
        <p:nvSpPr>
          <p:cNvPr id="18" name="Shape 16"/>
          <p:cNvSpPr/>
          <p:nvPr/>
        </p:nvSpPr>
        <p:spPr>
          <a:xfrm>
            <a:off x="5413248" y="4005072"/>
            <a:ext cx="1691640" cy="658368"/>
          </a:xfrm>
          <a:prstGeom prst="roundRect">
            <a:avLst>
              <a:gd name="adj" fmla="val 13889"/>
            </a:avLst>
          </a:prstGeom>
          <a:solidFill>
            <a:srgbClr val="F5F7FA"/>
          </a:solidFill>
          <a:ln w="16510">
            <a:solidFill>
              <a:srgbClr val="E11D48"/>
            </a:solidFill>
            <a:prstDash val="solid"/>
          </a:ln>
          <a:effectLst>
            <a:outerShdw sx="100000" sy="100000" kx="0" ky="0" algn="bl" rotWithShape="0" blurRad="139700" dist="38100" dir="5400000">
              <a:srgbClr val="9AA6BC">
                <a:alpha val="28000"/>
              </a:srgbClr>
            </a:outerShdw>
          </a:effectLst>
        </p:spPr>
      </p:sp>
      <p:sp>
        <p:nvSpPr>
          <p:cNvPr id="19" name="Text 17"/>
          <p:cNvSpPr/>
          <p:nvPr/>
        </p:nvSpPr>
        <p:spPr>
          <a:xfrm>
            <a:off x="5413248" y="4032504"/>
            <a:ext cx="16916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Worker</a:t>
            </a:r>
            <a:endParaRPr lang="en-US" sz="1300" dirty="0"/>
          </a:p>
        </p:txBody>
      </p:sp>
      <p:sp>
        <p:nvSpPr>
          <p:cNvPr id="20" name="Text 18"/>
          <p:cNvSpPr/>
          <p:nvPr/>
        </p:nvSpPr>
        <p:spPr>
          <a:xfrm>
            <a:off x="5413248" y="4370832"/>
            <a:ext cx="16916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LEGAL</a:t>
            </a:r>
            <a:endParaRPr lang="en-US" sz="850" dirty="0"/>
          </a:p>
        </p:txBody>
      </p:sp>
      <p:sp>
        <p:nvSpPr>
          <p:cNvPr id="21" name="Shape 19"/>
          <p:cNvSpPr/>
          <p:nvPr/>
        </p:nvSpPr>
        <p:spPr>
          <a:xfrm>
            <a:off x="7196328" y="3429000"/>
            <a:ext cx="457200" cy="0"/>
          </a:xfrm>
          <a:prstGeom prst="line">
            <a:avLst/>
          </a:prstGeom>
          <a:noFill/>
          <a:ln w="22860">
            <a:solidFill>
              <a:srgbClr val="9AA1B0"/>
            </a:solidFill>
            <a:prstDash val="solid"/>
            <a:tailEnd type="triangle"/>
          </a:ln>
        </p:spPr>
      </p:sp>
      <p:sp>
        <p:nvSpPr>
          <p:cNvPr id="22" name="Shape 20"/>
          <p:cNvSpPr/>
          <p:nvPr/>
        </p:nvSpPr>
        <p:spPr>
          <a:xfrm>
            <a:off x="7744968" y="3017520"/>
            <a:ext cx="173736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23" name="Text 21"/>
          <p:cNvSpPr/>
          <p:nvPr/>
        </p:nvSpPr>
        <p:spPr>
          <a:xfrm>
            <a:off x="7744968" y="3127248"/>
            <a:ext cx="173736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Synthesizer</a:t>
            </a:r>
            <a:endParaRPr lang="en-US" sz="1300" dirty="0"/>
          </a:p>
        </p:txBody>
      </p:sp>
      <p:sp>
        <p:nvSpPr>
          <p:cNvPr id="24" name="Text 22"/>
          <p:cNvSpPr/>
          <p:nvPr/>
        </p:nvSpPr>
        <p:spPr>
          <a:xfrm>
            <a:off x="7744968" y="3465576"/>
            <a:ext cx="173736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FAN-IN</a:t>
            </a:r>
            <a:endParaRPr lang="en-US" sz="850" dirty="0"/>
          </a:p>
        </p:txBody>
      </p:sp>
      <p:sp>
        <p:nvSpPr>
          <p:cNvPr id="25" name="Shape 23"/>
          <p:cNvSpPr/>
          <p:nvPr/>
        </p:nvSpPr>
        <p:spPr>
          <a:xfrm>
            <a:off x="9573768" y="3429000"/>
            <a:ext cx="457200" cy="0"/>
          </a:xfrm>
          <a:prstGeom prst="line">
            <a:avLst/>
          </a:prstGeom>
          <a:noFill/>
          <a:ln w="22860">
            <a:solidFill>
              <a:srgbClr val="9AA1B0"/>
            </a:solidFill>
            <a:prstDash val="solid"/>
            <a:tailEnd type="triangle"/>
          </a:ln>
        </p:spPr>
      </p:sp>
      <p:sp>
        <p:nvSpPr>
          <p:cNvPr id="26" name="Shape 24"/>
          <p:cNvSpPr/>
          <p:nvPr/>
        </p:nvSpPr>
        <p:spPr>
          <a:xfrm>
            <a:off x="10122408" y="3017520"/>
            <a:ext cx="1463040" cy="822960"/>
          </a:xfrm>
          <a:prstGeom prst="roundRect">
            <a:avLst>
              <a:gd name="adj" fmla="val 11111"/>
            </a:avLst>
          </a:prstGeom>
          <a:solidFill>
            <a:srgbClr val="F5F7FA"/>
          </a:solidFill>
          <a:ln w="16510">
            <a:solidFill>
              <a:srgbClr val="4F46E5"/>
            </a:solidFill>
            <a:prstDash val="solid"/>
          </a:ln>
          <a:effectLst>
            <a:outerShdw sx="100000" sy="100000" kx="0" ky="0" algn="bl" rotWithShape="0" blurRad="139700" dist="38100" dir="5400000">
              <a:srgbClr val="9AA6BC">
                <a:alpha val="28000"/>
              </a:srgbClr>
            </a:outerShdw>
          </a:effectLst>
        </p:spPr>
      </p:sp>
      <p:sp>
        <p:nvSpPr>
          <p:cNvPr id="27" name="Text 25"/>
          <p:cNvSpPr/>
          <p:nvPr/>
        </p:nvSpPr>
        <p:spPr>
          <a:xfrm>
            <a:off x="10122408" y="3127248"/>
            <a:ext cx="1463040" cy="365760"/>
          </a:xfrm>
          <a:prstGeom prst="rect">
            <a:avLst/>
          </a:prstGeom>
          <a:noFill/>
          <a:ln/>
        </p:spPr>
        <p:txBody>
          <a:bodyPr wrap="square" rtlCol="0" anchor="ctr"/>
          <a:lstStyle/>
          <a:p>
            <a:pPr algn="ctr" indent="0" marL="0">
              <a:buNone/>
            </a:pPr>
            <a:r>
              <a:rPr lang="en-US" sz="1300" b="1" dirty="0">
                <a:solidFill>
                  <a:srgbClr val="16181D"/>
                </a:solidFill>
                <a:latin typeface="Consolas" pitchFamily="34" charset="0"/>
                <a:ea typeface="Consolas" pitchFamily="34" charset="-122"/>
                <a:cs typeface="Consolas" pitchFamily="34" charset="-120"/>
              </a:rPr>
              <a:t>one plan</a:t>
            </a:r>
            <a:endParaRPr lang="en-US" sz="1300" dirty="0"/>
          </a:p>
        </p:txBody>
      </p:sp>
      <p:sp>
        <p:nvSpPr>
          <p:cNvPr id="28" name="Text 26"/>
          <p:cNvSpPr/>
          <p:nvPr/>
        </p:nvSpPr>
        <p:spPr>
          <a:xfrm>
            <a:off x="10122408" y="3465576"/>
            <a:ext cx="1463040" cy="274320"/>
          </a:xfrm>
          <a:prstGeom prst="rect">
            <a:avLst/>
          </a:prstGeom>
          <a:noFill/>
          <a:ln/>
        </p:spPr>
        <p:txBody>
          <a:bodyPr wrap="square" rtlCol="0" anchor="ctr"/>
          <a:lstStyle/>
          <a:p>
            <a:pPr algn="ctr" indent="0" marL="0">
              <a:buNone/>
            </a:pPr>
            <a:r>
              <a:rPr lang="en-US" sz="850" spc="150" kern="0" dirty="0">
                <a:solidFill>
                  <a:srgbClr val="666C7A"/>
                </a:solidFill>
                <a:latin typeface="Consolas" pitchFamily="34" charset="0"/>
                <a:ea typeface="Consolas" pitchFamily="34" charset="-122"/>
                <a:cs typeface="Consolas" pitchFamily="34" charset="-120"/>
              </a:rPr>
              <a:t>RESULT</a:t>
            </a:r>
            <a:endParaRPr lang="en-US" sz="850" dirty="0"/>
          </a:p>
        </p:txBody>
      </p:sp>
      <p:sp>
        <p:nvSpPr>
          <p:cNvPr id="29" name="Text 27"/>
          <p:cNvSpPr/>
          <p:nvPr/>
        </p:nvSpPr>
        <p:spPr>
          <a:xfrm>
            <a:off x="2286000" y="5669280"/>
            <a:ext cx="7616952" cy="45720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The planner </a:t>
            </a:r>
            <a:pPr algn="ctr" indent="0" marL="0">
              <a:buNone/>
            </a:pPr>
            <a:r>
              <a:rPr lang="en-US" sz="1600" b="1" dirty="0">
                <a:solidFill>
                  <a:srgbClr val="4F46E5"/>
                </a:solidFill>
                <a:latin typeface="Calibri" pitchFamily="34" charset="0"/>
                <a:ea typeface="Calibri" pitchFamily="34" charset="-122"/>
                <a:cs typeface="Calibri" pitchFamily="34" charset="-120"/>
              </a:rPr>
              <a:t>invents</a:t>
            </a:r>
            <a:pPr algn="ctr" indent="0" marL="0">
              <a:buNone/>
            </a:pPr>
            <a:r>
              <a:rPr lang="en-US" sz="1600" dirty="0">
                <a:solidFill>
                  <a:srgbClr val="666C7A"/>
                </a:solidFill>
                <a:latin typeface="Calibri" pitchFamily="34" charset="0"/>
                <a:ea typeface="Calibri" pitchFamily="34" charset="-122"/>
                <a:cs typeface="Calibri" pitchFamily="34" charset="-120"/>
              </a:rPr>
              <a:t> the crew. Nobody hardcoded those roles.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indent="0" marL="0">
              <a:buNone/>
            </a:pPr>
            <a:r>
              <a:rPr lang="en-US" sz="3600" b="1" dirty="0">
                <a:solidFill>
                  <a:srgbClr val="16181D"/>
                </a:solidFill>
                <a:latin typeface="Arial" pitchFamily="34" charset="0"/>
                <a:ea typeface="Arial" pitchFamily="34" charset="-122"/>
                <a:cs typeface="Arial" pitchFamily="34" charset="-120"/>
              </a:rPr>
              <a:t>The prompt barely </a:t>
            </a:r>
            <a:pPr indent="0" marL="0">
              <a:buNone/>
            </a:pP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834640"/>
            <a:ext cx="4937760" cy="1097280"/>
          </a:xfrm>
          <a:prstGeom prst="rect">
            <a:avLst/>
          </a:prstGeom>
          <a:noFill/>
          <a:ln/>
        </p:spPr>
        <p:txBody>
          <a:bodyPr wrap="square" rtlCol="0" anchor="ctr"/>
          <a:lstStyle/>
          <a:p>
            <a:pPr indent="0" marL="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6" name="Shape 4"/>
          <p:cNvSpPr/>
          <p:nvPr/>
        </p:nvSpPr>
        <p:spPr>
          <a:xfrm>
            <a:off x="6876288" y="2098548"/>
            <a:ext cx="512064" cy="512064"/>
          </a:xfrm>
          <a:prstGeom prst="ellipse">
            <a:avLst/>
          </a:prstGeom>
          <a:solidFill>
            <a:srgbClr val="9AA1B0"/>
          </a:solidFill>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6999183" y="2221443"/>
            <a:ext cx="266273" cy="266273"/>
          </a:xfrm>
          <a:prstGeom prst="rect">
            <a:avLst/>
          </a:prstGeom>
        </p:spPr>
      </p:pic>
      <p:sp>
        <p:nvSpPr>
          <p:cNvPr id="8" name="Text 5"/>
          <p:cNvSpPr/>
          <p:nvPr/>
        </p:nvSpPr>
        <p:spPr>
          <a:xfrm>
            <a:off x="7543800" y="219456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9" name="Text 6"/>
          <p:cNvSpPr/>
          <p:nvPr/>
        </p:nvSpPr>
        <p:spPr>
          <a:xfrm>
            <a:off x="8915400" y="219456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Prompt:  </a:t>
            </a:r>
            <a:pPr indent="0" marL="0">
              <a:buNone/>
            </a:pP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0" name="Shape 7"/>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6876288" y="315010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6999183" y="3273003"/>
            <a:ext cx="266273" cy="266273"/>
          </a:xfrm>
          <a:prstGeom prst="rect">
            <a:avLst/>
          </a:prstGeom>
        </p:spPr>
      </p:pic>
      <p:sp>
        <p:nvSpPr>
          <p:cNvPr id="13" name="Text 9"/>
          <p:cNvSpPr/>
          <p:nvPr/>
        </p:nvSpPr>
        <p:spPr>
          <a:xfrm>
            <a:off x="7543800" y="324612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14" name="Text 10"/>
          <p:cNvSpPr/>
          <p:nvPr/>
        </p:nvSpPr>
        <p:spPr>
          <a:xfrm>
            <a:off x="8915400" y="324612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Schema:  </a:t>
            </a:r>
            <a:pPr indent="0" marL="0">
              <a:buNone/>
            </a:pP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15" name="Shape 11"/>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sx="100000" sy="100000" kx="0" ky="0" algn="bl" rotWithShape="0" blurRad="139700" dist="38100" dir="5400000">
              <a:srgbClr val="9AA6BC">
                <a:alpha val="28000"/>
              </a:srgbClr>
            </a:outerShdw>
          </a:effectLst>
        </p:spPr>
      </p:sp>
      <p:sp>
        <p:nvSpPr>
          <p:cNvPr id="16" name="Shape 12"/>
          <p:cNvSpPr/>
          <p:nvPr/>
        </p:nvSpPr>
        <p:spPr>
          <a:xfrm>
            <a:off x="6876288" y="4201668"/>
            <a:ext cx="512064" cy="51206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7" name="Image 2" descr="preencoded.png">    </p:cNvPr>
          <p:cNvPicPr>
            <a:picLocks noChangeAspect="1"/>
          </p:cNvPicPr>
          <p:nvPr/>
        </p:nvPicPr>
        <p:blipFill>
          <a:blip r:embed="rId3"/>
          <a:stretch>
            <a:fillRect/>
          </a:stretch>
        </p:blipFill>
        <p:spPr>
          <a:xfrm>
            <a:off x="6999183" y="4324563"/>
            <a:ext cx="266273" cy="266273"/>
          </a:xfrm>
          <a:prstGeom prst="rect">
            <a:avLst/>
          </a:prstGeom>
        </p:spPr>
      </p:pic>
      <p:sp>
        <p:nvSpPr>
          <p:cNvPr id="18" name="Text 13"/>
          <p:cNvSpPr/>
          <p:nvPr/>
        </p:nvSpPr>
        <p:spPr>
          <a:xfrm>
            <a:off x="7543800" y="4297680"/>
            <a:ext cx="1737360" cy="320040"/>
          </a:xfrm>
          <a:prstGeom prst="rect">
            <a:avLst/>
          </a:prstGeom>
          <a:noFill/>
          <a:ln/>
        </p:spPr>
        <p:txBody>
          <a:bodyPr wrap="square" rtlCol="0" anchor="ctr"/>
          <a:lstStyle/>
          <a:p>
            <a:pPr indent="0" marL="0">
              <a:buNone/>
            </a:pPr>
            <a:r>
              <a:rPr lang="en-US" sz="1000" spc="150" kern="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19" name="Text 14"/>
          <p:cNvSpPr/>
          <p:nvPr/>
        </p:nvSpPr>
        <p:spPr>
          <a:xfrm>
            <a:off x="8915400" y="4297680"/>
            <a:ext cx="2286000" cy="320040"/>
          </a:xfrm>
          <a:prstGeom prst="rect">
            <a:avLst/>
          </a:prstGeom>
          <a:noFill/>
          <a:ln/>
        </p:spPr>
        <p:txBody>
          <a:bodyPr wrap="square" rtlCol="0" anchor="ctr"/>
          <a:lstStyle/>
          <a:p>
            <a:pPr indent="0" marL="0">
              <a:buNone/>
            </a:pPr>
            <a:r>
              <a:rPr lang="en-US" sz="1400" b="1" dirty="0">
                <a:solidFill>
                  <a:srgbClr val="16181D"/>
                </a:solidFill>
                <a:latin typeface="Calibri" pitchFamily="34" charset="0"/>
                <a:ea typeface="Calibri" pitchFamily="34" charset="-122"/>
                <a:cs typeface="Calibri" pitchFamily="34" charset="-120"/>
              </a:rPr>
              <a:t>Orchestration:  </a:t>
            </a:r>
            <a:pPr indent="0" marL="0">
              <a:buNone/>
            </a:pP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How the </a:t>
            </a:r>
            <a:pPr indent="0" marL="0">
              <a:buNone/>
            </a:pPr>
            <a:r>
              <a:rPr lang="en-US" sz="3200" b="1" dirty="0">
                <a:solidFill>
                  <a:srgbClr val="4F46E5"/>
                </a:solidFill>
                <a:latin typeface="Arial" pitchFamily="34" charset="0"/>
                <a:ea typeface="Arial" pitchFamily="34" charset="-122"/>
                <a:cs typeface="Arial" pitchFamily="34" charset="-120"/>
              </a:rPr>
              <a:t>Live Build</a:t>
            </a:r>
            <a:pPr indent="0" marL="0">
              <a:buNone/>
            </a:pP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412748" y="3035808"/>
            <a:ext cx="640080" cy="640080"/>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1" name="Shape 8"/>
          <p:cNvSpPr/>
          <p:nvPr/>
        </p:nvSpPr>
        <p:spPr>
          <a:xfrm>
            <a:off x="3594278" y="3035808"/>
            <a:ext cx="640080" cy="640080"/>
          </a:xfrm>
          <a:prstGeom prst="ellipse">
            <a:avLst/>
          </a:prstGeom>
          <a:solidFill>
            <a:srgbClr val="0284C7"/>
          </a:solidFill>
          <a:ln/>
          <a:effectLst>
            <a:outerShdw sx="100000" sy="100000" kx="0" ky="0" algn="bl" rotWithShape="0" blurRad="139700" dist="38100" dir="5400000">
              <a:srgbClr val="9AA6BC">
                <a:alpha val="28000"/>
              </a:srgbClr>
            </a:outerShdw>
          </a:effectLst>
        </p:spPr>
      </p:sp>
      <p:pic>
        <p:nvPicPr>
          <p:cNvPr id="12" name="Image 1" descr="preencoded.png">    </p:cNvPr>
          <p:cNvPicPr>
            <a:picLocks noChangeAspect="1"/>
          </p:cNvPicPr>
          <p:nvPr/>
        </p:nvPicPr>
        <p:blipFill>
          <a:blip r:embed="rId2"/>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on your hotspot</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7" name="Shape 13"/>
          <p:cNvSpPr/>
          <p:nvPr/>
        </p:nvSpPr>
        <p:spPr>
          <a:xfrm>
            <a:off x="5775808" y="3035808"/>
            <a:ext cx="640080" cy="640080"/>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8" name="Image 2" descr="preencoded.png">    </p:cNvPr>
          <p:cNvPicPr>
            <a:picLocks noChangeAspect="1"/>
          </p:cNvPicPr>
          <p:nvPr/>
        </p:nvPicPr>
        <p:blipFill>
          <a:blip r:embed="rId3"/>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3" name="Shape 18"/>
          <p:cNvSpPr/>
          <p:nvPr/>
        </p:nvSpPr>
        <p:spPr>
          <a:xfrm>
            <a:off x="7957337" y="3035808"/>
            <a:ext cx="640080" cy="640080"/>
          </a:xfrm>
          <a:prstGeom prst="ellipse">
            <a:avLst/>
          </a:prstGeom>
          <a:solidFill>
            <a:srgbClr val="D97706"/>
          </a:solidFill>
          <a:ln/>
          <a:effectLst>
            <a:outerShdw sx="100000" sy="100000" kx="0" ky="0" algn="bl" rotWithShape="0" blurRad="139700" dist="38100" dir="5400000">
              <a:srgbClr val="9AA6BC">
                <a:alpha val="28000"/>
              </a:srgbClr>
            </a:outerShdw>
          </a:effectLst>
        </p:spPr>
      </p:sp>
      <p:pic>
        <p:nvPicPr>
          <p:cNvPr id="24" name="Image 3" descr="preencoded.png">    </p:cNvPr>
          <p:cNvPicPr>
            <a:picLocks noChangeAspect="1"/>
          </p:cNvPicPr>
          <p:nvPr/>
        </p:nvPicPr>
        <p:blipFill>
          <a:blip r:embed="rId4"/>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29" name="Shape 23"/>
          <p:cNvSpPr/>
          <p:nvPr/>
        </p:nvSpPr>
        <p:spPr>
          <a:xfrm>
            <a:off x="10138867" y="3035808"/>
            <a:ext cx="640080" cy="640080"/>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30" name="Image 4" descr="preencoded.png">    </p:cNvPr>
          <p:cNvPicPr>
            <a:picLocks noChangeAspect="1"/>
          </p:cNvPicPr>
          <p:nvPr/>
        </p:nvPicPr>
        <p:blipFill>
          <a:blip r:embed="rId5"/>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algn="ctr" indent="0" marL="0">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algn="ctr" indent="0" marL="0">
              <a:lnSpc>
                <a:spcPts val="2200"/>
              </a:lnSpc>
              <a:buNone/>
            </a:pPr>
            <a:r>
              <a:rPr lang="en-US" sz="1500" dirty="0">
                <a:solidFill>
                  <a:srgbClr val="666C7A"/>
                </a:solidFill>
                <a:latin typeface="Calibri" pitchFamily="34" charset="0"/>
                <a:ea typeface="Calibri" pitchFamily="34" charset="-122"/>
                <a:cs typeface="Calibri" pitchFamily="34" charset="-120"/>
              </a:rPr>
              <a:t>Their phone talks to a laptop on your hotspot. The agents build the page. Every step streams to the projector. Nothing touches the internet.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000" b="1" dirty="0">
                <a:solidFill>
                  <a:srgbClr val="16181D"/>
                </a:solidFill>
                <a:latin typeface="Arial" pitchFamily="34" charset="0"/>
                <a:ea typeface="Arial" pitchFamily="34" charset="-122"/>
                <a:cs typeface="Arial" pitchFamily="34" charset="-120"/>
              </a:rPr>
              <a:t>The crew returns </a:t>
            </a:r>
            <a:pPr indent="0" marL="0">
              <a:buNone/>
            </a:pPr>
            <a:r>
              <a:rPr lang="en-US" sz="3000" b="1" dirty="0">
                <a:solidFill>
                  <a:srgbClr val="4F46E5"/>
                </a:solidFill>
                <a:latin typeface="Arial" pitchFamily="34" charset="0"/>
                <a:ea typeface="Arial" pitchFamily="34" charset="-122"/>
                <a:cs typeface="Arial" pitchFamily="34" charset="-120"/>
              </a:rPr>
              <a:t>data</a:t>
            </a:r>
            <a:pPr indent="0" marL="0">
              <a:buNone/>
            </a:pP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52728" y="2331720"/>
            <a:ext cx="4297680" cy="2651760"/>
          </a:xfrm>
          <a:prstGeom prst="rect">
            <a:avLst/>
          </a:prstGeom>
          <a:noFill/>
          <a:ln/>
        </p:spPr>
        <p:txBody>
          <a:bodyPr wrap="square" rtlCol="0" anchor="t"/>
          <a:lstStyle/>
          <a:p>
            <a:pPr indent="0" marL="0">
              <a:lnSpc>
                <a:spcPts val="2500"/>
              </a:lnSpc>
              <a:buNone/>
            </a:pPr>
            <a:r>
              <a:rPr lang="en-US" sz="1400" dirty="0">
                <a:solidFill>
                  <a:srgbClr val="6B7280"/>
                </a:solidFill>
                <a:latin typeface="Consolas" pitchFamily="34" charset="0"/>
                <a:ea typeface="Consolas" pitchFamily="34" charset="-122"/>
                <a:cs typeface="Consolas" pitchFamily="34" charset="-120"/>
              </a:rPr>
              <a:t>// the Copywriter's return type
</a:t>
            </a:r>
            <a:pPr indent="0" marL="0">
              <a:lnSpc>
                <a:spcPts val="2500"/>
              </a:lnSpc>
              <a:buNone/>
            </a:pPr>
            <a:r>
              <a:rPr lang="en-US" sz="1400" dirty="0">
                <a:solidFill>
                  <a:srgbClr val="C4B5FD"/>
                </a:solidFill>
                <a:latin typeface="Consolas" pitchFamily="34" charset="0"/>
                <a:ea typeface="Consolas" pitchFamily="34" charset="-122"/>
                <a:cs typeface="Consolas" pitchFamily="34" charset="-120"/>
              </a:rPr>
              <a:t>record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Copy</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headline,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subhead,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String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cta,
</a:t>
            </a:r>
            <a:pPr indent="0" marL="0">
              <a:lnSpc>
                <a:spcPts val="2500"/>
              </a:lnSpc>
              <a:buNone/>
            </a:pPr>
            <a:r>
              <a:rPr lang="en-US" sz="1400" dirty="0">
                <a:solidFill>
                  <a:srgbClr val="7DD3FC"/>
                </a:solidFill>
                <a:latin typeface="Consolas" pitchFamily="34" charset="0"/>
                <a:ea typeface="Consolas" pitchFamily="34" charset="-122"/>
                <a:cs typeface="Consolas" pitchFamily="34" charset="-120"/>
              </a:rPr>
              <a:t>   List&lt;Feature&gt;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features
</a:t>
            </a:r>
            <a:pPr indent="0" marL="0">
              <a:lnSpc>
                <a:spcPts val="2500"/>
              </a:lnSpc>
              <a:buNone/>
            </a:pPr>
            <a:r>
              <a:rPr lang="en-US" sz="1400" dirty="0">
                <a:solidFill>
                  <a:srgbClr val="E6E9F0"/>
                </a:solidFill>
                <a:latin typeface="Consolas" pitchFamily="34" charset="0"/>
                <a:ea typeface="Consolas" pitchFamily="34" charset="-122"/>
                <a:cs typeface="Consolas" pitchFamily="34" charset="-120"/>
              </a:rPr>
              <a:t>)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7" name="Text 5"/>
          <p:cNvSpPr/>
          <p:nvPr/>
        </p:nvSpPr>
        <p:spPr>
          <a:xfrm>
            <a:off x="6766560" y="2331720"/>
            <a:ext cx="4206240" cy="2651760"/>
          </a:xfrm>
          <a:prstGeom prst="rect">
            <a:avLst/>
          </a:prstGeom>
          <a:noFill/>
          <a:ln/>
        </p:spPr>
        <p:txBody>
          <a:bodyPr wrap="square" rtlCol="0" anchor="t"/>
          <a:lstStyle/>
          <a:p>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"headline"</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"Plants, but they text you.",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"subhead"</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"Never kill a fern again.",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"cta"</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"Get early access",
</a:t>
            </a:r>
            <a:pPr indent="0" marL="0">
              <a:lnSpc>
                <a:spcPts val="2500"/>
              </a:lnSpc>
              <a:buNone/>
            </a:pPr>
            <a:r>
              <a:rPr lang="en-US" sz="1350" dirty="0">
                <a:solidFill>
                  <a:srgbClr val="4F46E5"/>
                </a:solidFill>
                <a:latin typeface="Consolas" pitchFamily="34" charset="0"/>
                <a:ea typeface="Consolas" pitchFamily="34" charset="-122"/>
                <a:cs typeface="Consolas" pitchFamily="34" charset="-120"/>
              </a:rPr>
              <a:t>  "features"</a:t>
            </a:r>
            <a:pPr indent="0" marL="0">
              <a:lnSpc>
                <a:spcPts val="2500"/>
              </a:lnSpc>
              <a:buNone/>
            </a:pPr>
            <a:r>
              <a:rPr lang="en-US" sz="1350" dirty="0">
                <a:solidFill>
                  <a:srgbClr val="16181D"/>
                </a:solidFill>
                <a:latin typeface="Consolas" pitchFamily="34" charset="0"/>
                <a:ea typeface="Consolas" pitchFamily="34" charset="-122"/>
                <a:cs typeface="Consolas" pitchFamily="34" charset="-120"/>
              </a:rPr>
              <a:t>: [ {…}, {…}, {…} ]
</a:t>
            </a:r>
            <a:pPr indent="0" marL="0">
              <a:lnSpc>
                <a:spcPts val="2500"/>
              </a:lnSpc>
              <a:buNone/>
            </a:pP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indent="0" marL="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1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One interface. </a:t>
            </a:r>
            <a:pPr indent="0" marL="0">
              <a:buNone/>
            </a:pPr>
            <a:r>
              <a:rPr lang="en-US" sz="2700" b="1" dirty="0">
                <a:solidFill>
                  <a:srgbClr val="4F46E5"/>
                </a:solidFill>
                <a:latin typeface="Arial" pitchFamily="34" charset="0"/>
                <a:ea typeface="Arial" pitchFamily="34" charset="-122"/>
                <a:cs typeface="Arial" pitchFamily="34" charset="-120"/>
              </a:rPr>
              <a:t>Every worker.</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No implementation. The annotations are the program.</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interface </a:t>
            </a:r>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Worker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indent="0" marL="0">
              <a:lnSpc>
                <a:spcPts val="3000"/>
              </a:lnSpc>
              <a:buNone/>
            </a:pP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"You are a {{role}}.</a:t>
            </a:r>
            <a:pPr indent="0" marL="0">
              <a:lnSpc>
                <a:spcPts val="3000"/>
              </a:lnSpc>
              <a:buNone/>
            </a:pPr>
            <a:endParaRPr lang="en-US" sz="1550" dirty="0"/>
          </a:p>
          <a:p>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                 Answer only from that view."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pPr indent="0" marL="0">
              <a:lnSpc>
                <a:spcPts val="3000"/>
              </a:lnSpc>
              <a:buNone/>
            </a:pPr>
            <a:r>
              <a:rPr lang="en-US" sz="1550" dirty="0">
                <a:solidFill>
                  <a:srgbClr val="6EE7D8"/>
                </a:solidFill>
                <a:latin typeface="Consolas" pitchFamily="34" charset="0"/>
                <a:ea typeface="Consolas" pitchFamily="34" charset="-122"/>
                <a:cs typeface="Consolas" pitchFamily="34" charset="-120"/>
              </a:rPr>
              <a:t>"{{task}}"</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  String </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work(</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("role") String role,</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FBBF24"/>
                </a:solidFill>
                <a:latin typeface="Consolas" pitchFamily="34" charset="0"/>
                <a:ea typeface="Consolas" pitchFamily="34" charset="-122"/>
                <a:cs typeface="Consolas" pitchFamily="34" charset="-120"/>
              </a:rPr>
              <a:t>@V</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("task") String 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LIVE CODE  /  2 OF 2</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indent="0" marL="0">
              <a:buNone/>
            </a:pPr>
            <a:r>
              <a:rPr lang="en-US" sz="2700" b="1" dirty="0">
                <a:solidFill>
                  <a:srgbClr val="16181D"/>
                </a:solidFill>
                <a:latin typeface="Arial" pitchFamily="34" charset="0"/>
                <a:ea typeface="Arial" pitchFamily="34" charset="-122"/>
                <a:cs typeface="Arial" pitchFamily="34" charset="-120"/>
              </a:rPr>
              <a:t>Plan, dispatch, </a:t>
            </a:r>
            <a:pPr indent="0" marL="0">
              <a:buNone/>
            </a:pPr>
            <a:r>
              <a:rPr lang="en-US" sz="2700" b="1" dirty="0">
                <a:solidFill>
                  <a:srgbClr val="4F46E5"/>
                </a:solidFill>
                <a:latin typeface="Arial" pitchFamily="34" charset="0"/>
                <a:ea typeface="Arial" pitchFamily="34" charset="-122"/>
                <a:cs typeface="Arial" pitchFamily="34" charset="-120"/>
              </a:rPr>
              <a:t>synthesize.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sx="100000" sy="100000" kx="0" ky="0" algn="bl" rotWithShape="0" blurRad="139700" dist="38100" dir="5400000">
              <a:srgbClr val="9AA6BC">
                <a:alpha val="28000"/>
              </a:srgbClr>
            </a:outerShdw>
          </a:effectLst>
        </p:spPr>
      </p:sp>
      <p:sp>
        <p:nvSpPr>
          <p:cNvPr id="5" name="Text 3"/>
          <p:cNvSpPr/>
          <p:nvPr/>
        </p:nvSpPr>
        <p:spPr>
          <a:xfrm>
            <a:off x="1298448" y="2148840"/>
            <a:ext cx="9594799" cy="2743200"/>
          </a:xfrm>
          <a:prstGeom prst="rect">
            <a:avLst/>
          </a:prstGeom>
          <a:noFill/>
          <a:ln/>
        </p:spPr>
        <p:txBody>
          <a:bodyPr wrap="square" rtlCol="0" anchor="t"/>
          <a:lstStyle/>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Plan</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plan = planner.assemble(prompt);</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1 prompt -&gt; a crew</a:t>
            </a:r>
            <a:endParaRPr lang="en-US" sz="1550" dirty="0"/>
          </a:p>
          <a:p>
            <a:pPr indent="0" marL="0">
              <a:lnSpc>
                <a:spcPts val="3000"/>
              </a:lnSpc>
              <a:buNone/>
            </a:pP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 =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new</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StringBuilder();</a:t>
            </a:r>
            <a:endParaRPr lang="en-US" sz="1550" dirty="0"/>
          </a:p>
          <a:p>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for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t>
            </a:r>
            <a:pPr indent="0" marL="0">
              <a:lnSpc>
                <a:spcPts val="3000"/>
              </a:lnSpc>
              <a:buNone/>
            </a:pPr>
            <a:r>
              <a:rPr lang="en-US" sz="1550" dirty="0">
                <a:solidFill>
                  <a:srgbClr val="C4B5FD"/>
                </a:solidFill>
                <a:latin typeface="Consolas" pitchFamily="34" charset="0"/>
                <a:ea typeface="Consolas" pitchFamily="34" charset="-122"/>
                <a:cs typeface="Consolas" pitchFamily="34" charset="-120"/>
              </a:rPr>
              <a:t>var</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a : plan.crew()) {</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out</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String answer = worker.work(a.role(), a.task());</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notes.append(a.role()).append(answer);</a:t>
            </a:r>
            <a:endParaRPr lang="en-US" sz="1550" dirty="0"/>
          </a:p>
          <a:p>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a:p>
            <a:pPr indent="0" marL="0">
              <a:lnSpc>
                <a:spcPts val="3000"/>
              </a:lnSpc>
              <a:buNone/>
            </a:pPr>
            <a:endParaRPr lang="en-US" sz="1550" dirty="0"/>
          </a:p>
          <a:p>
            <a:pPr indent="0" marL="0">
              <a:lnSpc>
                <a:spcPts val="3000"/>
              </a:lnSpc>
              <a:buNone/>
            </a:pPr>
            <a:r>
              <a:rPr lang="en-US" sz="1550" dirty="0">
                <a:solidFill>
                  <a:srgbClr val="7DD3FC"/>
                </a:solidFill>
                <a:latin typeface="Consolas" pitchFamily="34" charset="0"/>
                <a:ea typeface="Consolas" pitchFamily="34" charset="-122"/>
                <a:cs typeface="Consolas" pitchFamily="34" charset="-120"/>
              </a:rPr>
              <a:t>String</a:t>
            </a:r>
            <a:pPr indent="0" marL="0">
              <a:lnSpc>
                <a:spcPts val="3000"/>
              </a:lnSpc>
              <a:buNone/>
            </a:pPr>
            <a:r>
              <a:rPr lang="en-US" sz="1550" dirty="0">
                <a:solidFill>
                  <a:srgbClr val="E6E9F0"/>
                </a:solidFill>
                <a:latin typeface="Consolas" pitchFamily="34" charset="0"/>
                <a:ea typeface="Consolas" pitchFamily="34" charset="-122"/>
                <a:cs typeface="Consolas" pitchFamily="34" charset="-120"/>
              </a:rPr>
              <a:t> result = synthesizer.synthesize(notes);</a:t>
            </a:r>
            <a:pPr indent="0" marL="0">
              <a:lnSpc>
                <a:spcPts val="3000"/>
              </a:lnSpc>
              <a:buNone/>
            </a:pPr>
            <a:r>
              <a:rPr lang="en-US" sz="1550" dirty="0">
                <a:solidFill>
                  <a:srgbClr val="6B7280"/>
                </a:solidFill>
                <a:latin typeface="Consolas" pitchFamily="34" charset="0"/>
                <a:ea typeface="Consolas" pitchFamily="34" charset="-122"/>
                <a:cs typeface="Consolas" pitchFamily="34" charset="-120"/>
              </a:rPr>
              <a:t>  // fan in</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sp>
      <p:sp>
        <p:nvSpPr>
          <p:cNvPr id="3" name="Text 1"/>
          <p:cNvSpPr/>
          <p:nvPr/>
        </p:nvSpPr>
        <p:spPr>
          <a:xfrm>
            <a:off x="1207008" y="566928"/>
            <a:ext cx="4572000" cy="292608"/>
          </a:xfrm>
          <a:prstGeom prst="rect">
            <a:avLst/>
          </a:prstGeom>
          <a:noFill/>
          <a:ln/>
        </p:spPr>
        <p:txBody>
          <a:bodyPr wrap="square" rtlCol="0" anchor="ctr"/>
          <a:lstStyle/>
          <a:p>
            <a:pPr indent="0" marL="0">
              <a:buNone/>
            </a:pPr>
            <a:r>
              <a:rPr lang="en-US" sz="1200" spc="400" kern="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algn="ctr" indent="0" marL="0">
              <a:buNone/>
            </a:pPr>
            <a:r>
              <a:rPr lang="en-US" sz="5800" b="1" dirty="0">
                <a:solidFill>
                  <a:srgbClr val="16181D"/>
                </a:solidFill>
                <a:latin typeface="Arial" pitchFamily="34" charset="0"/>
                <a:ea typeface="Arial" pitchFamily="34" charset="-122"/>
                <a:cs typeface="Arial" pitchFamily="34" charset="-120"/>
              </a:rPr>
              <a:t>Let's build </a:t>
            </a:r>
            <a:pPr algn="ctr" indent="0" marL="0">
              <a:buNone/>
            </a:pP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sx="100000" sy="100000" kx="0" ky="0" algn="bl" rotWithShape="0" blurRad="139700" dist="38100" dir="5400000">
              <a:srgbClr val="9AA6BC">
                <a:alpha val="28000"/>
              </a:srgbClr>
            </a:outerShdw>
          </a:effectLst>
        </p:spPr>
      </p:sp>
      <p:sp>
        <p:nvSpPr>
          <p:cNvPr id="6" name="Text 4"/>
          <p:cNvSpPr/>
          <p:nvPr/>
        </p:nvSpPr>
        <p:spPr>
          <a:xfrm>
            <a:off x="115808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sx="100000" sy="100000" kx="0" ky="0" algn="bl" rotWithShape="0" blurRad="139700" dist="38100" dir="5400000">
              <a:srgbClr val="9AA6BC">
                <a:alpha val="28000"/>
              </a:srgbClr>
            </a:outerShdw>
          </a:effectLst>
        </p:spPr>
      </p:sp>
      <p:sp>
        <p:nvSpPr>
          <p:cNvPr id="9" name="Text 7"/>
          <p:cNvSpPr/>
          <p:nvPr/>
        </p:nvSpPr>
        <p:spPr>
          <a:xfrm>
            <a:off x="472424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sx="100000" sy="100000" kx="0" ky="0" algn="bl" rotWithShape="0" blurRad="139700" dist="38100" dir="5400000">
              <a:srgbClr val="9AA6BC">
                <a:alpha val="28000"/>
              </a:srgbClr>
            </a:outerShdw>
          </a:effectLst>
        </p:spPr>
      </p:sp>
      <p:sp>
        <p:nvSpPr>
          <p:cNvPr id="12" name="Text 10"/>
          <p:cNvSpPr/>
          <p:nvPr/>
        </p:nvSpPr>
        <p:spPr>
          <a:xfrm>
            <a:off x="8290408" y="3383280"/>
            <a:ext cx="2743200" cy="822960"/>
          </a:xfrm>
          <a:prstGeom prst="rect">
            <a:avLst/>
          </a:prstGeom>
          <a:noFill/>
          <a:ln/>
        </p:spPr>
        <p:txBody>
          <a:bodyPr wrap="square" rtlCol="0" anchor="ctr"/>
          <a:lstStyle/>
          <a:p>
            <a:pPr algn="ctr" indent="0" marL="0">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algn="ctr" indent="0" marL="0">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r>
          <p:cNvPicPr>
            <a:picLocks noChangeAspect="1"/>
          </p:cNvPicPr>
          <p:nvPr/>
        </p:nvPicPr>
        <p:blipFill>
          <a:blip r:embed="rId1"/>
          <a:stretch>
            <a:fillRect/>
          </a:stretch>
        </p:blipFill>
        <p:spPr>
          <a:xfrm>
            <a:off x="5547208" y="5577840"/>
            <a:ext cx="960120" cy="96012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indent="0" marL="0">
              <a:buNone/>
            </a:pPr>
            <a:r>
              <a:rPr lang="en-US" sz="1100" b="1" spc="300" kern="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indent="0" marL="0">
              <a:buNone/>
            </a:pPr>
            <a:r>
              <a:rPr lang="en-US" sz="3200" b="1" dirty="0">
                <a:solidFill>
                  <a:srgbClr val="16181D"/>
                </a:solidFill>
                <a:latin typeface="Arial" pitchFamily="34" charset="0"/>
                <a:ea typeface="Arial" pitchFamily="34" charset="-122"/>
                <a:cs typeface="Arial" pitchFamily="34" charset="-120"/>
              </a:rPr>
              <a:t>One sentence became a </a:t>
            </a:r>
            <a:pPr indent="0" marL="0">
              <a:buNone/>
            </a:pP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5" name="Shape 3"/>
          <p:cNvSpPr/>
          <p:nvPr/>
        </p:nvSpPr>
        <p:spPr>
          <a:xfrm>
            <a:off x="1161288" y="2734056"/>
            <a:ext cx="603504" cy="603504"/>
          </a:xfrm>
          <a:prstGeom prst="ellipse">
            <a:avLst/>
          </a:prstGeom>
          <a:solidFill>
            <a:srgbClr val="0F9E8E"/>
          </a:solidFill>
          <a:ln/>
          <a:effectLst>
            <a:outerShdw sx="100000" sy="100000" kx="0" ky="0" algn="bl" rotWithShape="0" blurRad="139700" dist="38100" dir="5400000">
              <a:srgbClr val="9AA6BC">
                <a:alpha val="28000"/>
              </a:srgbClr>
            </a:outerShdw>
          </a:effectLst>
        </p:spPr>
      </p:sp>
      <p:pic>
        <p:nvPicPr>
          <p:cNvPr id="6" name="Image 0" descr="preencoded.png">    </p:cNvPr>
          <p:cNvPicPr>
            <a:picLocks noChangeAspect="1"/>
          </p:cNvPicPr>
          <p:nvPr/>
        </p:nvPicPr>
        <p:blipFill>
          <a:blip r:embed="rId1"/>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0" name="Shape 7"/>
          <p:cNvSpPr/>
          <p:nvPr/>
        </p:nvSpPr>
        <p:spPr>
          <a:xfrm>
            <a:off x="4864608" y="2734056"/>
            <a:ext cx="603504" cy="603504"/>
          </a:xfrm>
          <a:prstGeom prst="ellipse">
            <a:avLst/>
          </a:prstGeom>
          <a:solidFill>
            <a:srgbClr val="7C3AED"/>
          </a:solidFill>
          <a:ln/>
          <a:effectLst>
            <a:outerShdw sx="100000" sy="100000" kx="0" ky="0" algn="bl" rotWithShape="0" blurRad="139700" dist="38100" dir="5400000">
              <a:srgbClr val="9AA6BC">
                <a:alpha val="28000"/>
              </a:srgbClr>
            </a:outerShdw>
          </a:effectLst>
        </p:spPr>
      </p:sp>
      <p:pic>
        <p:nvPicPr>
          <p:cNvPr id="11" name="Image 1" descr="preencoded.png">    </p:cNvPr>
          <p:cNvPicPr>
            <a:picLocks noChangeAspect="1"/>
          </p:cNvPicPr>
          <p:nvPr/>
        </p:nvPicPr>
        <p:blipFill>
          <a:blip r:embed="rId2"/>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sp>
        <p:nvSpPr>
          <p:cNvPr id="15" name="Shape 11"/>
          <p:cNvSpPr/>
          <p:nvPr/>
        </p:nvSpPr>
        <p:spPr>
          <a:xfrm>
            <a:off x="8567928" y="2734056"/>
            <a:ext cx="603504" cy="60350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16" name="Image 2" descr="preencoded.png">    </p:cNvPr>
          <p:cNvPicPr>
            <a:picLocks noChangeAspect="1"/>
          </p:cNvPicPr>
          <p:nvPr/>
        </p:nvPicPr>
        <p:blipFill>
          <a:blip r:embed="rId3"/>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indent="0" marL="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indent="0" marL="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indent="0" marL="0">
              <a:buNone/>
            </a:pPr>
            <a:r>
              <a:rPr lang="en-US" sz="1100" b="1" spc="300" kern="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indent="0" marL="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indent="0" marL="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indent="0" marL="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indent="0" marL="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indent="0" marL="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pPr indent="0" marL="0">
              <a:lnSpc>
                <a:spcPts val="2200"/>
              </a:lnSpc>
              <a:buNone/>
            </a:pPr>
            <a:r>
              <a:rPr lang="en-US" sz="1250" b="1" dirty="0">
                <a:solidFill>
                  <a:srgbClr val="4F46E5"/>
                </a:solidFill>
                <a:latin typeface="Consolas" pitchFamily="34" charset="0"/>
                <a:ea typeface="Consolas" pitchFamily="34" charset="-122"/>
                <a:cs typeface="Consolas" pitchFamily="34" charset="-120"/>
              </a:rPr>
              <a:t>   /   BBD</a:t>
            </a:r>
            <a:pPr indent="0" marL="0">
              <a:lnSpc>
                <a:spcPts val="2200"/>
              </a:lnSpc>
              <a:buNone/>
            </a:pPr>
            <a:endParaRPr lang="en-US" sz="1250" dirty="0"/>
          </a:p>
          <a:p>
            <a:pPr indent="0" marL="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7" name="Image 0" descr="preencoded.png">    </p:cNvPr>
          <p:cNvPicPr>
            <a:picLocks noChangeAspect="1"/>
          </p:cNvPicPr>
          <p:nvPr/>
        </p:nvPicPr>
        <p:blipFill>
          <a:blip r:embed="rId1"/>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sx="100000" sy="100000" kx="0" ky="0" algn="bl" rotWithShape="0" blurRad="139700" dist="38100" dir="5400000">
              <a:srgbClr val="9AA6BC">
                <a:alpha val="28000"/>
              </a:srgbClr>
            </a:outerShdw>
          </a:effectLst>
        </p:spPr>
      </p:sp>
      <p:pic>
        <p:nvPicPr>
          <p:cNvPr id="9" name="Image 1" descr="preencoded.png">    </p:cNvPr>
          <p:cNvPicPr>
            <a:picLocks noChangeAspect="1"/>
          </p:cNvPicPr>
          <p:nvPr/>
        </p:nvPicPr>
        <p:blipFill>
          <a:blip r:embed="rId2"/>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sx="100000" sy="100000" kx="0" ky="0" algn="bl" rotWithShape="0" blurRad="139700" dist="38100" dir="5400000">
              <a:srgbClr val="9AA6BC">
                <a:alpha val="28000"/>
              </a:srgbClr>
            </a:outerShdw>
          </a:effectLst>
        </p:spPr>
      </p:sp>
      <p:pic>
        <p:nvPicPr>
          <p:cNvPr id="13" name="Image 2" descr="preencoded.png">    </p:cNvPr>
          <p:cNvPicPr>
            <a:picLocks noChangeAspect="1"/>
          </p:cNvPicPr>
          <p:nvPr/>
        </p:nvPicPr>
        <p:blipFill>
          <a:blip r:embed="rId3"/>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sx="100000" sy="100000" kx="0" ky="0" algn="bl" rotWithShape="0" blurRad="139700" dist="38100" dir="5400000">
              <a:srgbClr val="9AA6BC">
                <a:alpha val="28000"/>
              </a:srgbClr>
            </a:outerShdw>
          </a:effectLst>
        </p:spPr>
      </p:sp>
      <p:pic>
        <p:nvPicPr>
          <p:cNvPr id="15" name="Image 3" descr="preencoded.png">    </p:cNvPr>
          <p:cNvPicPr>
            <a:picLocks noChangeAspect="1"/>
          </p:cNvPicPr>
          <p:nvPr/>
        </p:nvPicPr>
        <p:blipFill>
          <a:blip r:embed="rId4"/>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algn="ctr" indent="0" marL="0">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algn="ctr" indent="0" marL="0">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2026-08-05T08:58:35Z</dcterms:created>
  <dcterms:modified xsi:type="dcterms:W3CDTF">2026-08-05T08:58:35Z</dcterms:modified>
</cp:coreProperties>
</file>