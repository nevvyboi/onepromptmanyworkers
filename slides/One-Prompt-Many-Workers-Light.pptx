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70" r:id="rId15"/>
    <p:sldId id="271" r:id="rId16"/>
    <p:sldId id="272" r:id="rId17"/>
    <p:sldId id="273" r:id="rId18"/>
    <p:sldId id="274" r:id="rId19"/>
    <p:sldId id="275" r:id="rId20"/>
    <p:sldId id="276" r:id="rId21"/>
    <p:sldId id="277" r:id="rId22"/>
    <p:sldId id="278" r:id="rId23"/>
    <p:sldId id="279" r:id="rId24"/>
    <p:sldId id="280" r:id="rId25"/>
    <p:sldId id="281" r:id="rId26"/>
    <p:sldId id="282" r:id="rId27"/>
    <p:sldId id="283" r:id="rId28"/>
    <p:sldId id="284" r:id="rId29"/>
    <p:sldId id="285" r:id="rId30"/>
    <p:sldId id="286" r:id="rId31"/>
    <p:sldId id="287" r:id="rId32"/>
    <p:sldId id="288" r:id="rId33"/>
    <p:sldId id="289" r:id="rId34"/>
    <p:sldId id="290" r:id="rId35"/>
    <p:sldId id="291" r:id="rId36"/>
    <p:sldId id="292" r:id="rId3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20" d="100"/>
          <a:sy n="120" d="100"/>
        </p:scale>
        <p:origin x="448"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50950550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Wait for the room. That fan is the whole talk: one thing becoming a team. Tonight we build it for real, in Java, on this laptop, with a model that never phones home. Name, thank BBD.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hook, slow. Last week I typed one sentence, fourteen words, and my laptop assembled a team of five, split the work, handed me back a plan. No cloud, no bill, no internet. That is magic, then, that is horrifying, because it was so little code.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this up early and leave it up. This is the setup for the whole talk. 'Scan that, from wherever you are, no wifi to join, and send my agents a product idea. Here is the thing: the moment you send it, a crew of agents on this laptop starts building a real landing page for it. They will keep working the entire time I am talking. At the end I will show you every single one.' Then carry on. The queue fills while you teach, and the payoff is waiting.</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map. A prompt, an agent, the infrastructure, the control panel almost nobody talks about, and then we point one prompt at a whole crew and run it live. Promise the demo early.</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Reset. Slow down. Rung one, the prompt, and almost everyone misunderstands what it is.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Strip the marketing, a model is a function. Text in, text out. No memory, no hands, no way to check itself. Ask twice, get two answers. A very good guesser, but a guesser. A prompt is you calling that function.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walls, fast. No memory, every call from zero. No hands, describes the email but cannot send it. No proof, equally sure when right and when inventing. A brilliant intern who forgets your name and invents a co-worker.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give the function a memory, some hands, and a loop. It stops being a chatbot. It becomes an agent.</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definition: an agent is a model, plus tools it can call, wrapped in a loop. Everything else is a flavour of this. Model is the brain, tools the hands, the loop is where the magic lives.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most important idea. It reasons, acts by calling a tool, observes what came back, asks am I done. If not, around again. That circle is the difference between a model that talks and a system that finishes.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loop on a slide is easy. A loop you can run at BBD, that a client trusts, needs a stack. Let's build one.</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layers. Runtime, whatever model you point it at. Orchestration, LangChain4j or Spring AI. Tools, the hands. Memory, the notebook. Structured output, so the answer comes back as data, not a paragraph. Hold that last one.</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AI tutorial online is Python, and Python is lovely. But your systems of record run on the JVM. You do not rewrite any of it. LangChain4j and Spring AI put the AI next to the business, behind Spring Security, inside your transactions, next to your data.</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heart. Most people think the prompt is the steering wheel. It is one control out of six. Here is the whole cockpit.</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 says what. Tools decide what it can touch. Schema decides shape. Guardrails reject bad output. Memory decides what it knows and forgets. Orchestration decides who talks to whom. You barely touch the prompt, you change the constraints.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to remember, then stop for two seconds. You don't program an agent, you constrain it. Prompt says what, tools say how far, schema says what shape, orchestration says who. Good agent engineering is good constraint design.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Lift the energy. Lever six, orchestration, is the fun one. Instead of one agent doing everything, we point a single prompt at a whole crew. One becomes many.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tonight's crew, and it is not a line. Copy and design start together. Design finishes first, and instead of sitting idle it helps: it hands the copywriter a tone hint. Both feed the builder. The builder hands the page to the skeptic. And then the important edge, the dashed one: the skeptic's critique loops all the way back to the copywriter, who rewrites the headline. You will watch that happen on the screen in a minute. Output from one agent becoming input to another, including backwards. That is the web.</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Look what steers the crew. The prompt barely changes. The real control is structured output turning a sentence into a typed crew, and orchestration deciding they run as a team. Two levers you could never reach from the prompt alone.</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Everyone demos the model. Nobody demos the harness, and the harness is the product. A brain in a jar cannot build a website. Between the model's guess and the finished page sits validation, structure, assets, taste rules. Swap the model, the harness is untouched. Improve the harness and every model you ever plug in gets better. That is the leverage.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harness. Sixteen agents, each with one job. Eighteen deterministic taste rules that reject output the model was happy with. An architect that decides what sections the page even needs, so a food truck gets a menu and a story instead of the same template. And best of three on the name and the headline. Every one of these exists because we looked at the output and were not happy.</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you should care as engineers. It is model agnostic, one config line moves it from a laptop model to a frontier API. Quality has a floor because the guards run every time. It is cheap to improve, every fix is a rule, not a retrain. You can explain it, when it goes wrong you point at the agent that did it. And it survives the model, models change every few months, the harness outlives them. Everyone is chasing the next model. The harness is the part you own.</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demo's plumbing, all boring reliable Java. Their phone posts one line to a Spring Boot server on my hotspot. LangChain4j runs the crew on the local Qwen model. Each event, an agent starting, a headline, a palette, streams to the stage over server-sent events. No internet anywhere in that path.</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Structured output made concrete. The Copywriter does not hand back a wall of text I have to scrape. It returns a typed Copy object. Same for the Designer's palette. The stage builds the page field by field. When you control the shape of the answer, you control the app.</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real file, not a tidied up version. A worker is a Java interface and nothing else. I never wrote an implementation. The annotations are the program: the system message is the whole personality, and look at it, most of that prompt is me telling it what NOT to do. Never end in ly or Hub. That is a rule I added because the model kept handing me Choreify. The examples at the bottom are doing the real work.</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this is the many workers bit, also verbatim. Four pool.submit calls, four agents running at the same time, each one line. No framework, just a Java executor. The namer finishes first because it has the smallest job, and the moment it does, three other agents unblock. That is the web you saw on the slide, in actual code. Now let us run it.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moment. Switch the projector to the stage view and keep the control panel on your laptop. 'Right, let's see what you gave me.' Pick a fun submission, hit Run. Narrate as the crew lights up: copywriter writing the hero, designer choosing colours, the page recolouring live, then the skeptic's one-liner, read it out loud. If Qwen wobbles the house crew covers it, and mock mode is your parachute.</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 while the awe is warm. One sentence became a team that split the work and reported back. It self-assembled, it stayed home, it was a hundred lines. The scary part is not that it worked, it is how little it took.</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to kill the 'yes but in the real world' objection before it is asked. Twelve hundred lines. Eight files. Eight agents that are one model with eight different system prompts. Nine endpoints. Eight dependencies. Zero cloud calls. You could read the whole thing on the train home, and the repo is in the QR at the end. Nothing here is a framework you have to buy into.</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makes the talk worth an hour of a senior engineer's evening. Say it plainly: 'Everything you just watched, the parallel starts, the handoffs, the loops back, the fact that it did not die when I unplugged the model, the fact that nothing rude reached the screen, the fact that the queue kept building while I talked. None of that came from the model. That is a harness, and it is ordinary engineering. Threads, queues, schedulers, validation, a human approval step. The model is a component. The harness is the product.'</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where you admit something, and it lands better than any claim. Say: 'I built a guard with eight rules and every page passed it. Then I put six of them side by side and they were obviously made by a machine. Three opened with the same four words. My guard checked for the absence of tells. Nothing in it required the presence of quality. So I added colour rules that are arithmetic, three real layouts, and a memory that refuses a value the last few pages used. The colour rules failed two of my own palettes on the first run. And the memory had two bugs worth your time: it remembered finished sentences instead of templates, so the same sentence with a word swapped looked like variety. And it only recorded its own choices, so when the model picked waves five times in a row, nothing stopped it. Both of those are harness bugs, not model bugs.'</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slide is that 'let the model decide' is not automatically the right call. I asked Qwen which interface to draw and it said dashboard for a stokvel tracker and calendar for a coffee subscription. A twenty-line keyword scorer beats it, so the scorer decides when the idea's own words are decisive and the model only breaks ties. That is a harness decision, and it is the opposite of the reflex. Also worth saying: this one is deliberately NOT on the variety ledger. Two booking apps should both get a calendar. A mockup that does not match the product is much worse than one that repeats.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things to land here. First, the structural point: a crew of specialists has a blind spot exactly where the specialisms meet, and the only fix is an agent whose input is the finished artefact. Second, the practical one: this agent does not get trusted just because it is the reviewer. Its rewrite goes through the same guard as everything else, and it does get refused. If you take one design idea home, take that one: the reviewer is not privileged.</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moment the whole talk has been building to. Say it slowly. 'Remember the code at the start? Every idea you sent went into a queue. And while I was up here talking about prompts and levers and loops, the crew never stopped. Eight agents. One laptop. No internet. Let me show you what they made.' Then switch the projector to the gallery.</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Put the gallery on the projector and just let the room look for a few seconds. Do not talk over it. Then: 'Every one of these has its own name, its own artwork, its own colours, its own copy, and its own honest criticism. Same eight agents, run once per idea, on one laptop, while I was busy talking.' Point out one or two of the funnier ones by name. Let people find theirs.</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plane. A function that guesses, given a loop, a stack, six levers, and a crew, learns to command a team, in Java, offline. The real skill is knowing what to ask and how to constrain the answer. Scan to connect on LinkedIn and grab the code on GitHub. What do you want to break first?</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9.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0.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5.png"/></Relationships>
</file>

<file path=ppt/slides/_rels/slide11.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22.png"/><Relationship Id="rId7" Type="http://schemas.openxmlformats.org/officeDocument/2006/relationships/image" Target="../media/image23.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9.png"/><Relationship Id="rId4" Type="http://schemas.openxmlformats.org/officeDocument/2006/relationships/image" Target="../media/image12.png"/></Relationships>
</file>

<file path=ppt/slides/_rels/slide13.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6.png"/><Relationship Id="rId4" Type="http://schemas.openxmlformats.org/officeDocument/2006/relationships/image" Target="../media/image25.png"/></Relationships>
</file>

<file path=ppt/slides/_rels/slide1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8" Type="http://schemas.openxmlformats.org/officeDocument/2006/relationships/image" Target="../media/image12.png"/><Relationship Id="rId3" Type="http://schemas.openxmlformats.org/officeDocument/2006/relationships/image" Target="../media/image1.png"/><Relationship Id="rId7" Type="http://schemas.openxmlformats.org/officeDocument/2006/relationships/image" Target="../media/image1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2.png"/><Relationship Id="rId4" Type="http://schemas.openxmlformats.org/officeDocument/2006/relationships/image" Target="../media/image19.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9.xml"/><Relationship Id="rId1" Type="http://schemas.openxmlformats.org/officeDocument/2006/relationships/slideLayout" Target="../slideLayouts/slideLayout1.xml"/><Relationship Id="rId5" Type="http://schemas.openxmlformats.org/officeDocument/2006/relationships/image" Target="../media/image12.png"/><Relationship Id="rId4" Type="http://schemas.openxmlformats.org/officeDocument/2006/relationships/image" Target="../media/image2.png"/></Relationships>
</file>

<file path=ppt/slides/_rels/slide20.xml.rels><?xml version="1.0" encoding="UTF-8" standalone="yes"?>
<Relationships xmlns="http://schemas.openxmlformats.org/package/2006/relationships"><Relationship Id="rId3" Type="http://schemas.openxmlformats.org/officeDocument/2006/relationships/image" Target="../media/image18.png"/><Relationship Id="rId7" Type="http://schemas.openxmlformats.org/officeDocument/2006/relationships/image" Target="../media/image26.png"/><Relationship Id="rId2" Type="http://schemas.openxmlformats.org/officeDocument/2006/relationships/notesSlide" Target="../notesSlides/notesSlide20.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3.png"/><Relationship Id="rId4" Type="http://schemas.openxmlformats.org/officeDocument/2006/relationships/image" Target="../media/image5.png"/></Relationships>
</file>

<file path=ppt/slides/_rels/slide21.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21.xml"/><Relationship Id="rId1" Type="http://schemas.openxmlformats.org/officeDocument/2006/relationships/slideLayout" Target="../slideLayouts/slideLayout1.xml"/><Relationship Id="rId6" Type="http://schemas.openxmlformats.org/officeDocument/2006/relationships/image" Target="../media/image9.png"/><Relationship Id="rId5" Type="http://schemas.openxmlformats.org/officeDocument/2006/relationships/image" Target="../media/image31.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8" Type="http://schemas.openxmlformats.org/officeDocument/2006/relationships/image" Target="../media/image26.png"/><Relationship Id="rId3" Type="http://schemas.openxmlformats.org/officeDocument/2006/relationships/image" Target="../media/image9.png"/><Relationship Id="rId7" Type="http://schemas.openxmlformats.org/officeDocument/2006/relationships/image" Target="../media/image32.png"/><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image" Target="../media/image20.png"/><Relationship Id="rId5" Type="http://schemas.openxmlformats.org/officeDocument/2006/relationships/image" Target="../media/image19.png"/><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33.png"/><Relationship Id="rId2" Type="http://schemas.openxmlformats.org/officeDocument/2006/relationships/notesSlide" Target="../notesSlides/notesSlide23.xml"/><Relationship Id="rId1" Type="http://schemas.openxmlformats.org/officeDocument/2006/relationships/slideLayout" Target="../slideLayouts/slideLayout1.xml"/><Relationship Id="rId6" Type="http://schemas.openxmlformats.org/officeDocument/2006/relationships/image" Target="../media/image15.png"/><Relationship Id="rId5" Type="http://schemas.openxmlformats.org/officeDocument/2006/relationships/image" Target="../media/image12.png"/><Relationship Id="rId4" Type="http://schemas.openxmlformats.org/officeDocument/2006/relationships/image" Target="../media/image22.pn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8.xml"/><Relationship Id="rId1" Type="http://schemas.openxmlformats.org/officeDocument/2006/relationships/slideLayout" Target="../slideLayouts/slideLayout1.xml"/><Relationship Id="rId5" Type="http://schemas.openxmlformats.org/officeDocument/2006/relationships/image" Target="../media/image2.png"/><Relationship Id="rId4" Type="http://schemas.openxmlformats.org/officeDocument/2006/relationships/image" Target="../media/image34.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8" Type="http://schemas.openxmlformats.org/officeDocument/2006/relationships/image" Target="../media/image37.png"/><Relationship Id="rId3" Type="http://schemas.openxmlformats.org/officeDocument/2006/relationships/image" Target="../media/image35.png"/><Relationship Id="rId7" Type="http://schemas.openxmlformats.org/officeDocument/2006/relationships/image" Target="../media/image11.png"/><Relationship Id="rId2" Type="http://schemas.openxmlformats.org/officeDocument/2006/relationships/notesSlide" Target="../notesSlides/notesSlide30.xml"/><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5.png"/><Relationship Id="rId4" Type="http://schemas.openxmlformats.org/officeDocument/2006/relationships/image" Target="../media/image9.png"/></Relationships>
</file>

<file path=ppt/slides/_rels/slide31.xml.rels><?xml version="1.0" encoding="UTF-8" standalone="yes"?>
<Relationships xmlns="http://schemas.openxmlformats.org/package/2006/relationships"><Relationship Id="rId8" Type="http://schemas.openxmlformats.org/officeDocument/2006/relationships/image" Target="../media/image2.png"/><Relationship Id="rId3" Type="http://schemas.openxmlformats.org/officeDocument/2006/relationships/image" Target="../media/image38.png"/><Relationship Id="rId7" Type="http://schemas.openxmlformats.org/officeDocument/2006/relationships/image" Target="../media/image18.png"/><Relationship Id="rId2" Type="http://schemas.openxmlformats.org/officeDocument/2006/relationships/notesSlide" Target="../notesSlides/notesSlide31.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10.png"/><Relationship Id="rId4" Type="http://schemas.openxmlformats.org/officeDocument/2006/relationships/image" Target="../media/image39.png"/></Relationships>
</file>

<file path=ppt/slides/_rels/slide32.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41.png"/><Relationship Id="rId7"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1.xml"/><Relationship Id="rId6" Type="http://schemas.openxmlformats.org/officeDocument/2006/relationships/image" Target="../media/image43.png"/><Relationship Id="rId11" Type="http://schemas.openxmlformats.org/officeDocument/2006/relationships/image" Target="../media/image47.png"/><Relationship Id="rId5" Type="http://schemas.openxmlformats.org/officeDocument/2006/relationships/image" Target="../media/image42.png"/><Relationship Id="rId10" Type="http://schemas.openxmlformats.org/officeDocument/2006/relationships/image" Target="../media/image46.png"/><Relationship Id="rId4" Type="http://schemas.openxmlformats.org/officeDocument/2006/relationships/image" Target="../media/image37.png"/><Relationship Id="rId9" Type="http://schemas.openxmlformats.org/officeDocument/2006/relationships/image" Target="../media/image1.png"/></Relationships>
</file>

<file path=ppt/slides/_rels/slide33.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3.xml"/><Relationship Id="rId1" Type="http://schemas.openxmlformats.org/officeDocument/2006/relationships/slideLayout" Target="../slideLayouts/slideLayout1.xml"/><Relationship Id="rId5" Type="http://schemas.openxmlformats.org/officeDocument/2006/relationships/image" Target="../media/image5.png"/><Relationship Id="rId4" Type="http://schemas.openxmlformats.org/officeDocument/2006/relationships/image" Target="../media/image48.png"/></Relationships>
</file>

<file path=ppt/slides/_rels/slide3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4.xml"/><Relationship Id="rId1" Type="http://schemas.openxmlformats.org/officeDocument/2006/relationships/slideLayout" Target="../slideLayouts/slideLayout1.xml"/><Relationship Id="rId5" Type="http://schemas.openxmlformats.org/officeDocument/2006/relationships/image" Target="../media/image47.png"/><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36.xml"/><Relationship Id="rId1" Type="http://schemas.openxmlformats.org/officeDocument/2006/relationships/slideLayout" Target="../slideLayouts/slideLayout1.xml"/><Relationship Id="rId6" Type="http://schemas.openxmlformats.org/officeDocument/2006/relationships/image" Target="../media/image52.png"/><Relationship Id="rId5" Type="http://schemas.openxmlformats.org/officeDocument/2006/relationships/image" Target="../media/image51.png"/><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BBD TECH TALK  /  JAVA</a:t>
            </a:r>
            <a:endParaRPr lang="en-US" sz="1100" dirty="0"/>
          </a:p>
        </p:txBody>
      </p:sp>
      <p:sp>
        <p:nvSpPr>
          <p:cNvPr id="3" name="Text 1"/>
          <p:cNvSpPr/>
          <p:nvPr/>
        </p:nvSpPr>
        <p:spPr>
          <a:xfrm>
            <a:off x="841248" y="1417320"/>
            <a:ext cx="7315200" cy="2286000"/>
          </a:xfrm>
          <a:prstGeom prst="rect">
            <a:avLst/>
          </a:prstGeom>
          <a:noFill/>
          <a:ln/>
        </p:spPr>
        <p:txBody>
          <a:bodyPr wrap="square" rtlCol="0" anchor="ctr"/>
          <a:lstStyle/>
          <a:p>
            <a:pPr marL="0" indent="0">
              <a:lnSpc>
                <a:spcPts val="6200"/>
              </a:lnSpc>
              <a:buNone/>
            </a:pPr>
            <a:r>
              <a:rPr lang="en-US" sz="6000" b="1" kern="0" spc="-50" dirty="0">
                <a:solidFill>
                  <a:srgbClr val="16181D"/>
                </a:solidFill>
                <a:latin typeface="Arial" pitchFamily="34" charset="0"/>
                <a:ea typeface="Arial" pitchFamily="34" charset="-122"/>
                <a:cs typeface="Arial" pitchFamily="34" charset="-120"/>
              </a:rPr>
              <a:t>One Prompt.</a:t>
            </a:r>
            <a:endParaRPr lang="en-US" sz="6000" dirty="0"/>
          </a:p>
          <a:p>
            <a:pPr marL="0" indent="0">
              <a:lnSpc>
                <a:spcPts val="6200"/>
              </a:lnSpc>
              <a:buNone/>
            </a:pPr>
            <a:r>
              <a:rPr lang="en-US" sz="6000" b="1" kern="0" spc="-50" dirty="0">
                <a:solidFill>
                  <a:srgbClr val="16181D"/>
                </a:solidFill>
                <a:latin typeface="Arial" pitchFamily="34" charset="0"/>
                <a:ea typeface="Arial" pitchFamily="34" charset="-122"/>
                <a:cs typeface="Arial" pitchFamily="34" charset="-120"/>
              </a:rPr>
              <a:t>Many Workers</a:t>
            </a:r>
            <a:r>
              <a:rPr lang="en-US" sz="6000" b="1" kern="0" spc="-50" dirty="0">
                <a:solidFill>
                  <a:srgbClr val="4F46E5"/>
                </a:solidFill>
                <a:latin typeface="Arial" pitchFamily="34" charset="0"/>
                <a:ea typeface="Arial" pitchFamily="34" charset="-122"/>
                <a:cs typeface="Arial" pitchFamily="34" charset="-120"/>
              </a:rPr>
              <a:t>.</a:t>
            </a:r>
            <a:endParaRPr lang="en-US" sz="6000" dirty="0"/>
          </a:p>
        </p:txBody>
      </p:sp>
      <p:sp>
        <p:nvSpPr>
          <p:cNvPr id="4" name="Text 2"/>
          <p:cNvSpPr/>
          <p:nvPr/>
        </p:nvSpPr>
        <p:spPr>
          <a:xfrm>
            <a:off x="841248" y="3886200"/>
            <a:ext cx="5760720" cy="914400"/>
          </a:xfrm>
          <a:prstGeom prst="rect">
            <a:avLst/>
          </a:prstGeom>
          <a:noFill/>
          <a:ln/>
        </p:spPr>
        <p:txBody>
          <a:bodyPr wrap="square" rtlCol="0" anchor="ctr"/>
          <a:lstStyle/>
          <a:p>
            <a:pPr marL="0" indent="0">
              <a:lnSpc>
                <a:spcPts val="2600"/>
              </a:lnSpc>
              <a:buNone/>
            </a:pPr>
            <a:r>
              <a:rPr lang="en-US" sz="1700" dirty="0">
                <a:solidFill>
                  <a:srgbClr val="666C7A"/>
                </a:solidFill>
                <a:latin typeface="Calibri" pitchFamily="34" charset="0"/>
                <a:ea typeface="Calibri" pitchFamily="34" charset="-122"/>
                <a:cs typeface="Calibri" pitchFamily="34" charset="-120"/>
              </a:rPr>
              <a:t>Building multi-agent AI systems in Java, where a single sentence commands a whole crew.</a:t>
            </a:r>
            <a:endParaRPr lang="en-US" sz="1700" dirty="0"/>
          </a:p>
        </p:txBody>
      </p:sp>
      <p:sp>
        <p:nvSpPr>
          <p:cNvPr id="5" name="Text 3"/>
          <p:cNvSpPr/>
          <p:nvPr/>
        </p:nvSpPr>
        <p:spPr>
          <a:xfrm>
            <a:off x="841248" y="5074920"/>
            <a:ext cx="6400800" cy="822960"/>
          </a:xfrm>
          <a:prstGeom prst="rect">
            <a:avLst/>
          </a:prstGeom>
          <a:noFill/>
          <a:ln/>
        </p:spPr>
        <p:txBody>
          <a:bodyPr wrap="square" rtlCol="0" anchor="ctr"/>
          <a:lstStyle/>
          <a:p>
            <a:pPr marL="0" indent="0">
              <a:lnSpc>
                <a:spcPts val="2400"/>
              </a:lnSpc>
              <a:buNone/>
            </a:pPr>
            <a:r>
              <a:rPr lang="en-US" sz="1250" b="1" dirty="0">
                <a:solidFill>
                  <a:srgbClr val="16181D"/>
                </a:solidFill>
                <a:latin typeface="Consolas" pitchFamily="34" charset="0"/>
                <a:ea typeface="Consolas" pitchFamily="34" charset="-122"/>
                <a:cs typeface="Consolas" pitchFamily="34" charset="-120"/>
              </a:rPr>
              <a:t>Nevin Tom</a:t>
            </a:r>
            <a:r>
              <a:rPr lang="en-US" sz="1250" b="1" dirty="0">
                <a:solidFill>
                  <a:srgbClr val="4F46E5"/>
                </a:solidFill>
                <a:latin typeface="Consolas" pitchFamily="34" charset="0"/>
                <a:ea typeface="Consolas" pitchFamily="34" charset="-122"/>
                <a:cs typeface="Consolas" pitchFamily="34" charset="-120"/>
              </a:rPr>
              <a:t>  /  BBD</a:t>
            </a:r>
            <a:endParaRPr lang="en-US" sz="1250" dirty="0"/>
          </a:p>
          <a:p>
            <a:pPr marL="0" indent="0">
              <a:lnSpc>
                <a:spcPts val="2400"/>
              </a:lnSpc>
              <a:buNone/>
            </a:pPr>
            <a:r>
              <a:rPr lang="en-US" sz="1250" dirty="0">
                <a:solidFill>
                  <a:srgbClr val="666C7A"/>
                </a:solidFill>
                <a:latin typeface="Consolas" pitchFamily="34" charset="0"/>
                <a:ea typeface="Consolas" pitchFamily="34" charset="-122"/>
                <a:cs typeface="Consolas" pitchFamily="34" charset="-120"/>
              </a:rPr>
              <a:t>real agents   ·   real code   ·   built live in the room</a:t>
            </a:r>
            <a:endParaRPr lang="en-US" sz="1250" dirty="0"/>
          </a:p>
        </p:txBody>
      </p:sp>
      <p:sp>
        <p:nvSpPr>
          <p:cNvPr id="6" name="Shape 4"/>
          <p:cNvSpPr/>
          <p:nvPr/>
        </p:nvSpPr>
        <p:spPr>
          <a:xfrm flipV="1">
            <a:off x="8366760" y="1280160"/>
            <a:ext cx="2377440" cy="2148840"/>
          </a:xfrm>
          <a:prstGeom prst="line">
            <a:avLst/>
          </a:prstGeom>
          <a:noFill/>
          <a:ln w="22225">
            <a:solidFill>
              <a:srgbClr val="0F9E8E"/>
            </a:solidFill>
            <a:prstDash val="solid"/>
          </a:ln>
        </p:spPr>
        <p:txBody>
          <a:bodyPr/>
          <a:lstStyle/>
          <a:p>
            <a:endParaRPr lang="en-US"/>
          </a:p>
        </p:txBody>
      </p:sp>
      <p:sp>
        <p:nvSpPr>
          <p:cNvPr id="7" name="Shape 5"/>
          <p:cNvSpPr/>
          <p:nvPr/>
        </p:nvSpPr>
        <p:spPr>
          <a:xfrm flipV="1">
            <a:off x="8366760" y="2331720"/>
            <a:ext cx="2377440" cy="1097280"/>
          </a:xfrm>
          <a:prstGeom prst="line">
            <a:avLst/>
          </a:prstGeom>
          <a:noFill/>
          <a:ln w="22225">
            <a:solidFill>
              <a:srgbClr val="7C3AED"/>
            </a:solidFill>
            <a:prstDash val="solid"/>
          </a:ln>
        </p:spPr>
        <p:txBody>
          <a:bodyPr/>
          <a:lstStyle/>
          <a:p>
            <a:endParaRPr lang="en-US"/>
          </a:p>
        </p:txBody>
      </p:sp>
      <p:sp>
        <p:nvSpPr>
          <p:cNvPr id="8" name="Shape 6"/>
          <p:cNvSpPr/>
          <p:nvPr/>
        </p:nvSpPr>
        <p:spPr>
          <a:xfrm>
            <a:off x="8366760" y="3429000"/>
            <a:ext cx="2377440" cy="0"/>
          </a:xfrm>
          <a:prstGeom prst="line">
            <a:avLst/>
          </a:prstGeom>
          <a:noFill/>
          <a:ln w="22225">
            <a:solidFill>
              <a:srgbClr val="4F46E5"/>
            </a:solidFill>
            <a:prstDash val="solid"/>
          </a:ln>
        </p:spPr>
        <p:txBody>
          <a:bodyPr/>
          <a:lstStyle/>
          <a:p>
            <a:endParaRPr lang="en-US"/>
          </a:p>
        </p:txBody>
      </p:sp>
      <p:sp>
        <p:nvSpPr>
          <p:cNvPr id="9" name="Shape 7"/>
          <p:cNvSpPr/>
          <p:nvPr/>
        </p:nvSpPr>
        <p:spPr>
          <a:xfrm>
            <a:off x="8366760" y="3429000"/>
            <a:ext cx="2377440" cy="1097280"/>
          </a:xfrm>
          <a:prstGeom prst="line">
            <a:avLst/>
          </a:prstGeom>
          <a:noFill/>
          <a:ln w="22225">
            <a:solidFill>
              <a:srgbClr val="E11D48"/>
            </a:solidFill>
            <a:prstDash val="solid"/>
          </a:ln>
        </p:spPr>
        <p:txBody>
          <a:bodyPr/>
          <a:lstStyle/>
          <a:p>
            <a:endParaRPr lang="en-US"/>
          </a:p>
        </p:txBody>
      </p:sp>
      <p:sp>
        <p:nvSpPr>
          <p:cNvPr id="10" name="Shape 8"/>
          <p:cNvSpPr/>
          <p:nvPr/>
        </p:nvSpPr>
        <p:spPr>
          <a:xfrm>
            <a:off x="8366760" y="3429000"/>
            <a:ext cx="2377440" cy="2148840"/>
          </a:xfrm>
          <a:prstGeom prst="line">
            <a:avLst/>
          </a:prstGeom>
          <a:noFill/>
          <a:ln w="22225">
            <a:solidFill>
              <a:srgbClr val="0284C7"/>
            </a:solidFill>
            <a:prstDash val="solid"/>
          </a:ln>
        </p:spPr>
        <p:txBody>
          <a:bodyPr/>
          <a:lstStyle/>
          <a:p>
            <a:endParaRPr lang="en-US"/>
          </a:p>
        </p:txBody>
      </p:sp>
      <p:sp>
        <p:nvSpPr>
          <p:cNvPr id="11" name="Shape 9"/>
          <p:cNvSpPr/>
          <p:nvPr/>
        </p:nvSpPr>
        <p:spPr>
          <a:xfrm>
            <a:off x="10634472" y="1170432"/>
            <a:ext cx="219456" cy="219456"/>
          </a:xfrm>
          <a:prstGeom prst="ellipse">
            <a:avLst/>
          </a:prstGeom>
          <a:solidFill>
            <a:srgbClr val="0F9E8E"/>
          </a:solidFill>
          <a:ln/>
        </p:spPr>
        <p:txBody>
          <a:bodyPr/>
          <a:lstStyle/>
          <a:p>
            <a:endParaRPr lang="en-US"/>
          </a:p>
        </p:txBody>
      </p:sp>
      <p:sp>
        <p:nvSpPr>
          <p:cNvPr id="12" name="Shape 10"/>
          <p:cNvSpPr/>
          <p:nvPr/>
        </p:nvSpPr>
        <p:spPr>
          <a:xfrm>
            <a:off x="10634472" y="2221992"/>
            <a:ext cx="219456" cy="219456"/>
          </a:xfrm>
          <a:prstGeom prst="ellipse">
            <a:avLst/>
          </a:prstGeom>
          <a:solidFill>
            <a:srgbClr val="7C3AED"/>
          </a:solidFill>
          <a:ln/>
        </p:spPr>
        <p:txBody>
          <a:bodyPr/>
          <a:lstStyle/>
          <a:p>
            <a:endParaRPr lang="en-US"/>
          </a:p>
        </p:txBody>
      </p:sp>
      <p:sp>
        <p:nvSpPr>
          <p:cNvPr id="13" name="Shape 11"/>
          <p:cNvSpPr/>
          <p:nvPr/>
        </p:nvSpPr>
        <p:spPr>
          <a:xfrm>
            <a:off x="10634472" y="3319272"/>
            <a:ext cx="219456" cy="219456"/>
          </a:xfrm>
          <a:prstGeom prst="ellipse">
            <a:avLst/>
          </a:prstGeom>
          <a:solidFill>
            <a:srgbClr val="4F46E5"/>
          </a:solidFill>
          <a:ln/>
        </p:spPr>
        <p:txBody>
          <a:bodyPr/>
          <a:lstStyle/>
          <a:p>
            <a:endParaRPr lang="en-US"/>
          </a:p>
        </p:txBody>
      </p:sp>
      <p:sp>
        <p:nvSpPr>
          <p:cNvPr id="14" name="Shape 12"/>
          <p:cNvSpPr/>
          <p:nvPr/>
        </p:nvSpPr>
        <p:spPr>
          <a:xfrm>
            <a:off x="10634472" y="4416552"/>
            <a:ext cx="219456" cy="219456"/>
          </a:xfrm>
          <a:prstGeom prst="ellipse">
            <a:avLst/>
          </a:prstGeom>
          <a:solidFill>
            <a:srgbClr val="E11D48"/>
          </a:solidFill>
          <a:ln/>
        </p:spPr>
        <p:txBody>
          <a:bodyPr/>
          <a:lstStyle/>
          <a:p>
            <a:endParaRPr lang="en-US"/>
          </a:p>
        </p:txBody>
      </p:sp>
      <p:sp>
        <p:nvSpPr>
          <p:cNvPr id="15" name="Shape 13"/>
          <p:cNvSpPr/>
          <p:nvPr/>
        </p:nvSpPr>
        <p:spPr>
          <a:xfrm>
            <a:off x="10634472" y="5468112"/>
            <a:ext cx="219456" cy="219456"/>
          </a:xfrm>
          <a:prstGeom prst="ellipse">
            <a:avLst/>
          </a:prstGeom>
          <a:solidFill>
            <a:srgbClr val="0284C7"/>
          </a:solidFill>
          <a:ln/>
        </p:spPr>
        <p:txBody>
          <a:bodyPr/>
          <a:lstStyle/>
          <a:p>
            <a:endParaRPr lang="en-US"/>
          </a:p>
        </p:txBody>
      </p:sp>
      <p:sp>
        <p:nvSpPr>
          <p:cNvPr id="16" name="Shape 14"/>
          <p:cNvSpPr/>
          <p:nvPr/>
        </p:nvSpPr>
        <p:spPr>
          <a:xfrm>
            <a:off x="8156448" y="3218688"/>
            <a:ext cx="420624" cy="420624"/>
          </a:xfrm>
          <a:prstGeom prst="ellipse">
            <a:avLst/>
          </a:prstGeom>
          <a:solidFill>
            <a:srgbClr val="4F46E5"/>
          </a:solidFill>
          <a:ln/>
        </p:spPr>
        <p:txBody>
          <a:bodyPr/>
          <a:lstStyle/>
          <a:p>
            <a:endParaRPr lang="en-US"/>
          </a:p>
        </p:txBody>
      </p:sp>
      <p:pic>
        <p:nvPicPr>
          <p:cNvPr id="17" name="Image 0" descr="preencoded.png"/>
          <p:cNvPicPr>
            <a:picLocks noChangeAspect="1"/>
          </p:cNvPicPr>
          <p:nvPr/>
        </p:nvPicPr>
        <p:blipFill>
          <a:blip r:embed="rId3"/>
          <a:stretch>
            <a:fillRect/>
          </a:stretch>
        </p:blipFill>
        <p:spPr>
          <a:xfrm>
            <a:off x="8247888" y="3319272"/>
            <a:ext cx="237744" cy="237744"/>
          </a:xfrm>
          <a:prstGeom prst="rect">
            <a:avLst/>
          </a:prstGeom>
        </p:spPr>
      </p:pic>
      <p:sp>
        <p:nvSpPr>
          <p:cNvPr id="18" name="Text 15"/>
          <p:cNvSpPr/>
          <p:nvPr/>
        </p:nvSpPr>
        <p:spPr>
          <a:xfrm>
            <a:off x="7543800" y="3721608"/>
            <a:ext cx="1645920" cy="274320"/>
          </a:xfrm>
          <a:prstGeom prst="rect">
            <a:avLst/>
          </a:prstGeom>
          <a:noFill/>
          <a:ln/>
        </p:spPr>
        <p:txBody>
          <a:bodyPr wrap="square" rtlCol="0" anchor="ctr"/>
          <a:lstStyle/>
          <a:p>
            <a:pPr marL="0" indent="0" algn="ctr">
              <a:buNone/>
            </a:pPr>
            <a:r>
              <a:rPr lang="en-US" sz="900" kern="0" spc="200" dirty="0">
                <a:solidFill>
                  <a:srgbClr val="4F46E5"/>
                </a:solidFill>
                <a:latin typeface="Consolas" pitchFamily="34" charset="0"/>
                <a:ea typeface="Consolas" pitchFamily="34" charset="-122"/>
                <a:cs typeface="Consolas" pitchFamily="34" charset="-120"/>
              </a:rPr>
              <a:t>PROMPT</a:t>
            </a:r>
            <a:endParaRPr lang="en-US" sz="900" dirty="0"/>
          </a:p>
        </p:txBody>
      </p:sp>
      <p:sp>
        <p:nvSpPr>
          <p:cNvPr id="19" name="Text 16"/>
          <p:cNvSpPr/>
          <p:nvPr/>
        </p:nvSpPr>
        <p:spPr>
          <a:xfrm>
            <a:off x="10195560" y="5760720"/>
            <a:ext cx="1554480" cy="274320"/>
          </a:xfrm>
          <a:prstGeom prst="rect">
            <a:avLst/>
          </a:prstGeom>
          <a:noFill/>
          <a:ln/>
        </p:spPr>
        <p:txBody>
          <a:bodyPr wrap="square" rtlCol="0" anchor="ctr"/>
          <a:lstStyle/>
          <a:p>
            <a:pPr marL="0" indent="0" algn="ctr">
              <a:buNone/>
            </a:pPr>
            <a:r>
              <a:rPr lang="en-US" sz="900" kern="0" spc="200" dirty="0">
                <a:solidFill>
                  <a:srgbClr val="666C7A"/>
                </a:solidFill>
                <a:latin typeface="Consolas" pitchFamily="34" charset="0"/>
                <a:ea typeface="Consolas" pitchFamily="34" charset="-122"/>
                <a:cs typeface="Consolas" pitchFamily="34" charset="-120"/>
              </a:rPr>
              <a:t>WORKERS</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PROMISE</a:t>
            </a:r>
            <a:endParaRPr lang="en-US" sz="1100" dirty="0"/>
          </a:p>
        </p:txBody>
      </p:sp>
      <p:sp>
        <p:nvSpPr>
          <p:cNvPr id="3" name="Text 1"/>
          <p:cNvSpPr/>
          <p:nvPr/>
        </p:nvSpPr>
        <p:spPr>
          <a:xfrm>
            <a:off x="841248" y="1737360"/>
            <a:ext cx="6583680" cy="2103120"/>
          </a:xfrm>
          <a:prstGeom prst="rect">
            <a:avLst/>
          </a:prstGeom>
          <a:noFill/>
          <a:ln/>
        </p:spPr>
        <p:txBody>
          <a:bodyPr wrap="square" rtlCol="0" anchor="ctr"/>
          <a:lstStyle/>
          <a:p>
            <a:pPr marL="0" indent="0">
              <a:lnSpc>
                <a:spcPts val="4800"/>
              </a:lnSpc>
              <a:buNone/>
            </a:pPr>
            <a:r>
              <a:rPr lang="en-US" sz="3800" b="1" dirty="0">
                <a:solidFill>
                  <a:srgbClr val="16181D"/>
                </a:solidFill>
                <a:latin typeface="Arial" pitchFamily="34" charset="0"/>
                <a:ea typeface="Arial" pitchFamily="34" charset="-122"/>
                <a:cs typeface="Arial" pitchFamily="34" charset="-120"/>
              </a:rPr>
              <a:t>I typed </a:t>
            </a:r>
            <a:r>
              <a:rPr lang="en-US" sz="3800" b="1" dirty="0">
                <a:solidFill>
                  <a:srgbClr val="4F46E5"/>
                </a:solidFill>
                <a:latin typeface="Arial" pitchFamily="34" charset="0"/>
                <a:ea typeface="Arial" pitchFamily="34" charset="-122"/>
                <a:cs typeface="Arial" pitchFamily="34" charset="-120"/>
              </a:rPr>
              <a:t>one sentence.</a:t>
            </a:r>
            <a:endParaRPr lang="en-US" sz="3800" dirty="0"/>
          </a:p>
          <a:p>
            <a:pPr marL="0" indent="0">
              <a:lnSpc>
                <a:spcPts val="4800"/>
              </a:lnSpc>
              <a:buNone/>
            </a:pPr>
            <a:r>
              <a:rPr lang="en-US" sz="3800" b="1" dirty="0">
                <a:solidFill>
                  <a:srgbClr val="16181D"/>
                </a:solidFill>
                <a:latin typeface="Arial" pitchFamily="34" charset="0"/>
                <a:ea typeface="Arial" pitchFamily="34" charset="-122"/>
                <a:cs typeface="Arial" pitchFamily="34" charset="-120"/>
              </a:rPr>
              <a:t>My laptop hired </a:t>
            </a:r>
            <a:endParaRPr lang="en-US" sz="3800" dirty="0"/>
          </a:p>
          <a:p>
            <a:pPr marL="0" indent="0">
              <a:lnSpc>
                <a:spcPts val="4800"/>
              </a:lnSpc>
              <a:buNone/>
            </a:pPr>
            <a:r>
              <a:rPr lang="en-US" sz="3800" b="1" dirty="0">
                <a:solidFill>
                  <a:srgbClr val="4F46E5"/>
                </a:solidFill>
                <a:latin typeface="Arial" pitchFamily="34" charset="0"/>
                <a:ea typeface="Arial" pitchFamily="34" charset="-122"/>
                <a:cs typeface="Arial" pitchFamily="34" charset="-120"/>
              </a:rPr>
              <a:t>five workers.</a:t>
            </a:r>
            <a:endParaRPr lang="en-US" sz="3800" dirty="0"/>
          </a:p>
        </p:txBody>
      </p:sp>
      <p:sp>
        <p:nvSpPr>
          <p:cNvPr id="4" name="Text 2"/>
          <p:cNvSpPr/>
          <p:nvPr/>
        </p:nvSpPr>
        <p:spPr>
          <a:xfrm>
            <a:off x="841248" y="3977640"/>
            <a:ext cx="5669280" cy="1005840"/>
          </a:xfrm>
          <a:prstGeom prst="rect">
            <a:avLst/>
          </a:prstGeom>
          <a:noFill/>
          <a:ln/>
        </p:spPr>
        <p:txBody>
          <a:bodyPr wrap="square" rtlCol="0" anchor="ctr"/>
          <a:lstStyle/>
          <a:p>
            <a:pPr marL="0" indent="0">
              <a:lnSpc>
                <a:spcPts val="2600"/>
              </a:lnSpc>
              <a:buNone/>
            </a:pPr>
            <a:r>
              <a:rPr lang="en-US" sz="1700" dirty="0">
                <a:solidFill>
                  <a:srgbClr val="666C7A"/>
                </a:solidFill>
                <a:latin typeface="Calibri" pitchFamily="34" charset="0"/>
                <a:ea typeface="Calibri" pitchFamily="34" charset="-122"/>
                <a:cs typeface="Calibri" pitchFamily="34" charset="-120"/>
              </a:rPr>
              <a:t>No cloud. No API bill. It never touched the internet. By the end of tonight you will have built it yourself.</a:t>
            </a:r>
            <a:endParaRPr lang="en-US" sz="1700" dirty="0"/>
          </a:p>
        </p:txBody>
      </p:sp>
      <p:sp>
        <p:nvSpPr>
          <p:cNvPr id="5" name="Text 3"/>
          <p:cNvSpPr/>
          <p:nvPr/>
        </p:nvSpPr>
        <p:spPr>
          <a:xfrm>
            <a:off x="841248" y="5257800"/>
            <a:ext cx="1828800" cy="685800"/>
          </a:xfrm>
          <a:prstGeom prst="rect">
            <a:avLst/>
          </a:prstGeom>
          <a:noFill/>
          <a:ln/>
        </p:spPr>
        <p:txBody>
          <a:bodyPr wrap="square" rtlCol="0" anchor="ctr"/>
          <a:lstStyle/>
          <a:p>
            <a:pPr marL="0" indent="0">
              <a:buNone/>
            </a:pPr>
            <a:r>
              <a:rPr lang="en-US" sz="3800" b="1" dirty="0">
                <a:solidFill>
                  <a:srgbClr val="4F46E5"/>
                </a:solidFill>
                <a:latin typeface="Arial" pitchFamily="34" charset="0"/>
                <a:ea typeface="Arial" pitchFamily="34" charset="-122"/>
                <a:cs typeface="Arial" pitchFamily="34" charset="-120"/>
              </a:rPr>
              <a:t>5</a:t>
            </a:r>
            <a:endParaRPr lang="en-US" sz="3800" dirty="0"/>
          </a:p>
        </p:txBody>
      </p:sp>
      <p:sp>
        <p:nvSpPr>
          <p:cNvPr id="6" name="Text 4"/>
          <p:cNvSpPr/>
          <p:nvPr/>
        </p:nvSpPr>
        <p:spPr>
          <a:xfrm>
            <a:off x="841248" y="5916168"/>
            <a:ext cx="1920240" cy="548640"/>
          </a:xfrm>
          <a:prstGeom prst="rect">
            <a:avLst/>
          </a:prstGeom>
          <a:noFill/>
          <a:ln/>
        </p:spPr>
        <p:txBody>
          <a:bodyPr wrap="square" rtlCol="0" anchor="ctr"/>
          <a:lstStyle/>
          <a:p>
            <a:pPr marL="0" indent="0">
              <a:lnSpc>
                <a:spcPts val="1200"/>
              </a:lnSpc>
              <a:buNone/>
            </a:pPr>
            <a:r>
              <a:rPr lang="en-US" sz="950" kern="0" spc="150" dirty="0">
                <a:solidFill>
                  <a:srgbClr val="666C7A"/>
                </a:solidFill>
                <a:latin typeface="Consolas" pitchFamily="34" charset="0"/>
                <a:ea typeface="Consolas" pitchFamily="34" charset="-122"/>
                <a:cs typeface="Consolas" pitchFamily="34" charset="-120"/>
              </a:rPr>
              <a:t>WORKERS HIRED</a:t>
            </a:r>
            <a:endParaRPr lang="en-US" sz="950" dirty="0"/>
          </a:p>
        </p:txBody>
      </p:sp>
      <p:sp>
        <p:nvSpPr>
          <p:cNvPr id="7" name="Text 5"/>
          <p:cNvSpPr/>
          <p:nvPr/>
        </p:nvSpPr>
        <p:spPr>
          <a:xfrm>
            <a:off x="2807208" y="5257800"/>
            <a:ext cx="1828800" cy="685800"/>
          </a:xfrm>
          <a:prstGeom prst="rect">
            <a:avLst/>
          </a:prstGeom>
          <a:noFill/>
          <a:ln/>
        </p:spPr>
        <p:txBody>
          <a:bodyPr wrap="square" rtlCol="0" anchor="ctr"/>
          <a:lstStyle/>
          <a:p>
            <a:pPr marL="0" indent="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07208" y="5916168"/>
            <a:ext cx="1920240" cy="548640"/>
          </a:xfrm>
          <a:prstGeom prst="rect">
            <a:avLst/>
          </a:prstGeom>
          <a:noFill/>
          <a:ln/>
        </p:spPr>
        <p:txBody>
          <a:bodyPr wrap="square" rtlCol="0" anchor="ctr"/>
          <a:lstStyle/>
          <a:p>
            <a:pPr marL="0" indent="0">
              <a:lnSpc>
                <a:spcPts val="1200"/>
              </a:lnSpc>
              <a:buNone/>
            </a:pPr>
            <a:r>
              <a:rPr lang="en-US" sz="950" kern="0" spc="15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257800"/>
            <a:ext cx="1828800" cy="685800"/>
          </a:xfrm>
          <a:prstGeom prst="rect">
            <a:avLst/>
          </a:prstGeom>
          <a:noFill/>
          <a:ln/>
        </p:spPr>
        <p:txBody>
          <a:bodyPr wrap="square" rtlCol="0" anchor="ctr"/>
          <a:lstStyle/>
          <a:p>
            <a:pPr marL="0" indent="0">
              <a:buNone/>
            </a:pPr>
            <a:r>
              <a:rPr lang="en-US" sz="3800" b="1" dirty="0">
                <a:solidFill>
                  <a:srgbClr val="16181D"/>
                </a:solidFill>
                <a:latin typeface="Arial" pitchFamily="34" charset="0"/>
                <a:ea typeface="Arial" pitchFamily="34" charset="-122"/>
                <a:cs typeface="Arial" pitchFamily="34" charset="-120"/>
              </a:rPr>
              <a:t>~100</a:t>
            </a:r>
            <a:endParaRPr lang="en-US" sz="3800" dirty="0"/>
          </a:p>
        </p:txBody>
      </p:sp>
      <p:sp>
        <p:nvSpPr>
          <p:cNvPr id="10" name="Text 8"/>
          <p:cNvSpPr/>
          <p:nvPr/>
        </p:nvSpPr>
        <p:spPr>
          <a:xfrm>
            <a:off x="4590288" y="5916168"/>
            <a:ext cx="1920240" cy="548640"/>
          </a:xfrm>
          <a:prstGeom prst="rect">
            <a:avLst/>
          </a:prstGeom>
          <a:noFill/>
          <a:ln/>
        </p:spPr>
        <p:txBody>
          <a:bodyPr wrap="square" rtlCol="0" anchor="ctr"/>
          <a:lstStyle/>
          <a:p>
            <a:pPr marL="0" indent="0">
              <a:lnSpc>
                <a:spcPts val="1200"/>
              </a:lnSpc>
              <a:buNone/>
            </a:pPr>
            <a:r>
              <a:rPr lang="en-US" sz="950" kern="0" spc="150" dirty="0">
                <a:solidFill>
                  <a:srgbClr val="666C7A"/>
                </a:solidFill>
                <a:latin typeface="Consolas" pitchFamily="34" charset="0"/>
                <a:ea typeface="Consolas" pitchFamily="34" charset="-122"/>
                <a:cs typeface="Consolas" pitchFamily="34" charset="-120"/>
              </a:rPr>
              <a:t>LINES OF JAVA</a:t>
            </a:r>
            <a:endParaRPr lang="en-US" sz="950" dirty="0"/>
          </a:p>
        </p:txBody>
      </p:sp>
      <p:sp>
        <p:nvSpPr>
          <p:cNvPr id="11" name="Text 9"/>
          <p:cNvSpPr/>
          <p:nvPr/>
        </p:nvSpPr>
        <p:spPr>
          <a:xfrm>
            <a:off x="7589520" y="1965960"/>
            <a:ext cx="1554480" cy="2468880"/>
          </a:xfrm>
          <a:prstGeom prst="rect">
            <a:avLst/>
          </a:prstGeom>
          <a:noFill/>
          <a:ln/>
        </p:spPr>
        <p:txBody>
          <a:bodyPr wrap="square" rtlCol="0" anchor="ctr"/>
          <a:lstStyle/>
          <a:p>
            <a:pPr marL="0" indent="0" algn="ctr">
              <a:buNone/>
            </a:pPr>
            <a:r>
              <a:rPr lang="en-US" sz="15000" b="1" dirty="0">
                <a:solidFill>
                  <a:srgbClr val="4F46E5"/>
                </a:solidFill>
                <a:latin typeface="Arial" pitchFamily="34" charset="0"/>
                <a:ea typeface="Arial" pitchFamily="34" charset="-122"/>
                <a:cs typeface="Arial" pitchFamily="34" charset="-120"/>
              </a:rPr>
              <a:t>1</a:t>
            </a:r>
            <a:endParaRPr lang="en-US" sz="15000" dirty="0"/>
          </a:p>
        </p:txBody>
      </p:sp>
      <p:sp>
        <p:nvSpPr>
          <p:cNvPr id="12" name="Shape 10"/>
          <p:cNvSpPr/>
          <p:nvPr/>
        </p:nvSpPr>
        <p:spPr>
          <a:xfrm>
            <a:off x="9189720" y="3291840"/>
            <a:ext cx="548640" cy="0"/>
          </a:xfrm>
          <a:prstGeom prst="line">
            <a:avLst/>
          </a:prstGeom>
          <a:noFill/>
          <a:ln w="25400">
            <a:solidFill>
              <a:srgbClr val="9AA1B0"/>
            </a:solidFill>
            <a:prstDash val="solid"/>
            <a:tailEnd type="triangle"/>
          </a:ln>
        </p:spPr>
        <p:txBody>
          <a:bodyPr/>
          <a:lstStyle/>
          <a:p>
            <a:endParaRPr lang="en-US"/>
          </a:p>
        </p:txBody>
      </p:sp>
      <p:sp>
        <p:nvSpPr>
          <p:cNvPr id="13" name="Shape 11"/>
          <p:cNvSpPr/>
          <p:nvPr/>
        </p:nvSpPr>
        <p:spPr>
          <a:xfrm>
            <a:off x="9893808" y="2139696"/>
            <a:ext cx="329184" cy="329184"/>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4" name="Image 0" descr="preencoded.png"/>
          <p:cNvPicPr>
            <a:picLocks noChangeAspect="1"/>
          </p:cNvPicPr>
          <p:nvPr/>
        </p:nvPicPr>
        <p:blipFill>
          <a:blip r:embed="rId3"/>
          <a:stretch>
            <a:fillRect/>
          </a:stretch>
        </p:blipFill>
        <p:spPr>
          <a:xfrm>
            <a:off x="9972812" y="2218700"/>
            <a:ext cx="171176" cy="171176"/>
          </a:xfrm>
          <a:prstGeom prst="rect">
            <a:avLst/>
          </a:prstGeom>
        </p:spPr>
      </p:pic>
      <p:sp>
        <p:nvSpPr>
          <p:cNvPr id="15" name="Text 12"/>
          <p:cNvSpPr/>
          <p:nvPr/>
        </p:nvSpPr>
        <p:spPr>
          <a:xfrm>
            <a:off x="10351008" y="2148840"/>
            <a:ext cx="1828800" cy="347472"/>
          </a:xfrm>
          <a:prstGeom prst="rect">
            <a:avLst/>
          </a:prstGeom>
          <a:noFill/>
          <a:ln/>
        </p:spPr>
        <p:txBody>
          <a:bodyPr wrap="square" rtlCol="0" anchor="ctr"/>
          <a:lstStyle/>
          <a:p>
            <a:pPr marL="0" indent="0">
              <a:buNone/>
            </a:pPr>
            <a:r>
              <a:rPr lang="en-US" sz="1100" kern="0" spc="200" dirty="0">
                <a:solidFill>
                  <a:srgbClr val="666C7A"/>
                </a:solidFill>
                <a:latin typeface="Consolas" pitchFamily="34" charset="0"/>
                <a:ea typeface="Consolas" pitchFamily="34" charset="-122"/>
                <a:cs typeface="Consolas" pitchFamily="34" charset="-120"/>
              </a:rPr>
              <a:t>ENGINEER</a:t>
            </a:r>
            <a:endParaRPr lang="en-US" sz="1100" dirty="0"/>
          </a:p>
        </p:txBody>
      </p:sp>
      <p:sp>
        <p:nvSpPr>
          <p:cNvPr id="16" name="Shape 13"/>
          <p:cNvSpPr/>
          <p:nvPr/>
        </p:nvSpPr>
        <p:spPr>
          <a:xfrm>
            <a:off x="9893808" y="2706624"/>
            <a:ext cx="329184" cy="329184"/>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7" name="Image 1" descr="preencoded.png"/>
          <p:cNvPicPr>
            <a:picLocks noChangeAspect="1"/>
          </p:cNvPicPr>
          <p:nvPr/>
        </p:nvPicPr>
        <p:blipFill>
          <a:blip r:embed="rId4"/>
          <a:stretch>
            <a:fillRect/>
          </a:stretch>
        </p:blipFill>
        <p:spPr>
          <a:xfrm>
            <a:off x="9972812" y="2785628"/>
            <a:ext cx="171176" cy="171176"/>
          </a:xfrm>
          <a:prstGeom prst="rect">
            <a:avLst/>
          </a:prstGeom>
        </p:spPr>
      </p:pic>
      <p:sp>
        <p:nvSpPr>
          <p:cNvPr id="18" name="Text 14"/>
          <p:cNvSpPr/>
          <p:nvPr/>
        </p:nvSpPr>
        <p:spPr>
          <a:xfrm>
            <a:off x="10351008" y="2715768"/>
            <a:ext cx="1828800" cy="347472"/>
          </a:xfrm>
          <a:prstGeom prst="rect">
            <a:avLst/>
          </a:prstGeom>
          <a:noFill/>
          <a:ln/>
        </p:spPr>
        <p:txBody>
          <a:bodyPr wrap="square" rtlCol="0" anchor="ctr"/>
          <a:lstStyle/>
          <a:p>
            <a:pPr marL="0" indent="0">
              <a:buNone/>
            </a:pPr>
            <a:r>
              <a:rPr lang="en-US" sz="1100" kern="0" spc="200" dirty="0">
                <a:solidFill>
                  <a:srgbClr val="666C7A"/>
                </a:solidFill>
                <a:latin typeface="Consolas" pitchFamily="34" charset="0"/>
                <a:ea typeface="Consolas" pitchFamily="34" charset="-122"/>
                <a:cs typeface="Consolas" pitchFamily="34" charset="-120"/>
              </a:rPr>
              <a:t>MARKETER</a:t>
            </a:r>
            <a:endParaRPr lang="en-US" sz="1100" dirty="0"/>
          </a:p>
        </p:txBody>
      </p:sp>
      <p:sp>
        <p:nvSpPr>
          <p:cNvPr id="19" name="Shape 15"/>
          <p:cNvSpPr/>
          <p:nvPr/>
        </p:nvSpPr>
        <p:spPr>
          <a:xfrm>
            <a:off x="9893808" y="3273552"/>
            <a:ext cx="329184" cy="329184"/>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0" name="Image 2" descr="preencoded.png"/>
          <p:cNvPicPr>
            <a:picLocks noChangeAspect="1"/>
          </p:cNvPicPr>
          <p:nvPr/>
        </p:nvPicPr>
        <p:blipFill>
          <a:blip r:embed="rId5"/>
          <a:stretch>
            <a:fillRect/>
          </a:stretch>
        </p:blipFill>
        <p:spPr>
          <a:xfrm>
            <a:off x="9972812" y="3352556"/>
            <a:ext cx="171176" cy="171176"/>
          </a:xfrm>
          <a:prstGeom prst="rect">
            <a:avLst/>
          </a:prstGeom>
        </p:spPr>
      </p:pic>
      <p:sp>
        <p:nvSpPr>
          <p:cNvPr id="21" name="Text 16"/>
          <p:cNvSpPr/>
          <p:nvPr/>
        </p:nvSpPr>
        <p:spPr>
          <a:xfrm>
            <a:off x="10351008" y="3282696"/>
            <a:ext cx="1828800" cy="347472"/>
          </a:xfrm>
          <a:prstGeom prst="rect">
            <a:avLst/>
          </a:prstGeom>
          <a:noFill/>
          <a:ln/>
        </p:spPr>
        <p:txBody>
          <a:bodyPr wrap="square" rtlCol="0" anchor="ctr"/>
          <a:lstStyle/>
          <a:p>
            <a:pPr marL="0" indent="0">
              <a:buNone/>
            </a:pPr>
            <a:r>
              <a:rPr lang="en-US" sz="1100" kern="0" spc="200" dirty="0">
                <a:solidFill>
                  <a:srgbClr val="666C7A"/>
                </a:solidFill>
                <a:latin typeface="Consolas" pitchFamily="34" charset="0"/>
                <a:ea typeface="Consolas" pitchFamily="34" charset="-122"/>
                <a:cs typeface="Consolas" pitchFamily="34" charset="-120"/>
              </a:rPr>
              <a:t>DESIGNER</a:t>
            </a:r>
            <a:endParaRPr lang="en-US" sz="1100" dirty="0"/>
          </a:p>
        </p:txBody>
      </p:sp>
      <p:sp>
        <p:nvSpPr>
          <p:cNvPr id="22" name="Shape 17"/>
          <p:cNvSpPr/>
          <p:nvPr/>
        </p:nvSpPr>
        <p:spPr>
          <a:xfrm>
            <a:off x="9893808" y="3840480"/>
            <a:ext cx="329184" cy="329184"/>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23" name="Image 3" descr="preencoded.png"/>
          <p:cNvPicPr>
            <a:picLocks noChangeAspect="1"/>
          </p:cNvPicPr>
          <p:nvPr/>
        </p:nvPicPr>
        <p:blipFill>
          <a:blip r:embed="rId6"/>
          <a:stretch>
            <a:fillRect/>
          </a:stretch>
        </p:blipFill>
        <p:spPr>
          <a:xfrm>
            <a:off x="9972812" y="3919484"/>
            <a:ext cx="171176" cy="171176"/>
          </a:xfrm>
          <a:prstGeom prst="rect">
            <a:avLst/>
          </a:prstGeom>
        </p:spPr>
      </p:pic>
      <p:sp>
        <p:nvSpPr>
          <p:cNvPr id="24" name="Text 18"/>
          <p:cNvSpPr/>
          <p:nvPr/>
        </p:nvSpPr>
        <p:spPr>
          <a:xfrm>
            <a:off x="10351008" y="3849624"/>
            <a:ext cx="1828800" cy="347472"/>
          </a:xfrm>
          <a:prstGeom prst="rect">
            <a:avLst/>
          </a:prstGeom>
          <a:noFill/>
          <a:ln/>
        </p:spPr>
        <p:txBody>
          <a:bodyPr wrap="square" rtlCol="0" anchor="ctr"/>
          <a:lstStyle/>
          <a:p>
            <a:pPr marL="0" indent="0">
              <a:buNone/>
            </a:pPr>
            <a:r>
              <a:rPr lang="en-US" sz="1100" kern="0" spc="200" dirty="0">
                <a:solidFill>
                  <a:srgbClr val="666C7A"/>
                </a:solidFill>
                <a:latin typeface="Consolas" pitchFamily="34" charset="0"/>
                <a:ea typeface="Consolas" pitchFamily="34" charset="-122"/>
                <a:cs typeface="Consolas" pitchFamily="34" charset="-120"/>
              </a:rPr>
              <a:t>LEGAL</a:t>
            </a:r>
            <a:endParaRPr lang="en-US" sz="1100" dirty="0"/>
          </a:p>
        </p:txBody>
      </p:sp>
      <p:sp>
        <p:nvSpPr>
          <p:cNvPr id="25" name="Shape 19"/>
          <p:cNvSpPr/>
          <p:nvPr/>
        </p:nvSpPr>
        <p:spPr>
          <a:xfrm>
            <a:off x="9893808" y="4407408"/>
            <a:ext cx="329184" cy="329184"/>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26" name="Image 4" descr="preencoded.png"/>
          <p:cNvPicPr>
            <a:picLocks noChangeAspect="1"/>
          </p:cNvPicPr>
          <p:nvPr/>
        </p:nvPicPr>
        <p:blipFill>
          <a:blip r:embed="rId7"/>
          <a:stretch>
            <a:fillRect/>
          </a:stretch>
        </p:blipFill>
        <p:spPr>
          <a:xfrm>
            <a:off x="9972812" y="4486412"/>
            <a:ext cx="171176" cy="171176"/>
          </a:xfrm>
          <a:prstGeom prst="rect">
            <a:avLst/>
          </a:prstGeom>
        </p:spPr>
      </p:pic>
      <p:sp>
        <p:nvSpPr>
          <p:cNvPr id="27" name="Text 20"/>
          <p:cNvSpPr/>
          <p:nvPr/>
        </p:nvSpPr>
        <p:spPr>
          <a:xfrm>
            <a:off x="10351008" y="4416552"/>
            <a:ext cx="1828800" cy="347472"/>
          </a:xfrm>
          <a:prstGeom prst="rect">
            <a:avLst/>
          </a:prstGeom>
          <a:noFill/>
          <a:ln/>
        </p:spPr>
        <p:txBody>
          <a:bodyPr wrap="square" rtlCol="0" anchor="ctr"/>
          <a:lstStyle/>
          <a:p>
            <a:pPr marL="0" indent="0">
              <a:buNone/>
            </a:pPr>
            <a:r>
              <a:rPr lang="en-US" sz="1100" kern="0" spc="200" dirty="0">
                <a:solidFill>
                  <a:srgbClr val="666C7A"/>
                </a:solidFill>
                <a:latin typeface="Consolas" pitchFamily="34" charset="0"/>
                <a:ea typeface="Consolas" pitchFamily="34" charset="-122"/>
                <a:cs typeface="Consolas" pitchFamily="34" charset="-120"/>
              </a:rPr>
              <a:t>DEVREL</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JOIN IN  ·  THIS ONE'S INTERACTIVE</a:t>
            </a:r>
            <a:endParaRPr lang="en-US" sz="1100" dirty="0"/>
          </a:p>
        </p:txBody>
      </p:sp>
      <p:sp>
        <p:nvSpPr>
          <p:cNvPr id="3" name="Text 1"/>
          <p:cNvSpPr/>
          <p:nvPr/>
        </p:nvSpPr>
        <p:spPr>
          <a:xfrm>
            <a:off x="841248" y="1371600"/>
            <a:ext cx="6400800" cy="1737360"/>
          </a:xfrm>
          <a:prstGeom prst="rect">
            <a:avLst/>
          </a:prstGeom>
          <a:noFill/>
          <a:ln/>
        </p:spPr>
        <p:txBody>
          <a:bodyPr wrap="square" rtlCol="0" anchor="ctr"/>
          <a:lstStyle/>
          <a:p>
            <a:pPr marL="0" indent="0">
              <a:lnSpc>
                <a:spcPts val="4600"/>
              </a:lnSpc>
              <a:buNone/>
            </a:pPr>
            <a:r>
              <a:rPr lang="en-US" sz="3800" b="1" dirty="0">
                <a:solidFill>
                  <a:srgbClr val="16181D"/>
                </a:solidFill>
                <a:latin typeface="Arial" pitchFamily="34" charset="0"/>
                <a:ea typeface="Arial" pitchFamily="34" charset="-122"/>
                <a:cs typeface="Arial" pitchFamily="34" charset="-120"/>
              </a:rPr>
              <a:t>Scan it. Type </a:t>
            </a:r>
            <a:r>
              <a:rPr lang="en-US" sz="3800" b="1" dirty="0">
                <a:solidFill>
                  <a:srgbClr val="4F46E5"/>
                </a:solidFill>
                <a:latin typeface="Arial" pitchFamily="34" charset="0"/>
                <a:ea typeface="Arial" pitchFamily="34" charset="-122"/>
                <a:cs typeface="Arial" pitchFamily="34" charset="-120"/>
              </a:rPr>
              <a:t>one line.</a:t>
            </a:r>
            <a:endParaRPr lang="en-US" sz="3800" dirty="0"/>
          </a:p>
          <a:p>
            <a:pPr marL="0" indent="0">
              <a:lnSpc>
                <a:spcPts val="4600"/>
              </a:lnSpc>
              <a:buNone/>
            </a:pPr>
            <a:r>
              <a:rPr lang="en-US" sz="3800" b="1" dirty="0">
                <a:solidFill>
                  <a:srgbClr val="16181D"/>
                </a:solidFill>
                <a:latin typeface="Arial" pitchFamily="34" charset="0"/>
                <a:ea typeface="Arial" pitchFamily="34" charset="-122"/>
                <a:cs typeface="Arial" pitchFamily="34" charset="-120"/>
              </a:rPr>
              <a:t>The crew starts on it now.</a:t>
            </a:r>
            <a:endParaRPr lang="en-US" sz="3800" dirty="0"/>
          </a:p>
        </p:txBody>
      </p:sp>
      <p:sp>
        <p:nvSpPr>
          <p:cNvPr id="4" name="Shape 2"/>
          <p:cNvSpPr/>
          <p:nvPr/>
        </p:nvSpPr>
        <p:spPr>
          <a:xfrm>
            <a:off x="841248" y="3520440"/>
            <a:ext cx="402336" cy="402336"/>
          </a:xfrm>
          <a:prstGeom prst="ellipse">
            <a:avLst/>
          </a:prstGeom>
          <a:solidFill>
            <a:srgbClr val="4F46E5"/>
          </a:solidFill>
          <a:ln/>
        </p:spPr>
        <p:txBody>
          <a:bodyPr/>
          <a:lstStyle/>
          <a:p>
            <a:endParaRPr lang="en-US"/>
          </a:p>
        </p:txBody>
      </p:sp>
      <p:sp>
        <p:nvSpPr>
          <p:cNvPr id="5" name="Text 3"/>
          <p:cNvSpPr/>
          <p:nvPr/>
        </p:nvSpPr>
        <p:spPr>
          <a:xfrm>
            <a:off x="841248" y="3520440"/>
            <a:ext cx="402336" cy="402336"/>
          </a:xfrm>
          <a:prstGeom prst="rect">
            <a:avLst/>
          </a:prstGeom>
          <a:noFill/>
          <a:ln/>
        </p:spPr>
        <p:txBody>
          <a:bodyPr wrap="square"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6" name="Text 4"/>
          <p:cNvSpPr/>
          <p:nvPr/>
        </p:nvSpPr>
        <p:spPr>
          <a:xfrm>
            <a:off x="1408176" y="3502152"/>
            <a:ext cx="5486400" cy="438912"/>
          </a:xfrm>
          <a:prstGeom prst="rect">
            <a:avLst/>
          </a:prstGeom>
          <a:noFill/>
          <a:ln/>
        </p:spPr>
        <p:txBody>
          <a:bodyPr wrap="square" rtlCol="0" anchor="ctr"/>
          <a:lstStyle/>
          <a:p>
            <a:pPr marL="0" indent="0">
              <a:buNone/>
            </a:pPr>
            <a:r>
              <a:rPr lang="en-US" sz="1650" dirty="0">
                <a:solidFill>
                  <a:srgbClr val="666C7A"/>
                </a:solidFill>
                <a:latin typeface="Calibri" pitchFamily="34" charset="0"/>
                <a:ea typeface="Calibri" pitchFamily="34" charset="-122"/>
                <a:cs typeface="Calibri" pitchFamily="34" charset="-120"/>
              </a:rPr>
              <a:t>Scan the code with your phone</a:t>
            </a:r>
            <a:endParaRPr lang="en-US" sz="1650" dirty="0"/>
          </a:p>
        </p:txBody>
      </p:sp>
      <p:sp>
        <p:nvSpPr>
          <p:cNvPr id="7" name="Shape 5"/>
          <p:cNvSpPr/>
          <p:nvPr/>
        </p:nvSpPr>
        <p:spPr>
          <a:xfrm>
            <a:off x="841248" y="4197096"/>
            <a:ext cx="402336" cy="402336"/>
          </a:xfrm>
          <a:prstGeom prst="ellipse">
            <a:avLst/>
          </a:prstGeom>
          <a:solidFill>
            <a:srgbClr val="4F46E5"/>
          </a:solidFill>
          <a:ln/>
        </p:spPr>
        <p:txBody>
          <a:bodyPr/>
          <a:lstStyle/>
          <a:p>
            <a:endParaRPr lang="en-US"/>
          </a:p>
        </p:txBody>
      </p:sp>
      <p:sp>
        <p:nvSpPr>
          <p:cNvPr id="8" name="Text 6"/>
          <p:cNvSpPr/>
          <p:nvPr/>
        </p:nvSpPr>
        <p:spPr>
          <a:xfrm>
            <a:off x="841248" y="4197096"/>
            <a:ext cx="402336" cy="402336"/>
          </a:xfrm>
          <a:prstGeom prst="rect">
            <a:avLst/>
          </a:prstGeom>
          <a:noFill/>
          <a:ln/>
        </p:spPr>
        <p:txBody>
          <a:bodyPr wrap="square"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9" name="Text 7"/>
          <p:cNvSpPr/>
          <p:nvPr/>
        </p:nvSpPr>
        <p:spPr>
          <a:xfrm>
            <a:off x="1408176" y="4178808"/>
            <a:ext cx="5486400" cy="438912"/>
          </a:xfrm>
          <a:prstGeom prst="rect">
            <a:avLst/>
          </a:prstGeom>
          <a:noFill/>
          <a:ln/>
        </p:spPr>
        <p:txBody>
          <a:bodyPr wrap="square" rtlCol="0" anchor="ctr"/>
          <a:lstStyle/>
          <a:p>
            <a:pPr marL="0" indent="0">
              <a:buNone/>
            </a:pPr>
            <a:r>
              <a:rPr lang="en-US" sz="1650" dirty="0">
                <a:solidFill>
                  <a:srgbClr val="666C7A"/>
                </a:solidFill>
                <a:latin typeface="Calibri" pitchFamily="34" charset="0"/>
                <a:ea typeface="Calibri" pitchFamily="34" charset="-122"/>
                <a:cs typeface="Calibri" pitchFamily="34" charset="-120"/>
              </a:rPr>
              <a:t>Type one line, any product idea</a:t>
            </a:r>
            <a:endParaRPr lang="en-US" sz="1650" dirty="0"/>
          </a:p>
        </p:txBody>
      </p:sp>
      <p:sp>
        <p:nvSpPr>
          <p:cNvPr id="10" name="Shape 8"/>
          <p:cNvSpPr/>
          <p:nvPr/>
        </p:nvSpPr>
        <p:spPr>
          <a:xfrm>
            <a:off x="841248" y="4873752"/>
            <a:ext cx="402336" cy="402336"/>
          </a:xfrm>
          <a:prstGeom prst="ellipse">
            <a:avLst/>
          </a:prstGeom>
          <a:solidFill>
            <a:srgbClr val="4F46E5"/>
          </a:solidFill>
          <a:ln/>
        </p:spPr>
        <p:txBody>
          <a:bodyPr/>
          <a:lstStyle/>
          <a:p>
            <a:endParaRPr lang="en-US"/>
          </a:p>
        </p:txBody>
      </p:sp>
      <p:sp>
        <p:nvSpPr>
          <p:cNvPr id="11" name="Text 9"/>
          <p:cNvSpPr/>
          <p:nvPr/>
        </p:nvSpPr>
        <p:spPr>
          <a:xfrm>
            <a:off x="841248" y="4873752"/>
            <a:ext cx="402336" cy="402336"/>
          </a:xfrm>
          <a:prstGeom prst="rect">
            <a:avLst/>
          </a:prstGeom>
          <a:noFill/>
          <a:ln/>
        </p:spPr>
        <p:txBody>
          <a:bodyPr wrap="square" rtlCol="0" anchor="ctr"/>
          <a:lstStyle/>
          <a:p>
            <a:pPr marL="0" indent="0" algn="ctr">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2" name="Text 10"/>
          <p:cNvSpPr/>
          <p:nvPr/>
        </p:nvSpPr>
        <p:spPr>
          <a:xfrm>
            <a:off x="1408176" y="4855464"/>
            <a:ext cx="5486400" cy="438912"/>
          </a:xfrm>
          <a:prstGeom prst="rect">
            <a:avLst/>
          </a:prstGeom>
          <a:noFill/>
          <a:ln/>
        </p:spPr>
        <p:txBody>
          <a:bodyPr wrap="square" rtlCol="0" anchor="ctr"/>
          <a:lstStyle/>
          <a:p>
            <a:pPr marL="0" indent="0">
              <a:buNone/>
            </a:pPr>
            <a:r>
              <a:rPr lang="en-US" sz="1650" dirty="0">
                <a:solidFill>
                  <a:srgbClr val="666C7A"/>
                </a:solidFill>
                <a:latin typeface="Calibri" pitchFamily="34" charset="0"/>
                <a:ea typeface="Calibri" pitchFamily="34" charset="-122"/>
                <a:cs typeface="Calibri" pitchFamily="34" charset="-120"/>
              </a:rPr>
              <a:t>Watch the crew build it live</a:t>
            </a:r>
            <a:endParaRPr lang="en-US" sz="1650" dirty="0"/>
          </a:p>
        </p:txBody>
      </p:sp>
      <p:sp>
        <p:nvSpPr>
          <p:cNvPr id="13" name="Text 11"/>
          <p:cNvSpPr/>
          <p:nvPr/>
        </p:nvSpPr>
        <p:spPr>
          <a:xfrm>
            <a:off x="841248" y="5806440"/>
            <a:ext cx="6035040" cy="548640"/>
          </a:xfrm>
          <a:prstGeom prst="rect">
            <a:avLst/>
          </a:prstGeom>
          <a:noFill/>
          <a:ln/>
        </p:spPr>
        <p:txBody>
          <a:bodyPr wrap="square" rtlCol="0" anchor="ctr"/>
          <a:lstStyle/>
          <a:p>
            <a:pPr marL="0" indent="0">
              <a:lnSpc>
                <a:spcPts val="1600"/>
              </a:lnSpc>
              <a:buNone/>
            </a:pPr>
            <a:r>
              <a:rPr lang="en-US" sz="1100" dirty="0">
                <a:solidFill>
                  <a:srgbClr val="9AA1B0"/>
                </a:solidFill>
                <a:latin typeface="Consolas" pitchFamily="34" charset="0"/>
                <a:ea typeface="Consolas" pitchFamily="34" charset="-122"/>
                <a:cs typeface="Consolas" pitchFamily="34" charset="-120"/>
              </a:rPr>
              <a:t>From the moment you send it, agents on this laptop start building your page. You will see them all at the end.</a:t>
            </a:r>
            <a:endParaRPr lang="en-US" sz="1100" dirty="0"/>
          </a:p>
        </p:txBody>
      </p:sp>
      <p:sp>
        <p:nvSpPr>
          <p:cNvPr id="14" name="Shape 12"/>
          <p:cNvSpPr/>
          <p:nvPr/>
        </p:nvSpPr>
        <p:spPr>
          <a:xfrm>
            <a:off x="7955280" y="1417320"/>
            <a:ext cx="3200400" cy="4069080"/>
          </a:xfrm>
          <a:prstGeom prst="roundRect">
            <a:avLst>
              <a:gd name="adj" fmla="val 2857"/>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pic>
        <p:nvPicPr>
          <p:cNvPr id="15" name="Image 0" descr="preencoded.png"/>
          <p:cNvPicPr>
            <a:picLocks noChangeAspect="1"/>
          </p:cNvPicPr>
          <p:nvPr/>
        </p:nvPicPr>
        <p:blipFill>
          <a:blip r:embed="rId3"/>
          <a:stretch>
            <a:fillRect/>
          </a:stretch>
        </p:blipFill>
        <p:spPr>
          <a:xfrm>
            <a:off x="8458200" y="1737360"/>
            <a:ext cx="2194560" cy="2194560"/>
          </a:xfrm>
          <a:prstGeom prst="rect">
            <a:avLst/>
          </a:prstGeom>
        </p:spPr>
      </p:pic>
      <p:sp>
        <p:nvSpPr>
          <p:cNvPr id="16" name="Shape 13"/>
          <p:cNvSpPr/>
          <p:nvPr/>
        </p:nvSpPr>
        <p:spPr>
          <a:xfrm>
            <a:off x="9326880" y="4069080"/>
            <a:ext cx="457200" cy="457200"/>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17" name="Image 1" descr="preencoded.png"/>
          <p:cNvPicPr>
            <a:picLocks noChangeAspect="1"/>
          </p:cNvPicPr>
          <p:nvPr/>
        </p:nvPicPr>
        <p:blipFill>
          <a:blip r:embed="rId4"/>
          <a:stretch>
            <a:fillRect/>
          </a:stretch>
        </p:blipFill>
        <p:spPr>
          <a:xfrm>
            <a:off x="9436608" y="4178808"/>
            <a:ext cx="237744" cy="237744"/>
          </a:xfrm>
          <a:prstGeom prst="rect">
            <a:avLst/>
          </a:prstGeom>
        </p:spPr>
      </p:pic>
      <p:sp>
        <p:nvSpPr>
          <p:cNvPr id="18" name="Text 14"/>
          <p:cNvSpPr/>
          <p:nvPr/>
        </p:nvSpPr>
        <p:spPr>
          <a:xfrm>
            <a:off x="7955280" y="4590288"/>
            <a:ext cx="3200400" cy="292608"/>
          </a:xfrm>
          <a:prstGeom prst="rect">
            <a:avLst/>
          </a:prstGeom>
          <a:noFill/>
          <a:ln/>
        </p:spPr>
        <p:txBody>
          <a:bodyPr wrap="square" rtlCol="0" anchor="ctr"/>
          <a:lstStyle/>
          <a:p>
            <a:pPr marL="0" indent="0" algn="ctr">
              <a:buNone/>
            </a:pPr>
            <a:r>
              <a:rPr lang="en-US" sz="1600" b="1" dirty="0">
                <a:solidFill>
                  <a:srgbClr val="16181D"/>
                </a:solidFill>
                <a:latin typeface="Arial" pitchFamily="34" charset="0"/>
                <a:ea typeface="Arial" pitchFamily="34" charset="-122"/>
                <a:cs typeface="Arial" pitchFamily="34" charset="-120"/>
              </a:rPr>
              <a:t>scan to join</a:t>
            </a:r>
            <a:endParaRPr lang="en-US" sz="1600" dirty="0"/>
          </a:p>
        </p:txBody>
      </p:sp>
      <p:sp>
        <p:nvSpPr>
          <p:cNvPr id="19" name="Text 15"/>
          <p:cNvSpPr/>
          <p:nvPr/>
        </p:nvSpPr>
        <p:spPr>
          <a:xfrm>
            <a:off x="8065008" y="4910328"/>
            <a:ext cx="2980944" cy="457200"/>
          </a:xfrm>
          <a:prstGeom prst="rect">
            <a:avLst/>
          </a:prstGeom>
          <a:noFill/>
          <a:ln/>
        </p:spPr>
        <p:txBody>
          <a:bodyPr wrap="square" rtlCol="0" anchor="ctr"/>
          <a:lstStyle/>
          <a:p>
            <a:pPr marL="0" indent="0" algn="ctr">
              <a:lnSpc>
                <a:spcPts val="1200"/>
              </a:lnSpc>
              <a:buNone/>
            </a:pPr>
            <a:r>
              <a:rPr lang="en-US" sz="1000" dirty="0">
                <a:solidFill>
                  <a:srgbClr val="4F46E5"/>
                </a:solidFill>
                <a:latin typeface="Consolas" pitchFamily="34" charset="0"/>
                <a:ea typeface="Consolas" pitchFamily="34" charset="-122"/>
                <a:cs typeface="Consolas" pitchFamily="34" charset="-120"/>
              </a:rPr>
              <a:t>live.floati.life</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WHERE WE'RE GOING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Five rungs from </a:t>
            </a:r>
            <a:r>
              <a:rPr lang="en-US" sz="3200" b="1" dirty="0">
                <a:solidFill>
                  <a:srgbClr val="4F46E5"/>
                </a:solidFill>
                <a:latin typeface="Arial" pitchFamily="34" charset="0"/>
                <a:ea typeface="Arial" pitchFamily="34" charset="-122"/>
                <a:cs typeface="Arial" pitchFamily="34" charset="-120"/>
              </a:rPr>
              <a:t>a sentence</a:t>
            </a:r>
            <a:r>
              <a:rPr lang="en-US" sz="3200" b="1" dirty="0">
                <a:solidFill>
                  <a:srgbClr val="16181D"/>
                </a:solidFill>
                <a:latin typeface="Arial" pitchFamily="34" charset="0"/>
                <a:ea typeface="Arial" pitchFamily="34" charset="-122"/>
                <a:cs typeface="Arial" pitchFamily="34" charset="-120"/>
              </a:rPr>
              <a:t> to </a:t>
            </a:r>
            <a:r>
              <a:rPr lang="en-US" sz="3200" b="1" dirty="0">
                <a:solidFill>
                  <a:srgbClr val="4F46E5"/>
                </a:solidFill>
                <a:latin typeface="Arial" pitchFamily="34" charset="0"/>
                <a:ea typeface="Arial" pitchFamily="34" charset="-122"/>
                <a:cs typeface="Arial" pitchFamily="34" charset="-120"/>
              </a:rPr>
              <a:t>a swarm.</a:t>
            </a:r>
            <a:endParaRPr lang="en-US" sz="3200" dirty="0"/>
          </a:p>
        </p:txBody>
      </p:sp>
      <p:sp>
        <p:nvSpPr>
          <p:cNvPr id="4" name="Shape 2"/>
          <p:cNvSpPr/>
          <p:nvPr/>
        </p:nvSpPr>
        <p:spPr>
          <a:xfrm>
            <a:off x="868680" y="2286000"/>
            <a:ext cx="457200" cy="457200"/>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978408" y="2395728"/>
            <a:ext cx="237744" cy="237744"/>
          </a:xfrm>
          <a:prstGeom prst="rect">
            <a:avLst/>
          </a:prstGeom>
        </p:spPr>
      </p:pic>
      <p:sp>
        <p:nvSpPr>
          <p:cNvPr id="6" name="Text 3"/>
          <p:cNvSpPr/>
          <p:nvPr/>
        </p:nvSpPr>
        <p:spPr>
          <a:xfrm>
            <a:off x="1527048" y="2331720"/>
            <a:ext cx="2286000" cy="365760"/>
          </a:xfrm>
          <a:prstGeom prst="rect">
            <a:avLst/>
          </a:prstGeom>
          <a:noFill/>
          <a:ln/>
        </p:spPr>
        <p:txBody>
          <a:bodyPr wrap="square" rtlCol="0" anchor="ctr"/>
          <a:lstStyle/>
          <a:p>
            <a:pPr marL="0" indent="0">
              <a:buNone/>
            </a:pPr>
            <a:r>
              <a:rPr lang="en-US" sz="1150" kern="0" spc="150" dirty="0">
                <a:solidFill>
                  <a:srgbClr val="666C7A"/>
                </a:solidFill>
                <a:latin typeface="Consolas" pitchFamily="34" charset="0"/>
                <a:ea typeface="Consolas" pitchFamily="34" charset="-122"/>
                <a:cs typeface="Consolas" pitchFamily="34" charset="-120"/>
              </a:rPr>
              <a:t>01  PROMPT</a:t>
            </a:r>
            <a:endParaRPr lang="en-US" sz="1150" dirty="0"/>
          </a:p>
        </p:txBody>
      </p:sp>
      <p:sp>
        <p:nvSpPr>
          <p:cNvPr id="7" name="Text 4"/>
          <p:cNvSpPr/>
          <p:nvPr/>
        </p:nvSpPr>
        <p:spPr>
          <a:xfrm>
            <a:off x="3931920" y="2331720"/>
            <a:ext cx="7589520" cy="365760"/>
          </a:xfrm>
          <a:prstGeom prst="rect">
            <a:avLst/>
          </a:prstGeom>
          <a:noFill/>
          <a:ln/>
        </p:spPr>
        <p:txBody>
          <a:bodyPr wrap="square" rtlCol="0" anchor="ctr"/>
          <a:lstStyle/>
          <a:p>
            <a:pPr marL="0" indent="0">
              <a:buNone/>
            </a:pPr>
            <a:r>
              <a:rPr lang="en-US" sz="1700" b="1" dirty="0">
                <a:solidFill>
                  <a:srgbClr val="16181D"/>
                </a:solidFill>
                <a:latin typeface="Calibri" pitchFamily="34" charset="0"/>
                <a:ea typeface="Calibri" pitchFamily="34" charset="-122"/>
                <a:cs typeface="Calibri" pitchFamily="34" charset="-120"/>
              </a:rPr>
              <a:t>The atom. </a:t>
            </a:r>
            <a:r>
              <a:rPr lang="en-US" sz="1700" dirty="0">
                <a:solidFill>
                  <a:srgbClr val="666C7A"/>
                </a:solidFill>
                <a:latin typeface="Calibri" pitchFamily="34" charset="0"/>
                <a:ea typeface="Calibri" pitchFamily="34" charset="-122"/>
                <a:cs typeface="Calibri" pitchFamily="34" charset="-120"/>
              </a:rPr>
              <a:t>What a prompt actually is.</a:t>
            </a:r>
            <a:endParaRPr lang="en-US" sz="1700" dirty="0"/>
          </a:p>
        </p:txBody>
      </p:sp>
      <p:sp>
        <p:nvSpPr>
          <p:cNvPr id="8" name="Shape 5"/>
          <p:cNvSpPr/>
          <p:nvPr/>
        </p:nvSpPr>
        <p:spPr>
          <a:xfrm>
            <a:off x="868680" y="3035808"/>
            <a:ext cx="457200" cy="457200"/>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978408" y="3145536"/>
            <a:ext cx="237744" cy="237744"/>
          </a:xfrm>
          <a:prstGeom prst="rect">
            <a:avLst/>
          </a:prstGeom>
        </p:spPr>
      </p:pic>
      <p:sp>
        <p:nvSpPr>
          <p:cNvPr id="10" name="Text 6"/>
          <p:cNvSpPr/>
          <p:nvPr/>
        </p:nvSpPr>
        <p:spPr>
          <a:xfrm>
            <a:off x="1527048" y="3081528"/>
            <a:ext cx="2286000" cy="365760"/>
          </a:xfrm>
          <a:prstGeom prst="rect">
            <a:avLst/>
          </a:prstGeom>
          <a:noFill/>
          <a:ln/>
        </p:spPr>
        <p:txBody>
          <a:bodyPr wrap="square" rtlCol="0" anchor="ctr"/>
          <a:lstStyle/>
          <a:p>
            <a:pPr marL="0" indent="0">
              <a:buNone/>
            </a:pPr>
            <a:r>
              <a:rPr lang="en-US" sz="1150" kern="0" spc="150" dirty="0">
                <a:solidFill>
                  <a:srgbClr val="666C7A"/>
                </a:solidFill>
                <a:latin typeface="Consolas" pitchFamily="34" charset="0"/>
                <a:ea typeface="Consolas" pitchFamily="34" charset="-122"/>
                <a:cs typeface="Consolas" pitchFamily="34" charset="-120"/>
              </a:rPr>
              <a:t>02  AGENT</a:t>
            </a:r>
            <a:endParaRPr lang="en-US" sz="1150" dirty="0"/>
          </a:p>
        </p:txBody>
      </p:sp>
      <p:sp>
        <p:nvSpPr>
          <p:cNvPr id="11" name="Text 7"/>
          <p:cNvSpPr/>
          <p:nvPr/>
        </p:nvSpPr>
        <p:spPr>
          <a:xfrm>
            <a:off x="3931920" y="3081528"/>
            <a:ext cx="7589520" cy="365760"/>
          </a:xfrm>
          <a:prstGeom prst="rect">
            <a:avLst/>
          </a:prstGeom>
          <a:noFill/>
          <a:ln/>
        </p:spPr>
        <p:txBody>
          <a:bodyPr wrap="square" rtlCol="0" anchor="ctr"/>
          <a:lstStyle/>
          <a:p>
            <a:pPr marL="0" indent="0">
              <a:buNone/>
            </a:pPr>
            <a:r>
              <a:rPr lang="en-US" sz="1700" b="1" dirty="0">
                <a:solidFill>
                  <a:srgbClr val="16181D"/>
                </a:solidFill>
                <a:latin typeface="Calibri" pitchFamily="34" charset="0"/>
                <a:ea typeface="Calibri" pitchFamily="34" charset="-122"/>
                <a:cs typeface="Calibri" pitchFamily="34" charset="-120"/>
              </a:rPr>
              <a:t>The loop </a:t>
            </a:r>
            <a:r>
              <a:rPr lang="en-US" sz="1700" dirty="0">
                <a:solidFill>
                  <a:srgbClr val="666C7A"/>
                </a:solidFill>
                <a:latin typeface="Calibri" pitchFamily="34" charset="0"/>
                <a:ea typeface="Calibri" pitchFamily="34" charset="-122"/>
                <a:cs typeface="Calibri" pitchFamily="34" charset="-120"/>
              </a:rPr>
              <a:t>that turns talk into action.</a:t>
            </a:r>
            <a:endParaRPr lang="en-US" sz="1700" dirty="0"/>
          </a:p>
        </p:txBody>
      </p:sp>
      <p:sp>
        <p:nvSpPr>
          <p:cNvPr id="12" name="Shape 8"/>
          <p:cNvSpPr/>
          <p:nvPr/>
        </p:nvSpPr>
        <p:spPr>
          <a:xfrm>
            <a:off x="868680" y="3785616"/>
            <a:ext cx="457200" cy="457200"/>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978408" y="3895344"/>
            <a:ext cx="237744" cy="237744"/>
          </a:xfrm>
          <a:prstGeom prst="rect">
            <a:avLst/>
          </a:prstGeom>
        </p:spPr>
      </p:pic>
      <p:sp>
        <p:nvSpPr>
          <p:cNvPr id="14" name="Text 9"/>
          <p:cNvSpPr/>
          <p:nvPr/>
        </p:nvSpPr>
        <p:spPr>
          <a:xfrm>
            <a:off x="1527048" y="3831336"/>
            <a:ext cx="2286000" cy="365760"/>
          </a:xfrm>
          <a:prstGeom prst="rect">
            <a:avLst/>
          </a:prstGeom>
          <a:noFill/>
          <a:ln/>
        </p:spPr>
        <p:txBody>
          <a:bodyPr wrap="square" rtlCol="0" anchor="ctr"/>
          <a:lstStyle/>
          <a:p>
            <a:pPr marL="0" indent="0">
              <a:buNone/>
            </a:pPr>
            <a:r>
              <a:rPr lang="en-US" sz="1150" kern="0" spc="150" dirty="0">
                <a:solidFill>
                  <a:srgbClr val="666C7A"/>
                </a:solidFill>
                <a:latin typeface="Consolas" pitchFamily="34" charset="0"/>
                <a:ea typeface="Consolas" pitchFamily="34" charset="-122"/>
                <a:cs typeface="Consolas" pitchFamily="34" charset="-120"/>
              </a:rPr>
              <a:t>03  STACK</a:t>
            </a:r>
            <a:endParaRPr lang="en-US" sz="1150" dirty="0"/>
          </a:p>
        </p:txBody>
      </p:sp>
      <p:sp>
        <p:nvSpPr>
          <p:cNvPr id="15" name="Text 10"/>
          <p:cNvSpPr/>
          <p:nvPr/>
        </p:nvSpPr>
        <p:spPr>
          <a:xfrm>
            <a:off x="3931920" y="3831336"/>
            <a:ext cx="7589520" cy="365760"/>
          </a:xfrm>
          <a:prstGeom prst="rect">
            <a:avLst/>
          </a:prstGeom>
          <a:noFill/>
          <a:ln/>
        </p:spPr>
        <p:txBody>
          <a:bodyPr wrap="square" rtlCol="0" anchor="ctr"/>
          <a:lstStyle/>
          <a:p>
            <a:pPr marL="0" indent="0">
              <a:buNone/>
            </a:pPr>
            <a:r>
              <a:rPr lang="en-US" sz="1700" b="1" dirty="0">
                <a:solidFill>
                  <a:srgbClr val="16181D"/>
                </a:solidFill>
                <a:latin typeface="Calibri" pitchFamily="34" charset="0"/>
                <a:ea typeface="Calibri" pitchFamily="34" charset="-122"/>
                <a:cs typeface="Calibri" pitchFamily="34" charset="-120"/>
              </a:rPr>
              <a:t>The infrastructure, </a:t>
            </a:r>
            <a:r>
              <a:rPr lang="en-US" sz="1700" dirty="0">
                <a:solidFill>
                  <a:srgbClr val="666C7A"/>
                </a:solidFill>
                <a:latin typeface="Calibri" pitchFamily="34" charset="0"/>
                <a:ea typeface="Calibri" pitchFamily="34" charset="-122"/>
                <a:cs typeface="Calibri" pitchFamily="34" charset="-120"/>
              </a:rPr>
              <a:t>and why Java.</a:t>
            </a:r>
            <a:endParaRPr lang="en-US" sz="1700" dirty="0"/>
          </a:p>
        </p:txBody>
      </p:sp>
      <p:sp>
        <p:nvSpPr>
          <p:cNvPr id="16" name="Shape 11"/>
          <p:cNvSpPr/>
          <p:nvPr/>
        </p:nvSpPr>
        <p:spPr>
          <a:xfrm>
            <a:off x="868680" y="4535424"/>
            <a:ext cx="457200" cy="457200"/>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978408" y="4645152"/>
            <a:ext cx="237744" cy="237744"/>
          </a:xfrm>
          <a:prstGeom prst="rect">
            <a:avLst/>
          </a:prstGeom>
        </p:spPr>
      </p:pic>
      <p:sp>
        <p:nvSpPr>
          <p:cNvPr id="18" name="Text 12"/>
          <p:cNvSpPr/>
          <p:nvPr/>
        </p:nvSpPr>
        <p:spPr>
          <a:xfrm>
            <a:off x="1527048" y="4581144"/>
            <a:ext cx="2286000" cy="365760"/>
          </a:xfrm>
          <a:prstGeom prst="rect">
            <a:avLst/>
          </a:prstGeom>
          <a:noFill/>
          <a:ln/>
        </p:spPr>
        <p:txBody>
          <a:bodyPr wrap="square" rtlCol="0" anchor="ctr"/>
          <a:lstStyle/>
          <a:p>
            <a:pPr marL="0" indent="0">
              <a:buNone/>
            </a:pPr>
            <a:r>
              <a:rPr lang="en-US" sz="1150" kern="0" spc="150" dirty="0">
                <a:solidFill>
                  <a:srgbClr val="666C7A"/>
                </a:solidFill>
                <a:latin typeface="Consolas" pitchFamily="34" charset="0"/>
                <a:ea typeface="Consolas" pitchFamily="34" charset="-122"/>
                <a:cs typeface="Consolas" pitchFamily="34" charset="-120"/>
              </a:rPr>
              <a:t>04  CONTROL</a:t>
            </a:r>
            <a:endParaRPr lang="en-US" sz="1150" dirty="0"/>
          </a:p>
        </p:txBody>
      </p:sp>
      <p:sp>
        <p:nvSpPr>
          <p:cNvPr id="19" name="Text 13"/>
          <p:cNvSpPr/>
          <p:nvPr/>
        </p:nvSpPr>
        <p:spPr>
          <a:xfrm>
            <a:off x="3931920" y="4581144"/>
            <a:ext cx="7589520" cy="365760"/>
          </a:xfrm>
          <a:prstGeom prst="rect">
            <a:avLst/>
          </a:prstGeom>
          <a:noFill/>
          <a:ln/>
        </p:spPr>
        <p:txBody>
          <a:bodyPr wrap="square" rtlCol="0" anchor="ctr"/>
          <a:lstStyle/>
          <a:p>
            <a:pPr marL="0" indent="0">
              <a:buNone/>
            </a:pPr>
            <a:r>
              <a:rPr lang="en-US" sz="1700" b="1" dirty="0">
                <a:solidFill>
                  <a:srgbClr val="16181D"/>
                </a:solidFill>
                <a:latin typeface="Calibri" pitchFamily="34" charset="0"/>
                <a:ea typeface="Calibri" pitchFamily="34" charset="-122"/>
                <a:cs typeface="Calibri" pitchFamily="34" charset="-120"/>
              </a:rPr>
              <a:t>Six levers </a:t>
            </a:r>
            <a:r>
              <a:rPr lang="en-US" sz="1700" dirty="0">
                <a:solidFill>
                  <a:srgbClr val="666C7A"/>
                </a:solidFill>
                <a:latin typeface="Calibri" pitchFamily="34" charset="0"/>
                <a:ea typeface="Calibri" pitchFamily="34" charset="-122"/>
                <a:cs typeface="Calibri" pitchFamily="34" charset="-120"/>
              </a:rPr>
              <a:t>beyond the prompt.</a:t>
            </a:r>
            <a:endParaRPr lang="en-US" sz="1700" dirty="0"/>
          </a:p>
        </p:txBody>
      </p:sp>
      <p:sp>
        <p:nvSpPr>
          <p:cNvPr id="20" name="Shape 14"/>
          <p:cNvSpPr/>
          <p:nvPr/>
        </p:nvSpPr>
        <p:spPr>
          <a:xfrm>
            <a:off x="868680" y="5285232"/>
            <a:ext cx="457200" cy="457200"/>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1" name="Image 4" descr="preencoded.png"/>
          <p:cNvPicPr>
            <a:picLocks noChangeAspect="1"/>
          </p:cNvPicPr>
          <p:nvPr/>
        </p:nvPicPr>
        <p:blipFill>
          <a:blip r:embed="rId7"/>
          <a:stretch>
            <a:fillRect/>
          </a:stretch>
        </p:blipFill>
        <p:spPr>
          <a:xfrm>
            <a:off x="978408" y="5394960"/>
            <a:ext cx="237744" cy="237744"/>
          </a:xfrm>
          <a:prstGeom prst="rect">
            <a:avLst/>
          </a:prstGeom>
        </p:spPr>
      </p:pic>
      <p:sp>
        <p:nvSpPr>
          <p:cNvPr id="22" name="Text 15"/>
          <p:cNvSpPr/>
          <p:nvPr/>
        </p:nvSpPr>
        <p:spPr>
          <a:xfrm>
            <a:off x="1527048" y="5330952"/>
            <a:ext cx="2286000" cy="365760"/>
          </a:xfrm>
          <a:prstGeom prst="rect">
            <a:avLst/>
          </a:prstGeom>
          <a:noFill/>
          <a:ln/>
        </p:spPr>
        <p:txBody>
          <a:bodyPr wrap="square" rtlCol="0" anchor="ctr"/>
          <a:lstStyle/>
          <a:p>
            <a:pPr marL="0" indent="0">
              <a:buNone/>
            </a:pPr>
            <a:r>
              <a:rPr lang="en-US" sz="1150" kern="0" spc="150" dirty="0">
                <a:solidFill>
                  <a:srgbClr val="666C7A"/>
                </a:solidFill>
                <a:latin typeface="Consolas" pitchFamily="34" charset="0"/>
                <a:ea typeface="Consolas" pitchFamily="34" charset="-122"/>
                <a:cs typeface="Consolas" pitchFamily="34" charset="-120"/>
              </a:rPr>
              <a:t>05  SWARM</a:t>
            </a:r>
            <a:endParaRPr lang="en-US" sz="1150" dirty="0"/>
          </a:p>
        </p:txBody>
      </p:sp>
      <p:sp>
        <p:nvSpPr>
          <p:cNvPr id="23" name="Text 16"/>
          <p:cNvSpPr/>
          <p:nvPr/>
        </p:nvSpPr>
        <p:spPr>
          <a:xfrm>
            <a:off x="3931920" y="5330952"/>
            <a:ext cx="7589520" cy="365760"/>
          </a:xfrm>
          <a:prstGeom prst="rect">
            <a:avLst/>
          </a:prstGeom>
          <a:noFill/>
          <a:ln/>
        </p:spPr>
        <p:txBody>
          <a:bodyPr wrap="square" rtlCol="0" anchor="ctr"/>
          <a:lstStyle/>
          <a:p>
            <a:pPr marL="0" indent="0">
              <a:buNone/>
            </a:pPr>
            <a:r>
              <a:rPr lang="en-US" sz="1700" b="1" dirty="0">
                <a:solidFill>
                  <a:srgbClr val="16181D"/>
                </a:solidFill>
                <a:latin typeface="Calibri" pitchFamily="34" charset="0"/>
                <a:ea typeface="Calibri" pitchFamily="34" charset="-122"/>
                <a:cs typeface="Calibri" pitchFamily="34" charset="-120"/>
              </a:rPr>
              <a:t>One prompt, many workers, </a:t>
            </a:r>
            <a:r>
              <a:rPr lang="en-US" sz="1700" dirty="0">
                <a:solidFill>
                  <a:srgbClr val="666C7A"/>
                </a:solidFill>
                <a:latin typeface="Calibri" pitchFamily="34" charset="0"/>
                <a:ea typeface="Calibri" pitchFamily="34" charset="-122"/>
                <a:cs typeface="Calibri" pitchFamily="34" charset="-120"/>
              </a:rPr>
              <a:t>live.</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marL="0" indent="0">
              <a:buNone/>
            </a:pPr>
            <a:r>
              <a:rPr lang="en-US" sz="9200" b="1" dirty="0">
                <a:solidFill>
                  <a:srgbClr val="E1E5EC"/>
                </a:solidFill>
                <a:latin typeface="Arial" pitchFamily="34" charset="0"/>
                <a:ea typeface="Arial" pitchFamily="34" charset="-122"/>
                <a:cs typeface="Arial" pitchFamily="34" charset="-120"/>
              </a:rPr>
              <a:t>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ACT ONE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marL="0" indent="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marL="0" indent="0">
              <a:lnSpc>
                <a:spcPts val="2500"/>
              </a:lnSpc>
              <a:buNone/>
            </a:pPr>
            <a:r>
              <a:rPr lang="en-US" sz="1700" dirty="0">
                <a:solidFill>
                  <a:srgbClr val="666C7A"/>
                </a:solidFill>
                <a:latin typeface="Calibri" pitchFamily="34" charset="0"/>
                <a:ea typeface="Calibri" pitchFamily="34" charset="-122"/>
                <a:cs typeface="Calibri" pitchFamily="34" charset="-120"/>
              </a:rPr>
              <a:t>The smallest unit of the whole thing, and the most misunderstood.</a:t>
            </a:r>
            <a:endParaRPr lang="en-US" sz="1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ATOM</a:t>
            </a:r>
            <a:endParaRPr lang="en-US" sz="1100" dirty="0"/>
          </a:p>
        </p:txBody>
      </p:sp>
      <p:sp>
        <p:nvSpPr>
          <p:cNvPr id="3" name="Text 1"/>
          <p:cNvSpPr/>
          <p:nvPr/>
        </p:nvSpPr>
        <p:spPr>
          <a:xfrm>
            <a:off x="841248" y="1371600"/>
            <a:ext cx="5852160" cy="1371600"/>
          </a:xfrm>
          <a:prstGeom prst="rect">
            <a:avLst/>
          </a:prstGeom>
          <a:noFill/>
          <a:ln/>
        </p:spPr>
        <p:txBody>
          <a:bodyPr wrap="square" rtlCol="0" anchor="ctr"/>
          <a:lstStyle/>
          <a:p>
            <a:pPr marL="0" indent="0">
              <a:lnSpc>
                <a:spcPts val="4400"/>
              </a:lnSpc>
              <a:buNone/>
            </a:pPr>
            <a:r>
              <a:rPr lang="en-US" sz="3800" b="1" dirty="0">
                <a:solidFill>
                  <a:srgbClr val="16181D"/>
                </a:solidFill>
                <a:latin typeface="Arial" pitchFamily="34" charset="0"/>
                <a:ea typeface="Arial" pitchFamily="34" charset="-122"/>
                <a:cs typeface="Arial" pitchFamily="34" charset="-120"/>
              </a:rPr>
              <a:t>A model is just a </a:t>
            </a:r>
            <a:r>
              <a:rPr lang="en-US" sz="3800" b="1" dirty="0">
                <a:solidFill>
                  <a:srgbClr val="4F46E5"/>
                </a:solidFill>
                <a:latin typeface="Arial" pitchFamily="34" charset="0"/>
                <a:ea typeface="Arial" pitchFamily="34" charset="-122"/>
                <a:cs typeface="Arial" pitchFamily="34" charset="-120"/>
              </a:rPr>
              <a:t>function.</a:t>
            </a:r>
            <a:endParaRPr lang="en-US" sz="3800" dirty="0"/>
          </a:p>
        </p:txBody>
      </p:sp>
      <p:sp>
        <p:nvSpPr>
          <p:cNvPr id="4" name="Text 2"/>
          <p:cNvSpPr/>
          <p:nvPr/>
        </p:nvSpPr>
        <p:spPr>
          <a:xfrm>
            <a:off x="841248" y="2834640"/>
            <a:ext cx="5212080" cy="1371600"/>
          </a:xfrm>
          <a:prstGeom prst="rect">
            <a:avLst/>
          </a:prstGeom>
          <a:noFill/>
          <a:ln/>
        </p:spPr>
        <p:txBody>
          <a:bodyPr wrap="square" rtlCol="0" anchor="ctr"/>
          <a:lstStyle/>
          <a:p>
            <a:pPr marL="0" indent="0">
              <a:lnSpc>
                <a:spcPts val="2800"/>
              </a:lnSpc>
              <a:buNone/>
            </a:pPr>
            <a:r>
              <a:rPr lang="en-US" sz="1800" dirty="0">
                <a:solidFill>
                  <a:srgbClr val="666C7A"/>
                </a:solidFill>
                <a:latin typeface="Calibri" pitchFamily="34" charset="0"/>
                <a:ea typeface="Calibri" pitchFamily="34" charset="-122"/>
                <a:cs typeface="Calibri" pitchFamily="34" charset="-120"/>
              </a:rPr>
              <a:t>Text goes in. Text comes out. No memory of a moment ago. No hands. No way to check its own work.</a:t>
            </a:r>
            <a:endParaRPr lang="en-US" sz="1800" dirty="0"/>
          </a:p>
        </p:txBody>
      </p:sp>
      <p:sp>
        <p:nvSpPr>
          <p:cNvPr id="5" name="Text 3"/>
          <p:cNvSpPr/>
          <p:nvPr/>
        </p:nvSpPr>
        <p:spPr>
          <a:xfrm>
            <a:off x="841248" y="4663440"/>
            <a:ext cx="5486400" cy="457200"/>
          </a:xfrm>
          <a:prstGeom prst="rect">
            <a:avLst/>
          </a:prstGeom>
          <a:noFill/>
          <a:ln/>
        </p:spPr>
        <p:txBody>
          <a:bodyPr wrap="square" rtlCol="0" anchor="ctr"/>
          <a:lstStyle/>
          <a:p>
            <a:pPr marL="0" indent="0">
              <a:buNone/>
            </a:pPr>
            <a:r>
              <a:rPr lang="en-US" sz="1300" dirty="0">
                <a:solidFill>
                  <a:srgbClr val="4F46E5"/>
                </a:solidFill>
                <a:latin typeface="Consolas" pitchFamily="34" charset="0"/>
                <a:ea typeface="Consolas" pitchFamily="34" charset="-122"/>
                <a:cs typeface="Consolas" pitchFamily="34" charset="-120"/>
              </a:rPr>
              <a:t>A prompt is you calling that function.</a:t>
            </a:r>
            <a:endParaRPr lang="en-US" sz="1300" dirty="0"/>
          </a:p>
        </p:txBody>
      </p:sp>
      <p:sp>
        <p:nvSpPr>
          <p:cNvPr id="6" name="Shape 4"/>
          <p:cNvSpPr/>
          <p:nvPr/>
        </p:nvSpPr>
        <p:spPr>
          <a:xfrm>
            <a:off x="850392" y="5193792"/>
            <a:ext cx="128016" cy="128016"/>
          </a:xfrm>
          <a:prstGeom prst="ellipse">
            <a:avLst/>
          </a:prstGeom>
          <a:solidFill>
            <a:srgbClr val="4F46E5"/>
          </a:solidFill>
          <a:ln/>
        </p:spPr>
        <p:txBody>
          <a:bodyPr/>
          <a:lstStyle/>
          <a:p>
            <a:endParaRPr lang="en-US"/>
          </a:p>
        </p:txBody>
      </p:sp>
      <p:sp>
        <p:nvSpPr>
          <p:cNvPr id="7" name="Text 5"/>
          <p:cNvSpPr/>
          <p:nvPr/>
        </p:nvSpPr>
        <p:spPr>
          <a:xfrm>
            <a:off x="1133856" y="5102352"/>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Ask the same question twice and you get two different answers.</a:t>
            </a:r>
            <a:endParaRPr lang="en-US" sz="1350" dirty="0"/>
          </a:p>
        </p:txBody>
      </p:sp>
      <p:sp>
        <p:nvSpPr>
          <p:cNvPr id="8" name="Shape 6"/>
          <p:cNvSpPr/>
          <p:nvPr/>
        </p:nvSpPr>
        <p:spPr>
          <a:xfrm>
            <a:off x="850392" y="5596128"/>
            <a:ext cx="128016" cy="128016"/>
          </a:xfrm>
          <a:prstGeom prst="ellipse">
            <a:avLst/>
          </a:prstGeom>
          <a:solidFill>
            <a:srgbClr val="4F46E5"/>
          </a:solidFill>
          <a:ln/>
        </p:spPr>
        <p:txBody>
          <a:bodyPr/>
          <a:lstStyle/>
          <a:p>
            <a:endParaRPr lang="en-US"/>
          </a:p>
        </p:txBody>
      </p:sp>
      <p:sp>
        <p:nvSpPr>
          <p:cNvPr id="9" name="Text 7"/>
          <p:cNvSpPr/>
          <p:nvPr/>
        </p:nvSpPr>
        <p:spPr>
          <a:xfrm>
            <a:off x="1133856" y="5504688"/>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It cannot look anything up unless you hand it a tool.</a:t>
            </a:r>
            <a:endParaRPr lang="en-US" sz="1350" dirty="0"/>
          </a:p>
        </p:txBody>
      </p:sp>
      <p:sp>
        <p:nvSpPr>
          <p:cNvPr id="10" name="Shape 8"/>
          <p:cNvSpPr/>
          <p:nvPr/>
        </p:nvSpPr>
        <p:spPr>
          <a:xfrm>
            <a:off x="850392" y="5998464"/>
            <a:ext cx="128016" cy="128016"/>
          </a:xfrm>
          <a:prstGeom prst="ellipse">
            <a:avLst/>
          </a:prstGeom>
          <a:solidFill>
            <a:srgbClr val="4F46E5"/>
          </a:solidFill>
          <a:ln/>
        </p:spPr>
        <p:txBody>
          <a:bodyPr/>
          <a:lstStyle/>
          <a:p>
            <a:endParaRPr lang="en-US"/>
          </a:p>
        </p:txBody>
      </p:sp>
      <p:sp>
        <p:nvSpPr>
          <p:cNvPr id="11" name="Text 9"/>
          <p:cNvSpPr/>
          <p:nvPr/>
        </p:nvSpPr>
        <p:spPr>
          <a:xfrm>
            <a:off x="1133856" y="5907024"/>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Everything tonight is scaffolding around this one call.</a:t>
            </a:r>
            <a:endParaRPr lang="en-US" sz="1350" dirty="0"/>
          </a:p>
        </p:txBody>
      </p:sp>
      <p:sp>
        <p:nvSpPr>
          <p:cNvPr id="12" name="Shape 10"/>
          <p:cNvSpPr/>
          <p:nvPr/>
        </p:nvSpPr>
        <p:spPr>
          <a:xfrm>
            <a:off x="6766560" y="1554480"/>
            <a:ext cx="4572000" cy="3474720"/>
          </a:xfrm>
          <a:prstGeom prst="roundRect">
            <a:avLst>
              <a:gd name="adj" fmla="val 2632"/>
            </a:avLst>
          </a:prstGeom>
          <a:solidFill>
            <a:srgbClr val="16181D"/>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3" name="Text 11"/>
          <p:cNvSpPr/>
          <p:nvPr/>
        </p:nvSpPr>
        <p:spPr>
          <a:xfrm>
            <a:off x="7132320" y="1920240"/>
            <a:ext cx="3931920" cy="2743200"/>
          </a:xfrm>
          <a:prstGeom prst="rect">
            <a:avLst/>
          </a:prstGeom>
          <a:noFill/>
          <a:ln/>
        </p:spPr>
        <p:txBody>
          <a:bodyPr wrap="square" rtlCol="0" anchor="t"/>
          <a:lstStyle/>
          <a:p>
            <a:pPr marL="0" indent="0">
              <a:lnSpc>
                <a:spcPts val="3000"/>
              </a:lnSpc>
              <a:buNone/>
            </a:pPr>
            <a:r>
              <a:rPr lang="en-US" sz="1500" dirty="0">
                <a:solidFill>
                  <a:srgbClr val="C4B5FD"/>
                </a:solidFill>
                <a:latin typeface="Consolas" pitchFamily="34" charset="0"/>
                <a:ea typeface="Consolas" pitchFamily="34" charset="-122"/>
                <a:cs typeface="Consolas" pitchFamily="34" charset="-120"/>
              </a:rPr>
              <a:t>String</a:t>
            </a:r>
            <a:r>
              <a:rPr lang="en-US" sz="1500" dirty="0">
                <a:solidFill>
                  <a:srgbClr val="9AA1B0"/>
                </a:solidFill>
                <a:latin typeface="Consolas" pitchFamily="34" charset="0"/>
                <a:ea typeface="Consolas" pitchFamily="34" charset="-122"/>
                <a:cs typeface="Consolas" pitchFamily="34" charset="-120"/>
              </a:rPr>
              <a:t> reply = </a:t>
            </a:r>
            <a:endParaRPr lang="en-US" sz="1500" dirty="0"/>
          </a:p>
          <a:p>
            <a:pPr marL="0" indent="0">
              <a:lnSpc>
                <a:spcPts val="3000"/>
              </a:lnSpc>
              <a:buNone/>
            </a:pPr>
            <a:r>
              <a:rPr lang="en-US" sz="1500" dirty="0">
                <a:solidFill>
                  <a:srgbClr val="E6E9F0"/>
                </a:solidFill>
                <a:latin typeface="Consolas" pitchFamily="34" charset="0"/>
                <a:ea typeface="Consolas" pitchFamily="34" charset="-122"/>
                <a:cs typeface="Consolas" pitchFamily="34" charset="-120"/>
              </a:rPr>
              <a:t>   model.</a:t>
            </a:r>
            <a:endParaRPr lang="en-US" sz="1500" dirty="0"/>
          </a:p>
          <a:p>
            <a:pPr marL="0" indent="0">
              <a:lnSpc>
                <a:spcPts val="3000"/>
              </a:lnSpc>
              <a:buNone/>
            </a:pPr>
            <a:r>
              <a:rPr lang="en-US" sz="1500" dirty="0">
                <a:solidFill>
                  <a:srgbClr val="FBBF24"/>
                </a:solidFill>
                <a:latin typeface="Consolas" pitchFamily="34" charset="0"/>
                <a:ea typeface="Consolas" pitchFamily="34" charset="-122"/>
                <a:cs typeface="Consolas" pitchFamily="34" charset="-120"/>
              </a:rPr>
              <a:t>chat</a:t>
            </a:r>
            <a:r>
              <a:rPr lang="en-US" sz="1500" dirty="0">
                <a:solidFill>
                  <a:srgbClr val="9AA1B0"/>
                </a:solidFill>
                <a:latin typeface="Consolas" pitchFamily="34" charset="0"/>
                <a:ea typeface="Consolas" pitchFamily="34" charset="-122"/>
                <a:cs typeface="Consolas" pitchFamily="34" charset="-120"/>
              </a:rPr>
              <a:t>(</a:t>
            </a:r>
            <a:r>
              <a:rPr lang="en-US" sz="1500" dirty="0">
                <a:solidFill>
                  <a:srgbClr val="6EE7D8"/>
                </a:solidFill>
                <a:latin typeface="Consolas" pitchFamily="34" charset="0"/>
                <a:ea typeface="Consolas" pitchFamily="34" charset="-122"/>
                <a:cs typeface="Consolas" pitchFamily="34" charset="-120"/>
              </a:rPr>
              <a:t>"summarise this"</a:t>
            </a:r>
            <a:r>
              <a:rPr lang="en-US" sz="1500" dirty="0">
                <a:solidFill>
                  <a:srgbClr val="9AA1B0"/>
                </a:solidFill>
                <a:latin typeface="Consolas" pitchFamily="34" charset="0"/>
                <a:ea typeface="Consolas" pitchFamily="34" charset="-122"/>
                <a:cs typeface="Consolas" pitchFamily="34" charset="-120"/>
              </a:rPr>
              <a:t>);</a:t>
            </a:r>
            <a:endParaRPr lang="en-US" sz="1500" dirty="0"/>
          </a:p>
          <a:p>
            <a:pPr marL="0" indent="0">
              <a:lnSpc>
                <a:spcPts val="3000"/>
              </a:lnSpc>
              <a:buNone/>
            </a:pPr>
            <a:endParaRPr lang="en-US" sz="1500" dirty="0"/>
          </a:p>
          <a:p>
            <a:pPr marL="0" indent="0">
              <a:lnSpc>
                <a:spcPts val="3000"/>
              </a:lnSpc>
              <a:buNone/>
            </a:pPr>
            <a:r>
              <a:rPr lang="en-US" sz="1500" dirty="0">
                <a:solidFill>
                  <a:srgbClr val="6B7280"/>
                </a:solidFill>
                <a:latin typeface="Consolas" pitchFamily="34" charset="0"/>
                <a:ea typeface="Consolas" pitchFamily="34" charset="-122"/>
                <a:cs typeface="Consolas" pitchFamily="34" charset="-120"/>
              </a:rPr>
              <a:t>// text in  -&gt;  text out</a:t>
            </a:r>
            <a:endParaRPr lang="en-US" sz="1500" dirty="0"/>
          </a:p>
          <a:p>
            <a:pPr marL="0" indent="0">
              <a:lnSpc>
                <a:spcPts val="3000"/>
              </a:lnSpc>
              <a:buNone/>
            </a:pPr>
            <a:endParaRPr lang="en-US" sz="1500" dirty="0"/>
          </a:p>
          <a:p>
            <a:pPr marL="0" indent="0">
              <a:lnSpc>
                <a:spcPts val="3000"/>
              </a:lnSpc>
              <a:buNone/>
            </a:pPr>
            <a:r>
              <a:rPr lang="en-US" sz="1500" dirty="0">
                <a:solidFill>
                  <a:srgbClr val="6B7280"/>
                </a:solidFill>
                <a:latin typeface="Consolas" pitchFamily="34" charset="0"/>
                <a:ea typeface="Consolas" pitchFamily="34" charset="-122"/>
                <a:cs typeface="Consolas" pitchFamily="34" charset="-120"/>
              </a:rPr>
              <a:t>// no memory. no hands.</a:t>
            </a:r>
            <a:endParaRPr lang="en-US" sz="1500" dirty="0"/>
          </a:p>
          <a:p>
            <a:pPr marL="0" indent="0">
              <a:lnSpc>
                <a:spcPts val="3000"/>
              </a:lnSpc>
              <a:buNone/>
            </a:pPr>
            <a:endParaRPr lang="en-US" sz="1500" dirty="0"/>
          </a:p>
          <a:p>
            <a:pPr marL="0" indent="0">
              <a:lnSpc>
                <a:spcPts val="3000"/>
              </a:lnSpc>
              <a:buNone/>
            </a:pPr>
            <a:r>
              <a:rPr lang="en-US" sz="1500" dirty="0">
                <a:solidFill>
                  <a:srgbClr val="6B7280"/>
                </a:solidFill>
                <a:latin typeface="Consolas" pitchFamily="34" charset="0"/>
                <a:ea typeface="Consolas" pitchFamily="34" charset="-122"/>
                <a:cs typeface="Consolas" pitchFamily="34" charset="-120"/>
              </a:rPr>
              <a:t>// ask twice -&gt; two answers.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CEILING</a:t>
            </a:r>
            <a:endParaRPr lang="en-US" sz="1100" dirty="0"/>
          </a:p>
        </p:txBody>
      </p:sp>
      <p:sp>
        <p:nvSpPr>
          <p:cNvPr id="3" name="Text 1"/>
          <p:cNvSpPr/>
          <p:nvPr/>
        </p:nvSpPr>
        <p:spPr>
          <a:xfrm>
            <a:off x="841248" y="1097280"/>
            <a:ext cx="10058400" cy="91440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A raw prompt hits </a:t>
            </a:r>
            <a:r>
              <a:rPr lang="en-US" sz="3200" b="1" dirty="0">
                <a:solidFill>
                  <a:srgbClr val="4F46E5"/>
                </a:solidFill>
                <a:latin typeface="Arial" pitchFamily="34" charset="0"/>
                <a:ea typeface="Arial" pitchFamily="34" charset="-122"/>
                <a:cs typeface="Arial" pitchFamily="34" charset="-120"/>
              </a:rPr>
              <a:t>three walls.</a:t>
            </a:r>
            <a:endParaRPr lang="en-US" sz="3200" dirty="0"/>
          </a:p>
        </p:txBody>
      </p:sp>
      <p:sp>
        <p:nvSpPr>
          <p:cNvPr id="4" name="Shape 2"/>
          <p:cNvSpPr/>
          <p:nvPr/>
        </p:nvSpPr>
        <p:spPr>
          <a:xfrm>
            <a:off x="841248" y="2377440"/>
            <a:ext cx="3383280" cy="2926080"/>
          </a:xfrm>
          <a:prstGeom prst="roundRect">
            <a:avLst>
              <a:gd name="adj" fmla="val 3125"/>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5" name="Shape 3"/>
          <p:cNvSpPr/>
          <p:nvPr/>
        </p:nvSpPr>
        <p:spPr>
          <a:xfrm>
            <a:off x="1161288" y="2734056"/>
            <a:ext cx="603504" cy="603504"/>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306129" y="2878897"/>
            <a:ext cx="313822" cy="313822"/>
          </a:xfrm>
          <a:prstGeom prst="rect">
            <a:avLst/>
          </a:prstGeom>
        </p:spPr>
      </p:pic>
      <p:sp>
        <p:nvSpPr>
          <p:cNvPr id="7" name="Text 4"/>
          <p:cNvSpPr/>
          <p:nvPr/>
        </p:nvSpPr>
        <p:spPr>
          <a:xfrm>
            <a:off x="2852928" y="2880360"/>
            <a:ext cx="1051560" cy="274320"/>
          </a:xfrm>
          <a:prstGeom prst="rect">
            <a:avLst/>
          </a:prstGeom>
          <a:noFill/>
          <a:ln/>
        </p:spPr>
        <p:txBody>
          <a:bodyPr wrap="square" rtlCol="0" anchor="ctr"/>
          <a:lstStyle/>
          <a:p>
            <a:pPr marL="0" indent="0" algn="r">
              <a:buNone/>
            </a:pPr>
            <a:r>
              <a:rPr lang="en-US" sz="950" kern="0" spc="200" dirty="0">
                <a:solidFill>
                  <a:srgbClr val="9AA1B0"/>
                </a:solidFill>
                <a:latin typeface="Consolas" pitchFamily="34" charset="0"/>
                <a:ea typeface="Consolas" pitchFamily="34" charset="-122"/>
                <a:cs typeface="Consolas" pitchFamily="34" charset="-120"/>
              </a:rPr>
              <a:t>WALL 01</a:t>
            </a:r>
            <a:endParaRPr lang="en-US" sz="950" dirty="0"/>
          </a:p>
        </p:txBody>
      </p:sp>
      <p:sp>
        <p:nvSpPr>
          <p:cNvPr id="8" name="Text 5"/>
          <p:cNvSpPr/>
          <p:nvPr/>
        </p:nvSpPr>
        <p:spPr>
          <a:xfrm>
            <a:off x="1207008" y="3611880"/>
            <a:ext cx="2651760" cy="548640"/>
          </a:xfrm>
          <a:prstGeom prst="rect">
            <a:avLst/>
          </a:prstGeom>
          <a:noFill/>
          <a:ln/>
        </p:spPr>
        <p:txBody>
          <a:bodyPr wrap="square" rtlCol="0" anchor="ctr"/>
          <a:lstStyle/>
          <a:p>
            <a:pPr marL="0" indent="0">
              <a:buNone/>
            </a:pPr>
            <a:r>
              <a:rPr lang="en-US" sz="2100" b="1" dirty="0">
                <a:solidFill>
                  <a:srgbClr val="16181D"/>
                </a:solidFill>
                <a:latin typeface="Arial" pitchFamily="34" charset="0"/>
                <a:ea typeface="Arial" pitchFamily="34" charset="-122"/>
                <a:cs typeface="Arial" pitchFamily="34" charset="-120"/>
              </a:rPr>
              <a:t>No memory</a:t>
            </a:r>
            <a:endParaRPr lang="en-US" sz="2100" dirty="0"/>
          </a:p>
        </p:txBody>
      </p:sp>
      <p:sp>
        <p:nvSpPr>
          <p:cNvPr id="9" name="Text 6"/>
          <p:cNvSpPr/>
          <p:nvPr/>
        </p:nvSpPr>
        <p:spPr>
          <a:xfrm>
            <a:off x="1207008" y="4206240"/>
            <a:ext cx="2651760" cy="1005840"/>
          </a:xfrm>
          <a:prstGeom prst="rect">
            <a:avLst/>
          </a:prstGeom>
          <a:noFill/>
          <a:ln/>
        </p:spPr>
        <p:txBody>
          <a:bodyPr wrap="square" rtlCol="0" anchor="ctr"/>
          <a:lstStyle/>
          <a:p>
            <a:pPr marL="0" indent="0">
              <a:lnSpc>
                <a:spcPts val="2000"/>
              </a:lnSpc>
              <a:buNone/>
            </a:pPr>
            <a:r>
              <a:rPr lang="en-US" sz="1400" dirty="0">
                <a:solidFill>
                  <a:srgbClr val="666C7A"/>
                </a:solidFill>
                <a:latin typeface="Calibri" pitchFamily="34" charset="0"/>
                <a:ea typeface="Calibri" pitchFamily="34" charset="-122"/>
                <a:cs typeface="Calibri" pitchFamily="34" charset="-120"/>
              </a:rPr>
              <a:t>Every call starts from zero. It forgot the last sentence the instant it finished it.</a:t>
            </a:r>
            <a:endParaRPr lang="en-US" sz="1400" dirty="0"/>
          </a:p>
        </p:txBody>
      </p:sp>
      <p:sp>
        <p:nvSpPr>
          <p:cNvPr id="10" name="Shape 7"/>
          <p:cNvSpPr/>
          <p:nvPr/>
        </p:nvSpPr>
        <p:spPr>
          <a:xfrm>
            <a:off x="4544568" y="2377440"/>
            <a:ext cx="3383280" cy="2926080"/>
          </a:xfrm>
          <a:prstGeom prst="roundRect">
            <a:avLst>
              <a:gd name="adj" fmla="val 3125"/>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1" name="Shape 8"/>
          <p:cNvSpPr/>
          <p:nvPr/>
        </p:nvSpPr>
        <p:spPr>
          <a:xfrm>
            <a:off x="4864608" y="2734056"/>
            <a:ext cx="603504" cy="603504"/>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5009449" y="2878897"/>
            <a:ext cx="313822" cy="313822"/>
          </a:xfrm>
          <a:prstGeom prst="rect">
            <a:avLst/>
          </a:prstGeom>
        </p:spPr>
      </p:pic>
      <p:sp>
        <p:nvSpPr>
          <p:cNvPr id="13" name="Text 9"/>
          <p:cNvSpPr/>
          <p:nvPr/>
        </p:nvSpPr>
        <p:spPr>
          <a:xfrm>
            <a:off x="6556248" y="2880360"/>
            <a:ext cx="1051560" cy="274320"/>
          </a:xfrm>
          <a:prstGeom prst="rect">
            <a:avLst/>
          </a:prstGeom>
          <a:noFill/>
          <a:ln/>
        </p:spPr>
        <p:txBody>
          <a:bodyPr wrap="square" rtlCol="0" anchor="ctr"/>
          <a:lstStyle/>
          <a:p>
            <a:pPr marL="0" indent="0" algn="r">
              <a:buNone/>
            </a:pPr>
            <a:r>
              <a:rPr lang="en-US" sz="950" kern="0" spc="200" dirty="0">
                <a:solidFill>
                  <a:srgbClr val="9AA1B0"/>
                </a:solidFill>
                <a:latin typeface="Consolas" pitchFamily="34" charset="0"/>
                <a:ea typeface="Consolas" pitchFamily="34" charset="-122"/>
                <a:cs typeface="Consolas" pitchFamily="34" charset="-120"/>
              </a:rPr>
              <a:t>WALL 02</a:t>
            </a:r>
            <a:endParaRPr lang="en-US" sz="950" dirty="0"/>
          </a:p>
        </p:txBody>
      </p:sp>
      <p:sp>
        <p:nvSpPr>
          <p:cNvPr id="14" name="Text 10"/>
          <p:cNvSpPr/>
          <p:nvPr/>
        </p:nvSpPr>
        <p:spPr>
          <a:xfrm>
            <a:off x="4910328" y="3611880"/>
            <a:ext cx="2651760" cy="548640"/>
          </a:xfrm>
          <a:prstGeom prst="rect">
            <a:avLst/>
          </a:prstGeom>
          <a:noFill/>
          <a:ln/>
        </p:spPr>
        <p:txBody>
          <a:bodyPr wrap="square" rtlCol="0" anchor="ctr"/>
          <a:lstStyle/>
          <a:p>
            <a:pPr marL="0" indent="0">
              <a:buNone/>
            </a:pPr>
            <a:r>
              <a:rPr lang="en-US" sz="2100" b="1" dirty="0">
                <a:solidFill>
                  <a:srgbClr val="16181D"/>
                </a:solidFill>
                <a:latin typeface="Arial" pitchFamily="34" charset="0"/>
                <a:ea typeface="Arial" pitchFamily="34" charset="-122"/>
                <a:cs typeface="Arial" pitchFamily="34" charset="-120"/>
              </a:rPr>
              <a:t>No hands</a:t>
            </a:r>
            <a:endParaRPr lang="en-US" sz="2100" dirty="0"/>
          </a:p>
        </p:txBody>
      </p:sp>
      <p:sp>
        <p:nvSpPr>
          <p:cNvPr id="15" name="Text 11"/>
          <p:cNvSpPr/>
          <p:nvPr/>
        </p:nvSpPr>
        <p:spPr>
          <a:xfrm>
            <a:off x="4910328" y="4206240"/>
            <a:ext cx="2651760" cy="1005840"/>
          </a:xfrm>
          <a:prstGeom prst="rect">
            <a:avLst/>
          </a:prstGeom>
          <a:noFill/>
          <a:ln/>
        </p:spPr>
        <p:txBody>
          <a:bodyPr wrap="square" rtlCol="0" anchor="ctr"/>
          <a:lstStyle/>
          <a:p>
            <a:pPr marL="0" indent="0">
              <a:lnSpc>
                <a:spcPts val="2000"/>
              </a:lnSpc>
              <a:buNone/>
            </a:pPr>
            <a:r>
              <a:rPr lang="en-US" sz="1400" dirty="0">
                <a:solidFill>
                  <a:srgbClr val="666C7A"/>
                </a:solidFill>
                <a:latin typeface="Calibri" pitchFamily="34" charset="0"/>
                <a:ea typeface="Calibri" pitchFamily="34" charset="-122"/>
                <a:cs typeface="Calibri" pitchFamily="34" charset="-120"/>
              </a:rPr>
              <a:t>It can describe sending the email in beautiful detail. It cannot send it.</a:t>
            </a:r>
            <a:endParaRPr lang="en-US" sz="1400" dirty="0"/>
          </a:p>
        </p:txBody>
      </p:sp>
      <p:sp>
        <p:nvSpPr>
          <p:cNvPr id="16" name="Shape 12"/>
          <p:cNvSpPr/>
          <p:nvPr/>
        </p:nvSpPr>
        <p:spPr>
          <a:xfrm>
            <a:off x="8247888" y="2377440"/>
            <a:ext cx="3383280" cy="2926080"/>
          </a:xfrm>
          <a:prstGeom prst="roundRect">
            <a:avLst>
              <a:gd name="adj" fmla="val 3125"/>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7" name="Shape 13"/>
          <p:cNvSpPr/>
          <p:nvPr/>
        </p:nvSpPr>
        <p:spPr>
          <a:xfrm>
            <a:off x="8567928" y="2734056"/>
            <a:ext cx="603504" cy="603504"/>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18" name="Image 2" descr="preencoded.png"/>
          <p:cNvPicPr>
            <a:picLocks noChangeAspect="1"/>
          </p:cNvPicPr>
          <p:nvPr/>
        </p:nvPicPr>
        <p:blipFill>
          <a:blip r:embed="rId5"/>
          <a:stretch>
            <a:fillRect/>
          </a:stretch>
        </p:blipFill>
        <p:spPr>
          <a:xfrm>
            <a:off x="8712769" y="2878897"/>
            <a:ext cx="313822" cy="313822"/>
          </a:xfrm>
          <a:prstGeom prst="rect">
            <a:avLst/>
          </a:prstGeom>
        </p:spPr>
      </p:pic>
      <p:sp>
        <p:nvSpPr>
          <p:cNvPr id="19" name="Text 14"/>
          <p:cNvSpPr/>
          <p:nvPr/>
        </p:nvSpPr>
        <p:spPr>
          <a:xfrm>
            <a:off x="10259568" y="2880360"/>
            <a:ext cx="1051560" cy="274320"/>
          </a:xfrm>
          <a:prstGeom prst="rect">
            <a:avLst/>
          </a:prstGeom>
          <a:noFill/>
          <a:ln/>
        </p:spPr>
        <p:txBody>
          <a:bodyPr wrap="square" rtlCol="0" anchor="ctr"/>
          <a:lstStyle/>
          <a:p>
            <a:pPr marL="0" indent="0" algn="r">
              <a:buNone/>
            </a:pPr>
            <a:r>
              <a:rPr lang="en-US" sz="950" kern="0" spc="200" dirty="0">
                <a:solidFill>
                  <a:srgbClr val="9AA1B0"/>
                </a:solidFill>
                <a:latin typeface="Consolas" pitchFamily="34" charset="0"/>
                <a:ea typeface="Consolas" pitchFamily="34" charset="-122"/>
                <a:cs typeface="Consolas" pitchFamily="34" charset="-120"/>
              </a:rPr>
              <a:t>WALL 03</a:t>
            </a:r>
            <a:endParaRPr lang="en-US" sz="950" dirty="0"/>
          </a:p>
        </p:txBody>
      </p:sp>
      <p:sp>
        <p:nvSpPr>
          <p:cNvPr id="20" name="Text 15"/>
          <p:cNvSpPr/>
          <p:nvPr/>
        </p:nvSpPr>
        <p:spPr>
          <a:xfrm>
            <a:off x="8613648" y="3611880"/>
            <a:ext cx="2651760" cy="548640"/>
          </a:xfrm>
          <a:prstGeom prst="rect">
            <a:avLst/>
          </a:prstGeom>
          <a:noFill/>
          <a:ln/>
        </p:spPr>
        <p:txBody>
          <a:bodyPr wrap="square" rtlCol="0" anchor="ctr"/>
          <a:lstStyle/>
          <a:p>
            <a:pPr marL="0" indent="0">
              <a:buNone/>
            </a:pPr>
            <a:r>
              <a:rPr lang="en-US" sz="2100" b="1" dirty="0">
                <a:solidFill>
                  <a:srgbClr val="16181D"/>
                </a:solidFill>
                <a:latin typeface="Arial" pitchFamily="34" charset="0"/>
                <a:ea typeface="Arial" pitchFamily="34" charset="-122"/>
                <a:cs typeface="Arial" pitchFamily="34" charset="-120"/>
              </a:rPr>
              <a:t>No proof</a:t>
            </a:r>
            <a:endParaRPr lang="en-US" sz="2100" dirty="0"/>
          </a:p>
        </p:txBody>
      </p:sp>
      <p:sp>
        <p:nvSpPr>
          <p:cNvPr id="21" name="Text 16"/>
          <p:cNvSpPr/>
          <p:nvPr/>
        </p:nvSpPr>
        <p:spPr>
          <a:xfrm>
            <a:off x="8613648" y="4206240"/>
            <a:ext cx="2651760" cy="1005840"/>
          </a:xfrm>
          <a:prstGeom prst="rect">
            <a:avLst/>
          </a:prstGeom>
          <a:noFill/>
          <a:ln/>
        </p:spPr>
        <p:txBody>
          <a:bodyPr wrap="square" rtlCol="0" anchor="ctr"/>
          <a:lstStyle/>
          <a:p>
            <a:pPr marL="0" indent="0">
              <a:lnSpc>
                <a:spcPts val="2000"/>
              </a:lnSpc>
              <a:buNone/>
            </a:pPr>
            <a:r>
              <a:rPr lang="en-US" sz="1400" dirty="0">
                <a:solidFill>
                  <a:srgbClr val="666C7A"/>
                </a:solidFill>
                <a:latin typeface="Calibri" pitchFamily="34" charset="0"/>
                <a:ea typeface="Calibri" pitchFamily="34" charset="-122"/>
                <a:cs typeface="Calibri" pitchFamily="34" charset="-120"/>
              </a:rPr>
              <a:t>It sounds equally sure when it is right and when it is making things up.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marL="0" indent="0">
              <a:buNone/>
            </a:pPr>
            <a:r>
              <a:rPr lang="en-US" sz="9200" b="1" dirty="0">
                <a:solidFill>
                  <a:srgbClr val="E1E5EC"/>
                </a:solidFill>
                <a:latin typeface="Arial" pitchFamily="34" charset="0"/>
                <a:ea typeface="Arial" pitchFamily="34" charset="-122"/>
                <a:cs typeface="Arial" pitchFamily="34" charset="-120"/>
              </a:rPr>
              <a:t>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marL="0" indent="0">
              <a:buNone/>
            </a:pPr>
            <a:r>
              <a:rPr lang="en-US" sz="1100" b="1" kern="0" spc="300" dirty="0">
                <a:solidFill>
                  <a:srgbClr val="0F9E8E"/>
                </a:solidFill>
                <a:latin typeface="Arial" pitchFamily="34" charset="0"/>
                <a:ea typeface="Arial" pitchFamily="34" charset="-122"/>
                <a:cs typeface="Arial" pitchFamily="34" charset="-120"/>
              </a:rPr>
              <a:t>ACT TWO</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marL="0" indent="0">
              <a:lnSpc>
                <a:spcPts val="5000"/>
              </a:lnSpc>
              <a:buNone/>
            </a:pPr>
            <a:r>
              <a:rPr lang="en-US" sz="5000" b="1" dirty="0">
                <a:solidFill>
                  <a:srgbClr val="16181D"/>
                </a:solidFill>
                <a:latin typeface="Arial" pitchFamily="34" charset="0"/>
                <a:ea typeface="Arial" pitchFamily="34" charset="-122"/>
                <a:cs typeface="Arial" pitchFamily="34" charset="-120"/>
              </a:rPr>
              <a:t>The Agent</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marL="0" indent="0">
              <a:lnSpc>
                <a:spcPts val="2500"/>
              </a:lnSpc>
              <a:buNone/>
            </a:pPr>
            <a:r>
              <a:rPr lang="en-US" sz="1700" dirty="0">
                <a:solidFill>
                  <a:srgbClr val="666C7A"/>
                </a:solidFill>
                <a:latin typeface="Calibri" pitchFamily="34" charset="0"/>
                <a:ea typeface="Calibri" pitchFamily="34" charset="-122"/>
                <a:cs typeface="Calibri" pitchFamily="34" charset="-120"/>
              </a:rPr>
              <a:t>Same model. Now it can remember, act, and try again.</a:t>
            </a:r>
            <a:endParaRPr lang="en-US" sz="1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EQUATION</a:t>
            </a:r>
            <a:endParaRPr lang="en-US" sz="1100" dirty="0"/>
          </a:p>
        </p:txBody>
      </p:sp>
      <p:sp>
        <p:nvSpPr>
          <p:cNvPr id="3" name="Shape 1"/>
          <p:cNvSpPr/>
          <p:nvPr/>
        </p:nvSpPr>
        <p:spPr>
          <a:xfrm>
            <a:off x="1478128" y="1965960"/>
            <a:ext cx="2377440" cy="2377440"/>
          </a:xfrm>
          <a:prstGeom prst="roundRect">
            <a:avLst>
              <a:gd name="adj" fmla="val 5385"/>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4" name="Shape 2"/>
          <p:cNvSpPr/>
          <p:nvPr/>
        </p:nvSpPr>
        <p:spPr>
          <a:xfrm>
            <a:off x="2310232" y="2322576"/>
            <a:ext cx="713232" cy="713232"/>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2481407" y="2493752"/>
            <a:ext cx="370881" cy="370881"/>
          </a:xfrm>
          <a:prstGeom prst="rect">
            <a:avLst/>
          </a:prstGeom>
        </p:spPr>
      </p:pic>
      <p:sp>
        <p:nvSpPr>
          <p:cNvPr id="6" name="Text 3"/>
          <p:cNvSpPr/>
          <p:nvPr/>
        </p:nvSpPr>
        <p:spPr>
          <a:xfrm>
            <a:off x="1478128" y="3246120"/>
            <a:ext cx="2377440" cy="457200"/>
          </a:xfrm>
          <a:prstGeom prst="rect">
            <a:avLst/>
          </a:prstGeom>
          <a:noFill/>
          <a:ln/>
        </p:spPr>
        <p:txBody>
          <a:bodyPr wrap="square" rtlCol="0" anchor="ctr"/>
          <a:lstStyle/>
          <a:p>
            <a:pPr marL="0" indent="0" algn="ctr">
              <a:buNone/>
            </a:pPr>
            <a:r>
              <a:rPr lang="en-US" sz="2100" b="1" dirty="0">
                <a:solidFill>
                  <a:srgbClr val="16181D"/>
                </a:solidFill>
                <a:latin typeface="Arial" pitchFamily="34" charset="0"/>
                <a:ea typeface="Arial" pitchFamily="34" charset="-122"/>
                <a:cs typeface="Arial" pitchFamily="34" charset="-120"/>
              </a:rPr>
              <a:t>model</a:t>
            </a:r>
            <a:endParaRPr lang="en-US" sz="2100" dirty="0"/>
          </a:p>
        </p:txBody>
      </p:sp>
      <p:sp>
        <p:nvSpPr>
          <p:cNvPr id="7" name="Text 4"/>
          <p:cNvSpPr/>
          <p:nvPr/>
        </p:nvSpPr>
        <p:spPr>
          <a:xfrm>
            <a:off x="1478128" y="3721608"/>
            <a:ext cx="2377440" cy="320040"/>
          </a:xfrm>
          <a:prstGeom prst="rect">
            <a:avLst/>
          </a:prstGeom>
          <a:noFill/>
          <a:ln/>
        </p:spPr>
        <p:txBody>
          <a:bodyPr wrap="square" rtlCol="0" anchor="ctr"/>
          <a:lstStyle/>
          <a:p>
            <a:pPr marL="0" indent="0" algn="ctr">
              <a:buNone/>
            </a:pPr>
            <a:r>
              <a:rPr lang="en-US" sz="1000" kern="0" spc="200" dirty="0">
                <a:solidFill>
                  <a:srgbClr val="666C7A"/>
                </a:solidFill>
                <a:latin typeface="Consolas" pitchFamily="34" charset="0"/>
                <a:ea typeface="Consolas" pitchFamily="34" charset="-122"/>
                <a:cs typeface="Consolas" pitchFamily="34" charset="-120"/>
              </a:rPr>
              <a:t>THE BRAIN</a:t>
            </a:r>
            <a:endParaRPr lang="en-US" sz="1000" dirty="0"/>
          </a:p>
        </p:txBody>
      </p:sp>
      <p:sp>
        <p:nvSpPr>
          <p:cNvPr id="8" name="Text 5"/>
          <p:cNvSpPr/>
          <p:nvPr/>
        </p:nvSpPr>
        <p:spPr>
          <a:xfrm>
            <a:off x="3855568" y="2788920"/>
            <a:ext cx="1051560" cy="731520"/>
          </a:xfrm>
          <a:prstGeom prst="rect">
            <a:avLst/>
          </a:prstGeom>
          <a:noFill/>
          <a:ln/>
        </p:spPr>
        <p:txBody>
          <a:bodyPr wrap="square" rtlCol="0" anchor="ctr"/>
          <a:lstStyle/>
          <a:p>
            <a:pPr marL="0" indent="0" algn="ctr">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9" name="Shape 6"/>
          <p:cNvSpPr/>
          <p:nvPr/>
        </p:nvSpPr>
        <p:spPr>
          <a:xfrm>
            <a:off x="4907128" y="1965960"/>
            <a:ext cx="2377440" cy="2377440"/>
          </a:xfrm>
          <a:prstGeom prst="roundRect">
            <a:avLst>
              <a:gd name="adj" fmla="val 5385"/>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0" name="Shape 7"/>
          <p:cNvSpPr/>
          <p:nvPr/>
        </p:nvSpPr>
        <p:spPr>
          <a:xfrm>
            <a:off x="5739232" y="2322576"/>
            <a:ext cx="713232" cy="713232"/>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1" name="Image 1" descr="preencoded.png"/>
          <p:cNvPicPr>
            <a:picLocks noChangeAspect="1"/>
          </p:cNvPicPr>
          <p:nvPr/>
        </p:nvPicPr>
        <p:blipFill>
          <a:blip r:embed="rId4"/>
          <a:stretch>
            <a:fillRect/>
          </a:stretch>
        </p:blipFill>
        <p:spPr>
          <a:xfrm>
            <a:off x="5910407" y="2493752"/>
            <a:ext cx="370881" cy="370881"/>
          </a:xfrm>
          <a:prstGeom prst="rect">
            <a:avLst/>
          </a:prstGeom>
        </p:spPr>
      </p:pic>
      <p:sp>
        <p:nvSpPr>
          <p:cNvPr id="12" name="Text 8"/>
          <p:cNvSpPr/>
          <p:nvPr/>
        </p:nvSpPr>
        <p:spPr>
          <a:xfrm>
            <a:off x="4907128" y="3246120"/>
            <a:ext cx="2377440" cy="457200"/>
          </a:xfrm>
          <a:prstGeom prst="rect">
            <a:avLst/>
          </a:prstGeom>
          <a:noFill/>
          <a:ln/>
        </p:spPr>
        <p:txBody>
          <a:bodyPr wrap="square" rtlCol="0" anchor="ctr"/>
          <a:lstStyle/>
          <a:p>
            <a:pPr marL="0" indent="0" algn="ctr">
              <a:buNone/>
            </a:pPr>
            <a:r>
              <a:rPr lang="en-US" sz="2100" b="1" dirty="0">
                <a:solidFill>
                  <a:srgbClr val="16181D"/>
                </a:solidFill>
                <a:latin typeface="Arial" pitchFamily="34" charset="0"/>
                <a:ea typeface="Arial" pitchFamily="34" charset="-122"/>
                <a:cs typeface="Arial" pitchFamily="34" charset="-120"/>
              </a:rPr>
              <a:t>tools</a:t>
            </a:r>
            <a:endParaRPr lang="en-US" sz="2100" dirty="0"/>
          </a:p>
        </p:txBody>
      </p:sp>
      <p:sp>
        <p:nvSpPr>
          <p:cNvPr id="13" name="Text 9"/>
          <p:cNvSpPr/>
          <p:nvPr/>
        </p:nvSpPr>
        <p:spPr>
          <a:xfrm>
            <a:off x="4907128" y="3721608"/>
            <a:ext cx="2377440" cy="320040"/>
          </a:xfrm>
          <a:prstGeom prst="rect">
            <a:avLst/>
          </a:prstGeom>
          <a:noFill/>
          <a:ln/>
        </p:spPr>
        <p:txBody>
          <a:bodyPr wrap="square" rtlCol="0" anchor="ctr"/>
          <a:lstStyle/>
          <a:p>
            <a:pPr marL="0" indent="0" algn="ctr">
              <a:buNone/>
            </a:pPr>
            <a:r>
              <a:rPr lang="en-US" sz="1000" kern="0" spc="200" dirty="0">
                <a:solidFill>
                  <a:srgbClr val="666C7A"/>
                </a:solidFill>
                <a:latin typeface="Consolas" pitchFamily="34" charset="0"/>
                <a:ea typeface="Consolas" pitchFamily="34" charset="-122"/>
                <a:cs typeface="Consolas" pitchFamily="34" charset="-120"/>
              </a:rPr>
              <a:t>THE HANDS</a:t>
            </a:r>
            <a:endParaRPr lang="en-US" sz="1000" dirty="0"/>
          </a:p>
        </p:txBody>
      </p:sp>
      <p:sp>
        <p:nvSpPr>
          <p:cNvPr id="14" name="Text 10"/>
          <p:cNvSpPr/>
          <p:nvPr/>
        </p:nvSpPr>
        <p:spPr>
          <a:xfrm>
            <a:off x="7284568" y="2788920"/>
            <a:ext cx="1051560" cy="731520"/>
          </a:xfrm>
          <a:prstGeom prst="rect">
            <a:avLst/>
          </a:prstGeom>
          <a:noFill/>
          <a:ln/>
        </p:spPr>
        <p:txBody>
          <a:bodyPr wrap="square" rtlCol="0" anchor="ctr"/>
          <a:lstStyle/>
          <a:p>
            <a:pPr marL="0" indent="0" algn="ctr">
              <a:buNone/>
            </a:pPr>
            <a:r>
              <a:rPr lang="en-US" sz="3000" b="1" dirty="0">
                <a:solidFill>
                  <a:srgbClr val="9AA1B0"/>
                </a:solidFill>
                <a:latin typeface="Arial" pitchFamily="34" charset="0"/>
                <a:ea typeface="Arial" pitchFamily="34" charset="-122"/>
                <a:cs typeface="Arial" pitchFamily="34" charset="-120"/>
              </a:rPr>
              <a:t>+</a:t>
            </a:r>
            <a:endParaRPr lang="en-US" sz="3000" dirty="0"/>
          </a:p>
        </p:txBody>
      </p:sp>
      <p:sp>
        <p:nvSpPr>
          <p:cNvPr id="15" name="Shape 11"/>
          <p:cNvSpPr/>
          <p:nvPr/>
        </p:nvSpPr>
        <p:spPr>
          <a:xfrm>
            <a:off x="8336128" y="1965960"/>
            <a:ext cx="2377440" cy="2377440"/>
          </a:xfrm>
          <a:prstGeom prst="roundRect">
            <a:avLst>
              <a:gd name="adj" fmla="val 5385"/>
            </a:avLst>
          </a:prstGeom>
          <a:solidFill>
            <a:srgbClr val="ECFDF9"/>
          </a:solidFill>
          <a:ln w="19050">
            <a:solidFill>
              <a:srgbClr val="0F9E8E"/>
            </a:solidFill>
            <a:prstDash val="solid"/>
          </a:ln>
          <a:effectLst>
            <a:outerShdw blurRad="139700" dist="38100" dir="5400000" algn="bl" rotWithShape="0">
              <a:srgbClr val="9AA6BC">
                <a:alpha val="28000"/>
              </a:srgbClr>
            </a:outerShdw>
          </a:effectLst>
        </p:spPr>
        <p:txBody>
          <a:bodyPr/>
          <a:lstStyle/>
          <a:p>
            <a:endParaRPr lang="en-US"/>
          </a:p>
        </p:txBody>
      </p:sp>
      <p:sp>
        <p:nvSpPr>
          <p:cNvPr id="16" name="Shape 12"/>
          <p:cNvSpPr/>
          <p:nvPr/>
        </p:nvSpPr>
        <p:spPr>
          <a:xfrm>
            <a:off x="9168232" y="2322576"/>
            <a:ext cx="713232" cy="713232"/>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7" name="Image 2" descr="preencoded.png"/>
          <p:cNvPicPr>
            <a:picLocks noChangeAspect="1"/>
          </p:cNvPicPr>
          <p:nvPr/>
        </p:nvPicPr>
        <p:blipFill>
          <a:blip r:embed="rId5"/>
          <a:stretch>
            <a:fillRect/>
          </a:stretch>
        </p:blipFill>
        <p:spPr>
          <a:xfrm>
            <a:off x="9339407" y="2493752"/>
            <a:ext cx="370881" cy="370881"/>
          </a:xfrm>
          <a:prstGeom prst="rect">
            <a:avLst/>
          </a:prstGeom>
        </p:spPr>
      </p:pic>
      <p:sp>
        <p:nvSpPr>
          <p:cNvPr id="18" name="Text 13"/>
          <p:cNvSpPr/>
          <p:nvPr/>
        </p:nvSpPr>
        <p:spPr>
          <a:xfrm>
            <a:off x="8336128" y="3246120"/>
            <a:ext cx="2377440" cy="457200"/>
          </a:xfrm>
          <a:prstGeom prst="rect">
            <a:avLst/>
          </a:prstGeom>
          <a:noFill/>
          <a:ln/>
        </p:spPr>
        <p:txBody>
          <a:bodyPr wrap="square" rtlCol="0" anchor="ctr"/>
          <a:lstStyle/>
          <a:p>
            <a:pPr marL="0" indent="0" algn="ctr">
              <a:buNone/>
            </a:pPr>
            <a:r>
              <a:rPr lang="en-US" sz="2100" b="1" dirty="0">
                <a:solidFill>
                  <a:srgbClr val="16181D"/>
                </a:solidFill>
                <a:latin typeface="Arial" pitchFamily="34" charset="0"/>
                <a:ea typeface="Arial" pitchFamily="34" charset="-122"/>
                <a:cs typeface="Arial" pitchFamily="34" charset="-120"/>
              </a:rPr>
              <a:t>a loop</a:t>
            </a:r>
            <a:endParaRPr lang="en-US" sz="2100" dirty="0"/>
          </a:p>
        </p:txBody>
      </p:sp>
      <p:sp>
        <p:nvSpPr>
          <p:cNvPr id="19" name="Text 14"/>
          <p:cNvSpPr/>
          <p:nvPr/>
        </p:nvSpPr>
        <p:spPr>
          <a:xfrm>
            <a:off x="8336128" y="3721608"/>
            <a:ext cx="2377440" cy="320040"/>
          </a:xfrm>
          <a:prstGeom prst="rect">
            <a:avLst/>
          </a:prstGeom>
          <a:noFill/>
          <a:ln/>
        </p:spPr>
        <p:txBody>
          <a:bodyPr wrap="square" rtlCol="0" anchor="ctr"/>
          <a:lstStyle/>
          <a:p>
            <a:pPr marL="0" indent="0" algn="ctr">
              <a:buNone/>
            </a:pPr>
            <a:r>
              <a:rPr lang="en-US" sz="1000" kern="0" spc="200" dirty="0">
                <a:solidFill>
                  <a:srgbClr val="666C7A"/>
                </a:solidFill>
                <a:latin typeface="Consolas" pitchFamily="34" charset="0"/>
                <a:ea typeface="Consolas" pitchFamily="34" charset="-122"/>
                <a:cs typeface="Consolas" pitchFamily="34" charset="-120"/>
              </a:rPr>
              <a:t>THE MAGIC</a:t>
            </a:r>
            <a:endParaRPr lang="en-US" sz="1000" dirty="0"/>
          </a:p>
        </p:txBody>
      </p:sp>
      <p:sp>
        <p:nvSpPr>
          <p:cNvPr id="20" name="Text 15"/>
          <p:cNvSpPr/>
          <p:nvPr/>
        </p:nvSpPr>
        <p:spPr>
          <a:xfrm>
            <a:off x="2286000" y="4709160"/>
            <a:ext cx="7616952" cy="457200"/>
          </a:xfrm>
          <a:prstGeom prst="rect">
            <a:avLst/>
          </a:prstGeom>
          <a:noFill/>
          <a:ln/>
        </p:spPr>
        <p:txBody>
          <a:bodyPr wrap="square" rtlCol="0" anchor="ctr"/>
          <a:lstStyle/>
          <a:p>
            <a:pPr marL="0" indent="0" algn="ctr">
              <a:buNone/>
            </a:pPr>
            <a:r>
              <a:rPr lang="en-US" sz="1800" dirty="0">
                <a:solidFill>
                  <a:srgbClr val="666C7A"/>
                </a:solidFill>
                <a:latin typeface="Calibri" pitchFamily="34" charset="0"/>
                <a:ea typeface="Calibri" pitchFamily="34" charset="-122"/>
                <a:cs typeface="Calibri" pitchFamily="34" charset="-120"/>
              </a:rPr>
              <a:t>That is an agent. Everything else is decoration.</a:t>
            </a:r>
            <a:endParaRPr lang="en-US" sz="1800" dirty="0"/>
          </a:p>
        </p:txBody>
      </p:sp>
      <p:sp>
        <p:nvSpPr>
          <p:cNvPr id="21" name="Shape 16"/>
          <p:cNvSpPr/>
          <p:nvPr/>
        </p:nvSpPr>
        <p:spPr>
          <a:xfrm>
            <a:off x="3072384" y="5312664"/>
            <a:ext cx="128016" cy="128016"/>
          </a:xfrm>
          <a:prstGeom prst="ellipse">
            <a:avLst/>
          </a:prstGeom>
          <a:solidFill>
            <a:srgbClr val="0F9E8E"/>
          </a:solidFill>
          <a:ln/>
        </p:spPr>
        <p:txBody>
          <a:bodyPr/>
          <a:lstStyle/>
          <a:p>
            <a:endParaRPr lang="en-US"/>
          </a:p>
        </p:txBody>
      </p:sp>
      <p:sp>
        <p:nvSpPr>
          <p:cNvPr id="22" name="Text 17"/>
          <p:cNvSpPr/>
          <p:nvPr/>
        </p:nvSpPr>
        <p:spPr>
          <a:xfrm>
            <a:off x="3355848" y="5221224"/>
            <a:ext cx="610819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Model: guesses the next step. Tools: let it change something real.</a:t>
            </a:r>
            <a:endParaRPr lang="en-US" sz="1350" dirty="0"/>
          </a:p>
        </p:txBody>
      </p:sp>
      <p:sp>
        <p:nvSpPr>
          <p:cNvPr id="23" name="Shape 18"/>
          <p:cNvSpPr/>
          <p:nvPr/>
        </p:nvSpPr>
        <p:spPr>
          <a:xfrm>
            <a:off x="3072384" y="5715000"/>
            <a:ext cx="128016" cy="128016"/>
          </a:xfrm>
          <a:prstGeom prst="ellipse">
            <a:avLst/>
          </a:prstGeom>
          <a:solidFill>
            <a:srgbClr val="0F9E8E"/>
          </a:solidFill>
          <a:ln/>
        </p:spPr>
        <p:txBody>
          <a:bodyPr/>
          <a:lstStyle/>
          <a:p>
            <a:endParaRPr lang="en-US"/>
          </a:p>
        </p:txBody>
      </p:sp>
      <p:sp>
        <p:nvSpPr>
          <p:cNvPr id="24" name="Text 19"/>
          <p:cNvSpPr/>
          <p:nvPr/>
        </p:nvSpPr>
        <p:spPr>
          <a:xfrm>
            <a:off x="3355848" y="5623560"/>
            <a:ext cx="610819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The loop: run again until the job is actually finished, not just answered.</a:t>
            </a:r>
            <a:endParaRPr lang="en-US" sz="1350" dirty="0"/>
          </a:p>
        </p:txBody>
      </p:sp>
      <p:sp>
        <p:nvSpPr>
          <p:cNvPr id="25" name="Shape 20"/>
          <p:cNvSpPr/>
          <p:nvPr/>
        </p:nvSpPr>
        <p:spPr>
          <a:xfrm>
            <a:off x="3072384" y="6117336"/>
            <a:ext cx="128016" cy="128016"/>
          </a:xfrm>
          <a:prstGeom prst="ellipse">
            <a:avLst/>
          </a:prstGeom>
          <a:solidFill>
            <a:srgbClr val="0F9E8E"/>
          </a:solidFill>
          <a:ln/>
        </p:spPr>
        <p:txBody>
          <a:bodyPr/>
          <a:lstStyle/>
          <a:p>
            <a:endParaRPr lang="en-US"/>
          </a:p>
        </p:txBody>
      </p:sp>
      <p:sp>
        <p:nvSpPr>
          <p:cNvPr id="26" name="Text 21"/>
          <p:cNvSpPr/>
          <p:nvPr/>
        </p:nvSpPr>
        <p:spPr>
          <a:xfrm>
            <a:off x="3355848" y="6025896"/>
            <a:ext cx="610819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Drop any one of the three and you are back to a chatbot.</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0F9E8E"/>
                </a:solidFill>
                <a:latin typeface="Arial" pitchFamily="34" charset="0"/>
                <a:ea typeface="Arial" pitchFamily="34" charset="-122"/>
                <a:cs typeface="Arial" pitchFamily="34" charset="-120"/>
              </a:rPr>
              <a:t>THE WHOLE TRICK</a:t>
            </a:r>
            <a:endParaRPr lang="en-US" sz="1100" dirty="0"/>
          </a:p>
        </p:txBody>
      </p:sp>
      <p:sp>
        <p:nvSpPr>
          <p:cNvPr id="3" name="Text 1"/>
          <p:cNvSpPr/>
          <p:nvPr/>
        </p:nvSpPr>
        <p:spPr>
          <a:xfrm>
            <a:off x="841248" y="1554480"/>
            <a:ext cx="5120640" cy="1645920"/>
          </a:xfrm>
          <a:prstGeom prst="rect">
            <a:avLst/>
          </a:prstGeom>
          <a:noFill/>
          <a:ln/>
        </p:spPr>
        <p:txBody>
          <a:bodyPr wrap="square" rtlCol="0" anchor="ctr"/>
          <a:lstStyle/>
          <a:p>
            <a:pPr marL="0" indent="0">
              <a:lnSpc>
                <a:spcPts val="4600"/>
              </a:lnSpc>
              <a:buNone/>
            </a:pPr>
            <a:r>
              <a:rPr lang="en-US" sz="3800" b="1" dirty="0">
                <a:solidFill>
                  <a:srgbClr val="16181D"/>
                </a:solidFill>
                <a:latin typeface="Arial" pitchFamily="34" charset="0"/>
                <a:ea typeface="Arial" pitchFamily="34" charset="-122"/>
                <a:cs typeface="Arial" pitchFamily="34" charset="-120"/>
              </a:rPr>
              <a:t>Reason. Act.</a:t>
            </a:r>
            <a:endParaRPr lang="en-US" sz="3800" dirty="0"/>
          </a:p>
          <a:p>
            <a:pPr marL="0" indent="0">
              <a:lnSpc>
                <a:spcPts val="4600"/>
              </a:lnSpc>
              <a:buNone/>
            </a:pPr>
            <a:r>
              <a:rPr lang="en-US" sz="3800" b="1" dirty="0">
                <a:solidFill>
                  <a:srgbClr val="16181D"/>
                </a:solidFill>
                <a:latin typeface="Arial" pitchFamily="34" charset="0"/>
                <a:ea typeface="Arial" pitchFamily="34" charset="-122"/>
                <a:cs typeface="Arial" pitchFamily="34" charset="-120"/>
              </a:rPr>
              <a:t>Observe. </a:t>
            </a:r>
            <a:endParaRPr lang="en-US" sz="3800" dirty="0"/>
          </a:p>
          <a:p>
            <a:pPr marL="0" indent="0">
              <a:lnSpc>
                <a:spcPts val="4600"/>
              </a:lnSpc>
              <a:buNone/>
            </a:pPr>
            <a:r>
              <a:rPr lang="en-US" sz="3800" b="1" dirty="0">
                <a:solidFill>
                  <a:srgbClr val="4F46E5"/>
                </a:solidFill>
                <a:latin typeface="Arial" pitchFamily="34" charset="0"/>
                <a:ea typeface="Arial" pitchFamily="34" charset="-122"/>
                <a:cs typeface="Arial" pitchFamily="34" charset="-120"/>
              </a:rPr>
              <a:t>Again.</a:t>
            </a:r>
            <a:endParaRPr lang="en-US" sz="3800" dirty="0"/>
          </a:p>
        </p:txBody>
      </p:sp>
      <p:sp>
        <p:nvSpPr>
          <p:cNvPr id="4" name="Text 2"/>
          <p:cNvSpPr/>
          <p:nvPr/>
        </p:nvSpPr>
        <p:spPr>
          <a:xfrm>
            <a:off x="841248" y="3383280"/>
            <a:ext cx="4846320" cy="1371600"/>
          </a:xfrm>
          <a:prstGeom prst="rect">
            <a:avLst/>
          </a:prstGeom>
          <a:noFill/>
          <a:ln/>
        </p:spPr>
        <p:txBody>
          <a:bodyPr wrap="square" rtlCol="0" anchor="ctr"/>
          <a:lstStyle/>
          <a:p>
            <a:pPr marL="0" indent="0">
              <a:lnSpc>
                <a:spcPts val="2600"/>
              </a:lnSpc>
              <a:buNone/>
            </a:pPr>
            <a:r>
              <a:rPr lang="en-US" sz="1700" dirty="0">
                <a:solidFill>
                  <a:srgbClr val="666C7A"/>
                </a:solidFill>
                <a:latin typeface="Calibri" pitchFamily="34" charset="0"/>
                <a:ea typeface="Calibri" pitchFamily="34" charset="-122"/>
                <a:cs typeface="Calibri" pitchFamily="34" charset="-120"/>
              </a:rPr>
              <a:t>The model does not answer once. It works in a loop until the job is actually done, checking its own output along the way.</a:t>
            </a:r>
            <a:endParaRPr lang="en-US" sz="1700" dirty="0"/>
          </a:p>
        </p:txBody>
      </p:sp>
      <p:sp>
        <p:nvSpPr>
          <p:cNvPr id="5" name="Text 3"/>
          <p:cNvSpPr/>
          <p:nvPr/>
        </p:nvSpPr>
        <p:spPr>
          <a:xfrm>
            <a:off x="841248" y="4892040"/>
            <a:ext cx="5120640" cy="365760"/>
          </a:xfrm>
          <a:prstGeom prst="rect">
            <a:avLst/>
          </a:prstGeom>
          <a:noFill/>
          <a:ln/>
        </p:spPr>
        <p:txBody>
          <a:bodyPr wrap="square" rtlCol="0" anchor="ctr"/>
          <a:lstStyle/>
          <a:p>
            <a:pPr marL="0" indent="0">
              <a:buNone/>
            </a:pPr>
            <a:r>
              <a:rPr lang="en-US" sz="1200" dirty="0">
                <a:solidFill>
                  <a:srgbClr val="9AA1B0"/>
                </a:solidFill>
                <a:latin typeface="Consolas" pitchFamily="34" charset="0"/>
                <a:ea typeface="Consolas" pitchFamily="34" charset="-122"/>
                <a:cs typeface="Consolas" pitchFamily="34" charset="-120"/>
              </a:rPr>
              <a:t>Take away the loop and you are back to a chatbot.</a:t>
            </a:r>
            <a:endParaRPr lang="en-US" sz="1200" dirty="0"/>
          </a:p>
        </p:txBody>
      </p:sp>
      <p:sp>
        <p:nvSpPr>
          <p:cNvPr id="6" name="Shape 4"/>
          <p:cNvSpPr/>
          <p:nvPr/>
        </p:nvSpPr>
        <p:spPr>
          <a:xfrm>
            <a:off x="850392" y="5358384"/>
            <a:ext cx="128016" cy="128016"/>
          </a:xfrm>
          <a:prstGeom prst="ellipse">
            <a:avLst/>
          </a:prstGeom>
          <a:solidFill>
            <a:srgbClr val="0F9E8E"/>
          </a:solidFill>
          <a:ln/>
        </p:spPr>
        <p:txBody>
          <a:bodyPr/>
          <a:lstStyle/>
          <a:p>
            <a:endParaRPr lang="en-US"/>
          </a:p>
        </p:txBody>
      </p:sp>
      <p:sp>
        <p:nvSpPr>
          <p:cNvPr id="7" name="Text 5"/>
          <p:cNvSpPr/>
          <p:nvPr/>
        </p:nvSpPr>
        <p:spPr>
          <a:xfrm>
            <a:off x="1133856" y="5266944"/>
            <a:ext cx="482803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REASON: decide the next move from what it knows right now.</a:t>
            </a:r>
            <a:endParaRPr lang="en-US" sz="1350" dirty="0"/>
          </a:p>
        </p:txBody>
      </p:sp>
      <p:sp>
        <p:nvSpPr>
          <p:cNvPr id="8" name="Shape 6"/>
          <p:cNvSpPr/>
          <p:nvPr/>
        </p:nvSpPr>
        <p:spPr>
          <a:xfrm>
            <a:off x="850392" y="5760720"/>
            <a:ext cx="128016" cy="128016"/>
          </a:xfrm>
          <a:prstGeom prst="ellipse">
            <a:avLst/>
          </a:prstGeom>
          <a:solidFill>
            <a:srgbClr val="0F9E8E"/>
          </a:solidFill>
          <a:ln/>
        </p:spPr>
        <p:txBody>
          <a:bodyPr/>
          <a:lstStyle/>
          <a:p>
            <a:endParaRPr lang="en-US"/>
          </a:p>
        </p:txBody>
      </p:sp>
      <p:sp>
        <p:nvSpPr>
          <p:cNvPr id="9" name="Text 7"/>
          <p:cNvSpPr/>
          <p:nvPr/>
        </p:nvSpPr>
        <p:spPr>
          <a:xfrm>
            <a:off x="1133856" y="5669280"/>
            <a:ext cx="482803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ACT: call a tool. This is the only part that touches the real world.</a:t>
            </a:r>
            <a:endParaRPr lang="en-US" sz="1350" dirty="0"/>
          </a:p>
        </p:txBody>
      </p:sp>
      <p:sp>
        <p:nvSpPr>
          <p:cNvPr id="10" name="Shape 8"/>
          <p:cNvSpPr/>
          <p:nvPr/>
        </p:nvSpPr>
        <p:spPr>
          <a:xfrm>
            <a:off x="850392" y="6163056"/>
            <a:ext cx="128016" cy="128016"/>
          </a:xfrm>
          <a:prstGeom prst="ellipse">
            <a:avLst/>
          </a:prstGeom>
          <a:solidFill>
            <a:srgbClr val="0F9E8E"/>
          </a:solidFill>
          <a:ln/>
        </p:spPr>
        <p:txBody>
          <a:bodyPr/>
          <a:lstStyle/>
          <a:p>
            <a:endParaRPr lang="en-US"/>
          </a:p>
        </p:txBody>
      </p:sp>
      <p:sp>
        <p:nvSpPr>
          <p:cNvPr id="11" name="Text 9"/>
          <p:cNvSpPr/>
          <p:nvPr/>
        </p:nvSpPr>
        <p:spPr>
          <a:xfrm>
            <a:off x="1133856" y="6071616"/>
            <a:ext cx="482803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OBSERVE: read what came back, and ask whether the job is done.</a:t>
            </a:r>
            <a:endParaRPr lang="en-US" sz="1350" dirty="0"/>
          </a:p>
        </p:txBody>
      </p:sp>
      <p:sp>
        <p:nvSpPr>
          <p:cNvPr id="12" name="Shape 10"/>
          <p:cNvSpPr/>
          <p:nvPr/>
        </p:nvSpPr>
        <p:spPr>
          <a:xfrm>
            <a:off x="8869680" y="2103120"/>
            <a:ext cx="1312621" cy="2263140"/>
          </a:xfrm>
          <a:prstGeom prst="line">
            <a:avLst/>
          </a:prstGeom>
          <a:noFill/>
          <a:ln w="25400">
            <a:solidFill>
              <a:srgbClr val="C7CBD6"/>
            </a:solidFill>
            <a:prstDash val="solid"/>
            <a:tailEnd type="triangle"/>
          </a:ln>
        </p:spPr>
        <p:txBody>
          <a:bodyPr/>
          <a:lstStyle/>
          <a:p>
            <a:endParaRPr lang="en-US"/>
          </a:p>
        </p:txBody>
      </p:sp>
      <p:sp>
        <p:nvSpPr>
          <p:cNvPr id="13" name="Shape 11"/>
          <p:cNvSpPr/>
          <p:nvPr/>
        </p:nvSpPr>
        <p:spPr>
          <a:xfrm flipH="1">
            <a:off x="7557059" y="4366260"/>
            <a:ext cx="2625242" cy="0"/>
          </a:xfrm>
          <a:prstGeom prst="line">
            <a:avLst/>
          </a:prstGeom>
          <a:noFill/>
          <a:ln w="25400">
            <a:solidFill>
              <a:srgbClr val="C7CBD6"/>
            </a:solidFill>
            <a:prstDash val="solid"/>
            <a:tailEnd type="triangle"/>
          </a:ln>
        </p:spPr>
        <p:txBody>
          <a:bodyPr/>
          <a:lstStyle/>
          <a:p>
            <a:endParaRPr lang="en-US"/>
          </a:p>
        </p:txBody>
      </p:sp>
      <p:sp>
        <p:nvSpPr>
          <p:cNvPr id="14" name="Shape 12"/>
          <p:cNvSpPr/>
          <p:nvPr/>
        </p:nvSpPr>
        <p:spPr>
          <a:xfrm flipV="1">
            <a:off x="7557059" y="2103120"/>
            <a:ext cx="1312621" cy="2263140"/>
          </a:xfrm>
          <a:prstGeom prst="line">
            <a:avLst/>
          </a:prstGeom>
          <a:noFill/>
          <a:ln w="25400">
            <a:solidFill>
              <a:srgbClr val="C7CBD6"/>
            </a:solidFill>
            <a:prstDash val="solid"/>
            <a:tailEnd type="triangle"/>
          </a:ln>
        </p:spPr>
        <p:txBody>
          <a:bodyPr/>
          <a:lstStyle/>
          <a:p>
            <a:endParaRPr lang="en-US"/>
          </a:p>
        </p:txBody>
      </p:sp>
      <p:sp>
        <p:nvSpPr>
          <p:cNvPr id="15" name="Shape 13"/>
          <p:cNvSpPr/>
          <p:nvPr/>
        </p:nvSpPr>
        <p:spPr>
          <a:xfrm>
            <a:off x="8641080" y="1874520"/>
            <a:ext cx="457200" cy="457200"/>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6" name="Image 0" descr="preencoded.png"/>
          <p:cNvPicPr>
            <a:picLocks noChangeAspect="1"/>
          </p:cNvPicPr>
          <p:nvPr/>
        </p:nvPicPr>
        <p:blipFill>
          <a:blip r:embed="rId3"/>
          <a:stretch>
            <a:fillRect/>
          </a:stretch>
        </p:blipFill>
        <p:spPr>
          <a:xfrm>
            <a:off x="8750808" y="1984248"/>
            <a:ext cx="237744" cy="237744"/>
          </a:xfrm>
          <a:prstGeom prst="rect">
            <a:avLst/>
          </a:prstGeom>
        </p:spPr>
      </p:pic>
      <p:sp>
        <p:nvSpPr>
          <p:cNvPr id="17" name="Shape 14"/>
          <p:cNvSpPr/>
          <p:nvPr/>
        </p:nvSpPr>
        <p:spPr>
          <a:xfrm>
            <a:off x="9953701" y="4137660"/>
            <a:ext cx="457200" cy="457200"/>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8" name="Image 1" descr="preencoded.png"/>
          <p:cNvPicPr>
            <a:picLocks noChangeAspect="1"/>
          </p:cNvPicPr>
          <p:nvPr/>
        </p:nvPicPr>
        <p:blipFill>
          <a:blip r:embed="rId4"/>
          <a:stretch>
            <a:fillRect/>
          </a:stretch>
        </p:blipFill>
        <p:spPr>
          <a:xfrm>
            <a:off x="10063429" y="4247388"/>
            <a:ext cx="237744" cy="237744"/>
          </a:xfrm>
          <a:prstGeom prst="rect">
            <a:avLst/>
          </a:prstGeom>
        </p:spPr>
      </p:pic>
      <p:sp>
        <p:nvSpPr>
          <p:cNvPr id="19" name="Shape 15"/>
          <p:cNvSpPr/>
          <p:nvPr/>
        </p:nvSpPr>
        <p:spPr>
          <a:xfrm>
            <a:off x="7328459" y="4137660"/>
            <a:ext cx="457200" cy="457200"/>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0" name="Image 2" descr="preencoded.png"/>
          <p:cNvPicPr>
            <a:picLocks noChangeAspect="1"/>
          </p:cNvPicPr>
          <p:nvPr/>
        </p:nvPicPr>
        <p:blipFill>
          <a:blip r:embed="rId5"/>
          <a:stretch>
            <a:fillRect/>
          </a:stretch>
        </p:blipFill>
        <p:spPr>
          <a:xfrm>
            <a:off x="7438187" y="4247388"/>
            <a:ext cx="237744" cy="237744"/>
          </a:xfrm>
          <a:prstGeom prst="rect">
            <a:avLst/>
          </a:prstGeom>
        </p:spPr>
      </p:pic>
      <p:sp>
        <p:nvSpPr>
          <p:cNvPr id="21" name="Text 16"/>
          <p:cNvSpPr/>
          <p:nvPr/>
        </p:nvSpPr>
        <p:spPr>
          <a:xfrm>
            <a:off x="7955280" y="1554480"/>
            <a:ext cx="1828800" cy="274320"/>
          </a:xfrm>
          <a:prstGeom prst="rect">
            <a:avLst/>
          </a:prstGeom>
          <a:noFill/>
          <a:ln/>
        </p:spPr>
        <p:txBody>
          <a:bodyPr wrap="square" rtlCol="0" anchor="ctr"/>
          <a:lstStyle/>
          <a:p>
            <a:pPr marL="0" indent="0" algn="ctr">
              <a:buNone/>
            </a:pPr>
            <a:r>
              <a:rPr lang="en-US" sz="1100" kern="0" spc="100" dirty="0">
                <a:solidFill>
                  <a:srgbClr val="16181D"/>
                </a:solidFill>
                <a:latin typeface="Consolas" pitchFamily="34" charset="0"/>
                <a:ea typeface="Consolas" pitchFamily="34" charset="-122"/>
                <a:cs typeface="Consolas" pitchFamily="34" charset="-120"/>
              </a:rPr>
              <a:t>REASON</a:t>
            </a:r>
            <a:endParaRPr lang="en-US" sz="1100" dirty="0"/>
          </a:p>
        </p:txBody>
      </p:sp>
      <p:sp>
        <p:nvSpPr>
          <p:cNvPr id="22" name="Text 17"/>
          <p:cNvSpPr/>
          <p:nvPr/>
        </p:nvSpPr>
        <p:spPr>
          <a:xfrm>
            <a:off x="10502341" y="4238244"/>
            <a:ext cx="1280160" cy="274320"/>
          </a:xfrm>
          <a:prstGeom prst="rect">
            <a:avLst/>
          </a:prstGeom>
          <a:noFill/>
          <a:ln/>
        </p:spPr>
        <p:txBody>
          <a:bodyPr wrap="square" rtlCol="0" anchor="ctr"/>
          <a:lstStyle/>
          <a:p>
            <a:pPr marL="0" indent="0">
              <a:buNone/>
            </a:pPr>
            <a:r>
              <a:rPr lang="en-US" sz="1100" kern="0" spc="100" dirty="0">
                <a:solidFill>
                  <a:srgbClr val="16181D"/>
                </a:solidFill>
                <a:latin typeface="Consolas" pitchFamily="34" charset="0"/>
                <a:ea typeface="Consolas" pitchFamily="34" charset="-122"/>
                <a:cs typeface="Consolas" pitchFamily="34" charset="-120"/>
              </a:rPr>
              <a:t>ACT</a:t>
            </a:r>
            <a:endParaRPr lang="en-US" sz="1100" dirty="0"/>
          </a:p>
        </p:txBody>
      </p:sp>
      <p:sp>
        <p:nvSpPr>
          <p:cNvPr id="23" name="Text 18"/>
          <p:cNvSpPr/>
          <p:nvPr/>
        </p:nvSpPr>
        <p:spPr>
          <a:xfrm>
            <a:off x="5956859" y="4238244"/>
            <a:ext cx="1280160" cy="274320"/>
          </a:xfrm>
          <a:prstGeom prst="rect">
            <a:avLst/>
          </a:prstGeom>
          <a:noFill/>
          <a:ln/>
        </p:spPr>
        <p:txBody>
          <a:bodyPr wrap="square" rtlCol="0" anchor="ctr"/>
          <a:lstStyle/>
          <a:p>
            <a:pPr marL="0" indent="0" algn="r">
              <a:buNone/>
            </a:pPr>
            <a:r>
              <a:rPr lang="en-US" sz="1100" kern="0" spc="100" dirty="0">
                <a:solidFill>
                  <a:srgbClr val="16181D"/>
                </a:solidFill>
                <a:latin typeface="Consolas" pitchFamily="34" charset="0"/>
                <a:ea typeface="Consolas" pitchFamily="34" charset="-122"/>
                <a:cs typeface="Consolas" pitchFamily="34" charset="-120"/>
              </a:rPr>
              <a:t>OBSERVE</a:t>
            </a:r>
            <a:endParaRPr lang="en-US" sz="1100" dirty="0"/>
          </a:p>
        </p:txBody>
      </p:sp>
      <p:sp>
        <p:nvSpPr>
          <p:cNvPr id="24" name="Text 19"/>
          <p:cNvSpPr/>
          <p:nvPr/>
        </p:nvSpPr>
        <p:spPr>
          <a:xfrm>
            <a:off x="8229600" y="3474720"/>
            <a:ext cx="1280160" cy="274320"/>
          </a:xfrm>
          <a:prstGeom prst="rect">
            <a:avLst/>
          </a:prstGeom>
          <a:noFill/>
          <a:ln/>
        </p:spPr>
        <p:txBody>
          <a:bodyPr wrap="square" rtlCol="0" anchor="ctr"/>
          <a:lstStyle/>
          <a:p>
            <a:pPr marL="0" indent="0" algn="ctr">
              <a:buNone/>
            </a:pPr>
            <a:r>
              <a:rPr lang="en-US" sz="1000" dirty="0">
                <a:solidFill>
                  <a:srgbClr val="9AA1B0"/>
                </a:solidFill>
                <a:latin typeface="Consolas" pitchFamily="34" charset="0"/>
                <a:ea typeface="Consolas" pitchFamily="34" charset="-122"/>
                <a:cs typeface="Consolas" pitchFamily="34" charset="-120"/>
              </a:rPr>
              <a:t>done?</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marL="0" indent="0">
              <a:buNone/>
            </a:pPr>
            <a:r>
              <a:rPr lang="en-US" sz="9200" b="1" dirty="0">
                <a:solidFill>
                  <a:srgbClr val="E1E5EC"/>
                </a:solidFill>
                <a:latin typeface="Arial" pitchFamily="34" charset="0"/>
                <a:ea typeface="Arial" pitchFamily="34" charset="-122"/>
                <a:cs typeface="Arial" pitchFamily="34" charset="-120"/>
              </a:rPr>
              <a:t>iii</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marL="0" indent="0">
              <a:buNone/>
            </a:pPr>
            <a:r>
              <a:rPr lang="en-US" sz="1100" b="1" kern="0" spc="300" dirty="0">
                <a:solidFill>
                  <a:srgbClr val="0284C7"/>
                </a:solidFill>
                <a:latin typeface="Arial" pitchFamily="34" charset="0"/>
                <a:ea typeface="Arial" pitchFamily="34" charset="-122"/>
                <a:cs typeface="Arial" pitchFamily="34" charset="-120"/>
              </a:rPr>
              <a:t>ACT THREE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marL="0" indent="0">
              <a:lnSpc>
                <a:spcPts val="5000"/>
              </a:lnSpc>
              <a:buNone/>
            </a:pPr>
            <a:r>
              <a:rPr lang="en-US" sz="5000" b="1" dirty="0">
                <a:solidFill>
                  <a:srgbClr val="16181D"/>
                </a:solidFill>
                <a:latin typeface="Arial" pitchFamily="34" charset="0"/>
                <a:ea typeface="Arial" pitchFamily="34" charset="-122"/>
                <a:cs typeface="Arial" pitchFamily="34" charset="-120"/>
              </a:rPr>
              <a:t>The Infrastructure</a:t>
            </a:r>
            <a:endParaRPr lang="en-US" sz="5000" dirty="0"/>
          </a:p>
        </p:txBody>
      </p:sp>
      <p:sp>
        <p:nvSpPr>
          <p:cNvPr id="6" name="Text 3"/>
          <p:cNvSpPr/>
          <p:nvPr/>
        </p:nvSpPr>
        <p:spPr>
          <a:xfrm>
            <a:off x="841248" y="4617720"/>
            <a:ext cx="6949440" cy="822960"/>
          </a:xfrm>
          <a:prstGeom prst="rect">
            <a:avLst/>
          </a:prstGeom>
          <a:noFill/>
          <a:ln/>
        </p:spPr>
        <p:txBody>
          <a:bodyPr wrap="square" rtlCol="0" anchor="ctr"/>
          <a:lstStyle/>
          <a:p>
            <a:pPr marL="0" indent="0">
              <a:lnSpc>
                <a:spcPts val="2500"/>
              </a:lnSpc>
              <a:buNone/>
            </a:pPr>
            <a:r>
              <a:rPr lang="en-US" sz="1700" dirty="0">
                <a:solidFill>
                  <a:srgbClr val="666C7A"/>
                </a:solidFill>
                <a:latin typeface="Calibri" pitchFamily="34" charset="0"/>
                <a:ea typeface="Calibri" pitchFamily="34" charset="-122"/>
                <a:cs typeface="Calibri" pitchFamily="34" charset="-120"/>
              </a:rPr>
              <a:t>What you actually need underneath, and why the JVM is a great place to put it.</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ANATOMY</a:t>
            </a:r>
            <a:endParaRPr lang="en-US" sz="1100" dirty="0"/>
          </a:p>
        </p:txBody>
      </p:sp>
      <p:sp>
        <p:nvSpPr>
          <p:cNvPr id="3" name="Text 1"/>
          <p:cNvSpPr/>
          <p:nvPr/>
        </p:nvSpPr>
        <p:spPr>
          <a:xfrm>
            <a:off x="841248" y="1051560"/>
            <a:ext cx="10058400" cy="91440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Five layers under every </a:t>
            </a:r>
            <a:r>
              <a:rPr lang="en-US" sz="3200" b="1" dirty="0">
                <a:solidFill>
                  <a:srgbClr val="4F46E5"/>
                </a:solidFill>
                <a:latin typeface="Arial" pitchFamily="34" charset="0"/>
                <a:ea typeface="Arial" pitchFamily="34" charset="-122"/>
                <a:cs typeface="Arial" pitchFamily="34" charset="-120"/>
              </a:rPr>
              <a:t>agent.</a:t>
            </a:r>
            <a:endParaRPr lang="en-US" sz="3200" dirty="0"/>
          </a:p>
        </p:txBody>
      </p:sp>
      <p:sp>
        <p:nvSpPr>
          <p:cNvPr id="4" name="Shape 2"/>
          <p:cNvSpPr/>
          <p:nvPr/>
        </p:nvSpPr>
        <p:spPr>
          <a:xfrm>
            <a:off x="841248" y="2221992"/>
            <a:ext cx="457200" cy="457200"/>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5" name="Image 0" descr="preencoded.png"/>
          <p:cNvPicPr>
            <a:picLocks noChangeAspect="1"/>
          </p:cNvPicPr>
          <p:nvPr/>
        </p:nvPicPr>
        <p:blipFill>
          <a:blip r:embed="rId3"/>
          <a:stretch>
            <a:fillRect/>
          </a:stretch>
        </p:blipFill>
        <p:spPr>
          <a:xfrm>
            <a:off x="950976" y="2331720"/>
            <a:ext cx="237744" cy="237744"/>
          </a:xfrm>
          <a:prstGeom prst="rect">
            <a:avLst/>
          </a:prstGeom>
        </p:spPr>
      </p:pic>
      <p:sp>
        <p:nvSpPr>
          <p:cNvPr id="6" name="Text 3"/>
          <p:cNvSpPr/>
          <p:nvPr/>
        </p:nvSpPr>
        <p:spPr>
          <a:xfrm>
            <a:off x="1499616" y="2286000"/>
            <a:ext cx="2377440" cy="365760"/>
          </a:xfrm>
          <a:prstGeom prst="rect">
            <a:avLst/>
          </a:prstGeom>
          <a:noFill/>
          <a:ln/>
        </p:spPr>
        <p:txBody>
          <a:bodyPr wrap="square" rtlCol="0" anchor="ctr"/>
          <a:lstStyle/>
          <a:p>
            <a:pPr marL="0" indent="0">
              <a:buNone/>
            </a:pPr>
            <a:r>
              <a:rPr lang="en-US" sz="1200" kern="0" spc="150" dirty="0">
                <a:solidFill>
                  <a:srgbClr val="666C7A"/>
                </a:solidFill>
                <a:latin typeface="Consolas" pitchFamily="34" charset="0"/>
                <a:ea typeface="Consolas" pitchFamily="34" charset="-122"/>
                <a:cs typeface="Consolas" pitchFamily="34" charset="-120"/>
              </a:rPr>
              <a:t>runtime</a:t>
            </a:r>
            <a:endParaRPr lang="en-US" sz="1200" dirty="0"/>
          </a:p>
        </p:txBody>
      </p:sp>
      <p:sp>
        <p:nvSpPr>
          <p:cNvPr id="7" name="Text 4"/>
          <p:cNvSpPr/>
          <p:nvPr/>
        </p:nvSpPr>
        <p:spPr>
          <a:xfrm>
            <a:off x="4023360" y="2286000"/>
            <a:ext cx="7315200" cy="365760"/>
          </a:xfrm>
          <a:prstGeom prst="rect">
            <a:avLst/>
          </a:prstGeom>
          <a:noFill/>
          <a:ln/>
        </p:spPr>
        <p:txBody>
          <a:bodyPr wrap="square" rtlCol="0" anchor="ctr"/>
          <a:lstStyle/>
          <a:p>
            <a:pPr marL="0" indent="0">
              <a:buNone/>
            </a:pPr>
            <a:r>
              <a:rPr lang="en-US" sz="1650" b="1" dirty="0">
                <a:solidFill>
                  <a:srgbClr val="16181D"/>
                </a:solidFill>
                <a:latin typeface="Calibri" pitchFamily="34" charset="0"/>
                <a:ea typeface="Calibri" pitchFamily="34" charset="-122"/>
                <a:cs typeface="Calibri" pitchFamily="34" charset="-120"/>
              </a:rPr>
              <a:t>A model behind one interface. </a:t>
            </a:r>
            <a:r>
              <a:rPr lang="en-US" sz="1650" dirty="0">
                <a:solidFill>
                  <a:srgbClr val="666C7A"/>
                </a:solidFill>
                <a:latin typeface="Calibri" pitchFamily="34" charset="0"/>
                <a:ea typeface="Calibri" pitchFamily="34" charset="-122"/>
                <a:cs typeface="Calibri" pitchFamily="34" charset="-120"/>
              </a:rPr>
              <a:t>Local on a laptop, or a hosted API. Swappable.</a:t>
            </a:r>
            <a:endParaRPr lang="en-US" sz="1650" dirty="0"/>
          </a:p>
        </p:txBody>
      </p:sp>
      <p:sp>
        <p:nvSpPr>
          <p:cNvPr id="8" name="Shape 5"/>
          <p:cNvSpPr/>
          <p:nvPr/>
        </p:nvSpPr>
        <p:spPr>
          <a:xfrm>
            <a:off x="841248" y="2990088"/>
            <a:ext cx="457200" cy="457200"/>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950976" y="3099816"/>
            <a:ext cx="237744" cy="237744"/>
          </a:xfrm>
          <a:prstGeom prst="rect">
            <a:avLst/>
          </a:prstGeom>
        </p:spPr>
      </p:pic>
      <p:sp>
        <p:nvSpPr>
          <p:cNvPr id="10" name="Text 6"/>
          <p:cNvSpPr/>
          <p:nvPr/>
        </p:nvSpPr>
        <p:spPr>
          <a:xfrm>
            <a:off x="1499616" y="3054096"/>
            <a:ext cx="2377440" cy="365760"/>
          </a:xfrm>
          <a:prstGeom prst="rect">
            <a:avLst/>
          </a:prstGeom>
          <a:noFill/>
          <a:ln/>
        </p:spPr>
        <p:txBody>
          <a:bodyPr wrap="square" rtlCol="0" anchor="ctr"/>
          <a:lstStyle/>
          <a:p>
            <a:pPr marL="0" indent="0">
              <a:buNone/>
            </a:pPr>
            <a:r>
              <a:rPr lang="en-US" sz="1200" kern="0" spc="150" dirty="0">
                <a:solidFill>
                  <a:srgbClr val="666C7A"/>
                </a:solidFill>
                <a:latin typeface="Consolas" pitchFamily="34" charset="0"/>
                <a:ea typeface="Consolas" pitchFamily="34" charset="-122"/>
                <a:cs typeface="Consolas" pitchFamily="34" charset="-120"/>
              </a:rPr>
              <a:t>orchestration</a:t>
            </a:r>
            <a:endParaRPr lang="en-US" sz="1200" dirty="0"/>
          </a:p>
        </p:txBody>
      </p:sp>
      <p:sp>
        <p:nvSpPr>
          <p:cNvPr id="11" name="Text 7"/>
          <p:cNvSpPr/>
          <p:nvPr/>
        </p:nvSpPr>
        <p:spPr>
          <a:xfrm>
            <a:off x="4023360" y="3054096"/>
            <a:ext cx="7315200" cy="365760"/>
          </a:xfrm>
          <a:prstGeom prst="rect">
            <a:avLst/>
          </a:prstGeom>
          <a:noFill/>
          <a:ln/>
        </p:spPr>
        <p:txBody>
          <a:bodyPr wrap="square" rtlCol="0" anchor="ctr"/>
          <a:lstStyle/>
          <a:p>
            <a:pPr marL="0" indent="0">
              <a:buNone/>
            </a:pPr>
            <a:r>
              <a:rPr lang="en-US" sz="1650" b="1" dirty="0">
                <a:solidFill>
                  <a:srgbClr val="16181D"/>
                </a:solidFill>
                <a:latin typeface="Calibri" pitchFamily="34" charset="0"/>
                <a:ea typeface="Calibri" pitchFamily="34" charset="-122"/>
                <a:cs typeface="Calibri" pitchFamily="34" charset="-120"/>
              </a:rPr>
              <a:t>LangChain4j AiServices. </a:t>
            </a:r>
            <a:r>
              <a:rPr lang="en-US" sz="1650" dirty="0">
                <a:solidFill>
                  <a:srgbClr val="666C7A"/>
                </a:solidFill>
                <a:latin typeface="Calibri" pitchFamily="34" charset="0"/>
                <a:ea typeface="Calibri" pitchFamily="34" charset="-122"/>
                <a:cs typeface="Calibri" pitchFamily="34" charset="-120"/>
              </a:rPr>
              <a:t>Java interfaces with annotations. No implementations.</a:t>
            </a:r>
            <a:endParaRPr lang="en-US" sz="1650" dirty="0"/>
          </a:p>
        </p:txBody>
      </p:sp>
      <p:sp>
        <p:nvSpPr>
          <p:cNvPr id="12" name="Shape 8"/>
          <p:cNvSpPr/>
          <p:nvPr/>
        </p:nvSpPr>
        <p:spPr>
          <a:xfrm>
            <a:off x="841248" y="3758184"/>
            <a:ext cx="457200" cy="457200"/>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950976" y="3867912"/>
            <a:ext cx="237744" cy="237744"/>
          </a:xfrm>
          <a:prstGeom prst="rect">
            <a:avLst/>
          </a:prstGeom>
        </p:spPr>
      </p:pic>
      <p:sp>
        <p:nvSpPr>
          <p:cNvPr id="14" name="Text 9"/>
          <p:cNvSpPr/>
          <p:nvPr/>
        </p:nvSpPr>
        <p:spPr>
          <a:xfrm>
            <a:off x="1499616" y="3822192"/>
            <a:ext cx="2377440" cy="365760"/>
          </a:xfrm>
          <a:prstGeom prst="rect">
            <a:avLst/>
          </a:prstGeom>
          <a:noFill/>
          <a:ln/>
        </p:spPr>
        <p:txBody>
          <a:bodyPr wrap="square" rtlCol="0" anchor="ctr"/>
          <a:lstStyle/>
          <a:p>
            <a:pPr marL="0" indent="0">
              <a:buNone/>
            </a:pPr>
            <a:r>
              <a:rPr lang="en-US" sz="1200" kern="0" spc="150" dirty="0">
                <a:solidFill>
                  <a:srgbClr val="666C7A"/>
                </a:solidFill>
                <a:latin typeface="Consolas" pitchFamily="34" charset="0"/>
                <a:ea typeface="Consolas" pitchFamily="34" charset="-122"/>
                <a:cs typeface="Consolas" pitchFamily="34" charset="-120"/>
              </a:rPr>
              <a:t>tools</a:t>
            </a:r>
            <a:endParaRPr lang="en-US" sz="1200" dirty="0"/>
          </a:p>
        </p:txBody>
      </p:sp>
      <p:sp>
        <p:nvSpPr>
          <p:cNvPr id="15" name="Text 10"/>
          <p:cNvSpPr/>
          <p:nvPr/>
        </p:nvSpPr>
        <p:spPr>
          <a:xfrm>
            <a:off x="4023360" y="3822192"/>
            <a:ext cx="7315200" cy="365760"/>
          </a:xfrm>
          <a:prstGeom prst="rect">
            <a:avLst/>
          </a:prstGeom>
          <a:noFill/>
          <a:ln/>
        </p:spPr>
        <p:txBody>
          <a:bodyPr wrap="square" rtlCol="0" anchor="ctr"/>
          <a:lstStyle/>
          <a:p>
            <a:pPr marL="0" indent="0">
              <a:buNone/>
            </a:pPr>
            <a:r>
              <a:rPr lang="en-US" sz="1650" b="1" dirty="0">
                <a:solidFill>
                  <a:srgbClr val="16181D"/>
                </a:solidFill>
                <a:latin typeface="Calibri" pitchFamily="34" charset="0"/>
                <a:ea typeface="Calibri" pitchFamily="34" charset="-122"/>
                <a:cs typeface="Calibri" pitchFamily="34" charset="-120"/>
              </a:rPr>
              <a:t>Plain Java methods. </a:t>
            </a:r>
            <a:r>
              <a:rPr lang="en-US" sz="1650" dirty="0">
                <a:solidFill>
                  <a:srgbClr val="666C7A"/>
                </a:solidFill>
                <a:latin typeface="Calibri" pitchFamily="34" charset="0"/>
                <a:ea typeface="Calibri" pitchFamily="34" charset="-122"/>
                <a:cs typeface="Calibri" pitchFamily="34" charset="-120"/>
              </a:rPr>
              <a:t>Whatever you would let an intern call.</a:t>
            </a:r>
            <a:endParaRPr lang="en-US" sz="1650" dirty="0"/>
          </a:p>
        </p:txBody>
      </p:sp>
      <p:sp>
        <p:nvSpPr>
          <p:cNvPr id="16" name="Shape 11"/>
          <p:cNvSpPr/>
          <p:nvPr/>
        </p:nvSpPr>
        <p:spPr>
          <a:xfrm>
            <a:off x="841248" y="4526280"/>
            <a:ext cx="457200" cy="457200"/>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17" name="Image 3" descr="preencoded.png"/>
          <p:cNvPicPr>
            <a:picLocks noChangeAspect="1"/>
          </p:cNvPicPr>
          <p:nvPr/>
        </p:nvPicPr>
        <p:blipFill>
          <a:blip r:embed="rId6"/>
          <a:stretch>
            <a:fillRect/>
          </a:stretch>
        </p:blipFill>
        <p:spPr>
          <a:xfrm>
            <a:off x="950976" y="4636008"/>
            <a:ext cx="237744" cy="237744"/>
          </a:xfrm>
          <a:prstGeom prst="rect">
            <a:avLst/>
          </a:prstGeom>
        </p:spPr>
      </p:pic>
      <p:sp>
        <p:nvSpPr>
          <p:cNvPr id="18" name="Text 12"/>
          <p:cNvSpPr/>
          <p:nvPr/>
        </p:nvSpPr>
        <p:spPr>
          <a:xfrm>
            <a:off x="1499616" y="4590288"/>
            <a:ext cx="2377440" cy="365760"/>
          </a:xfrm>
          <a:prstGeom prst="rect">
            <a:avLst/>
          </a:prstGeom>
          <a:noFill/>
          <a:ln/>
        </p:spPr>
        <p:txBody>
          <a:bodyPr wrap="square" rtlCol="0" anchor="ctr"/>
          <a:lstStyle/>
          <a:p>
            <a:pPr marL="0" indent="0">
              <a:buNone/>
            </a:pPr>
            <a:r>
              <a:rPr lang="en-US" sz="1200" kern="0" spc="150" dirty="0">
                <a:solidFill>
                  <a:srgbClr val="666C7A"/>
                </a:solidFill>
                <a:latin typeface="Consolas" pitchFamily="34" charset="0"/>
                <a:ea typeface="Consolas" pitchFamily="34" charset="-122"/>
                <a:cs typeface="Consolas" pitchFamily="34" charset="-120"/>
              </a:rPr>
              <a:t>memory</a:t>
            </a:r>
            <a:endParaRPr lang="en-US" sz="1200" dirty="0"/>
          </a:p>
        </p:txBody>
      </p:sp>
      <p:sp>
        <p:nvSpPr>
          <p:cNvPr id="19" name="Text 13"/>
          <p:cNvSpPr/>
          <p:nvPr/>
        </p:nvSpPr>
        <p:spPr>
          <a:xfrm>
            <a:off x="4023360" y="4590288"/>
            <a:ext cx="7315200" cy="365760"/>
          </a:xfrm>
          <a:prstGeom prst="rect">
            <a:avLst/>
          </a:prstGeom>
          <a:noFill/>
          <a:ln/>
        </p:spPr>
        <p:txBody>
          <a:bodyPr wrap="square" rtlCol="0" anchor="ctr"/>
          <a:lstStyle/>
          <a:p>
            <a:pPr marL="0" indent="0">
              <a:buNone/>
            </a:pPr>
            <a:r>
              <a:rPr lang="en-US" sz="1650" b="1" dirty="0">
                <a:solidFill>
                  <a:srgbClr val="16181D"/>
                </a:solidFill>
                <a:latin typeface="Calibri" pitchFamily="34" charset="0"/>
                <a:ea typeface="Calibri" pitchFamily="34" charset="-122"/>
                <a:cs typeface="Calibri" pitchFamily="34" charset="-120"/>
              </a:rPr>
              <a:t>A queue and a result per idea. </a:t>
            </a:r>
            <a:r>
              <a:rPr lang="en-US" sz="1650" dirty="0">
                <a:solidFill>
                  <a:srgbClr val="666C7A"/>
                </a:solidFill>
                <a:latin typeface="Calibri" pitchFamily="34" charset="0"/>
                <a:ea typeface="Calibri" pitchFamily="34" charset="-122"/>
                <a:cs typeface="Calibri" pitchFamily="34" charset="-120"/>
              </a:rPr>
              <a:t>Nothing global. Each run is its own object.</a:t>
            </a:r>
            <a:endParaRPr lang="en-US" sz="1650" dirty="0"/>
          </a:p>
        </p:txBody>
      </p:sp>
      <p:sp>
        <p:nvSpPr>
          <p:cNvPr id="20" name="Shape 14"/>
          <p:cNvSpPr/>
          <p:nvPr/>
        </p:nvSpPr>
        <p:spPr>
          <a:xfrm>
            <a:off x="841248" y="5294376"/>
            <a:ext cx="457200" cy="457200"/>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21" name="Image 4" descr="preencoded.png"/>
          <p:cNvPicPr>
            <a:picLocks noChangeAspect="1"/>
          </p:cNvPicPr>
          <p:nvPr/>
        </p:nvPicPr>
        <p:blipFill>
          <a:blip r:embed="rId7"/>
          <a:stretch>
            <a:fillRect/>
          </a:stretch>
        </p:blipFill>
        <p:spPr>
          <a:xfrm>
            <a:off x="950976" y="5404104"/>
            <a:ext cx="237744" cy="237744"/>
          </a:xfrm>
          <a:prstGeom prst="rect">
            <a:avLst/>
          </a:prstGeom>
        </p:spPr>
      </p:pic>
      <p:sp>
        <p:nvSpPr>
          <p:cNvPr id="22" name="Text 15"/>
          <p:cNvSpPr/>
          <p:nvPr/>
        </p:nvSpPr>
        <p:spPr>
          <a:xfrm>
            <a:off x="1499616" y="5358384"/>
            <a:ext cx="2377440" cy="365760"/>
          </a:xfrm>
          <a:prstGeom prst="rect">
            <a:avLst/>
          </a:prstGeom>
          <a:noFill/>
          <a:ln/>
        </p:spPr>
        <p:txBody>
          <a:bodyPr wrap="square" rtlCol="0" anchor="ctr"/>
          <a:lstStyle/>
          <a:p>
            <a:pPr marL="0" indent="0">
              <a:buNone/>
            </a:pPr>
            <a:r>
              <a:rPr lang="en-US" sz="1200" kern="0" spc="150" dirty="0">
                <a:solidFill>
                  <a:srgbClr val="666C7A"/>
                </a:solidFill>
                <a:latin typeface="Consolas" pitchFamily="34" charset="0"/>
                <a:ea typeface="Consolas" pitchFamily="34" charset="-122"/>
                <a:cs typeface="Consolas" pitchFamily="34" charset="-120"/>
              </a:rPr>
              <a:t>structure</a:t>
            </a:r>
            <a:endParaRPr lang="en-US" sz="1200" dirty="0"/>
          </a:p>
        </p:txBody>
      </p:sp>
      <p:sp>
        <p:nvSpPr>
          <p:cNvPr id="23" name="Text 16"/>
          <p:cNvSpPr/>
          <p:nvPr/>
        </p:nvSpPr>
        <p:spPr>
          <a:xfrm>
            <a:off x="4023360" y="5358384"/>
            <a:ext cx="7315200" cy="365760"/>
          </a:xfrm>
          <a:prstGeom prst="rect">
            <a:avLst/>
          </a:prstGeom>
          <a:noFill/>
          <a:ln/>
        </p:spPr>
        <p:txBody>
          <a:bodyPr wrap="square" rtlCol="0" anchor="ctr"/>
          <a:lstStyle/>
          <a:p>
            <a:pPr marL="0" indent="0">
              <a:buNone/>
            </a:pPr>
            <a:r>
              <a:rPr lang="en-US" sz="1650" b="1" dirty="0">
                <a:solidFill>
                  <a:srgbClr val="16181D"/>
                </a:solidFill>
                <a:latin typeface="Calibri" pitchFamily="34" charset="0"/>
                <a:ea typeface="Calibri" pitchFamily="34" charset="-122"/>
                <a:cs typeface="Calibri" pitchFamily="34" charset="-120"/>
              </a:rPr>
              <a:t>Java records: Copy, Palette, Tier. </a:t>
            </a:r>
            <a:r>
              <a:rPr lang="en-US" sz="1650" dirty="0">
                <a:solidFill>
                  <a:srgbClr val="666C7A"/>
                </a:solidFill>
                <a:latin typeface="Calibri" pitchFamily="34" charset="0"/>
                <a:ea typeface="Calibri" pitchFamily="34" charset="-122"/>
                <a:cs typeface="Calibri" pitchFamily="34" charset="-120"/>
              </a:rPr>
              <a:t>The model fills a type, it does not write prose.</a:t>
            </a:r>
            <a:endParaRPr lang="en-US" sz="16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OBVIOUS QUESTION</a:t>
            </a:r>
            <a:endParaRPr lang="en-US" sz="1100" dirty="0"/>
          </a:p>
        </p:txBody>
      </p:sp>
      <p:sp>
        <p:nvSpPr>
          <p:cNvPr id="3" name="Text 1"/>
          <p:cNvSpPr/>
          <p:nvPr/>
        </p:nvSpPr>
        <p:spPr>
          <a:xfrm>
            <a:off x="841248" y="1371600"/>
            <a:ext cx="5486400" cy="1097280"/>
          </a:xfrm>
          <a:prstGeom prst="rect">
            <a:avLst/>
          </a:prstGeom>
          <a:noFill/>
          <a:ln/>
        </p:spPr>
        <p:txBody>
          <a:bodyPr wrap="square" rtlCol="0" anchor="ctr"/>
          <a:lstStyle/>
          <a:p>
            <a:pPr marL="0" indent="0">
              <a:buNone/>
            </a:pPr>
            <a:r>
              <a:rPr lang="en-US" sz="4400" b="1" dirty="0">
                <a:solidFill>
                  <a:srgbClr val="16181D"/>
                </a:solidFill>
                <a:latin typeface="Arial" pitchFamily="34" charset="0"/>
                <a:ea typeface="Arial" pitchFamily="34" charset="-122"/>
                <a:cs typeface="Arial" pitchFamily="34" charset="-120"/>
              </a:rPr>
              <a:t>Why </a:t>
            </a:r>
            <a:r>
              <a:rPr lang="en-US" sz="4400" b="1" dirty="0">
                <a:solidFill>
                  <a:srgbClr val="4F46E5"/>
                </a:solidFill>
                <a:latin typeface="Arial" pitchFamily="34" charset="0"/>
                <a:ea typeface="Arial" pitchFamily="34" charset="-122"/>
                <a:cs typeface="Arial" pitchFamily="34" charset="-120"/>
              </a:rPr>
              <a:t>Java?</a:t>
            </a:r>
            <a:endParaRPr lang="en-US" sz="4400" dirty="0"/>
          </a:p>
        </p:txBody>
      </p:sp>
      <p:sp>
        <p:nvSpPr>
          <p:cNvPr id="4" name="Text 2"/>
          <p:cNvSpPr/>
          <p:nvPr/>
        </p:nvSpPr>
        <p:spPr>
          <a:xfrm>
            <a:off x="841248" y="2651760"/>
            <a:ext cx="5212080" cy="1828800"/>
          </a:xfrm>
          <a:prstGeom prst="rect">
            <a:avLst/>
          </a:prstGeom>
          <a:noFill/>
          <a:ln/>
        </p:spPr>
        <p:txBody>
          <a:bodyPr wrap="square" rtlCol="0" anchor="ctr"/>
          <a:lstStyle/>
          <a:p>
            <a:pPr marL="0" indent="0">
              <a:lnSpc>
                <a:spcPts val="2700"/>
              </a:lnSpc>
              <a:buNone/>
            </a:pPr>
            <a:r>
              <a:rPr lang="en-US" sz="1700" dirty="0">
                <a:solidFill>
                  <a:srgbClr val="666C7A"/>
                </a:solidFill>
                <a:latin typeface="Calibri" pitchFamily="34" charset="0"/>
                <a:ea typeface="Calibri" pitchFamily="34" charset="-122"/>
                <a:cs typeface="Calibri" pitchFamily="34" charset="-120"/>
              </a:rPr>
              <a:t>Because the systems your clients trust with real money already run on the JVM. The agent should live </a:t>
            </a:r>
            <a:r>
              <a:rPr lang="en-US" sz="1700" b="1" dirty="0">
                <a:solidFill>
                  <a:srgbClr val="16181D"/>
                </a:solidFill>
                <a:latin typeface="Calibri" pitchFamily="34" charset="0"/>
                <a:ea typeface="Calibri" pitchFamily="34" charset="-122"/>
                <a:cs typeface="Calibri" pitchFamily="34" charset="-120"/>
              </a:rPr>
              <a:t>next to the business</a:t>
            </a:r>
            <a:r>
              <a:rPr lang="en-US" sz="1700" dirty="0">
                <a:solidFill>
                  <a:srgbClr val="666C7A"/>
                </a:solidFill>
                <a:latin typeface="Calibri" pitchFamily="34" charset="0"/>
                <a:ea typeface="Calibri" pitchFamily="34" charset="-122"/>
                <a:cs typeface="Calibri" pitchFamily="34" charset="-120"/>
              </a:rPr>
              <a:t>, not in a Python service bolted on the side.</a:t>
            </a:r>
            <a:endParaRPr lang="en-US" sz="1700" dirty="0"/>
          </a:p>
        </p:txBody>
      </p:sp>
      <p:sp>
        <p:nvSpPr>
          <p:cNvPr id="5" name="Text 3"/>
          <p:cNvSpPr/>
          <p:nvPr/>
        </p:nvSpPr>
        <p:spPr>
          <a:xfrm>
            <a:off x="841248" y="4617720"/>
            <a:ext cx="5212080" cy="457200"/>
          </a:xfrm>
          <a:prstGeom prst="rect">
            <a:avLst/>
          </a:prstGeom>
          <a:noFill/>
          <a:ln/>
        </p:spPr>
        <p:txBody>
          <a:bodyPr wrap="square" rtlCol="0" anchor="ctr"/>
          <a:lstStyle/>
          <a:p>
            <a:pPr marL="0" indent="0">
              <a:lnSpc>
                <a:spcPts val="2000"/>
              </a:lnSpc>
              <a:buNone/>
            </a:pPr>
            <a:r>
              <a:rPr lang="en-US" sz="1200" dirty="0">
                <a:solidFill>
                  <a:srgbClr val="4F46E5"/>
                </a:solidFill>
                <a:latin typeface="Consolas" pitchFamily="34" charset="0"/>
                <a:ea typeface="Consolas" pitchFamily="34" charset="-122"/>
                <a:cs typeface="Consolas" pitchFamily="34" charset="-120"/>
              </a:rPr>
              <a:t>Behind Spring Security. Inside your transactions. Beside your data.</a:t>
            </a:r>
            <a:endParaRPr lang="en-US" sz="1200" dirty="0"/>
          </a:p>
        </p:txBody>
      </p:sp>
      <p:sp>
        <p:nvSpPr>
          <p:cNvPr id="6" name="Shape 4"/>
          <p:cNvSpPr/>
          <p:nvPr/>
        </p:nvSpPr>
        <p:spPr>
          <a:xfrm>
            <a:off x="850392" y="5193792"/>
            <a:ext cx="128016" cy="128016"/>
          </a:xfrm>
          <a:prstGeom prst="ellipse">
            <a:avLst/>
          </a:prstGeom>
          <a:solidFill>
            <a:srgbClr val="4F46E5"/>
          </a:solidFill>
          <a:ln/>
        </p:spPr>
        <p:txBody>
          <a:bodyPr/>
          <a:lstStyle/>
          <a:p>
            <a:endParaRPr lang="en-US"/>
          </a:p>
        </p:txBody>
      </p:sp>
      <p:sp>
        <p:nvSpPr>
          <p:cNvPr id="7" name="Text 5"/>
          <p:cNvSpPr/>
          <p:nvPr/>
        </p:nvSpPr>
        <p:spPr>
          <a:xfrm>
            <a:off x="1133856" y="5102352"/>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No rewrite: the agent is a bean like any other service.</a:t>
            </a:r>
            <a:endParaRPr lang="en-US" sz="1350" dirty="0"/>
          </a:p>
        </p:txBody>
      </p:sp>
      <p:sp>
        <p:nvSpPr>
          <p:cNvPr id="8" name="Shape 6"/>
          <p:cNvSpPr/>
          <p:nvPr/>
        </p:nvSpPr>
        <p:spPr>
          <a:xfrm>
            <a:off x="850392" y="5596128"/>
            <a:ext cx="128016" cy="128016"/>
          </a:xfrm>
          <a:prstGeom prst="ellipse">
            <a:avLst/>
          </a:prstGeom>
          <a:solidFill>
            <a:srgbClr val="4F46E5"/>
          </a:solidFill>
          <a:ln/>
        </p:spPr>
        <p:txBody>
          <a:bodyPr/>
          <a:lstStyle/>
          <a:p>
            <a:endParaRPr lang="en-US"/>
          </a:p>
        </p:txBody>
      </p:sp>
      <p:sp>
        <p:nvSpPr>
          <p:cNvPr id="9" name="Text 7"/>
          <p:cNvSpPr/>
          <p:nvPr/>
        </p:nvSpPr>
        <p:spPr>
          <a:xfrm>
            <a:off x="1133856" y="5504688"/>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Your existing auth, logging and transactions still apply to it.</a:t>
            </a:r>
            <a:endParaRPr lang="en-US" sz="1350" dirty="0"/>
          </a:p>
        </p:txBody>
      </p:sp>
      <p:sp>
        <p:nvSpPr>
          <p:cNvPr id="10" name="Shape 8"/>
          <p:cNvSpPr/>
          <p:nvPr/>
        </p:nvSpPr>
        <p:spPr>
          <a:xfrm>
            <a:off x="850392" y="5998464"/>
            <a:ext cx="128016" cy="128016"/>
          </a:xfrm>
          <a:prstGeom prst="ellipse">
            <a:avLst/>
          </a:prstGeom>
          <a:solidFill>
            <a:srgbClr val="4F46E5"/>
          </a:solidFill>
          <a:ln/>
        </p:spPr>
        <p:txBody>
          <a:bodyPr/>
          <a:lstStyle/>
          <a:p>
            <a:endParaRPr lang="en-US"/>
          </a:p>
        </p:txBody>
      </p:sp>
      <p:sp>
        <p:nvSpPr>
          <p:cNvPr id="11" name="Text 9"/>
          <p:cNvSpPr/>
          <p:nvPr/>
        </p:nvSpPr>
        <p:spPr>
          <a:xfrm>
            <a:off x="1133856" y="5907024"/>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Typed records mean the compiler checks the model's answer.</a:t>
            </a:r>
            <a:endParaRPr lang="en-US" sz="1350" dirty="0"/>
          </a:p>
        </p:txBody>
      </p:sp>
      <p:sp>
        <p:nvSpPr>
          <p:cNvPr id="12" name="Shape 10"/>
          <p:cNvSpPr/>
          <p:nvPr/>
        </p:nvSpPr>
        <p:spPr>
          <a:xfrm>
            <a:off x="6675120" y="2011680"/>
            <a:ext cx="4663440" cy="868680"/>
          </a:xfrm>
          <a:prstGeom prst="roundRect">
            <a:avLst>
              <a:gd name="adj" fmla="val 10526"/>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3" name="Shape 11"/>
          <p:cNvSpPr/>
          <p:nvPr/>
        </p:nvSpPr>
        <p:spPr>
          <a:xfrm>
            <a:off x="6967728" y="2189988"/>
            <a:ext cx="512064" cy="51206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14" name="Image 0" descr="preencoded.png"/>
          <p:cNvPicPr>
            <a:picLocks noChangeAspect="1"/>
          </p:cNvPicPr>
          <p:nvPr/>
        </p:nvPicPr>
        <p:blipFill>
          <a:blip r:embed="rId3"/>
          <a:stretch>
            <a:fillRect/>
          </a:stretch>
        </p:blipFill>
        <p:spPr>
          <a:xfrm>
            <a:off x="7090623" y="2312883"/>
            <a:ext cx="266273" cy="266273"/>
          </a:xfrm>
          <a:prstGeom prst="rect">
            <a:avLst/>
          </a:prstGeom>
        </p:spPr>
      </p:pic>
      <p:sp>
        <p:nvSpPr>
          <p:cNvPr id="15" name="Text 12"/>
          <p:cNvSpPr/>
          <p:nvPr/>
        </p:nvSpPr>
        <p:spPr>
          <a:xfrm>
            <a:off x="7635240" y="2148840"/>
            <a:ext cx="3520440" cy="320040"/>
          </a:xfrm>
          <a:prstGeom prst="rect">
            <a:avLst/>
          </a:prstGeom>
          <a:noFill/>
          <a:ln/>
        </p:spPr>
        <p:txBody>
          <a:bodyPr wrap="square" rtlCol="0" anchor="ctr"/>
          <a:lstStyle/>
          <a:p>
            <a:pPr marL="0" indent="0">
              <a:buNone/>
            </a:pPr>
            <a:r>
              <a:rPr lang="en-US" sz="1200" kern="0" spc="100" dirty="0">
                <a:solidFill>
                  <a:srgbClr val="16181D"/>
                </a:solidFill>
                <a:latin typeface="Consolas" pitchFamily="34" charset="0"/>
                <a:ea typeface="Consolas" pitchFamily="34" charset="-122"/>
                <a:cs typeface="Consolas" pitchFamily="34" charset="-120"/>
              </a:rPr>
              <a:t>LangChain4j</a:t>
            </a:r>
            <a:endParaRPr lang="en-US" sz="1200" dirty="0"/>
          </a:p>
        </p:txBody>
      </p:sp>
      <p:sp>
        <p:nvSpPr>
          <p:cNvPr id="16" name="Text 13"/>
          <p:cNvSpPr/>
          <p:nvPr/>
        </p:nvSpPr>
        <p:spPr>
          <a:xfrm>
            <a:off x="7635240" y="2441448"/>
            <a:ext cx="3566160" cy="365760"/>
          </a:xfrm>
          <a:prstGeom prst="rect">
            <a:avLst/>
          </a:prstGeom>
          <a:noFill/>
          <a:ln/>
        </p:spPr>
        <p:txBody>
          <a:bodyPr wrap="square" rtlCol="0" anchor="ctr"/>
          <a:lstStyle/>
          <a:p>
            <a:pPr marL="0" indent="0">
              <a:buNone/>
            </a:pPr>
            <a:r>
              <a:rPr lang="en-US" sz="1300" dirty="0">
                <a:solidFill>
                  <a:srgbClr val="666C7A"/>
                </a:solidFill>
                <a:latin typeface="Calibri" pitchFamily="34" charset="0"/>
                <a:ea typeface="Calibri" pitchFamily="34" charset="-122"/>
                <a:cs typeface="Calibri" pitchFamily="34" charset="-120"/>
              </a:rPr>
              <a:t>agents, tools and AI Services, the idiomatic way</a:t>
            </a:r>
            <a:endParaRPr lang="en-US" sz="1300" dirty="0"/>
          </a:p>
        </p:txBody>
      </p:sp>
      <p:sp>
        <p:nvSpPr>
          <p:cNvPr id="17" name="Shape 14"/>
          <p:cNvSpPr/>
          <p:nvPr/>
        </p:nvSpPr>
        <p:spPr>
          <a:xfrm>
            <a:off x="6675120" y="3063240"/>
            <a:ext cx="4663440" cy="868680"/>
          </a:xfrm>
          <a:prstGeom prst="roundRect">
            <a:avLst>
              <a:gd name="adj" fmla="val 10526"/>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8" name="Shape 15"/>
          <p:cNvSpPr/>
          <p:nvPr/>
        </p:nvSpPr>
        <p:spPr>
          <a:xfrm>
            <a:off x="6967728" y="3241548"/>
            <a:ext cx="512064" cy="512064"/>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9" name="Image 1" descr="preencoded.png"/>
          <p:cNvPicPr>
            <a:picLocks noChangeAspect="1"/>
          </p:cNvPicPr>
          <p:nvPr/>
        </p:nvPicPr>
        <p:blipFill>
          <a:blip r:embed="rId4"/>
          <a:stretch>
            <a:fillRect/>
          </a:stretch>
        </p:blipFill>
        <p:spPr>
          <a:xfrm>
            <a:off x="7090623" y="3364443"/>
            <a:ext cx="266273" cy="266273"/>
          </a:xfrm>
          <a:prstGeom prst="rect">
            <a:avLst/>
          </a:prstGeom>
        </p:spPr>
      </p:pic>
      <p:sp>
        <p:nvSpPr>
          <p:cNvPr id="20" name="Text 16"/>
          <p:cNvSpPr/>
          <p:nvPr/>
        </p:nvSpPr>
        <p:spPr>
          <a:xfrm>
            <a:off x="7635240" y="3200400"/>
            <a:ext cx="3520440" cy="320040"/>
          </a:xfrm>
          <a:prstGeom prst="rect">
            <a:avLst/>
          </a:prstGeom>
          <a:noFill/>
          <a:ln/>
        </p:spPr>
        <p:txBody>
          <a:bodyPr wrap="square" rtlCol="0" anchor="ctr"/>
          <a:lstStyle/>
          <a:p>
            <a:pPr marL="0" indent="0">
              <a:buNone/>
            </a:pPr>
            <a:r>
              <a:rPr lang="en-US" sz="1200" kern="0" spc="100" dirty="0">
                <a:solidFill>
                  <a:srgbClr val="16181D"/>
                </a:solidFill>
                <a:latin typeface="Consolas" pitchFamily="34" charset="0"/>
                <a:ea typeface="Consolas" pitchFamily="34" charset="-122"/>
                <a:cs typeface="Consolas" pitchFamily="34" charset="-120"/>
              </a:rPr>
              <a:t>Spring AI</a:t>
            </a:r>
            <a:endParaRPr lang="en-US" sz="1200" dirty="0"/>
          </a:p>
        </p:txBody>
      </p:sp>
      <p:sp>
        <p:nvSpPr>
          <p:cNvPr id="21" name="Text 17"/>
          <p:cNvSpPr/>
          <p:nvPr/>
        </p:nvSpPr>
        <p:spPr>
          <a:xfrm>
            <a:off x="7635240" y="3493008"/>
            <a:ext cx="3566160" cy="365760"/>
          </a:xfrm>
          <a:prstGeom prst="rect">
            <a:avLst/>
          </a:prstGeom>
          <a:noFill/>
          <a:ln/>
        </p:spPr>
        <p:txBody>
          <a:bodyPr wrap="square" rtlCol="0" anchor="ctr"/>
          <a:lstStyle/>
          <a:p>
            <a:pPr marL="0" indent="0">
              <a:buNone/>
            </a:pPr>
            <a:r>
              <a:rPr lang="en-US" sz="1300" dirty="0">
                <a:solidFill>
                  <a:srgbClr val="666C7A"/>
                </a:solidFill>
                <a:latin typeface="Calibri" pitchFamily="34" charset="0"/>
                <a:ea typeface="Calibri" pitchFamily="34" charset="-122"/>
                <a:cs typeface="Calibri" pitchFamily="34" charset="-120"/>
              </a:rPr>
              <a:t>the same, wired into Spring Boot</a:t>
            </a:r>
            <a:endParaRPr lang="en-US" sz="1300" dirty="0"/>
          </a:p>
        </p:txBody>
      </p:sp>
      <p:sp>
        <p:nvSpPr>
          <p:cNvPr id="22" name="Shape 18"/>
          <p:cNvSpPr/>
          <p:nvPr/>
        </p:nvSpPr>
        <p:spPr>
          <a:xfrm>
            <a:off x="6675120" y="4114800"/>
            <a:ext cx="4663440" cy="868680"/>
          </a:xfrm>
          <a:prstGeom prst="roundRect">
            <a:avLst>
              <a:gd name="adj" fmla="val 10526"/>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3" name="Shape 19"/>
          <p:cNvSpPr/>
          <p:nvPr/>
        </p:nvSpPr>
        <p:spPr>
          <a:xfrm>
            <a:off x="6967728" y="4293108"/>
            <a:ext cx="512064" cy="512064"/>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4" name="Image 2" descr="preencoded.png"/>
          <p:cNvPicPr>
            <a:picLocks noChangeAspect="1"/>
          </p:cNvPicPr>
          <p:nvPr/>
        </p:nvPicPr>
        <p:blipFill>
          <a:blip r:embed="rId5"/>
          <a:stretch>
            <a:fillRect/>
          </a:stretch>
        </p:blipFill>
        <p:spPr>
          <a:xfrm>
            <a:off x="7090623" y="4416003"/>
            <a:ext cx="266273" cy="266273"/>
          </a:xfrm>
          <a:prstGeom prst="rect">
            <a:avLst/>
          </a:prstGeom>
        </p:spPr>
      </p:pic>
      <p:sp>
        <p:nvSpPr>
          <p:cNvPr id="25" name="Text 20"/>
          <p:cNvSpPr/>
          <p:nvPr/>
        </p:nvSpPr>
        <p:spPr>
          <a:xfrm>
            <a:off x="7635240" y="4251960"/>
            <a:ext cx="3520440" cy="320040"/>
          </a:xfrm>
          <a:prstGeom prst="rect">
            <a:avLst/>
          </a:prstGeom>
          <a:noFill/>
          <a:ln/>
        </p:spPr>
        <p:txBody>
          <a:bodyPr wrap="square" rtlCol="0" anchor="ctr"/>
          <a:lstStyle/>
          <a:p>
            <a:pPr marL="0" indent="0">
              <a:buNone/>
            </a:pPr>
            <a:r>
              <a:rPr lang="en-US" sz="1200" kern="0" spc="100" dirty="0">
                <a:solidFill>
                  <a:srgbClr val="16181D"/>
                </a:solidFill>
                <a:latin typeface="Consolas" pitchFamily="34" charset="0"/>
                <a:ea typeface="Consolas" pitchFamily="34" charset="-122"/>
                <a:cs typeface="Consolas" pitchFamily="34" charset="-120"/>
              </a:rPr>
              <a:t>the point</a:t>
            </a:r>
            <a:endParaRPr lang="en-US" sz="1200" dirty="0"/>
          </a:p>
        </p:txBody>
      </p:sp>
      <p:sp>
        <p:nvSpPr>
          <p:cNvPr id="26" name="Text 21"/>
          <p:cNvSpPr/>
          <p:nvPr/>
        </p:nvSpPr>
        <p:spPr>
          <a:xfrm>
            <a:off x="7635240" y="4544568"/>
            <a:ext cx="3566160" cy="365760"/>
          </a:xfrm>
          <a:prstGeom prst="rect">
            <a:avLst/>
          </a:prstGeom>
          <a:noFill/>
          <a:ln/>
        </p:spPr>
        <p:txBody>
          <a:bodyPr wrap="square" rtlCol="0" anchor="ctr"/>
          <a:lstStyle/>
          <a:p>
            <a:pPr marL="0" indent="0">
              <a:buNone/>
            </a:pPr>
            <a:r>
              <a:rPr lang="en-US" sz="1300" dirty="0">
                <a:solidFill>
                  <a:srgbClr val="666C7A"/>
                </a:solidFill>
                <a:latin typeface="Calibri" pitchFamily="34" charset="0"/>
                <a:ea typeface="Calibri" pitchFamily="34" charset="-122"/>
                <a:cs typeface="Calibri" pitchFamily="34" charset="-120"/>
              </a:rPr>
              <a:t>type-safe, testable, production-grade agents</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marL="0" indent="0">
              <a:buNone/>
            </a:pPr>
            <a:r>
              <a:rPr lang="en-US" sz="9200" b="1" dirty="0">
                <a:solidFill>
                  <a:srgbClr val="E1E5EC"/>
                </a:solidFill>
                <a:latin typeface="Arial" pitchFamily="34" charset="0"/>
                <a:ea typeface="Arial" pitchFamily="34" charset="-122"/>
                <a:cs typeface="Arial" pitchFamily="34" charset="-120"/>
              </a:rPr>
              <a:t>iv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marL="0" indent="0">
              <a:buNone/>
            </a:pPr>
            <a:r>
              <a:rPr lang="en-US" sz="1100" b="1" kern="0" spc="300" dirty="0">
                <a:solidFill>
                  <a:srgbClr val="7C3AED"/>
                </a:solidFill>
                <a:latin typeface="Arial" pitchFamily="34" charset="0"/>
                <a:ea typeface="Arial" pitchFamily="34" charset="-122"/>
                <a:cs typeface="Arial" pitchFamily="34" charset="-120"/>
              </a:rPr>
              <a:t>ACT FOUR</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marL="0" indent="0">
              <a:lnSpc>
                <a:spcPts val="5000"/>
              </a:lnSpc>
              <a:buNone/>
            </a:pPr>
            <a:r>
              <a:rPr lang="en-US" sz="5000" b="1" dirty="0">
                <a:solidFill>
                  <a:srgbClr val="16181D"/>
                </a:solidFill>
                <a:latin typeface="Arial" pitchFamily="34" charset="0"/>
                <a:ea typeface="Arial" pitchFamily="34" charset="-122"/>
                <a:cs typeface="Arial" pitchFamily="34" charset="-120"/>
              </a:rPr>
              <a:t>Control Beyond</a:t>
            </a:r>
            <a:endParaRPr lang="en-US" sz="5000" dirty="0"/>
          </a:p>
          <a:p>
            <a:pPr marL="0" indent="0">
              <a:lnSpc>
                <a:spcPts val="5000"/>
              </a:lnSpc>
              <a:buNone/>
            </a:pPr>
            <a:r>
              <a:rPr lang="en-US" sz="5000" b="1" dirty="0">
                <a:solidFill>
                  <a:srgbClr val="16181D"/>
                </a:solidFill>
                <a:latin typeface="Arial" pitchFamily="34" charset="0"/>
                <a:ea typeface="Arial" pitchFamily="34" charset="-122"/>
                <a:cs typeface="Arial" pitchFamily="34" charset="-120"/>
              </a:rPr>
              <a:t>the Prompt</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marL="0" indent="0">
              <a:lnSpc>
                <a:spcPts val="2500"/>
              </a:lnSpc>
              <a:buNone/>
            </a:pPr>
            <a:r>
              <a:rPr lang="en-US" sz="1700" dirty="0">
                <a:solidFill>
                  <a:srgbClr val="666C7A"/>
                </a:solidFill>
                <a:latin typeface="Calibri" pitchFamily="34" charset="0"/>
                <a:ea typeface="Calibri" pitchFamily="34" charset="-122"/>
                <a:cs typeface="Calibri" pitchFamily="34" charset="-120"/>
              </a:rPr>
              <a:t>The prompt is one lever. There are five more, and they are where reliability comes from.</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COCKPIT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marL="0" indent="0">
              <a:buNone/>
            </a:pPr>
            <a:r>
              <a:rPr lang="en-US" sz="3000" b="1" dirty="0">
                <a:solidFill>
                  <a:srgbClr val="16181D"/>
                </a:solidFill>
                <a:latin typeface="Arial" pitchFamily="34" charset="0"/>
                <a:ea typeface="Arial" pitchFamily="34" charset="-122"/>
                <a:cs typeface="Arial" pitchFamily="34" charset="-120"/>
              </a:rPr>
              <a:t>Six ways to steer. Only </a:t>
            </a:r>
            <a:r>
              <a:rPr lang="en-US" sz="3000" b="1" dirty="0">
                <a:solidFill>
                  <a:srgbClr val="4F46E5"/>
                </a:solidFill>
                <a:latin typeface="Arial" pitchFamily="34" charset="0"/>
                <a:ea typeface="Arial" pitchFamily="34" charset="-122"/>
                <a:cs typeface="Arial" pitchFamily="34" charset="-120"/>
              </a:rPr>
              <a:t>one</a:t>
            </a:r>
            <a:r>
              <a:rPr lang="en-US" sz="3000" b="1" dirty="0">
                <a:solidFill>
                  <a:srgbClr val="16181D"/>
                </a:solidFill>
                <a:latin typeface="Arial" pitchFamily="34" charset="0"/>
                <a:ea typeface="Arial" pitchFamily="34" charset="-122"/>
                <a:cs typeface="Arial" pitchFamily="34" charset="-120"/>
              </a:rPr>
              <a:t> is the prompt.</a:t>
            </a:r>
            <a:endParaRPr lang="en-US" sz="3000" dirty="0"/>
          </a:p>
        </p:txBody>
      </p:sp>
      <p:sp>
        <p:nvSpPr>
          <p:cNvPr id="4" name="Shape 2"/>
          <p:cNvSpPr/>
          <p:nvPr/>
        </p:nvSpPr>
        <p:spPr>
          <a:xfrm>
            <a:off x="841248" y="2057400"/>
            <a:ext cx="3401568" cy="1828800"/>
          </a:xfrm>
          <a:prstGeom prst="roundRect">
            <a:avLst>
              <a:gd name="adj" fmla="val 5000"/>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5" name="Shape 3"/>
          <p:cNvSpPr/>
          <p:nvPr/>
        </p:nvSpPr>
        <p:spPr>
          <a:xfrm>
            <a:off x="1152144" y="2350008"/>
            <a:ext cx="512064" cy="51206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275039" y="2472903"/>
            <a:ext cx="266273" cy="266273"/>
          </a:xfrm>
          <a:prstGeom prst="rect">
            <a:avLst/>
          </a:prstGeom>
        </p:spPr>
      </p:pic>
      <p:sp>
        <p:nvSpPr>
          <p:cNvPr id="7" name="Text 4"/>
          <p:cNvSpPr/>
          <p:nvPr/>
        </p:nvSpPr>
        <p:spPr>
          <a:xfrm>
            <a:off x="1801368" y="2331720"/>
            <a:ext cx="2194560" cy="274320"/>
          </a:xfrm>
          <a:prstGeom prst="rect">
            <a:avLst/>
          </a:prstGeom>
          <a:noFill/>
          <a:ln/>
        </p:spPr>
        <p:txBody>
          <a:bodyPr wrap="square" rtlCol="0" anchor="ctr"/>
          <a:lstStyle/>
          <a:p>
            <a:pPr marL="0" indent="0">
              <a:buNone/>
            </a:pPr>
            <a:r>
              <a:rPr lang="en-US" sz="950" kern="0" spc="200" dirty="0">
                <a:solidFill>
                  <a:srgbClr val="9AA1B0"/>
                </a:solidFill>
                <a:latin typeface="Consolas" pitchFamily="34" charset="0"/>
                <a:ea typeface="Consolas" pitchFamily="34" charset="-122"/>
                <a:cs typeface="Consolas" pitchFamily="34" charset="-120"/>
              </a:rPr>
              <a:t>LEVER 01</a:t>
            </a:r>
            <a:endParaRPr lang="en-US" sz="950" dirty="0"/>
          </a:p>
        </p:txBody>
      </p:sp>
      <p:sp>
        <p:nvSpPr>
          <p:cNvPr id="8" name="Text 5"/>
          <p:cNvSpPr/>
          <p:nvPr/>
        </p:nvSpPr>
        <p:spPr>
          <a:xfrm>
            <a:off x="1801368" y="2587752"/>
            <a:ext cx="2212848" cy="365760"/>
          </a:xfrm>
          <a:prstGeom prst="rect">
            <a:avLst/>
          </a:prstGeom>
          <a:noFill/>
          <a:ln/>
        </p:spPr>
        <p:txBody>
          <a:bodyPr wrap="square" rtlCol="0" anchor="ctr"/>
          <a:lstStyle/>
          <a:p>
            <a:pPr marL="0" indent="0">
              <a:buNone/>
            </a:pPr>
            <a:r>
              <a:rPr lang="en-US" sz="1800" b="1" dirty="0">
                <a:solidFill>
                  <a:srgbClr val="16181D"/>
                </a:solidFill>
                <a:latin typeface="Arial" pitchFamily="34" charset="0"/>
                <a:ea typeface="Arial" pitchFamily="34" charset="-122"/>
                <a:cs typeface="Arial" pitchFamily="34" charset="-120"/>
              </a:rPr>
              <a:t>The prompt</a:t>
            </a:r>
            <a:endParaRPr lang="en-US" sz="1800" dirty="0"/>
          </a:p>
        </p:txBody>
      </p:sp>
      <p:sp>
        <p:nvSpPr>
          <p:cNvPr id="9" name="Text 6"/>
          <p:cNvSpPr/>
          <p:nvPr/>
        </p:nvSpPr>
        <p:spPr>
          <a:xfrm>
            <a:off x="1161288" y="3154680"/>
            <a:ext cx="2761488" cy="685800"/>
          </a:xfrm>
          <a:prstGeom prst="rect">
            <a:avLst/>
          </a:prstGeom>
          <a:noFill/>
          <a:ln/>
        </p:spPr>
        <p:txBody>
          <a:bodyPr wrap="square" rtlCol="0" anchor="ctr"/>
          <a:lstStyle/>
          <a:p>
            <a:pPr marL="0" indent="0">
              <a:lnSpc>
                <a:spcPts val="1700"/>
              </a:lnSpc>
              <a:buNone/>
            </a:pPr>
            <a:r>
              <a:rPr lang="en-US" sz="1250" dirty="0">
                <a:solidFill>
                  <a:srgbClr val="666C7A"/>
                </a:solidFill>
                <a:latin typeface="Calibri" pitchFamily="34" charset="0"/>
                <a:ea typeface="Calibri" pitchFamily="34" charset="-122"/>
                <a:cs typeface="Calibri" pitchFamily="34" charset="-120"/>
              </a:rPr>
              <a:t>What you want. The instruction everyone knows.</a:t>
            </a:r>
            <a:endParaRPr lang="en-US" sz="1250" dirty="0"/>
          </a:p>
        </p:txBody>
      </p:sp>
      <p:sp>
        <p:nvSpPr>
          <p:cNvPr id="10" name="Shape 7"/>
          <p:cNvSpPr/>
          <p:nvPr/>
        </p:nvSpPr>
        <p:spPr>
          <a:xfrm>
            <a:off x="4498848" y="2057400"/>
            <a:ext cx="3401568" cy="1828800"/>
          </a:xfrm>
          <a:prstGeom prst="roundRect">
            <a:avLst>
              <a:gd name="adj" fmla="val 5000"/>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1" name="Shape 8"/>
          <p:cNvSpPr/>
          <p:nvPr/>
        </p:nvSpPr>
        <p:spPr>
          <a:xfrm>
            <a:off x="4809744" y="2350008"/>
            <a:ext cx="512064" cy="512064"/>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32639" y="2472903"/>
            <a:ext cx="266273" cy="266273"/>
          </a:xfrm>
          <a:prstGeom prst="rect">
            <a:avLst/>
          </a:prstGeom>
        </p:spPr>
      </p:pic>
      <p:sp>
        <p:nvSpPr>
          <p:cNvPr id="13" name="Text 9"/>
          <p:cNvSpPr/>
          <p:nvPr/>
        </p:nvSpPr>
        <p:spPr>
          <a:xfrm>
            <a:off x="5458968" y="2331720"/>
            <a:ext cx="2194560" cy="274320"/>
          </a:xfrm>
          <a:prstGeom prst="rect">
            <a:avLst/>
          </a:prstGeom>
          <a:noFill/>
          <a:ln/>
        </p:spPr>
        <p:txBody>
          <a:bodyPr wrap="square" rtlCol="0" anchor="ctr"/>
          <a:lstStyle/>
          <a:p>
            <a:pPr marL="0" indent="0">
              <a:buNone/>
            </a:pPr>
            <a:r>
              <a:rPr lang="en-US" sz="950" kern="0" spc="200" dirty="0">
                <a:solidFill>
                  <a:srgbClr val="9AA1B0"/>
                </a:solidFill>
                <a:latin typeface="Consolas" pitchFamily="34" charset="0"/>
                <a:ea typeface="Consolas" pitchFamily="34" charset="-122"/>
                <a:cs typeface="Consolas" pitchFamily="34" charset="-120"/>
              </a:rPr>
              <a:t>LEVER 02</a:t>
            </a:r>
            <a:endParaRPr lang="en-US" sz="950" dirty="0"/>
          </a:p>
        </p:txBody>
      </p:sp>
      <p:sp>
        <p:nvSpPr>
          <p:cNvPr id="14" name="Text 10"/>
          <p:cNvSpPr/>
          <p:nvPr/>
        </p:nvSpPr>
        <p:spPr>
          <a:xfrm>
            <a:off x="5458968" y="2587752"/>
            <a:ext cx="2212848" cy="365760"/>
          </a:xfrm>
          <a:prstGeom prst="rect">
            <a:avLst/>
          </a:prstGeom>
          <a:noFill/>
          <a:ln/>
        </p:spPr>
        <p:txBody>
          <a:bodyPr wrap="square" rtlCol="0" anchor="ctr"/>
          <a:lstStyle/>
          <a:p>
            <a:pPr marL="0" indent="0">
              <a:buNone/>
            </a:pPr>
            <a:r>
              <a:rPr lang="en-US" sz="1800" b="1" dirty="0">
                <a:solidFill>
                  <a:srgbClr val="16181D"/>
                </a:solidFill>
                <a:latin typeface="Arial" pitchFamily="34" charset="0"/>
                <a:ea typeface="Arial" pitchFamily="34" charset="-122"/>
                <a:cs typeface="Arial" pitchFamily="34" charset="-120"/>
              </a:rPr>
              <a:t>Tools</a:t>
            </a:r>
            <a:endParaRPr lang="en-US" sz="1800" dirty="0"/>
          </a:p>
        </p:txBody>
      </p:sp>
      <p:sp>
        <p:nvSpPr>
          <p:cNvPr id="15" name="Text 11"/>
          <p:cNvSpPr/>
          <p:nvPr/>
        </p:nvSpPr>
        <p:spPr>
          <a:xfrm>
            <a:off x="4818888" y="3154680"/>
            <a:ext cx="2761488" cy="685800"/>
          </a:xfrm>
          <a:prstGeom prst="rect">
            <a:avLst/>
          </a:prstGeom>
          <a:noFill/>
          <a:ln/>
        </p:spPr>
        <p:txBody>
          <a:bodyPr wrap="square" rtlCol="0" anchor="ctr"/>
          <a:lstStyle/>
          <a:p>
            <a:pPr marL="0" indent="0">
              <a:lnSpc>
                <a:spcPts val="1700"/>
              </a:lnSpc>
              <a:buNone/>
            </a:pPr>
            <a:r>
              <a:rPr lang="en-US" sz="1250" dirty="0">
                <a:solidFill>
                  <a:srgbClr val="666C7A"/>
                </a:solidFill>
                <a:latin typeface="Calibri" pitchFamily="34" charset="0"/>
                <a:ea typeface="Calibri" pitchFamily="34" charset="-122"/>
                <a:cs typeface="Calibri" pitchFamily="34" charset="-120"/>
              </a:rPr>
              <a:t>What it is allowed to touch. The capability boundary.</a:t>
            </a:r>
            <a:endParaRPr lang="en-US" sz="1250" dirty="0"/>
          </a:p>
        </p:txBody>
      </p:sp>
      <p:sp>
        <p:nvSpPr>
          <p:cNvPr id="16" name="Shape 12"/>
          <p:cNvSpPr/>
          <p:nvPr/>
        </p:nvSpPr>
        <p:spPr>
          <a:xfrm>
            <a:off x="8156448" y="2057400"/>
            <a:ext cx="3401568" cy="1828800"/>
          </a:xfrm>
          <a:prstGeom prst="roundRect">
            <a:avLst>
              <a:gd name="adj" fmla="val 5000"/>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7" name="Shape 13"/>
          <p:cNvSpPr/>
          <p:nvPr/>
        </p:nvSpPr>
        <p:spPr>
          <a:xfrm>
            <a:off x="8467344" y="2350008"/>
            <a:ext cx="512064" cy="512064"/>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8" name="Image 2" descr="preencoded.png"/>
          <p:cNvPicPr>
            <a:picLocks noChangeAspect="1"/>
          </p:cNvPicPr>
          <p:nvPr/>
        </p:nvPicPr>
        <p:blipFill>
          <a:blip r:embed="rId5"/>
          <a:stretch>
            <a:fillRect/>
          </a:stretch>
        </p:blipFill>
        <p:spPr>
          <a:xfrm>
            <a:off x="8590239" y="2472903"/>
            <a:ext cx="266273" cy="266273"/>
          </a:xfrm>
          <a:prstGeom prst="rect">
            <a:avLst/>
          </a:prstGeom>
        </p:spPr>
      </p:pic>
      <p:sp>
        <p:nvSpPr>
          <p:cNvPr id="19" name="Text 14"/>
          <p:cNvSpPr/>
          <p:nvPr/>
        </p:nvSpPr>
        <p:spPr>
          <a:xfrm>
            <a:off x="9116568" y="2331720"/>
            <a:ext cx="2194560" cy="274320"/>
          </a:xfrm>
          <a:prstGeom prst="rect">
            <a:avLst/>
          </a:prstGeom>
          <a:noFill/>
          <a:ln/>
        </p:spPr>
        <p:txBody>
          <a:bodyPr wrap="square" rtlCol="0" anchor="ctr"/>
          <a:lstStyle/>
          <a:p>
            <a:pPr marL="0" indent="0">
              <a:buNone/>
            </a:pPr>
            <a:r>
              <a:rPr lang="en-US" sz="950" kern="0" spc="200" dirty="0">
                <a:solidFill>
                  <a:srgbClr val="9AA1B0"/>
                </a:solidFill>
                <a:latin typeface="Consolas" pitchFamily="34" charset="0"/>
                <a:ea typeface="Consolas" pitchFamily="34" charset="-122"/>
                <a:cs typeface="Consolas" pitchFamily="34" charset="-120"/>
              </a:rPr>
              <a:t>LEVER 03</a:t>
            </a:r>
            <a:endParaRPr lang="en-US" sz="950" dirty="0"/>
          </a:p>
        </p:txBody>
      </p:sp>
      <p:sp>
        <p:nvSpPr>
          <p:cNvPr id="20" name="Text 15"/>
          <p:cNvSpPr/>
          <p:nvPr/>
        </p:nvSpPr>
        <p:spPr>
          <a:xfrm>
            <a:off x="9116568" y="2587752"/>
            <a:ext cx="2212848" cy="365760"/>
          </a:xfrm>
          <a:prstGeom prst="rect">
            <a:avLst/>
          </a:prstGeom>
          <a:noFill/>
          <a:ln/>
        </p:spPr>
        <p:txBody>
          <a:bodyPr wrap="square" rtlCol="0" anchor="ctr"/>
          <a:lstStyle/>
          <a:p>
            <a:pPr marL="0" indent="0">
              <a:buNone/>
            </a:pPr>
            <a:r>
              <a:rPr lang="en-US" sz="1800" b="1" dirty="0">
                <a:solidFill>
                  <a:srgbClr val="16181D"/>
                </a:solidFill>
                <a:latin typeface="Arial" pitchFamily="34" charset="0"/>
                <a:ea typeface="Arial" pitchFamily="34" charset="-122"/>
                <a:cs typeface="Arial" pitchFamily="34" charset="-120"/>
              </a:rPr>
              <a:t>Schema</a:t>
            </a:r>
            <a:endParaRPr lang="en-US" sz="1800" dirty="0"/>
          </a:p>
        </p:txBody>
      </p:sp>
      <p:sp>
        <p:nvSpPr>
          <p:cNvPr id="21" name="Text 16"/>
          <p:cNvSpPr/>
          <p:nvPr/>
        </p:nvSpPr>
        <p:spPr>
          <a:xfrm>
            <a:off x="8476488" y="3154680"/>
            <a:ext cx="2761488" cy="685800"/>
          </a:xfrm>
          <a:prstGeom prst="rect">
            <a:avLst/>
          </a:prstGeom>
          <a:noFill/>
          <a:ln/>
        </p:spPr>
        <p:txBody>
          <a:bodyPr wrap="square" rtlCol="0" anchor="ctr"/>
          <a:lstStyle/>
          <a:p>
            <a:pPr marL="0" indent="0">
              <a:lnSpc>
                <a:spcPts val="1700"/>
              </a:lnSpc>
              <a:buNone/>
            </a:pPr>
            <a:r>
              <a:rPr lang="en-US" sz="1250" dirty="0">
                <a:solidFill>
                  <a:srgbClr val="666C7A"/>
                </a:solidFill>
                <a:latin typeface="Calibri" pitchFamily="34" charset="0"/>
                <a:ea typeface="Calibri" pitchFamily="34" charset="-122"/>
                <a:cs typeface="Calibri" pitchFamily="34" charset="-120"/>
              </a:rPr>
              <a:t>The shape of the answer. A typed object, not prose.</a:t>
            </a:r>
            <a:endParaRPr lang="en-US" sz="1250" dirty="0"/>
          </a:p>
        </p:txBody>
      </p:sp>
      <p:sp>
        <p:nvSpPr>
          <p:cNvPr id="22" name="Shape 17"/>
          <p:cNvSpPr/>
          <p:nvPr/>
        </p:nvSpPr>
        <p:spPr>
          <a:xfrm>
            <a:off x="841248" y="4142232"/>
            <a:ext cx="3401568" cy="1828800"/>
          </a:xfrm>
          <a:prstGeom prst="roundRect">
            <a:avLst>
              <a:gd name="adj" fmla="val 5000"/>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3" name="Shape 18"/>
          <p:cNvSpPr/>
          <p:nvPr/>
        </p:nvSpPr>
        <p:spPr>
          <a:xfrm>
            <a:off x="1152144" y="4434840"/>
            <a:ext cx="512064" cy="512064"/>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24" name="Image 3" descr="preencoded.png"/>
          <p:cNvPicPr>
            <a:picLocks noChangeAspect="1"/>
          </p:cNvPicPr>
          <p:nvPr/>
        </p:nvPicPr>
        <p:blipFill>
          <a:blip r:embed="rId6"/>
          <a:stretch>
            <a:fillRect/>
          </a:stretch>
        </p:blipFill>
        <p:spPr>
          <a:xfrm>
            <a:off x="1275039" y="4557735"/>
            <a:ext cx="266273" cy="266273"/>
          </a:xfrm>
          <a:prstGeom prst="rect">
            <a:avLst/>
          </a:prstGeom>
        </p:spPr>
      </p:pic>
      <p:sp>
        <p:nvSpPr>
          <p:cNvPr id="25" name="Text 19"/>
          <p:cNvSpPr/>
          <p:nvPr/>
        </p:nvSpPr>
        <p:spPr>
          <a:xfrm>
            <a:off x="1801368" y="4416552"/>
            <a:ext cx="2194560" cy="274320"/>
          </a:xfrm>
          <a:prstGeom prst="rect">
            <a:avLst/>
          </a:prstGeom>
          <a:noFill/>
          <a:ln/>
        </p:spPr>
        <p:txBody>
          <a:bodyPr wrap="square" rtlCol="0" anchor="ctr"/>
          <a:lstStyle/>
          <a:p>
            <a:pPr marL="0" indent="0">
              <a:buNone/>
            </a:pPr>
            <a:r>
              <a:rPr lang="en-US" sz="950" kern="0" spc="200" dirty="0">
                <a:solidFill>
                  <a:srgbClr val="9AA1B0"/>
                </a:solidFill>
                <a:latin typeface="Consolas" pitchFamily="34" charset="0"/>
                <a:ea typeface="Consolas" pitchFamily="34" charset="-122"/>
                <a:cs typeface="Consolas" pitchFamily="34" charset="-120"/>
              </a:rPr>
              <a:t>LEVER 04</a:t>
            </a:r>
            <a:endParaRPr lang="en-US" sz="950" dirty="0"/>
          </a:p>
        </p:txBody>
      </p:sp>
      <p:sp>
        <p:nvSpPr>
          <p:cNvPr id="26" name="Text 20"/>
          <p:cNvSpPr/>
          <p:nvPr/>
        </p:nvSpPr>
        <p:spPr>
          <a:xfrm>
            <a:off x="1801368" y="4672584"/>
            <a:ext cx="2212848" cy="365760"/>
          </a:xfrm>
          <a:prstGeom prst="rect">
            <a:avLst/>
          </a:prstGeom>
          <a:noFill/>
          <a:ln/>
        </p:spPr>
        <p:txBody>
          <a:bodyPr wrap="square" rtlCol="0" anchor="ctr"/>
          <a:lstStyle/>
          <a:p>
            <a:pPr marL="0" indent="0">
              <a:buNone/>
            </a:pPr>
            <a:r>
              <a:rPr lang="en-US" sz="1800" b="1" dirty="0">
                <a:solidFill>
                  <a:srgbClr val="16181D"/>
                </a:solidFill>
                <a:latin typeface="Arial" pitchFamily="34" charset="0"/>
                <a:ea typeface="Arial" pitchFamily="34" charset="-122"/>
                <a:cs typeface="Arial" pitchFamily="34" charset="-120"/>
              </a:rPr>
              <a:t>Guardrails</a:t>
            </a:r>
            <a:endParaRPr lang="en-US" sz="1800" dirty="0"/>
          </a:p>
        </p:txBody>
      </p:sp>
      <p:sp>
        <p:nvSpPr>
          <p:cNvPr id="27" name="Text 21"/>
          <p:cNvSpPr/>
          <p:nvPr/>
        </p:nvSpPr>
        <p:spPr>
          <a:xfrm>
            <a:off x="1161288" y="5239512"/>
            <a:ext cx="2761488" cy="685800"/>
          </a:xfrm>
          <a:prstGeom prst="rect">
            <a:avLst/>
          </a:prstGeom>
          <a:noFill/>
          <a:ln/>
        </p:spPr>
        <p:txBody>
          <a:bodyPr wrap="square" rtlCol="0" anchor="ctr"/>
          <a:lstStyle/>
          <a:p>
            <a:pPr marL="0" indent="0">
              <a:lnSpc>
                <a:spcPts val="1700"/>
              </a:lnSpc>
              <a:buNone/>
            </a:pPr>
            <a:r>
              <a:rPr lang="en-US" sz="1250" dirty="0">
                <a:solidFill>
                  <a:srgbClr val="666C7A"/>
                </a:solidFill>
                <a:latin typeface="Calibri" pitchFamily="34" charset="0"/>
                <a:ea typeface="Calibri" pitchFamily="34" charset="-122"/>
                <a:cs typeface="Calibri" pitchFamily="34" charset="-120"/>
              </a:rPr>
              <a:t>Validation that rejects bad output before it escapes.</a:t>
            </a:r>
            <a:endParaRPr lang="en-US" sz="1250" dirty="0"/>
          </a:p>
        </p:txBody>
      </p:sp>
      <p:sp>
        <p:nvSpPr>
          <p:cNvPr id="28" name="Shape 22"/>
          <p:cNvSpPr/>
          <p:nvPr/>
        </p:nvSpPr>
        <p:spPr>
          <a:xfrm>
            <a:off x="4498848" y="4142232"/>
            <a:ext cx="3401568" cy="1828800"/>
          </a:xfrm>
          <a:prstGeom prst="roundRect">
            <a:avLst>
              <a:gd name="adj" fmla="val 5000"/>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9" name="Shape 23"/>
          <p:cNvSpPr/>
          <p:nvPr/>
        </p:nvSpPr>
        <p:spPr>
          <a:xfrm>
            <a:off x="4809744" y="4434840"/>
            <a:ext cx="512064" cy="512064"/>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30" name="Image 4" descr="preencoded.png"/>
          <p:cNvPicPr>
            <a:picLocks noChangeAspect="1"/>
          </p:cNvPicPr>
          <p:nvPr/>
        </p:nvPicPr>
        <p:blipFill>
          <a:blip r:embed="rId7"/>
          <a:stretch>
            <a:fillRect/>
          </a:stretch>
        </p:blipFill>
        <p:spPr>
          <a:xfrm>
            <a:off x="4932639" y="4557735"/>
            <a:ext cx="266273" cy="266273"/>
          </a:xfrm>
          <a:prstGeom prst="rect">
            <a:avLst/>
          </a:prstGeom>
        </p:spPr>
      </p:pic>
      <p:sp>
        <p:nvSpPr>
          <p:cNvPr id="31" name="Text 24"/>
          <p:cNvSpPr/>
          <p:nvPr/>
        </p:nvSpPr>
        <p:spPr>
          <a:xfrm>
            <a:off x="5458968" y="4416552"/>
            <a:ext cx="2194560" cy="274320"/>
          </a:xfrm>
          <a:prstGeom prst="rect">
            <a:avLst/>
          </a:prstGeom>
          <a:noFill/>
          <a:ln/>
        </p:spPr>
        <p:txBody>
          <a:bodyPr wrap="square" rtlCol="0" anchor="ctr"/>
          <a:lstStyle/>
          <a:p>
            <a:pPr marL="0" indent="0">
              <a:buNone/>
            </a:pPr>
            <a:r>
              <a:rPr lang="en-US" sz="950" kern="0" spc="200" dirty="0">
                <a:solidFill>
                  <a:srgbClr val="9AA1B0"/>
                </a:solidFill>
                <a:latin typeface="Consolas" pitchFamily="34" charset="0"/>
                <a:ea typeface="Consolas" pitchFamily="34" charset="-122"/>
                <a:cs typeface="Consolas" pitchFamily="34" charset="-120"/>
              </a:rPr>
              <a:t>LEVER 05</a:t>
            </a:r>
            <a:endParaRPr lang="en-US" sz="950" dirty="0"/>
          </a:p>
        </p:txBody>
      </p:sp>
      <p:sp>
        <p:nvSpPr>
          <p:cNvPr id="32" name="Text 25"/>
          <p:cNvSpPr/>
          <p:nvPr/>
        </p:nvSpPr>
        <p:spPr>
          <a:xfrm>
            <a:off x="5458968" y="4672584"/>
            <a:ext cx="2212848" cy="365760"/>
          </a:xfrm>
          <a:prstGeom prst="rect">
            <a:avLst/>
          </a:prstGeom>
          <a:noFill/>
          <a:ln/>
        </p:spPr>
        <p:txBody>
          <a:bodyPr wrap="square" rtlCol="0" anchor="ctr"/>
          <a:lstStyle/>
          <a:p>
            <a:pPr marL="0" indent="0">
              <a:buNone/>
            </a:pPr>
            <a:r>
              <a:rPr lang="en-US" sz="1800" b="1" dirty="0">
                <a:solidFill>
                  <a:srgbClr val="16181D"/>
                </a:solidFill>
                <a:latin typeface="Arial" pitchFamily="34" charset="0"/>
                <a:ea typeface="Arial" pitchFamily="34" charset="-122"/>
                <a:cs typeface="Arial" pitchFamily="34" charset="-120"/>
              </a:rPr>
              <a:t>Memory</a:t>
            </a:r>
            <a:endParaRPr lang="en-US" sz="1800" dirty="0"/>
          </a:p>
        </p:txBody>
      </p:sp>
      <p:sp>
        <p:nvSpPr>
          <p:cNvPr id="33" name="Text 26"/>
          <p:cNvSpPr/>
          <p:nvPr/>
        </p:nvSpPr>
        <p:spPr>
          <a:xfrm>
            <a:off x="4818888" y="5239512"/>
            <a:ext cx="2761488" cy="685800"/>
          </a:xfrm>
          <a:prstGeom prst="rect">
            <a:avLst/>
          </a:prstGeom>
          <a:noFill/>
          <a:ln/>
        </p:spPr>
        <p:txBody>
          <a:bodyPr wrap="square" rtlCol="0" anchor="ctr"/>
          <a:lstStyle/>
          <a:p>
            <a:pPr marL="0" indent="0">
              <a:lnSpc>
                <a:spcPts val="1700"/>
              </a:lnSpc>
              <a:buNone/>
            </a:pPr>
            <a:r>
              <a:rPr lang="en-US" sz="1250" dirty="0">
                <a:solidFill>
                  <a:srgbClr val="666C7A"/>
                </a:solidFill>
                <a:latin typeface="Calibri" pitchFamily="34" charset="0"/>
                <a:ea typeface="Calibri" pitchFamily="34" charset="-122"/>
                <a:cs typeface="Calibri" pitchFamily="34" charset="-120"/>
              </a:rPr>
              <a:t>What it remembers, and pointedly what it forgets.</a:t>
            </a:r>
            <a:endParaRPr lang="en-US" sz="1250" dirty="0"/>
          </a:p>
        </p:txBody>
      </p:sp>
      <p:sp>
        <p:nvSpPr>
          <p:cNvPr id="34" name="Shape 27"/>
          <p:cNvSpPr/>
          <p:nvPr/>
        </p:nvSpPr>
        <p:spPr>
          <a:xfrm>
            <a:off x="8156448" y="4142232"/>
            <a:ext cx="3401568" cy="1828800"/>
          </a:xfrm>
          <a:prstGeom prst="roundRect">
            <a:avLst>
              <a:gd name="adj" fmla="val 5000"/>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35" name="Shape 28"/>
          <p:cNvSpPr/>
          <p:nvPr/>
        </p:nvSpPr>
        <p:spPr>
          <a:xfrm>
            <a:off x="8467344" y="4434840"/>
            <a:ext cx="512064" cy="512064"/>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36" name="Image 5" descr="preencoded.png"/>
          <p:cNvPicPr>
            <a:picLocks noChangeAspect="1"/>
          </p:cNvPicPr>
          <p:nvPr/>
        </p:nvPicPr>
        <p:blipFill>
          <a:blip r:embed="rId8"/>
          <a:stretch>
            <a:fillRect/>
          </a:stretch>
        </p:blipFill>
        <p:spPr>
          <a:xfrm>
            <a:off x="8590239" y="4557735"/>
            <a:ext cx="266273" cy="266273"/>
          </a:xfrm>
          <a:prstGeom prst="rect">
            <a:avLst/>
          </a:prstGeom>
        </p:spPr>
      </p:pic>
      <p:sp>
        <p:nvSpPr>
          <p:cNvPr id="37" name="Text 29"/>
          <p:cNvSpPr/>
          <p:nvPr/>
        </p:nvSpPr>
        <p:spPr>
          <a:xfrm>
            <a:off x="9116568" y="4416552"/>
            <a:ext cx="2194560" cy="274320"/>
          </a:xfrm>
          <a:prstGeom prst="rect">
            <a:avLst/>
          </a:prstGeom>
          <a:noFill/>
          <a:ln/>
        </p:spPr>
        <p:txBody>
          <a:bodyPr wrap="square" rtlCol="0" anchor="ctr"/>
          <a:lstStyle/>
          <a:p>
            <a:pPr marL="0" indent="0">
              <a:buNone/>
            </a:pPr>
            <a:r>
              <a:rPr lang="en-US" sz="950" kern="0" spc="200" dirty="0">
                <a:solidFill>
                  <a:srgbClr val="9AA1B0"/>
                </a:solidFill>
                <a:latin typeface="Consolas" pitchFamily="34" charset="0"/>
                <a:ea typeface="Consolas" pitchFamily="34" charset="-122"/>
                <a:cs typeface="Consolas" pitchFamily="34" charset="-120"/>
              </a:rPr>
              <a:t>LEVER 06</a:t>
            </a:r>
            <a:endParaRPr lang="en-US" sz="950" dirty="0"/>
          </a:p>
        </p:txBody>
      </p:sp>
      <p:sp>
        <p:nvSpPr>
          <p:cNvPr id="38" name="Text 30"/>
          <p:cNvSpPr/>
          <p:nvPr/>
        </p:nvSpPr>
        <p:spPr>
          <a:xfrm>
            <a:off x="9116568" y="4672584"/>
            <a:ext cx="2212848" cy="365760"/>
          </a:xfrm>
          <a:prstGeom prst="rect">
            <a:avLst/>
          </a:prstGeom>
          <a:noFill/>
          <a:ln/>
        </p:spPr>
        <p:txBody>
          <a:bodyPr wrap="square" rtlCol="0" anchor="ctr"/>
          <a:lstStyle/>
          <a:p>
            <a:pPr marL="0" indent="0">
              <a:buNone/>
            </a:pPr>
            <a:r>
              <a:rPr lang="en-US" sz="1800" b="1" dirty="0">
                <a:solidFill>
                  <a:srgbClr val="16181D"/>
                </a:solidFill>
                <a:latin typeface="Arial" pitchFamily="34" charset="0"/>
                <a:ea typeface="Arial" pitchFamily="34" charset="-122"/>
                <a:cs typeface="Arial" pitchFamily="34" charset="-120"/>
              </a:rPr>
              <a:t>Orchestration</a:t>
            </a:r>
            <a:endParaRPr lang="en-US" sz="1800" dirty="0"/>
          </a:p>
        </p:txBody>
      </p:sp>
      <p:sp>
        <p:nvSpPr>
          <p:cNvPr id="39" name="Text 31"/>
          <p:cNvSpPr/>
          <p:nvPr/>
        </p:nvSpPr>
        <p:spPr>
          <a:xfrm>
            <a:off x="8476488" y="5239512"/>
            <a:ext cx="2761488" cy="685800"/>
          </a:xfrm>
          <a:prstGeom prst="rect">
            <a:avLst/>
          </a:prstGeom>
          <a:noFill/>
          <a:ln/>
        </p:spPr>
        <p:txBody>
          <a:bodyPr wrap="square" rtlCol="0" anchor="ctr"/>
          <a:lstStyle/>
          <a:p>
            <a:pPr marL="0" indent="0">
              <a:lnSpc>
                <a:spcPts val="1700"/>
              </a:lnSpc>
              <a:buNone/>
            </a:pPr>
            <a:r>
              <a:rPr lang="en-US" sz="1250" dirty="0">
                <a:solidFill>
                  <a:srgbClr val="666C7A"/>
                </a:solidFill>
                <a:latin typeface="Calibri" pitchFamily="34" charset="0"/>
                <a:ea typeface="Calibri" pitchFamily="34" charset="-122"/>
                <a:cs typeface="Calibri" pitchFamily="34" charset="-120"/>
              </a:rPr>
              <a:t>Who talks to whom. Tonight, a crew.</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SHIFT</a:t>
            </a:r>
            <a:endParaRPr lang="en-US" sz="1100" dirty="0"/>
          </a:p>
        </p:txBody>
      </p:sp>
      <p:sp>
        <p:nvSpPr>
          <p:cNvPr id="3" name="Text 1"/>
          <p:cNvSpPr/>
          <p:nvPr/>
        </p:nvSpPr>
        <p:spPr>
          <a:xfrm>
            <a:off x="1097280" y="1234440"/>
            <a:ext cx="10058400" cy="1645920"/>
          </a:xfrm>
          <a:prstGeom prst="rect">
            <a:avLst/>
          </a:prstGeom>
          <a:noFill/>
          <a:ln/>
        </p:spPr>
        <p:txBody>
          <a:bodyPr wrap="square" rtlCol="0" anchor="ctr"/>
          <a:lstStyle/>
          <a:p>
            <a:pPr marL="0" indent="0" algn="ctr">
              <a:lnSpc>
                <a:spcPts val="5200"/>
              </a:lnSpc>
              <a:buNone/>
            </a:pPr>
            <a:r>
              <a:rPr lang="en-US" sz="4400" b="1" dirty="0">
                <a:solidFill>
                  <a:srgbClr val="16181D"/>
                </a:solidFill>
                <a:latin typeface="Arial" pitchFamily="34" charset="0"/>
                <a:ea typeface="Arial" pitchFamily="34" charset="-122"/>
                <a:cs typeface="Arial" pitchFamily="34" charset="-120"/>
              </a:rPr>
              <a:t>You don't </a:t>
            </a:r>
            <a:r>
              <a:rPr lang="en-US" sz="4400" b="1" dirty="0">
                <a:solidFill>
                  <a:srgbClr val="4F46E5"/>
                </a:solidFill>
                <a:latin typeface="Arial" pitchFamily="34" charset="0"/>
                <a:ea typeface="Arial" pitchFamily="34" charset="-122"/>
                <a:cs typeface="Arial" pitchFamily="34" charset="-120"/>
              </a:rPr>
              <a:t>program</a:t>
            </a:r>
            <a:r>
              <a:rPr lang="en-US" sz="4400" b="1" dirty="0">
                <a:solidFill>
                  <a:srgbClr val="16181D"/>
                </a:solidFill>
                <a:latin typeface="Arial" pitchFamily="34" charset="0"/>
                <a:ea typeface="Arial" pitchFamily="34" charset="-122"/>
                <a:cs typeface="Arial" pitchFamily="34" charset="-120"/>
              </a:rPr>
              <a:t> an agent.</a:t>
            </a:r>
            <a:endParaRPr lang="en-US" sz="4400" dirty="0"/>
          </a:p>
          <a:p>
            <a:pPr marL="0" indent="0" algn="ctr">
              <a:lnSpc>
                <a:spcPts val="5200"/>
              </a:lnSpc>
              <a:buNone/>
            </a:pPr>
            <a:r>
              <a:rPr lang="en-US" sz="4400" b="1" dirty="0">
                <a:solidFill>
                  <a:srgbClr val="16181D"/>
                </a:solidFill>
                <a:latin typeface="Arial" pitchFamily="34" charset="0"/>
                <a:ea typeface="Arial" pitchFamily="34" charset="-122"/>
                <a:cs typeface="Arial" pitchFamily="34" charset="-120"/>
              </a:rPr>
              <a:t>You </a:t>
            </a:r>
            <a:endParaRPr lang="en-US" sz="4400" dirty="0"/>
          </a:p>
          <a:p>
            <a:pPr marL="0" indent="0" algn="ctr">
              <a:lnSpc>
                <a:spcPts val="5200"/>
              </a:lnSpc>
              <a:buNone/>
            </a:pPr>
            <a:r>
              <a:rPr lang="en-US" sz="4400" b="1" dirty="0">
                <a:solidFill>
                  <a:srgbClr val="4F46E5"/>
                </a:solidFill>
                <a:latin typeface="Arial" pitchFamily="34" charset="0"/>
                <a:ea typeface="Arial" pitchFamily="34" charset="-122"/>
                <a:cs typeface="Arial" pitchFamily="34" charset="-120"/>
              </a:rPr>
              <a:t>constrain</a:t>
            </a:r>
            <a:r>
              <a:rPr lang="en-US" sz="4400" b="1" dirty="0">
                <a:solidFill>
                  <a:srgbClr val="16181D"/>
                </a:solidFill>
                <a:latin typeface="Arial" pitchFamily="34" charset="0"/>
                <a:ea typeface="Arial" pitchFamily="34" charset="-122"/>
                <a:cs typeface="Arial" pitchFamily="34" charset="-120"/>
              </a:rPr>
              <a:t> it.</a:t>
            </a:r>
            <a:endParaRPr lang="en-US" sz="4400" dirty="0"/>
          </a:p>
        </p:txBody>
      </p:sp>
      <p:sp>
        <p:nvSpPr>
          <p:cNvPr id="4" name="Shape 2"/>
          <p:cNvSpPr/>
          <p:nvPr/>
        </p:nvSpPr>
        <p:spPr>
          <a:xfrm>
            <a:off x="5364328" y="3931920"/>
            <a:ext cx="1463040" cy="914400"/>
          </a:xfrm>
          <a:prstGeom prst="roundRect">
            <a:avLst>
              <a:gd name="adj" fmla="val 12000"/>
            </a:avLst>
          </a:prstGeom>
          <a:solidFill>
            <a:srgbClr val="F5F7FA"/>
          </a:solidFill>
          <a:ln w="19050">
            <a:solidFill>
              <a:srgbClr val="4F46E5"/>
            </a:solidFill>
            <a:prstDash val="dash"/>
          </a:ln>
        </p:spPr>
        <p:txBody>
          <a:bodyPr/>
          <a:lstStyle/>
          <a:p>
            <a:endParaRPr lang="en-US"/>
          </a:p>
        </p:txBody>
      </p:sp>
      <p:sp>
        <p:nvSpPr>
          <p:cNvPr id="5" name="Shape 3"/>
          <p:cNvSpPr/>
          <p:nvPr/>
        </p:nvSpPr>
        <p:spPr>
          <a:xfrm>
            <a:off x="5958688" y="4251960"/>
            <a:ext cx="274320" cy="274320"/>
          </a:xfrm>
          <a:prstGeom prst="ellipse">
            <a:avLst/>
          </a:prstGeom>
          <a:solidFill>
            <a:srgbClr val="4F46E5"/>
          </a:solidFill>
          <a:ln/>
        </p:spPr>
        <p:txBody>
          <a:bodyPr/>
          <a:lstStyle/>
          <a:p>
            <a:endParaRPr lang="en-US"/>
          </a:p>
        </p:txBody>
      </p:sp>
      <p:sp>
        <p:nvSpPr>
          <p:cNvPr id="6" name="Text 4"/>
          <p:cNvSpPr/>
          <p:nvPr/>
        </p:nvSpPr>
        <p:spPr>
          <a:xfrm>
            <a:off x="4632808" y="3429000"/>
            <a:ext cx="2926080" cy="292608"/>
          </a:xfrm>
          <a:prstGeom prst="rect">
            <a:avLst/>
          </a:prstGeom>
          <a:noFill/>
          <a:ln/>
        </p:spPr>
        <p:txBody>
          <a:bodyPr wrap="square" rtlCol="0" anchor="ctr"/>
          <a:lstStyle/>
          <a:p>
            <a:pPr marL="0" indent="0" algn="ctr">
              <a:buNone/>
            </a:pPr>
            <a:r>
              <a:rPr lang="en-US" sz="1100" b="1" kern="0" spc="100" dirty="0">
                <a:solidFill>
                  <a:srgbClr val="0F9E8E"/>
                </a:solidFill>
                <a:latin typeface="Consolas" pitchFamily="34" charset="0"/>
                <a:ea typeface="Consolas" pitchFamily="34" charset="-122"/>
                <a:cs typeface="Consolas" pitchFamily="34" charset="-120"/>
              </a:rPr>
              <a:t>PROMPT  </a:t>
            </a:r>
            <a:r>
              <a:rPr lang="en-US" sz="1100" kern="0" spc="100" dirty="0">
                <a:solidFill>
                  <a:srgbClr val="9AA1B0"/>
                </a:solidFill>
                <a:latin typeface="Consolas" pitchFamily="34" charset="0"/>
                <a:ea typeface="Consolas" pitchFamily="34" charset="-122"/>
                <a:cs typeface="Consolas" pitchFamily="34" charset="-120"/>
              </a:rPr>
              <a:t>says what</a:t>
            </a:r>
            <a:endParaRPr lang="en-US" sz="1100" dirty="0"/>
          </a:p>
        </p:txBody>
      </p:sp>
      <p:sp>
        <p:nvSpPr>
          <p:cNvPr id="7" name="Text 5"/>
          <p:cNvSpPr/>
          <p:nvPr/>
        </p:nvSpPr>
        <p:spPr>
          <a:xfrm>
            <a:off x="7147408" y="4242816"/>
            <a:ext cx="2926080" cy="292608"/>
          </a:xfrm>
          <a:prstGeom prst="rect">
            <a:avLst/>
          </a:prstGeom>
          <a:noFill/>
          <a:ln/>
        </p:spPr>
        <p:txBody>
          <a:bodyPr wrap="square" rtlCol="0" anchor="ctr"/>
          <a:lstStyle/>
          <a:p>
            <a:pPr marL="0" indent="0" algn="l">
              <a:buNone/>
            </a:pPr>
            <a:r>
              <a:rPr lang="en-US" sz="1100" b="1" kern="0" spc="100" dirty="0">
                <a:solidFill>
                  <a:srgbClr val="7C3AED"/>
                </a:solidFill>
                <a:latin typeface="Consolas" pitchFamily="34" charset="0"/>
                <a:ea typeface="Consolas" pitchFamily="34" charset="-122"/>
                <a:cs typeface="Consolas" pitchFamily="34" charset="-120"/>
              </a:rPr>
              <a:t>TOOLS  </a:t>
            </a:r>
            <a:r>
              <a:rPr lang="en-US" sz="1100" kern="0" spc="100" dirty="0">
                <a:solidFill>
                  <a:srgbClr val="9AA1B0"/>
                </a:solidFill>
                <a:latin typeface="Consolas" pitchFamily="34" charset="0"/>
                <a:ea typeface="Consolas" pitchFamily="34" charset="-122"/>
                <a:cs typeface="Consolas" pitchFamily="34" charset="-120"/>
              </a:rPr>
              <a:t>say how far</a:t>
            </a:r>
            <a:endParaRPr lang="en-US" sz="1100" dirty="0"/>
          </a:p>
        </p:txBody>
      </p:sp>
      <p:sp>
        <p:nvSpPr>
          <p:cNvPr id="8" name="Text 6"/>
          <p:cNvSpPr/>
          <p:nvPr/>
        </p:nvSpPr>
        <p:spPr>
          <a:xfrm>
            <a:off x="4632808" y="5120640"/>
            <a:ext cx="2926080" cy="292608"/>
          </a:xfrm>
          <a:prstGeom prst="rect">
            <a:avLst/>
          </a:prstGeom>
          <a:noFill/>
          <a:ln/>
        </p:spPr>
        <p:txBody>
          <a:bodyPr wrap="square" rtlCol="0" anchor="ctr"/>
          <a:lstStyle/>
          <a:p>
            <a:pPr marL="0" indent="0" algn="ctr">
              <a:buNone/>
            </a:pPr>
            <a:r>
              <a:rPr lang="en-US" sz="1100" b="1" kern="0" spc="100" dirty="0">
                <a:solidFill>
                  <a:srgbClr val="0284C7"/>
                </a:solidFill>
                <a:latin typeface="Consolas" pitchFamily="34" charset="0"/>
                <a:ea typeface="Consolas" pitchFamily="34" charset="-122"/>
                <a:cs typeface="Consolas" pitchFamily="34" charset="-120"/>
              </a:rPr>
              <a:t>SCHEMA  </a:t>
            </a:r>
            <a:r>
              <a:rPr lang="en-US" sz="1100" kern="0" spc="100" dirty="0">
                <a:solidFill>
                  <a:srgbClr val="9AA1B0"/>
                </a:solidFill>
                <a:latin typeface="Consolas" pitchFamily="34" charset="0"/>
                <a:ea typeface="Consolas" pitchFamily="34" charset="-122"/>
                <a:cs typeface="Consolas" pitchFamily="34" charset="-120"/>
              </a:rPr>
              <a:t>says what shape</a:t>
            </a:r>
            <a:endParaRPr lang="en-US" sz="1100" dirty="0"/>
          </a:p>
        </p:txBody>
      </p:sp>
      <p:sp>
        <p:nvSpPr>
          <p:cNvPr id="9" name="Text 7"/>
          <p:cNvSpPr/>
          <p:nvPr/>
        </p:nvSpPr>
        <p:spPr>
          <a:xfrm>
            <a:off x="2118208" y="4242816"/>
            <a:ext cx="2926080" cy="292608"/>
          </a:xfrm>
          <a:prstGeom prst="rect">
            <a:avLst/>
          </a:prstGeom>
          <a:noFill/>
          <a:ln/>
        </p:spPr>
        <p:txBody>
          <a:bodyPr wrap="square" rtlCol="0" anchor="ctr"/>
          <a:lstStyle/>
          <a:p>
            <a:pPr marL="0" indent="0" algn="r">
              <a:buNone/>
            </a:pPr>
            <a:r>
              <a:rPr lang="en-US" sz="1100" b="1" kern="0" spc="100" dirty="0">
                <a:solidFill>
                  <a:srgbClr val="E11D48"/>
                </a:solidFill>
                <a:latin typeface="Consolas" pitchFamily="34" charset="0"/>
                <a:ea typeface="Consolas" pitchFamily="34" charset="-122"/>
                <a:cs typeface="Consolas" pitchFamily="34" charset="-120"/>
              </a:rPr>
              <a:t>ORCHESTRATION  </a:t>
            </a:r>
            <a:r>
              <a:rPr lang="en-US" sz="1100" kern="0" spc="100" dirty="0">
                <a:solidFill>
                  <a:srgbClr val="9AA1B0"/>
                </a:solidFill>
                <a:latin typeface="Consolas" pitchFamily="34" charset="0"/>
                <a:ea typeface="Consolas" pitchFamily="34" charset="-122"/>
                <a:cs typeface="Consolas" pitchFamily="34" charset="-120"/>
              </a:rPr>
              <a:t>says who</a:t>
            </a:r>
            <a:endParaRPr lang="en-US" sz="1100" dirty="0"/>
          </a:p>
        </p:txBody>
      </p:sp>
      <p:sp>
        <p:nvSpPr>
          <p:cNvPr id="10" name="Text 8"/>
          <p:cNvSpPr/>
          <p:nvPr/>
        </p:nvSpPr>
        <p:spPr>
          <a:xfrm>
            <a:off x="2286000" y="5806440"/>
            <a:ext cx="7616952" cy="411480"/>
          </a:xfrm>
          <a:prstGeom prst="rect">
            <a:avLst/>
          </a:prstGeom>
          <a:noFill/>
          <a:ln/>
        </p:spPr>
        <p:txBody>
          <a:bodyPr wrap="square" rtlCol="0" anchor="ctr"/>
          <a:lstStyle/>
          <a:p>
            <a:pPr marL="0" indent="0" algn="ctr">
              <a:buNone/>
            </a:pPr>
            <a:r>
              <a:rPr lang="en-US" sz="1700" dirty="0">
                <a:solidFill>
                  <a:srgbClr val="666C7A"/>
                </a:solidFill>
                <a:latin typeface="Calibri" pitchFamily="34" charset="0"/>
                <a:ea typeface="Calibri" pitchFamily="34" charset="-122"/>
                <a:cs typeface="Calibri" pitchFamily="34" charset="-120"/>
              </a:rPr>
              <a:t>Good agent design is good constraint design.</a:t>
            </a:r>
            <a:endParaRPr lang="en-US" sz="1700" dirty="0"/>
          </a:p>
        </p:txBody>
      </p:sp>
      <p:sp>
        <p:nvSpPr>
          <p:cNvPr id="11" name="Text 9"/>
          <p:cNvSpPr/>
          <p:nvPr/>
        </p:nvSpPr>
        <p:spPr>
          <a:xfrm>
            <a:off x="2651760" y="6217920"/>
            <a:ext cx="6858000" cy="502920"/>
          </a:xfrm>
          <a:prstGeom prst="rect">
            <a:avLst/>
          </a:prstGeom>
          <a:noFill/>
          <a:ln/>
        </p:spPr>
        <p:txBody>
          <a:bodyPr wrap="square" rtlCol="0" anchor="ctr"/>
          <a:lstStyle/>
          <a:p>
            <a:pPr marL="0" indent="0" algn="ctr">
              <a:lnSpc>
                <a:spcPts val="1700"/>
              </a:lnSpc>
              <a:buNone/>
            </a:pPr>
            <a:r>
              <a:rPr lang="en-US" sz="1300" dirty="0">
                <a:solidFill>
                  <a:srgbClr val="9AA1B0"/>
                </a:solidFill>
                <a:latin typeface="Calibri" pitchFamily="34" charset="0"/>
                <a:ea typeface="Calibri" pitchFamily="34" charset="-122"/>
                <a:cs typeface="Calibri" pitchFamily="34" charset="-120"/>
              </a:rPr>
              <a:t>When output is wrong, the fix is almost never a longer prompt. It is a tighter tool, a stricter schema, or a different agent doing the job.</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8138160" y="2743200"/>
            <a:ext cx="4023360" cy="4023360"/>
          </a:xfrm>
          <a:prstGeom prst="rect">
            <a:avLst/>
          </a:prstGeom>
        </p:spPr>
      </p:pic>
      <p:sp>
        <p:nvSpPr>
          <p:cNvPr id="3" name="Text 0"/>
          <p:cNvSpPr/>
          <p:nvPr/>
        </p:nvSpPr>
        <p:spPr>
          <a:xfrm>
            <a:off x="841248" y="1143000"/>
            <a:ext cx="3657600" cy="1463040"/>
          </a:xfrm>
          <a:prstGeom prst="rect">
            <a:avLst/>
          </a:prstGeom>
          <a:noFill/>
          <a:ln/>
        </p:spPr>
        <p:txBody>
          <a:bodyPr wrap="square" rtlCol="0" anchor="ctr"/>
          <a:lstStyle/>
          <a:p>
            <a:pPr marL="0" indent="0">
              <a:buNone/>
            </a:pPr>
            <a:r>
              <a:rPr lang="en-US" sz="9200" b="1" dirty="0">
                <a:solidFill>
                  <a:srgbClr val="E1E5EC"/>
                </a:solidFill>
                <a:latin typeface="Arial" pitchFamily="34" charset="0"/>
                <a:ea typeface="Arial" pitchFamily="34" charset="-122"/>
                <a:cs typeface="Arial" pitchFamily="34" charset="-120"/>
              </a:rPr>
              <a:t>v</a:t>
            </a:r>
            <a:endParaRPr lang="en-US" sz="9200" dirty="0"/>
          </a:p>
        </p:txBody>
      </p:sp>
      <p:sp>
        <p:nvSpPr>
          <p:cNvPr id="4" name="Text 1"/>
          <p:cNvSpPr/>
          <p:nvPr/>
        </p:nvSpPr>
        <p:spPr>
          <a:xfrm>
            <a:off x="841248" y="2788920"/>
            <a:ext cx="9144000" cy="292608"/>
          </a:xfrm>
          <a:prstGeom prst="rect">
            <a:avLst/>
          </a:prstGeom>
          <a:noFill/>
          <a:ln/>
        </p:spPr>
        <p:txBody>
          <a:bodyPr wrap="square" rtlCol="0" anchor="ctr"/>
          <a:lstStyle/>
          <a:p>
            <a:pPr marL="0" indent="0">
              <a:buNone/>
            </a:pPr>
            <a:r>
              <a:rPr lang="en-US" sz="1100" b="1" kern="0" spc="300" dirty="0">
                <a:solidFill>
                  <a:srgbClr val="D97706"/>
                </a:solidFill>
                <a:latin typeface="Arial" pitchFamily="34" charset="0"/>
                <a:ea typeface="Arial" pitchFamily="34" charset="-122"/>
                <a:cs typeface="Arial" pitchFamily="34" charset="-120"/>
              </a:rPr>
              <a:t>ACT FIVE</a:t>
            </a:r>
            <a:endParaRPr lang="en-US" sz="1100" dirty="0"/>
          </a:p>
        </p:txBody>
      </p:sp>
      <p:sp>
        <p:nvSpPr>
          <p:cNvPr id="5" name="Text 2"/>
          <p:cNvSpPr/>
          <p:nvPr/>
        </p:nvSpPr>
        <p:spPr>
          <a:xfrm>
            <a:off x="841248" y="3154680"/>
            <a:ext cx="8229600" cy="1463040"/>
          </a:xfrm>
          <a:prstGeom prst="rect">
            <a:avLst/>
          </a:prstGeom>
          <a:noFill/>
          <a:ln/>
        </p:spPr>
        <p:txBody>
          <a:bodyPr wrap="square" rtlCol="0" anchor="ctr"/>
          <a:lstStyle/>
          <a:p>
            <a:pPr marL="0" indent="0">
              <a:lnSpc>
                <a:spcPts val="5000"/>
              </a:lnSpc>
              <a:buNone/>
            </a:pPr>
            <a:r>
              <a:rPr lang="en-US" sz="5000" b="1" dirty="0">
                <a:solidFill>
                  <a:srgbClr val="16181D"/>
                </a:solidFill>
                <a:latin typeface="Arial" pitchFamily="34" charset="0"/>
                <a:ea typeface="Arial" pitchFamily="34" charset="-122"/>
                <a:cs typeface="Arial" pitchFamily="34" charset="-120"/>
              </a:rPr>
              <a:t>One Prompt.</a:t>
            </a:r>
            <a:endParaRPr lang="en-US" sz="5000" dirty="0"/>
          </a:p>
          <a:p>
            <a:pPr marL="0" indent="0">
              <a:lnSpc>
                <a:spcPts val="5000"/>
              </a:lnSpc>
              <a:buNone/>
            </a:pPr>
            <a:r>
              <a:rPr lang="en-US" sz="5000" b="1" dirty="0">
                <a:solidFill>
                  <a:srgbClr val="16181D"/>
                </a:solidFill>
                <a:latin typeface="Arial" pitchFamily="34" charset="0"/>
                <a:ea typeface="Arial" pitchFamily="34" charset="-122"/>
                <a:cs typeface="Arial" pitchFamily="34" charset="-120"/>
              </a:rPr>
              <a:t>Many Workers.</a:t>
            </a:r>
            <a:endParaRPr lang="en-US" sz="5000" dirty="0"/>
          </a:p>
        </p:txBody>
      </p:sp>
      <p:sp>
        <p:nvSpPr>
          <p:cNvPr id="6" name="Text 3"/>
          <p:cNvSpPr/>
          <p:nvPr/>
        </p:nvSpPr>
        <p:spPr>
          <a:xfrm>
            <a:off x="841248" y="5120640"/>
            <a:ext cx="6949440" cy="822960"/>
          </a:xfrm>
          <a:prstGeom prst="rect">
            <a:avLst/>
          </a:prstGeom>
          <a:noFill/>
          <a:ln/>
        </p:spPr>
        <p:txBody>
          <a:bodyPr wrap="square" rtlCol="0" anchor="ctr"/>
          <a:lstStyle/>
          <a:p>
            <a:pPr marL="0" indent="0">
              <a:lnSpc>
                <a:spcPts val="2500"/>
              </a:lnSpc>
              <a:buNone/>
            </a:pPr>
            <a:r>
              <a:rPr lang="en-US" sz="1700" dirty="0">
                <a:solidFill>
                  <a:srgbClr val="666C7A"/>
                </a:solidFill>
                <a:latin typeface="Calibri" pitchFamily="34" charset="0"/>
                <a:ea typeface="Calibri" pitchFamily="34" charset="-122"/>
                <a:cs typeface="Calibri" pitchFamily="34" charset="-120"/>
              </a:rPr>
              <a:t>Agents that help each other, and a critique that loops back. Then we run it, live.</a:t>
            </a:r>
            <a:endParaRPr lang="en-US" sz="17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D97706"/>
                </a:solidFill>
                <a:latin typeface="Arial" pitchFamily="34" charset="0"/>
                <a:ea typeface="Arial" pitchFamily="34" charset="-122"/>
                <a:cs typeface="Arial" pitchFamily="34" charset="-120"/>
              </a:rPr>
              <a:t>THE PATTERN</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Not a pipeline. </a:t>
            </a:r>
            <a:r>
              <a:rPr lang="en-US" sz="3200" b="1" dirty="0">
                <a:solidFill>
                  <a:srgbClr val="4F46E5"/>
                </a:solidFill>
                <a:latin typeface="Arial" pitchFamily="34" charset="0"/>
                <a:ea typeface="Arial" pitchFamily="34" charset="-122"/>
                <a:cs typeface="Arial" pitchFamily="34" charset="-120"/>
              </a:rPr>
              <a:t>A web.</a:t>
            </a:r>
            <a:endParaRPr lang="en-US" sz="3200" dirty="0"/>
          </a:p>
        </p:txBody>
      </p:sp>
      <p:sp>
        <p:nvSpPr>
          <p:cNvPr id="4" name="Text 2"/>
          <p:cNvSpPr/>
          <p:nvPr/>
        </p:nvSpPr>
        <p:spPr>
          <a:xfrm>
            <a:off x="841248" y="1783080"/>
            <a:ext cx="6766560" cy="457200"/>
          </a:xfrm>
          <a:prstGeom prst="rect">
            <a:avLst/>
          </a:prstGeom>
          <a:noFill/>
          <a:ln/>
        </p:spPr>
        <p:txBody>
          <a:bodyPr wrap="square" rtlCol="0" anchor="ctr"/>
          <a:lstStyle/>
          <a:p>
            <a:pPr marL="0" indent="0">
              <a:buNone/>
            </a:pPr>
            <a:r>
              <a:rPr lang="en-US" sz="1550" dirty="0">
                <a:solidFill>
                  <a:srgbClr val="666C7A"/>
                </a:solidFill>
                <a:latin typeface="Calibri" pitchFamily="34" charset="0"/>
                <a:ea typeface="Calibri" pitchFamily="34" charset="-122"/>
                <a:cs typeface="Calibri" pitchFamily="34" charset="-120"/>
              </a:rPr>
              <a:t>Agents run in parallel. The one that finishes first helps another. And the critique loops back.</a:t>
            </a:r>
            <a:endParaRPr lang="en-US" sz="1550" dirty="0"/>
          </a:p>
        </p:txBody>
      </p:sp>
      <p:sp>
        <p:nvSpPr>
          <p:cNvPr id="5" name="Shape 3"/>
          <p:cNvSpPr/>
          <p:nvPr/>
        </p:nvSpPr>
        <p:spPr>
          <a:xfrm flipV="1">
            <a:off x="3611880" y="2926080"/>
            <a:ext cx="2148840" cy="1143000"/>
          </a:xfrm>
          <a:prstGeom prst="line">
            <a:avLst/>
          </a:prstGeom>
          <a:noFill/>
          <a:ln w="20320">
            <a:solidFill>
              <a:srgbClr val="7C3AED"/>
            </a:solidFill>
            <a:prstDash val="solid"/>
            <a:tailEnd type="triangle"/>
          </a:ln>
        </p:spPr>
        <p:txBody>
          <a:bodyPr/>
          <a:lstStyle/>
          <a:p>
            <a:endParaRPr lang="en-US"/>
          </a:p>
        </p:txBody>
      </p:sp>
      <p:sp>
        <p:nvSpPr>
          <p:cNvPr id="6" name="Shape 4"/>
          <p:cNvSpPr/>
          <p:nvPr/>
        </p:nvSpPr>
        <p:spPr>
          <a:xfrm>
            <a:off x="5760720" y="2926080"/>
            <a:ext cx="2148840" cy="1143000"/>
          </a:xfrm>
          <a:prstGeom prst="line">
            <a:avLst/>
          </a:prstGeom>
          <a:noFill/>
          <a:ln w="20320">
            <a:solidFill>
              <a:srgbClr val="0F9E8E"/>
            </a:solidFill>
            <a:prstDash val="solid"/>
            <a:tailEnd type="triangle"/>
          </a:ln>
        </p:spPr>
        <p:txBody>
          <a:bodyPr/>
          <a:lstStyle/>
          <a:p>
            <a:endParaRPr lang="en-US"/>
          </a:p>
        </p:txBody>
      </p:sp>
      <p:sp>
        <p:nvSpPr>
          <p:cNvPr id="7" name="Shape 5"/>
          <p:cNvSpPr/>
          <p:nvPr/>
        </p:nvSpPr>
        <p:spPr>
          <a:xfrm>
            <a:off x="3611880" y="4069080"/>
            <a:ext cx="4297680" cy="0"/>
          </a:xfrm>
          <a:prstGeom prst="line">
            <a:avLst/>
          </a:prstGeom>
          <a:noFill/>
          <a:ln w="20320">
            <a:solidFill>
              <a:srgbClr val="7C3AED"/>
            </a:solidFill>
            <a:prstDash val="solid"/>
            <a:tailEnd type="triangle"/>
          </a:ln>
        </p:spPr>
        <p:txBody>
          <a:bodyPr/>
          <a:lstStyle/>
          <a:p>
            <a:endParaRPr lang="en-US"/>
          </a:p>
        </p:txBody>
      </p:sp>
      <p:sp>
        <p:nvSpPr>
          <p:cNvPr id="8" name="Shape 6"/>
          <p:cNvSpPr/>
          <p:nvPr/>
        </p:nvSpPr>
        <p:spPr>
          <a:xfrm flipH="1">
            <a:off x="5760720" y="4069080"/>
            <a:ext cx="2148840" cy="1188720"/>
          </a:xfrm>
          <a:prstGeom prst="line">
            <a:avLst/>
          </a:prstGeom>
          <a:noFill/>
          <a:ln w="20320">
            <a:solidFill>
              <a:srgbClr val="0284C7"/>
            </a:solidFill>
            <a:prstDash val="solid"/>
            <a:tailEnd type="triangle"/>
          </a:ln>
        </p:spPr>
        <p:txBody>
          <a:bodyPr/>
          <a:lstStyle/>
          <a:p>
            <a:endParaRPr lang="en-US"/>
          </a:p>
        </p:txBody>
      </p:sp>
      <p:sp>
        <p:nvSpPr>
          <p:cNvPr id="9" name="Text 7"/>
          <p:cNvSpPr/>
          <p:nvPr/>
        </p:nvSpPr>
        <p:spPr>
          <a:xfrm>
            <a:off x="3447288" y="3218688"/>
            <a:ext cx="1737360" cy="274320"/>
          </a:xfrm>
          <a:prstGeom prst="rect">
            <a:avLst/>
          </a:prstGeom>
          <a:noFill/>
          <a:ln/>
        </p:spPr>
        <p:txBody>
          <a:bodyPr wrap="square" rtlCol="0" anchor="ctr"/>
          <a:lstStyle/>
          <a:p>
            <a:pPr marL="0" indent="0" algn="ctr">
              <a:buNone/>
            </a:pPr>
            <a:r>
              <a:rPr lang="en-US" sz="950" kern="0" spc="100" dirty="0">
                <a:solidFill>
                  <a:srgbClr val="7C3AED"/>
                </a:solidFill>
                <a:latin typeface="Consolas" pitchFamily="34" charset="0"/>
                <a:ea typeface="Consolas" pitchFamily="34" charset="-122"/>
                <a:cs typeface="Consolas" pitchFamily="34" charset="-120"/>
              </a:rPr>
              <a:t>tone hint</a:t>
            </a:r>
            <a:endParaRPr lang="en-US" sz="950" dirty="0"/>
          </a:p>
        </p:txBody>
      </p:sp>
      <p:sp>
        <p:nvSpPr>
          <p:cNvPr id="10" name="Text 8"/>
          <p:cNvSpPr/>
          <p:nvPr/>
        </p:nvSpPr>
        <p:spPr>
          <a:xfrm>
            <a:off x="6510528" y="3218688"/>
            <a:ext cx="1097280" cy="274320"/>
          </a:xfrm>
          <a:prstGeom prst="rect">
            <a:avLst/>
          </a:prstGeom>
          <a:noFill/>
          <a:ln/>
        </p:spPr>
        <p:txBody>
          <a:bodyPr wrap="square" rtlCol="0" anchor="ctr"/>
          <a:lstStyle/>
          <a:p>
            <a:pPr marL="0" indent="0" algn="ctr">
              <a:buNone/>
            </a:pPr>
            <a:r>
              <a:rPr lang="en-US" sz="950" kern="0" spc="100" dirty="0">
                <a:solidFill>
                  <a:srgbClr val="0F9E8E"/>
                </a:solidFill>
                <a:latin typeface="Consolas" pitchFamily="34" charset="0"/>
                <a:ea typeface="Consolas" pitchFamily="34" charset="-122"/>
                <a:cs typeface="Consolas" pitchFamily="34" charset="-120"/>
              </a:rPr>
              <a:t>copy</a:t>
            </a:r>
            <a:endParaRPr lang="en-US" sz="950" dirty="0"/>
          </a:p>
        </p:txBody>
      </p:sp>
      <p:sp>
        <p:nvSpPr>
          <p:cNvPr id="11" name="Text 9"/>
          <p:cNvSpPr/>
          <p:nvPr/>
        </p:nvSpPr>
        <p:spPr>
          <a:xfrm>
            <a:off x="5120640" y="4224528"/>
            <a:ext cx="1280160" cy="274320"/>
          </a:xfrm>
          <a:prstGeom prst="rect">
            <a:avLst/>
          </a:prstGeom>
          <a:noFill/>
          <a:ln/>
        </p:spPr>
        <p:txBody>
          <a:bodyPr wrap="square" rtlCol="0" anchor="ctr"/>
          <a:lstStyle/>
          <a:p>
            <a:pPr marL="0" indent="0" algn="ctr">
              <a:buNone/>
            </a:pPr>
            <a:r>
              <a:rPr lang="en-US" sz="950" kern="0" spc="100" dirty="0">
                <a:solidFill>
                  <a:srgbClr val="7C3AED"/>
                </a:solidFill>
                <a:latin typeface="Consolas" pitchFamily="34" charset="0"/>
                <a:ea typeface="Consolas" pitchFamily="34" charset="-122"/>
                <a:cs typeface="Consolas" pitchFamily="34" charset="-120"/>
              </a:rPr>
              <a:t>palette</a:t>
            </a:r>
            <a:endParaRPr lang="en-US" sz="950" dirty="0"/>
          </a:p>
        </p:txBody>
      </p:sp>
      <p:sp>
        <p:nvSpPr>
          <p:cNvPr id="12" name="Text 10"/>
          <p:cNvSpPr/>
          <p:nvPr/>
        </p:nvSpPr>
        <p:spPr>
          <a:xfrm>
            <a:off x="6492240" y="4754880"/>
            <a:ext cx="1371600" cy="274320"/>
          </a:xfrm>
          <a:prstGeom prst="rect">
            <a:avLst/>
          </a:prstGeom>
          <a:noFill/>
          <a:ln/>
        </p:spPr>
        <p:txBody>
          <a:bodyPr wrap="square" rtlCol="0" anchor="ctr"/>
          <a:lstStyle/>
          <a:p>
            <a:pPr marL="0" indent="0" algn="ctr">
              <a:buNone/>
            </a:pPr>
            <a:r>
              <a:rPr lang="en-US" sz="950" kern="0" spc="100" dirty="0">
                <a:solidFill>
                  <a:srgbClr val="0284C7"/>
                </a:solidFill>
                <a:latin typeface="Consolas" pitchFamily="34" charset="0"/>
                <a:ea typeface="Consolas" pitchFamily="34" charset="-122"/>
                <a:cs typeface="Consolas" pitchFamily="34" charset="-120"/>
              </a:rPr>
              <a:t>the page</a:t>
            </a:r>
            <a:endParaRPr lang="en-US" sz="950" dirty="0"/>
          </a:p>
        </p:txBody>
      </p:sp>
      <p:sp>
        <p:nvSpPr>
          <p:cNvPr id="13" name="Shape 11"/>
          <p:cNvSpPr/>
          <p:nvPr/>
        </p:nvSpPr>
        <p:spPr>
          <a:xfrm>
            <a:off x="5760720" y="5257800"/>
            <a:ext cx="4434840" cy="0"/>
          </a:xfrm>
          <a:prstGeom prst="line">
            <a:avLst/>
          </a:prstGeom>
          <a:noFill/>
          <a:ln w="21590">
            <a:solidFill>
              <a:srgbClr val="E11D48"/>
            </a:solidFill>
            <a:prstDash val="dash"/>
          </a:ln>
        </p:spPr>
        <p:txBody>
          <a:bodyPr/>
          <a:lstStyle/>
          <a:p>
            <a:endParaRPr lang="en-US"/>
          </a:p>
        </p:txBody>
      </p:sp>
      <p:sp>
        <p:nvSpPr>
          <p:cNvPr id="14" name="Shape 12"/>
          <p:cNvSpPr/>
          <p:nvPr/>
        </p:nvSpPr>
        <p:spPr>
          <a:xfrm flipV="1">
            <a:off x="10195560" y="2926080"/>
            <a:ext cx="0" cy="2331720"/>
          </a:xfrm>
          <a:prstGeom prst="line">
            <a:avLst/>
          </a:prstGeom>
          <a:noFill/>
          <a:ln w="21590">
            <a:solidFill>
              <a:srgbClr val="E11D48"/>
            </a:solidFill>
            <a:prstDash val="dash"/>
          </a:ln>
        </p:spPr>
        <p:txBody>
          <a:bodyPr/>
          <a:lstStyle/>
          <a:p>
            <a:endParaRPr lang="en-US"/>
          </a:p>
        </p:txBody>
      </p:sp>
      <p:sp>
        <p:nvSpPr>
          <p:cNvPr id="15" name="Shape 13"/>
          <p:cNvSpPr/>
          <p:nvPr/>
        </p:nvSpPr>
        <p:spPr>
          <a:xfrm flipH="1">
            <a:off x="5760720" y="2926080"/>
            <a:ext cx="4434840" cy="0"/>
          </a:xfrm>
          <a:prstGeom prst="line">
            <a:avLst/>
          </a:prstGeom>
          <a:noFill/>
          <a:ln w="21590">
            <a:solidFill>
              <a:srgbClr val="E11D48"/>
            </a:solidFill>
            <a:prstDash val="dash"/>
            <a:tailEnd type="triangle"/>
          </a:ln>
        </p:spPr>
        <p:txBody>
          <a:bodyPr/>
          <a:lstStyle/>
          <a:p>
            <a:endParaRPr lang="en-US"/>
          </a:p>
        </p:txBody>
      </p:sp>
      <p:sp>
        <p:nvSpPr>
          <p:cNvPr id="16" name="Text 14"/>
          <p:cNvSpPr/>
          <p:nvPr/>
        </p:nvSpPr>
        <p:spPr>
          <a:xfrm>
            <a:off x="10149840" y="3913632"/>
            <a:ext cx="1463040" cy="274320"/>
          </a:xfrm>
          <a:prstGeom prst="rect">
            <a:avLst/>
          </a:prstGeom>
          <a:noFill/>
          <a:ln/>
        </p:spPr>
        <p:txBody>
          <a:bodyPr wrap="square" rtlCol="0" anchor="ctr"/>
          <a:lstStyle/>
          <a:p>
            <a:pPr marL="0" indent="0">
              <a:buNone/>
            </a:pPr>
            <a:r>
              <a:rPr lang="en-US" sz="950" kern="0" spc="100" dirty="0">
                <a:solidFill>
                  <a:srgbClr val="E11D48"/>
                </a:solidFill>
                <a:latin typeface="Consolas" pitchFamily="34" charset="0"/>
                <a:ea typeface="Consolas" pitchFamily="34" charset="-122"/>
                <a:cs typeface="Consolas" pitchFamily="34" charset="-120"/>
              </a:rPr>
              <a:t>critique</a:t>
            </a:r>
            <a:endParaRPr lang="en-US" sz="950" dirty="0"/>
          </a:p>
        </p:txBody>
      </p:sp>
      <p:sp>
        <p:nvSpPr>
          <p:cNvPr id="17" name="Text 15"/>
          <p:cNvSpPr/>
          <p:nvPr/>
        </p:nvSpPr>
        <p:spPr>
          <a:xfrm>
            <a:off x="6858000" y="2578608"/>
            <a:ext cx="3200400" cy="274320"/>
          </a:xfrm>
          <a:prstGeom prst="rect">
            <a:avLst/>
          </a:prstGeom>
          <a:noFill/>
          <a:ln/>
        </p:spPr>
        <p:txBody>
          <a:bodyPr wrap="square" rtlCol="0" anchor="ctr"/>
          <a:lstStyle/>
          <a:p>
            <a:pPr marL="0" indent="0" algn="r">
              <a:buNone/>
            </a:pPr>
            <a:r>
              <a:rPr lang="en-US" sz="900" kern="0" spc="50" dirty="0">
                <a:solidFill>
                  <a:srgbClr val="E11D48"/>
                </a:solidFill>
                <a:latin typeface="Consolas" pitchFamily="34" charset="0"/>
                <a:ea typeface="Consolas" pitchFamily="34" charset="-122"/>
                <a:cs typeface="Consolas" pitchFamily="34" charset="-120"/>
              </a:rPr>
              <a:t>the copy is rewritten, live</a:t>
            </a:r>
            <a:endParaRPr lang="en-US" sz="900" dirty="0"/>
          </a:p>
        </p:txBody>
      </p:sp>
      <p:sp>
        <p:nvSpPr>
          <p:cNvPr id="18" name="Shape 16"/>
          <p:cNvSpPr/>
          <p:nvPr/>
        </p:nvSpPr>
        <p:spPr>
          <a:xfrm>
            <a:off x="5285232" y="2450592"/>
            <a:ext cx="950976" cy="950976"/>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sp>
        <p:nvSpPr>
          <p:cNvPr id="19" name="Text 17"/>
          <p:cNvSpPr/>
          <p:nvPr/>
        </p:nvSpPr>
        <p:spPr>
          <a:xfrm>
            <a:off x="5285232" y="2724912"/>
            <a:ext cx="950976" cy="274320"/>
          </a:xfrm>
          <a:prstGeom prst="rect">
            <a:avLst/>
          </a:prstGeom>
          <a:noFill/>
          <a:ln/>
        </p:spPr>
        <p:txBody>
          <a:bodyPr wrap="square" rtlCol="0" anchor="ctr"/>
          <a:lstStyle/>
          <a:p>
            <a:pPr marL="0" indent="0" algn="ctr">
              <a:buNone/>
            </a:pPr>
            <a:r>
              <a:rPr lang="en-US" sz="1150" b="1" dirty="0">
                <a:solidFill>
                  <a:srgbClr val="FFFFFF"/>
                </a:solidFill>
                <a:latin typeface="Consolas" pitchFamily="34" charset="0"/>
                <a:ea typeface="Consolas" pitchFamily="34" charset="-122"/>
                <a:cs typeface="Consolas" pitchFamily="34" charset="-120"/>
              </a:rPr>
              <a:t>copy</a:t>
            </a:r>
            <a:endParaRPr lang="en-US" sz="1150" dirty="0"/>
          </a:p>
        </p:txBody>
      </p:sp>
      <p:sp>
        <p:nvSpPr>
          <p:cNvPr id="20" name="Text 18"/>
          <p:cNvSpPr/>
          <p:nvPr/>
        </p:nvSpPr>
        <p:spPr>
          <a:xfrm>
            <a:off x="5285232" y="2944368"/>
            <a:ext cx="950976" cy="256032"/>
          </a:xfrm>
          <a:prstGeom prst="rect">
            <a:avLst/>
          </a:prstGeom>
          <a:noFill/>
          <a:ln/>
        </p:spPr>
        <p:txBody>
          <a:bodyPr wrap="square" rtlCol="0" anchor="ctr"/>
          <a:lstStyle/>
          <a:p>
            <a:pPr marL="0" indent="0" algn="ctr">
              <a:buNone/>
            </a:pPr>
            <a:r>
              <a:rPr lang="en-US" sz="800" dirty="0">
                <a:solidFill>
                  <a:srgbClr val="FFFFFF"/>
                </a:solidFill>
                <a:latin typeface="Consolas" pitchFamily="34" charset="0"/>
                <a:ea typeface="Consolas" pitchFamily="34" charset="-122"/>
                <a:cs typeface="Consolas" pitchFamily="34" charset="-120"/>
              </a:rPr>
              <a:t>writes</a:t>
            </a:r>
            <a:endParaRPr lang="en-US" sz="800" dirty="0"/>
          </a:p>
        </p:txBody>
      </p:sp>
      <p:sp>
        <p:nvSpPr>
          <p:cNvPr id="21" name="Shape 19"/>
          <p:cNvSpPr/>
          <p:nvPr/>
        </p:nvSpPr>
        <p:spPr>
          <a:xfrm>
            <a:off x="3136392" y="3593592"/>
            <a:ext cx="950976" cy="950976"/>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sp>
        <p:nvSpPr>
          <p:cNvPr id="22" name="Text 20"/>
          <p:cNvSpPr/>
          <p:nvPr/>
        </p:nvSpPr>
        <p:spPr>
          <a:xfrm>
            <a:off x="3136392" y="3867912"/>
            <a:ext cx="950976" cy="274320"/>
          </a:xfrm>
          <a:prstGeom prst="rect">
            <a:avLst/>
          </a:prstGeom>
          <a:noFill/>
          <a:ln/>
        </p:spPr>
        <p:txBody>
          <a:bodyPr wrap="square" rtlCol="0" anchor="ctr"/>
          <a:lstStyle/>
          <a:p>
            <a:pPr marL="0" indent="0" algn="ctr">
              <a:buNone/>
            </a:pPr>
            <a:r>
              <a:rPr lang="en-US" sz="1150" b="1" dirty="0">
                <a:solidFill>
                  <a:srgbClr val="FFFFFF"/>
                </a:solidFill>
                <a:latin typeface="Consolas" pitchFamily="34" charset="0"/>
                <a:ea typeface="Consolas" pitchFamily="34" charset="-122"/>
                <a:cs typeface="Consolas" pitchFamily="34" charset="-120"/>
              </a:rPr>
              <a:t>design</a:t>
            </a:r>
            <a:endParaRPr lang="en-US" sz="1150" dirty="0"/>
          </a:p>
        </p:txBody>
      </p:sp>
      <p:sp>
        <p:nvSpPr>
          <p:cNvPr id="23" name="Text 21"/>
          <p:cNvSpPr/>
          <p:nvPr/>
        </p:nvSpPr>
        <p:spPr>
          <a:xfrm>
            <a:off x="3136392" y="4087368"/>
            <a:ext cx="950976" cy="256032"/>
          </a:xfrm>
          <a:prstGeom prst="rect">
            <a:avLst/>
          </a:prstGeom>
          <a:noFill/>
          <a:ln/>
        </p:spPr>
        <p:txBody>
          <a:bodyPr wrap="square" rtlCol="0" anchor="ctr"/>
          <a:lstStyle/>
          <a:p>
            <a:pPr marL="0" indent="0" algn="ctr">
              <a:buNone/>
            </a:pPr>
            <a:r>
              <a:rPr lang="en-US" sz="800" dirty="0">
                <a:solidFill>
                  <a:srgbClr val="FFFFFF"/>
                </a:solidFill>
                <a:latin typeface="Consolas" pitchFamily="34" charset="0"/>
                <a:ea typeface="Consolas" pitchFamily="34" charset="-122"/>
                <a:cs typeface="Consolas" pitchFamily="34" charset="-120"/>
              </a:rPr>
              <a:t>styles</a:t>
            </a:r>
            <a:endParaRPr lang="en-US" sz="800" dirty="0"/>
          </a:p>
        </p:txBody>
      </p:sp>
      <p:sp>
        <p:nvSpPr>
          <p:cNvPr id="24" name="Shape 22"/>
          <p:cNvSpPr/>
          <p:nvPr/>
        </p:nvSpPr>
        <p:spPr>
          <a:xfrm>
            <a:off x="7434072" y="3593592"/>
            <a:ext cx="950976" cy="950976"/>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sp>
        <p:nvSpPr>
          <p:cNvPr id="25" name="Text 23"/>
          <p:cNvSpPr/>
          <p:nvPr/>
        </p:nvSpPr>
        <p:spPr>
          <a:xfrm>
            <a:off x="7434072" y="3867912"/>
            <a:ext cx="950976" cy="274320"/>
          </a:xfrm>
          <a:prstGeom prst="rect">
            <a:avLst/>
          </a:prstGeom>
          <a:noFill/>
          <a:ln/>
        </p:spPr>
        <p:txBody>
          <a:bodyPr wrap="square" rtlCol="0" anchor="ctr"/>
          <a:lstStyle/>
          <a:p>
            <a:pPr marL="0" indent="0" algn="ctr">
              <a:buNone/>
            </a:pPr>
            <a:r>
              <a:rPr lang="en-US" sz="1150" b="1" dirty="0">
                <a:solidFill>
                  <a:srgbClr val="FFFFFF"/>
                </a:solidFill>
                <a:latin typeface="Consolas" pitchFamily="34" charset="0"/>
                <a:ea typeface="Consolas" pitchFamily="34" charset="-122"/>
                <a:cs typeface="Consolas" pitchFamily="34" charset="-120"/>
              </a:rPr>
              <a:t>build</a:t>
            </a:r>
            <a:endParaRPr lang="en-US" sz="1150" dirty="0"/>
          </a:p>
        </p:txBody>
      </p:sp>
      <p:sp>
        <p:nvSpPr>
          <p:cNvPr id="26" name="Text 24"/>
          <p:cNvSpPr/>
          <p:nvPr/>
        </p:nvSpPr>
        <p:spPr>
          <a:xfrm>
            <a:off x="7434072" y="4087368"/>
            <a:ext cx="950976" cy="256032"/>
          </a:xfrm>
          <a:prstGeom prst="rect">
            <a:avLst/>
          </a:prstGeom>
          <a:noFill/>
          <a:ln/>
        </p:spPr>
        <p:txBody>
          <a:bodyPr wrap="square" rtlCol="0" anchor="ctr"/>
          <a:lstStyle/>
          <a:p>
            <a:pPr marL="0" indent="0" algn="ctr">
              <a:buNone/>
            </a:pPr>
            <a:r>
              <a:rPr lang="en-US" sz="800" dirty="0">
                <a:solidFill>
                  <a:srgbClr val="FFFFFF"/>
                </a:solidFill>
                <a:latin typeface="Consolas" pitchFamily="34" charset="0"/>
                <a:ea typeface="Consolas" pitchFamily="34" charset="-122"/>
                <a:cs typeface="Consolas" pitchFamily="34" charset="-120"/>
              </a:rPr>
              <a:t>assembles</a:t>
            </a:r>
            <a:endParaRPr lang="en-US" sz="800" dirty="0"/>
          </a:p>
        </p:txBody>
      </p:sp>
      <p:sp>
        <p:nvSpPr>
          <p:cNvPr id="27" name="Shape 25"/>
          <p:cNvSpPr/>
          <p:nvPr/>
        </p:nvSpPr>
        <p:spPr>
          <a:xfrm>
            <a:off x="5285232" y="4782312"/>
            <a:ext cx="950976" cy="950976"/>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sp>
        <p:nvSpPr>
          <p:cNvPr id="28" name="Text 26"/>
          <p:cNvSpPr/>
          <p:nvPr/>
        </p:nvSpPr>
        <p:spPr>
          <a:xfrm>
            <a:off x="5285232" y="5056632"/>
            <a:ext cx="950976" cy="274320"/>
          </a:xfrm>
          <a:prstGeom prst="rect">
            <a:avLst/>
          </a:prstGeom>
          <a:noFill/>
          <a:ln/>
        </p:spPr>
        <p:txBody>
          <a:bodyPr wrap="square" rtlCol="0" anchor="ctr"/>
          <a:lstStyle/>
          <a:p>
            <a:pPr marL="0" indent="0" algn="ctr">
              <a:buNone/>
            </a:pPr>
            <a:r>
              <a:rPr lang="en-US" sz="1150" b="1" dirty="0">
                <a:solidFill>
                  <a:srgbClr val="FFFFFF"/>
                </a:solidFill>
                <a:latin typeface="Consolas" pitchFamily="34" charset="0"/>
                <a:ea typeface="Consolas" pitchFamily="34" charset="-122"/>
                <a:cs typeface="Consolas" pitchFamily="34" charset="-120"/>
              </a:rPr>
              <a:t>skeptic</a:t>
            </a:r>
            <a:endParaRPr lang="en-US" sz="1150" dirty="0"/>
          </a:p>
        </p:txBody>
      </p:sp>
      <p:sp>
        <p:nvSpPr>
          <p:cNvPr id="29" name="Text 27"/>
          <p:cNvSpPr/>
          <p:nvPr/>
        </p:nvSpPr>
        <p:spPr>
          <a:xfrm>
            <a:off x="5285232" y="5276088"/>
            <a:ext cx="950976" cy="256032"/>
          </a:xfrm>
          <a:prstGeom prst="rect">
            <a:avLst/>
          </a:prstGeom>
          <a:noFill/>
          <a:ln/>
        </p:spPr>
        <p:txBody>
          <a:bodyPr wrap="square" rtlCol="0" anchor="ctr"/>
          <a:lstStyle/>
          <a:p>
            <a:pPr marL="0" indent="0" algn="ctr">
              <a:buNone/>
            </a:pPr>
            <a:r>
              <a:rPr lang="en-US" sz="800" dirty="0">
                <a:solidFill>
                  <a:srgbClr val="FFFFFF"/>
                </a:solidFill>
                <a:latin typeface="Consolas" pitchFamily="34" charset="0"/>
                <a:ea typeface="Consolas" pitchFamily="34" charset="-122"/>
                <a:cs typeface="Consolas" pitchFamily="34" charset="-120"/>
              </a:rPr>
              <a:t>critiques</a:t>
            </a:r>
            <a:endParaRPr lang="en-US" sz="800" dirty="0"/>
          </a:p>
        </p:txBody>
      </p:sp>
      <p:sp>
        <p:nvSpPr>
          <p:cNvPr id="30" name="Text 28"/>
          <p:cNvSpPr/>
          <p:nvPr/>
        </p:nvSpPr>
        <p:spPr>
          <a:xfrm>
            <a:off x="2286000" y="6080760"/>
            <a:ext cx="7616952" cy="457200"/>
          </a:xfrm>
          <a:prstGeom prst="rect">
            <a:avLst/>
          </a:prstGeom>
          <a:noFill/>
          <a:ln/>
        </p:spPr>
        <p:txBody>
          <a:bodyPr wrap="square" rtlCol="0" anchor="ctr"/>
          <a:lstStyle/>
          <a:p>
            <a:pPr marL="0" indent="0" algn="ctr">
              <a:buNone/>
            </a:pPr>
            <a:r>
              <a:rPr lang="en-US" sz="1600" dirty="0">
                <a:solidFill>
                  <a:srgbClr val="666C7A"/>
                </a:solidFill>
                <a:latin typeface="Calibri" pitchFamily="34" charset="0"/>
                <a:ea typeface="Calibri" pitchFamily="34" charset="-122"/>
                <a:cs typeface="Calibri" pitchFamily="34" charset="-120"/>
              </a:rPr>
              <a:t>Every agent is the same local model. </a:t>
            </a:r>
            <a:r>
              <a:rPr lang="en-US" sz="1600" b="1" dirty="0">
                <a:solidFill>
                  <a:srgbClr val="4F46E5"/>
                </a:solidFill>
                <a:latin typeface="Calibri" pitchFamily="34" charset="0"/>
                <a:ea typeface="Calibri" pitchFamily="34" charset="-122"/>
                <a:cs typeface="Calibri" pitchFamily="34" charset="-120"/>
              </a:rPr>
              <a:t>The web is the architecture.</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WHAT'S REALLY STEERING</a:t>
            </a:r>
            <a:endParaRPr lang="en-US" sz="1100" dirty="0"/>
          </a:p>
        </p:txBody>
      </p:sp>
      <p:sp>
        <p:nvSpPr>
          <p:cNvPr id="3" name="Text 1"/>
          <p:cNvSpPr/>
          <p:nvPr/>
        </p:nvSpPr>
        <p:spPr>
          <a:xfrm>
            <a:off x="841248" y="1463040"/>
            <a:ext cx="5486400" cy="1097280"/>
          </a:xfrm>
          <a:prstGeom prst="rect">
            <a:avLst/>
          </a:prstGeom>
          <a:noFill/>
          <a:ln/>
        </p:spPr>
        <p:txBody>
          <a:bodyPr wrap="square" rtlCol="0" anchor="ctr"/>
          <a:lstStyle/>
          <a:p>
            <a:pPr marL="0" indent="0">
              <a:buNone/>
            </a:pPr>
            <a:r>
              <a:rPr lang="en-US" sz="3600" b="1" dirty="0">
                <a:solidFill>
                  <a:srgbClr val="16181D"/>
                </a:solidFill>
                <a:latin typeface="Arial" pitchFamily="34" charset="0"/>
                <a:ea typeface="Arial" pitchFamily="34" charset="-122"/>
                <a:cs typeface="Arial" pitchFamily="34" charset="-120"/>
              </a:rPr>
              <a:t>The prompt barely </a:t>
            </a:r>
            <a:r>
              <a:rPr lang="en-US" sz="3600" b="1" dirty="0">
                <a:solidFill>
                  <a:srgbClr val="4F46E5"/>
                </a:solidFill>
                <a:latin typeface="Arial" pitchFamily="34" charset="0"/>
                <a:ea typeface="Arial" pitchFamily="34" charset="-122"/>
                <a:cs typeface="Arial" pitchFamily="34" charset="-120"/>
              </a:rPr>
              <a:t>changed.</a:t>
            </a:r>
            <a:endParaRPr lang="en-US" sz="3600" dirty="0"/>
          </a:p>
        </p:txBody>
      </p:sp>
      <p:sp>
        <p:nvSpPr>
          <p:cNvPr id="4" name="Text 2"/>
          <p:cNvSpPr/>
          <p:nvPr/>
        </p:nvSpPr>
        <p:spPr>
          <a:xfrm>
            <a:off x="841248" y="2743200"/>
            <a:ext cx="4937760" cy="822960"/>
          </a:xfrm>
          <a:prstGeom prst="rect">
            <a:avLst/>
          </a:prstGeom>
          <a:noFill/>
          <a:ln/>
        </p:spPr>
        <p:txBody>
          <a:bodyPr wrap="square" rtlCol="0" anchor="ctr"/>
          <a:lstStyle/>
          <a:p>
            <a:pPr marL="0" indent="0">
              <a:lnSpc>
                <a:spcPts val="2700"/>
              </a:lnSpc>
              <a:buNone/>
            </a:pPr>
            <a:r>
              <a:rPr lang="en-US" sz="1800" dirty="0">
                <a:solidFill>
                  <a:srgbClr val="666C7A"/>
                </a:solidFill>
                <a:latin typeface="Calibri" pitchFamily="34" charset="0"/>
                <a:ea typeface="Calibri" pitchFamily="34" charset="-122"/>
                <a:cs typeface="Calibri" pitchFamily="34" charset="-120"/>
              </a:rPr>
              <a:t>The power came from the levers around it, not from a cleverer sentence.</a:t>
            </a:r>
            <a:endParaRPr lang="en-US" sz="1800" dirty="0"/>
          </a:p>
        </p:txBody>
      </p:sp>
      <p:sp>
        <p:nvSpPr>
          <p:cNvPr id="5" name="Shape 3"/>
          <p:cNvSpPr/>
          <p:nvPr/>
        </p:nvSpPr>
        <p:spPr>
          <a:xfrm>
            <a:off x="850392" y="3849624"/>
            <a:ext cx="128016" cy="128016"/>
          </a:xfrm>
          <a:prstGeom prst="ellipse">
            <a:avLst/>
          </a:prstGeom>
          <a:solidFill>
            <a:srgbClr val="4F46E5"/>
          </a:solidFill>
          <a:ln/>
        </p:spPr>
        <p:txBody>
          <a:bodyPr/>
          <a:lstStyle/>
          <a:p>
            <a:endParaRPr lang="en-US"/>
          </a:p>
        </p:txBody>
      </p:sp>
      <p:sp>
        <p:nvSpPr>
          <p:cNvPr id="6" name="Text 4"/>
          <p:cNvSpPr/>
          <p:nvPr/>
        </p:nvSpPr>
        <p:spPr>
          <a:xfrm>
            <a:off x="1133856" y="3758184"/>
            <a:ext cx="482803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Same instruction, wildly different output, because the shape changed.</a:t>
            </a:r>
            <a:endParaRPr lang="en-US" sz="1350" dirty="0"/>
          </a:p>
        </p:txBody>
      </p:sp>
      <p:sp>
        <p:nvSpPr>
          <p:cNvPr id="7" name="Shape 5"/>
          <p:cNvSpPr/>
          <p:nvPr/>
        </p:nvSpPr>
        <p:spPr>
          <a:xfrm>
            <a:off x="850392" y="4251960"/>
            <a:ext cx="128016" cy="128016"/>
          </a:xfrm>
          <a:prstGeom prst="ellipse">
            <a:avLst/>
          </a:prstGeom>
          <a:solidFill>
            <a:srgbClr val="4F46E5"/>
          </a:solidFill>
          <a:ln/>
        </p:spPr>
        <p:txBody>
          <a:bodyPr/>
          <a:lstStyle/>
          <a:p>
            <a:endParaRPr lang="en-US"/>
          </a:p>
        </p:txBody>
      </p:sp>
      <p:sp>
        <p:nvSpPr>
          <p:cNvPr id="8" name="Text 6"/>
          <p:cNvSpPr/>
          <p:nvPr/>
        </p:nvSpPr>
        <p:spPr>
          <a:xfrm>
            <a:off x="1133856" y="4160520"/>
            <a:ext cx="482803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Prompt tweaking is the slowest way to fix an agent.</a:t>
            </a:r>
            <a:endParaRPr lang="en-US" sz="1350" dirty="0"/>
          </a:p>
        </p:txBody>
      </p:sp>
      <p:sp>
        <p:nvSpPr>
          <p:cNvPr id="9" name="Shape 7"/>
          <p:cNvSpPr/>
          <p:nvPr/>
        </p:nvSpPr>
        <p:spPr>
          <a:xfrm>
            <a:off x="850392" y="4654296"/>
            <a:ext cx="128016" cy="128016"/>
          </a:xfrm>
          <a:prstGeom prst="ellipse">
            <a:avLst/>
          </a:prstGeom>
          <a:solidFill>
            <a:srgbClr val="4F46E5"/>
          </a:solidFill>
          <a:ln/>
        </p:spPr>
        <p:txBody>
          <a:bodyPr/>
          <a:lstStyle/>
          <a:p>
            <a:endParaRPr lang="en-US"/>
          </a:p>
        </p:txBody>
      </p:sp>
      <p:sp>
        <p:nvSpPr>
          <p:cNvPr id="10" name="Text 8"/>
          <p:cNvSpPr/>
          <p:nvPr/>
        </p:nvSpPr>
        <p:spPr>
          <a:xfrm>
            <a:off x="1133856" y="4562856"/>
            <a:ext cx="482803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Schema and orchestration are the two levers people forget.</a:t>
            </a:r>
            <a:endParaRPr lang="en-US" sz="1350" dirty="0"/>
          </a:p>
        </p:txBody>
      </p:sp>
      <p:sp>
        <p:nvSpPr>
          <p:cNvPr id="11" name="Shape 9"/>
          <p:cNvSpPr/>
          <p:nvPr/>
        </p:nvSpPr>
        <p:spPr>
          <a:xfrm>
            <a:off x="6583680" y="1920240"/>
            <a:ext cx="4754880" cy="868680"/>
          </a:xfrm>
          <a:prstGeom prst="roundRect">
            <a:avLst>
              <a:gd name="adj" fmla="val 10526"/>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2" name="Shape 10"/>
          <p:cNvSpPr/>
          <p:nvPr/>
        </p:nvSpPr>
        <p:spPr>
          <a:xfrm>
            <a:off x="6876288" y="2098548"/>
            <a:ext cx="512064" cy="512064"/>
          </a:xfrm>
          <a:prstGeom prst="ellipse">
            <a:avLst/>
          </a:prstGeom>
          <a:solidFill>
            <a:srgbClr val="9AA1B0"/>
          </a:solidFill>
          <a:ln/>
          <a:effectLst>
            <a:outerShdw blurRad="139700" dist="38100" dir="5400000" algn="bl" rotWithShape="0">
              <a:srgbClr val="9AA6BC">
                <a:alpha val="28000"/>
              </a:srgbClr>
            </a:outerShdw>
          </a:effectLst>
        </p:spPr>
        <p:txBody>
          <a:bodyPr/>
          <a:lstStyle/>
          <a:p>
            <a:endParaRPr lang="en-US"/>
          </a:p>
        </p:txBody>
      </p:sp>
      <p:pic>
        <p:nvPicPr>
          <p:cNvPr id="13" name="Image 0" descr="preencoded.png"/>
          <p:cNvPicPr>
            <a:picLocks noChangeAspect="1"/>
          </p:cNvPicPr>
          <p:nvPr/>
        </p:nvPicPr>
        <p:blipFill>
          <a:blip r:embed="rId3"/>
          <a:stretch>
            <a:fillRect/>
          </a:stretch>
        </p:blipFill>
        <p:spPr>
          <a:xfrm>
            <a:off x="6999183" y="2221443"/>
            <a:ext cx="266273" cy="266273"/>
          </a:xfrm>
          <a:prstGeom prst="rect">
            <a:avLst/>
          </a:prstGeom>
        </p:spPr>
      </p:pic>
      <p:sp>
        <p:nvSpPr>
          <p:cNvPr id="14" name="Text 11"/>
          <p:cNvSpPr/>
          <p:nvPr/>
        </p:nvSpPr>
        <p:spPr>
          <a:xfrm>
            <a:off x="7543800" y="2194560"/>
            <a:ext cx="1737360" cy="320040"/>
          </a:xfrm>
          <a:prstGeom prst="rect">
            <a:avLst/>
          </a:prstGeom>
          <a:noFill/>
          <a:ln/>
        </p:spPr>
        <p:txBody>
          <a:bodyPr wrap="square" rtlCol="0" anchor="ctr"/>
          <a:lstStyle/>
          <a:p>
            <a:pPr marL="0" indent="0">
              <a:buNone/>
            </a:pPr>
            <a:r>
              <a:rPr lang="en-US" sz="1000" kern="0" spc="150" dirty="0">
                <a:solidFill>
                  <a:srgbClr val="666C7A"/>
                </a:solidFill>
                <a:latin typeface="Consolas" pitchFamily="34" charset="0"/>
                <a:ea typeface="Consolas" pitchFamily="34" charset="-122"/>
                <a:cs typeface="Consolas" pitchFamily="34" charset="-120"/>
              </a:rPr>
              <a:t>LEVER 01</a:t>
            </a:r>
            <a:endParaRPr lang="en-US" sz="1000" dirty="0"/>
          </a:p>
        </p:txBody>
      </p:sp>
      <p:sp>
        <p:nvSpPr>
          <p:cNvPr id="15" name="Text 12"/>
          <p:cNvSpPr/>
          <p:nvPr/>
        </p:nvSpPr>
        <p:spPr>
          <a:xfrm>
            <a:off x="8915400" y="2194560"/>
            <a:ext cx="2286000" cy="320040"/>
          </a:xfrm>
          <a:prstGeom prst="rect">
            <a:avLst/>
          </a:prstGeom>
          <a:noFill/>
          <a:ln/>
        </p:spPr>
        <p:txBody>
          <a:bodyPr wrap="square" rtlCol="0" anchor="ctr"/>
          <a:lstStyle/>
          <a:p>
            <a:pPr marL="0" indent="0">
              <a:buNone/>
            </a:pPr>
            <a:r>
              <a:rPr lang="en-US" sz="1400" b="1" dirty="0">
                <a:solidFill>
                  <a:srgbClr val="16181D"/>
                </a:solidFill>
                <a:latin typeface="Calibri" pitchFamily="34" charset="0"/>
                <a:ea typeface="Calibri" pitchFamily="34" charset="-122"/>
                <a:cs typeface="Calibri" pitchFamily="34" charset="-120"/>
              </a:rPr>
              <a:t>Prompt:  </a:t>
            </a:r>
            <a:r>
              <a:rPr lang="en-US" sz="1400" dirty="0">
                <a:solidFill>
                  <a:srgbClr val="666C7A"/>
                </a:solidFill>
                <a:latin typeface="Calibri" pitchFamily="34" charset="0"/>
                <a:ea typeface="Calibri" pitchFamily="34" charset="-122"/>
                <a:cs typeface="Calibri" pitchFamily="34" charset="-120"/>
              </a:rPr>
              <a:t>one plain English line</a:t>
            </a:r>
            <a:endParaRPr lang="en-US" sz="1400" dirty="0"/>
          </a:p>
        </p:txBody>
      </p:sp>
      <p:sp>
        <p:nvSpPr>
          <p:cNvPr id="16" name="Shape 13"/>
          <p:cNvSpPr/>
          <p:nvPr/>
        </p:nvSpPr>
        <p:spPr>
          <a:xfrm>
            <a:off x="6583680" y="2971800"/>
            <a:ext cx="4754880" cy="868680"/>
          </a:xfrm>
          <a:prstGeom prst="roundRect">
            <a:avLst>
              <a:gd name="adj" fmla="val 10526"/>
            </a:avLst>
          </a:prstGeom>
          <a:solidFill>
            <a:srgbClr val="EEF0FE"/>
          </a:solidFill>
          <a:ln w="12700">
            <a:solidFill>
              <a:srgbClr val="4F46E5"/>
            </a:solidFill>
            <a:prstDash val="solid"/>
          </a:ln>
          <a:effectLst>
            <a:outerShdw blurRad="139700" dist="38100" dir="5400000" algn="bl" rotWithShape="0">
              <a:srgbClr val="9AA6BC">
                <a:alpha val="28000"/>
              </a:srgbClr>
            </a:outerShdw>
          </a:effectLst>
        </p:spPr>
        <p:txBody>
          <a:bodyPr/>
          <a:lstStyle/>
          <a:p>
            <a:endParaRPr lang="en-US"/>
          </a:p>
        </p:txBody>
      </p:sp>
      <p:sp>
        <p:nvSpPr>
          <p:cNvPr id="17" name="Shape 14"/>
          <p:cNvSpPr/>
          <p:nvPr/>
        </p:nvSpPr>
        <p:spPr>
          <a:xfrm>
            <a:off x="6876288" y="3150108"/>
            <a:ext cx="512064" cy="51206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18" name="Image 1" descr="preencoded.png"/>
          <p:cNvPicPr>
            <a:picLocks noChangeAspect="1"/>
          </p:cNvPicPr>
          <p:nvPr/>
        </p:nvPicPr>
        <p:blipFill>
          <a:blip r:embed="rId4"/>
          <a:stretch>
            <a:fillRect/>
          </a:stretch>
        </p:blipFill>
        <p:spPr>
          <a:xfrm>
            <a:off x="6999183" y="3273003"/>
            <a:ext cx="266273" cy="266273"/>
          </a:xfrm>
          <a:prstGeom prst="rect">
            <a:avLst/>
          </a:prstGeom>
        </p:spPr>
      </p:pic>
      <p:sp>
        <p:nvSpPr>
          <p:cNvPr id="19" name="Text 15"/>
          <p:cNvSpPr/>
          <p:nvPr/>
        </p:nvSpPr>
        <p:spPr>
          <a:xfrm>
            <a:off x="7543800" y="3246120"/>
            <a:ext cx="1737360" cy="320040"/>
          </a:xfrm>
          <a:prstGeom prst="rect">
            <a:avLst/>
          </a:prstGeom>
          <a:noFill/>
          <a:ln/>
        </p:spPr>
        <p:txBody>
          <a:bodyPr wrap="square" rtlCol="0" anchor="ctr"/>
          <a:lstStyle/>
          <a:p>
            <a:pPr marL="0" indent="0">
              <a:buNone/>
            </a:pPr>
            <a:r>
              <a:rPr lang="en-US" sz="1000" kern="0" spc="150" dirty="0">
                <a:solidFill>
                  <a:srgbClr val="666C7A"/>
                </a:solidFill>
                <a:latin typeface="Consolas" pitchFamily="34" charset="0"/>
                <a:ea typeface="Consolas" pitchFamily="34" charset="-122"/>
                <a:cs typeface="Consolas" pitchFamily="34" charset="-120"/>
              </a:rPr>
              <a:t>LEVER 03</a:t>
            </a:r>
            <a:endParaRPr lang="en-US" sz="1000" dirty="0"/>
          </a:p>
        </p:txBody>
      </p:sp>
      <p:sp>
        <p:nvSpPr>
          <p:cNvPr id="20" name="Text 16"/>
          <p:cNvSpPr/>
          <p:nvPr/>
        </p:nvSpPr>
        <p:spPr>
          <a:xfrm>
            <a:off x="8915400" y="3246120"/>
            <a:ext cx="2286000" cy="320040"/>
          </a:xfrm>
          <a:prstGeom prst="rect">
            <a:avLst/>
          </a:prstGeom>
          <a:noFill/>
          <a:ln/>
        </p:spPr>
        <p:txBody>
          <a:bodyPr wrap="square" rtlCol="0" anchor="ctr"/>
          <a:lstStyle/>
          <a:p>
            <a:pPr marL="0" indent="0">
              <a:buNone/>
            </a:pPr>
            <a:r>
              <a:rPr lang="en-US" sz="1400" b="1" dirty="0">
                <a:solidFill>
                  <a:srgbClr val="16181D"/>
                </a:solidFill>
                <a:latin typeface="Calibri" pitchFamily="34" charset="0"/>
                <a:ea typeface="Calibri" pitchFamily="34" charset="-122"/>
                <a:cs typeface="Calibri" pitchFamily="34" charset="-120"/>
              </a:rPr>
              <a:t>Schema:  </a:t>
            </a:r>
            <a:r>
              <a:rPr lang="en-US" sz="1400" dirty="0">
                <a:solidFill>
                  <a:srgbClr val="666C7A"/>
                </a:solidFill>
                <a:latin typeface="Calibri" pitchFamily="34" charset="0"/>
                <a:ea typeface="Calibri" pitchFamily="34" charset="-122"/>
                <a:cs typeface="Calibri" pitchFamily="34" charset="-120"/>
              </a:rPr>
              <a:t>a sentence becomes a typed crew</a:t>
            </a:r>
            <a:endParaRPr lang="en-US" sz="1400" dirty="0"/>
          </a:p>
        </p:txBody>
      </p:sp>
      <p:sp>
        <p:nvSpPr>
          <p:cNvPr id="21" name="Shape 17"/>
          <p:cNvSpPr/>
          <p:nvPr/>
        </p:nvSpPr>
        <p:spPr>
          <a:xfrm>
            <a:off x="6583680" y="4023360"/>
            <a:ext cx="4754880" cy="868680"/>
          </a:xfrm>
          <a:prstGeom prst="roundRect">
            <a:avLst>
              <a:gd name="adj" fmla="val 10526"/>
            </a:avLst>
          </a:prstGeom>
          <a:solidFill>
            <a:srgbClr val="EEF0FE"/>
          </a:solidFill>
          <a:ln w="12700">
            <a:solidFill>
              <a:srgbClr val="4F46E5"/>
            </a:solidFill>
            <a:prstDash val="solid"/>
          </a:ln>
          <a:effectLst>
            <a:outerShdw blurRad="139700" dist="38100" dir="5400000" algn="bl" rotWithShape="0">
              <a:srgbClr val="9AA6BC">
                <a:alpha val="28000"/>
              </a:srgbClr>
            </a:outerShdw>
          </a:effectLst>
        </p:spPr>
        <p:txBody>
          <a:bodyPr/>
          <a:lstStyle/>
          <a:p>
            <a:endParaRPr lang="en-US"/>
          </a:p>
        </p:txBody>
      </p:sp>
      <p:sp>
        <p:nvSpPr>
          <p:cNvPr id="22" name="Shape 18"/>
          <p:cNvSpPr/>
          <p:nvPr/>
        </p:nvSpPr>
        <p:spPr>
          <a:xfrm>
            <a:off x="6876288" y="4201668"/>
            <a:ext cx="512064" cy="51206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23" name="Image 2" descr="preencoded.png"/>
          <p:cNvPicPr>
            <a:picLocks noChangeAspect="1"/>
          </p:cNvPicPr>
          <p:nvPr/>
        </p:nvPicPr>
        <p:blipFill>
          <a:blip r:embed="rId5"/>
          <a:stretch>
            <a:fillRect/>
          </a:stretch>
        </p:blipFill>
        <p:spPr>
          <a:xfrm>
            <a:off x="6999183" y="4324563"/>
            <a:ext cx="266273" cy="266273"/>
          </a:xfrm>
          <a:prstGeom prst="rect">
            <a:avLst/>
          </a:prstGeom>
        </p:spPr>
      </p:pic>
      <p:sp>
        <p:nvSpPr>
          <p:cNvPr id="24" name="Text 19"/>
          <p:cNvSpPr/>
          <p:nvPr/>
        </p:nvSpPr>
        <p:spPr>
          <a:xfrm>
            <a:off x="7543800" y="4297680"/>
            <a:ext cx="1737360" cy="320040"/>
          </a:xfrm>
          <a:prstGeom prst="rect">
            <a:avLst/>
          </a:prstGeom>
          <a:noFill/>
          <a:ln/>
        </p:spPr>
        <p:txBody>
          <a:bodyPr wrap="square" rtlCol="0" anchor="ctr"/>
          <a:lstStyle/>
          <a:p>
            <a:pPr marL="0" indent="0">
              <a:buNone/>
            </a:pPr>
            <a:r>
              <a:rPr lang="en-US" sz="1000" kern="0" spc="150" dirty="0">
                <a:solidFill>
                  <a:srgbClr val="666C7A"/>
                </a:solidFill>
                <a:latin typeface="Consolas" pitchFamily="34" charset="0"/>
                <a:ea typeface="Consolas" pitchFamily="34" charset="-122"/>
                <a:cs typeface="Consolas" pitchFamily="34" charset="-120"/>
              </a:rPr>
              <a:t>LEVER 06</a:t>
            </a:r>
            <a:endParaRPr lang="en-US" sz="1000" dirty="0"/>
          </a:p>
        </p:txBody>
      </p:sp>
      <p:sp>
        <p:nvSpPr>
          <p:cNvPr id="25" name="Text 20"/>
          <p:cNvSpPr/>
          <p:nvPr/>
        </p:nvSpPr>
        <p:spPr>
          <a:xfrm>
            <a:off x="8915400" y="4297680"/>
            <a:ext cx="2286000" cy="320040"/>
          </a:xfrm>
          <a:prstGeom prst="rect">
            <a:avLst/>
          </a:prstGeom>
          <a:noFill/>
          <a:ln/>
        </p:spPr>
        <p:txBody>
          <a:bodyPr wrap="square" rtlCol="0" anchor="ctr"/>
          <a:lstStyle/>
          <a:p>
            <a:pPr marL="0" indent="0">
              <a:buNone/>
            </a:pPr>
            <a:r>
              <a:rPr lang="en-US" sz="1400" b="1" dirty="0">
                <a:solidFill>
                  <a:srgbClr val="16181D"/>
                </a:solidFill>
                <a:latin typeface="Calibri" pitchFamily="34" charset="0"/>
                <a:ea typeface="Calibri" pitchFamily="34" charset="-122"/>
                <a:cs typeface="Calibri" pitchFamily="34" charset="-120"/>
              </a:rPr>
              <a:t>Orchestration:  </a:t>
            </a:r>
            <a:r>
              <a:rPr lang="en-US" sz="1400" dirty="0">
                <a:solidFill>
                  <a:srgbClr val="666C7A"/>
                </a:solidFill>
                <a:latin typeface="Calibri" pitchFamily="34" charset="0"/>
                <a:ea typeface="Calibri" pitchFamily="34" charset="-122"/>
                <a:cs typeface="Calibri" pitchFamily="34" charset="-120"/>
              </a:rPr>
              <a:t>they run as a team</a:t>
            </a:r>
            <a:endParaRPr lang="en-US" sz="14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7C3AED"/>
                </a:solidFill>
                <a:latin typeface="Arial" pitchFamily="34" charset="0"/>
                <a:ea typeface="Arial" pitchFamily="34" charset="-122"/>
                <a:cs typeface="Arial" pitchFamily="34" charset="-120"/>
              </a:rPr>
              <a:t>THE PART NOBODY DEMOS</a:t>
            </a:r>
            <a:endParaRPr lang="en-US" sz="1100" dirty="0"/>
          </a:p>
        </p:txBody>
      </p:sp>
      <p:sp>
        <p:nvSpPr>
          <p:cNvPr id="3" name="Text 1"/>
          <p:cNvSpPr/>
          <p:nvPr/>
        </p:nvSpPr>
        <p:spPr>
          <a:xfrm>
            <a:off x="841248" y="1325880"/>
            <a:ext cx="6583680" cy="1737360"/>
          </a:xfrm>
          <a:prstGeom prst="rect">
            <a:avLst/>
          </a:prstGeom>
          <a:noFill/>
          <a:ln/>
        </p:spPr>
        <p:txBody>
          <a:bodyPr wrap="square" rtlCol="0" anchor="ctr"/>
          <a:lstStyle/>
          <a:p>
            <a:pPr marL="0" indent="0">
              <a:lnSpc>
                <a:spcPts val="4600"/>
              </a:lnSpc>
              <a:buNone/>
            </a:pPr>
            <a:r>
              <a:rPr lang="en-US" sz="3600" b="1" dirty="0">
                <a:solidFill>
                  <a:srgbClr val="16181D"/>
                </a:solidFill>
                <a:latin typeface="Arial" pitchFamily="34" charset="0"/>
                <a:ea typeface="Arial" pitchFamily="34" charset="-122"/>
                <a:cs typeface="Arial" pitchFamily="34" charset="-120"/>
              </a:rPr>
              <a:t>The model is the brain.</a:t>
            </a:r>
            <a:endParaRPr lang="en-US" sz="3600" dirty="0"/>
          </a:p>
          <a:p>
            <a:pPr marL="0" indent="0">
              <a:lnSpc>
                <a:spcPts val="4600"/>
              </a:lnSpc>
              <a:buNone/>
            </a:pPr>
            <a:r>
              <a:rPr lang="en-US" sz="3600" b="1" dirty="0">
                <a:solidFill>
                  <a:srgbClr val="16181D"/>
                </a:solidFill>
                <a:latin typeface="Arial" pitchFamily="34" charset="0"/>
                <a:ea typeface="Arial" pitchFamily="34" charset="-122"/>
                <a:cs typeface="Arial" pitchFamily="34" charset="-120"/>
              </a:rPr>
              <a:t>The </a:t>
            </a:r>
            <a:endParaRPr lang="en-US" sz="3600" dirty="0"/>
          </a:p>
          <a:p>
            <a:pPr marL="0" indent="0">
              <a:lnSpc>
                <a:spcPts val="4600"/>
              </a:lnSpc>
              <a:buNone/>
            </a:pPr>
            <a:r>
              <a:rPr lang="en-US" sz="3600" b="1" dirty="0">
                <a:solidFill>
                  <a:srgbClr val="4F46E5"/>
                </a:solidFill>
                <a:latin typeface="Arial" pitchFamily="34" charset="0"/>
                <a:ea typeface="Arial" pitchFamily="34" charset="-122"/>
                <a:cs typeface="Arial" pitchFamily="34" charset="-120"/>
              </a:rPr>
              <a:t>harness</a:t>
            </a:r>
            <a:r>
              <a:rPr lang="en-US" sz="3600" b="1" dirty="0">
                <a:solidFill>
                  <a:srgbClr val="16181D"/>
                </a:solidFill>
                <a:latin typeface="Arial" pitchFamily="34" charset="0"/>
                <a:ea typeface="Arial" pitchFamily="34" charset="-122"/>
                <a:cs typeface="Arial" pitchFamily="34" charset="-120"/>
              </a:rPr>
              <a:t> is the body.</a:t>
            </a:r>
            <a:endParaRPr lang="en-US" sz="3600" dirty="0"/>
          </a:p>
        </p:txBody>
      </p:sp>
      <p:sp>
        <p:nvSpPr>
          <p:cNvPr id="4" name="Text 2"/>
          <p:cNvSpPr/>
          <p:nvPr/>
        </p:nvSpPr>
        <p:spPr>
          <a:xfrm>
            <a:off x="841248" y="3200400"/>
            <a:ext cx="5394960" cy="1188720"/>
          </a:xfrm>
          <a:prstGeom prst="rect">
            <a:avLst/>
          </a:prstGeom>
          <a:noFill/>
          <a:ln/>
        </p:spPr>
        <p:txBody>
          <a:bodyPr wrap="square" rtlCol="0" anchor="ctr"/>
          <a:lstStyle/>
          <a:p>
            <a:pPr marL="0" indent="0">
              <a:lnSpc>
                <a:spcPts val="2600"/>
              </a:lnSpc>
              <a:buNone/>
            </a:pPr>
            <a:r>
              <a:rPr lang="en-US" sz="1700" dirty="0">
                <a:solidFill>
                  <a:srgbClr val="666C7A"/>
                </a:solidFill>
                <a:latin typeface="Calibri" pitchFamily="34" charset="0"/>
                <a:ea typeface="Calibri" pitchFamily="34" charset="-122"/>
                <a:cs typeface="Calibri" pitchFamily="34" charset="-120"/>
              </a:rPr>
              <a:t>A brain in a jar cannot build a website. Everything between the model's guess and the finished page is the harness, and that is where the quality actually comes from.</a:t>
            </a:r>
            <a:endParaRPr lang="en-US" sz="1700" dirty="0"/>
          </a:p>
        </p:txBody>
      </p:sp>
      <p:sp>
        <p:nvSpPr>
          <p:cNvPr id="5" name="Shape 3"/>
          <p:cNvSpPr/>
          <p:nvPr/>
        </p:nvSpPr>
        <p:spPr>
          <a:xfrm>
            <a:off x="850392" y="4626864"/>
            <a:ext cx="128016" cy="128016"/>
          </a:xfrm>
          <a:prstGeom prst="ellipse">
            <a:avLst/>
          </a:prstGeom>
          <a:solidFill>
            <a:srgbClr val="7C3AED"/>
          </a:solidFill>
          <a:ln/>
        </p:spPr>
        <p:txBody>
          <a:bodyPr/>
          <a:lstStyle/>
          <a:p>
            <a:endParaRPr lang="en-US"/>
          </a:p>
        </p:txBody>
      </p:sp>
      <p:sp>
        <p:nvSpPr>
          <p:cNvPr id="6" name="Text 4"/>
          <p:cNvSpPr/>
          <p:nvPr/>
        </p:nvSpPr>
        <p:spPr>
          <a:xfrm>
            <a:off x="1133856" y="4535424"/>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Swap the model and the harness is untouched.</a:t>
            </a:r>
            <a:endParaRPr lang="en-US" sz="1350" dirty="0"/>
          </a:p>
        </p:txBody>
      </p:sp>
      <p:sp>
        <p:nvSpPr>
          <p:cNvPr id="7" name="Shape 5"/>
          <p:cNvSpPr/>
          <p:nvPr/>
        </p:nvSpPr>
        <p:spPr>
          <a:xfrm>
            <a:off x="850392" y="5029200"/>
            <a:ext cx="128016" cy="128016"/>
          </a:xfrm>
          <a:prstGeom prst="ellipse">
            <a:avLst/>
          </a:prstGeom>
          <a:solidFill>
            <a:srgbClr val="7C3AED"/>
          </a:solidFill>
          <a:ln/>
        </p:spPr>
        <p:txBody>
          <a:bodyPr/>
          <a:lstStyle/>
          <a:p>
            <a:endParaRPr lang="en-US"/>
          </a:p>
        </p:txBody>
      </p:sp>
      <p:sp>
        <p:nvSpPr>
          <p:cNvPr id="8" name="Text 6"/>
          <p:cNvSpPr/>
          <p:nvPr/>
        </p:nvSpPr>
        <p:spPr>
          <a:xfrm>
            <a:off x="1133856" y="4937760"/>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Improve the harness and every model gets better.</a:t>
            </a:r>
            <a:endParaRPr lang="en-US" sz="1350" dirty="0"/>
          </a:p>
        </p:txBody>
      </p:sp>
      <p:sp>
        <p:nvSpPr>
          <p:cNvPr id="9" name="Shape 7"/>
          <p:cNvSpPr/>
          <p:nvPr/>
        </p:nvSpPr>
        <p:spPr>
          <a:xfrm>
            <a:off x="850392" y="5431536"/>
            <a:ext cx="128016" cy="128016"/>
          </a:xfrm>
          <a:prstGeom prst="ellipse">
            <a:avLst/>
          </a:prstGeom>
          <a:solidFill>
            <a:srgbClr val="7C3AED"/>
          </a:solidFill>
          <a:ln/>
        </p:spPr>
        <p:txBody>
          <a:bodyPr/>
          <a:lstStyle/>
          <a:p>
            <a:endParaRPr lang="en-US"/>
          </a:p>
        </p:txBody>
      </p:sp>
      <p:sp>
        <p:nvSpPr>
          <p:cNvPr id="10" name="Text 8"/>
          <p:cNvSpPr/>
          <p:nvPr/>
        </p:nvSpPr>
        <p:spPr>
          <a:xfrm>
            <a:off x="1133856" y="5340096"/>
            <a:ext cx="5102352" cy="384048"/>
          </a:xfrm>
          <a:prstGeom prst="rect">
            <a:avLst/>
          </a:prstGeom>
          <a:noFill/>
          <a:ln/>
        </p:spPr>
        <p:txBody>
          <a:bodyPr wrap="square" rtlCol="0" anchor="ctr"/>
          <a:lstStyle/>
          <a:p>
            <a:pPr marL="0" indent="0">
              <a:lnSpc>
                <a:spcPts val="1700"/>
              </a:lnSpc>
              <a:buNone/>
            </a:pPr>
            <a:r>
              <a:rPr lang="en-US" sz="1350" dirty="0">
                <a:solidFill>
                  <a:srgbClr val="666C7A"/>
                </a:solidFill>
                <a:latin typeface="Calibri" pitchFamily="34" charset="0"/>
                <a:ea typeface="Calibri" pitchFamily="34" charset="-122"/>
                <a:cs typeface="Calibri" pitchFamily="34" charset="-120"/>
              </a:rPr>
              <a:t>The same prompt, through a better harness, is a better page.</a:t>
            </a:r>
            <a:endParaRPr lang="en-US" sz="1350" dirty="0"/>
          </a:p>
        </p:txBody>
      </p:sp>
      <p:sp>
        <p:nvSpPr>
          <p:cNvPr id="11" name="Shape 9"/>
          <p:cNvSpPr/>
          <p:nvPr/>
        </p:nvSpPr>
        <p:spPr>
          <a:xfrm>
            <a:off x="6858000" y="1600200"/>
            <a:ext cx="4480560" cy="786384"/>
          </a:xfrm>
          <a:prstGeom prst="roundRect">
            <a:avLst>
              <a:gd name="adj" fmla="val 11628"/>
            </a:avLst>
          </a:prstGeom>
          <a:solidFill>
            <a:srgbClr val="EEF1F6"/>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2" name="Shape 10"/>
          <p:cNvSpPr/>
          <p:nvPr/>
        </p:nvSpPr>
        <p:spPr>
          <a:xfrm>
            <a:off x="7114032" y="1746504"/>
            <a:ext cx="493776" cy="493776"/>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13" name="Image 0" descr="preencoded.png"/>
          <p:cNvPicPr>
            <a:picLocks noChangeAspect="1"/>
          </p:cNvPicPr>
          <p:nvPr/>
        </p:nvPicPr>
        <p:blipFill>
          <a:blip r:embed="rId3"/>
          <a:stretch>
            <a:fillRect/>
          </a:stretch>
        </p:blipFill>
        <p:spPr>
          <a:xfrm>
            <a:off x="7232538" y="1865010"/>
            <a:ext cx="256764" cy="256764"/>
          </a:xfrm>
          <a:prstGeom prst="rect">
            <a:avLst/>
          </a:prstGeom>
        </p:spPr>
      </p:pic>
      <p:sp>
        <p:nvSpPr>
          <p:cNvPr id="14" name="Text 11"/>
          <p:cNvSpPr/>
          <p:nvPr/>
        </p:nvSpPr>
        <p:spPr>
          <a:xfrm>
            <a:off x="7772400" y="1691640"/>
            <a:ext cx="2011680" cy="320040"/>
          </a:xfrm>
          <a:prstGeom prst="rect">
            <a:avLst/>
          </a:prstGeom>
          <a:noFill/>
          <a:ln/>
        </p:spPr>
        <p:txBody>
          <a:bodyPr wrap="square" rtlCol="0" anchor="ctr"/>
          <a:lstStyle/>
          <a:p>
            <a:pPr marL="0" indent="0">
              <a:buNone/>
            </a:pPr>
            <a:r>
              <a:rPr lang="en-US" sz="1150" kern="0" spc="100" dirty="0">
                <a:solidFill>
                  <a:srgbClr val="16181D"/>
                </a:solidFill>
                <a:latin typeface="Consolas" pitchFamily="34" charset="0"/>
                <a:ea typeface="Consolas" pitchFamily="34" charset="-122"/>
                <a:cs typeface="Consolas" pitchFamily="34" charset="-120"/>
              </a:rPr>
              <a:t>the model</a:t>
            </a:r>
            <a:endParaRPr lang="en-US" sz="1150" dirty="0"/>
          </a:p>
        </p:txBody>
      </p:sp>
      <p:sp>
        <p:nvSpPr>
          <p:cNvPr id="15" name="Text 12"/>
          <p:cNvSpPr/>
          <p:nvPr/>
        </p:nvSpPr>
        <p:spPr>
          <a:xfrm>
            <a:off x="7772400" y="1984248"/>
            <a:ext cx="3291840" cy="320040"/>
          </a:xfrm>
          <a:prstGeom prst="rect">
            <a:avLst/>
          </a:prstGeom>
          <a:noFill/>
          <a:ln/>
        </p:spPr>
        <p:txBody>
          <a:bodyPr wrap="square" rtlCol="0" anchor="ctr"/>
          <a:lstStyle/>
          <a:p>
            <a:pPr marL="0" indent="0">
              <a:buNone/>
            </a:pPr>
            <a:r>
              <a:rPr lang="en-US" sz="1250" dirty="0">
                <a:solidFill>
                  <a:srgbClr val="666C7A"/>
                </a:solidFill>
                <a:latin typeface="Calibri" pitchFamily="34" charset="0"/>
                <a:ea typeface="Calibri" pitchFamily="34" charset="-122"/>
                <a:cs typeface="Calibri" pitchFamily="34" charset="-120"/>
              </a:rPr>
              <a:t>guesses words</a:t>
            </a:r>
            <a:endParaRPr lang="en-US" sz="1250" dirty="0"/>
          </a:p>
        </p:txBody>
      </p:sp>
      <p:sp>
        <p:nvSpPr>
          <p:cNvPr id="16" name="Shape 13"/>
          <p:cNvSpPr/>
          <p:nvPr/>
        </p:nvSpPr>
        <p:spPr>
          <a:xfrm>
            <a:off x="7360920" y="2386584"/>
            <a:ext cx="0" cy="146304"/>
          </a:xfrm>
          <a:prstGeom prst="line">
            <a:avLst/>
          </a:prstGeom>
          <a:noFill/>
          <a:ln w="17780">
            <a:solidFill>
              <a:srgbClr val="9AA1B0"/>
            </a:solidFill>
            <a:prstDash val="solid"/>
            <a:tailEnd type="triangle"/>
          </a:ln>
        </p:spPr>
        <p:txBody>
          <a:bodyPr/>
          <a:lstStyle/>
          <a:p>
            <a:endParaRPr lang="en-US"/>
          </a:p>
        </p:txBody>
      </p:sp>
      <p:sp>
        <p:nvSpPr>
          <p:cNvPr id="17" name="Shape 14"/>
          <p:cNvSpPr/>
          <p:nvPr/>
        </p:nvSpPr>
        <p:spPr>
          <a:xfrm>
            <a:off x="6858000" y="2532888"/>
            <a:ext cx="4480560" cy="786384"/>
          </a:xfrm>
          <a:prstGeom prst="roundRect">
            <a:avLst>
              <a:gd name="adj" fmla="val 116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8" name="Shape 15"/>
          <p:cNvSpPr/>
          <p:nvPr/>
        </p:nvSpPr>
        <p:spPr>
          <a:xfrm>
            <a:off x="7114032" y="2679192"/>
            <a:ext cx="493776" cy="493776"/>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19" name="Image 1" descr="preencoded.png"/>
          <p:cNvPicPr>
            <a:picLocks noChangeAspect="1"/>
          </p:cNvPicPr>
          <p:nvPr/>
        </p:nvPicPr>
        <p:blipFill>
          <a:blip r:embed="rId4"/>
          <a:stretch>
            <a:fillRect/>
          </a:stretch>
        </p:blipFill>
        <p:spPr>
          <a:xfrm>
            <a:off x="7232538" y="2797698"/>
            <a:ext cx="256764" cy="256764"/>
          </a:xfrm>
          <a:prstGeom prst="rect">
            <a:avLst/>
          </a:prstGeom>
        </p:spPr>
      </p:pic>
      <p:sp>
        <p:nvSpPr>
          <p:cNvPr id="20" name="Text 16"/>
          <p:cNvSpPr/>
          <p:nvPr/>
        </p:nvSpPr>
        <p:spPr>
          <a:xfrm>
            <a:off x="7772400" y="2624328"/>
            <a:ext cx="2011680" cy="320040"/>
          </a:xfrm>
          <a:prstGeom prst="rect">
            <a:avLst/>
          </a:prstGeom>
          <a:noFill/>
          <a:ln/>
        </p:spPr>
        <p:txBody>
          <a:bodyPr wrap="square" rtlCol="0" anchor="ctr"/>
          <a:lstStyle/>
          <a:p>
            <a:pPr marL="0" indent="0">
              <a:buNone/>
            </a:pPr>
            <a:r>
              <a:rPr lang="en-US" sz="1150" kern="0" spc="100" dirty="0">
                <a:solidFill>
                  <a:srgbClr val="16181D"/>
                </a:solidFill>
                <a:latin typeface="Consolas" pitchFamily="34" charset="0"/>
                <a:ea typeface="Consolas" pitchFamily="34" charset="-122"/>
                <a:cs typeface="Consolas" pitchFamily="34" charset="-120"/>
              </a:rPr>
              <a:t>guards</a:t>
            </a:r>
            <a:endParaRPr lang="en-US" sz="1150" dirty="0"/>
          </a:p>
        </p:txBody>
      </p:sp>
      <p:sp>
        <p:nvSpPr>
          <p:cNvPr id="21" name="Text 17"/>
          <p:cNvSpPr/>
          <p:nvPr/>
        </p:nvSpPr>
        <p:spPr>
          <a:xfrm>
            <a:off x="7772400" y="2916936"/>
            <a:ext cx="3291840" cy="320040"/>
          </a:xfrm>
          <a:prstGeom prst="rect">
            <a:avLst/>
          </a:prstGeom>
          <a:noFill/>
          <a:ln/>
        </p:spPr>
        <p:txBody>
          <a:bodyPr wrap="square" rtlCol="0" anchor="ctr"/>
          <a:lstStyle/>
          <a:p>
            <a:pPr marL="0" indent="0">
              <a:buNone/>
            </a:pPr>
            <a:r>
              <a:rPr lang="en-US" sz="1250" dirty="0">
                <a:solidFill>
                  <a:srgbClr val="666C7A"/>
                </a:solidFill>
                <a:latin typeface="Calibri" pitchFamily="34" charset="0"/>
                <a:ea typeface="Calibri" pitchFamily="34" charset="-122"/>
                <a:cs typeface="Calibri" pitchFamily="34" charset="-120"/>
              </a:rPr>
              <a:t>refuse bad output</a:t>
            </a:r>
            <a:endParaRPr lang="en-US" sz="1250" dirty="0"/>
          </a:p>
        </p:txBody>
      </p:sp>
      <p:sp>
        <p:nvSpPr>
          <p:cNvPr id="22" name="Shape 18"/>
          <p:cNvSpPr/>
          <p:nvPr/>
        </p:nvSpPr>
        <p:spPr>
          <a:xfrm>
            <a:off x="7360920" y="3319272"/>
            <a:ext cx="0" cy="146304"/>
          </a:xfrm>
          <a:prstGeom prst="line">
            <a:avLst/>
          </a:prstGeom>
          <a:noFill/>
          <a:ln w="17780">
            <a:solidFill>
              <a:srgbClr val="9AA1B0"/>
            </a:solidFill>
            <a:prstDash val="solid"/>
            <a:tailEnd type="triangle"/>
          </a:ln>
        </p:spPr>
        <p:txBody>
          <a:bodyPr/>
          <a:lstStyle/>
          <a:p>
            <a:endParaRPr lang="en-US"/>
          </a:p>
        </p:txBody>
      </p:sp>
      <p:sp>
        <p:nvSpPr>
          <p:cNvPr id="23" name="Shape 19"/>
          <p:cNvSpPr/>
          <p:nvPr/>
        </p:nvSpPr>
        <p:spPr>
          <a:xfrm>
            <a:off x="6858000" y="3465576"/>
            <a:ext cx="4480560" cy="786384"/>
          </a:xfrm>
          <a:prstGeom prst="roundRect">
            <a:avLst>
              <a:gd name="adj" fmla="val 116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4" name="Shape 20"/>
          <p:cNvSpPr/>
          <p:nvPr/>
        </p:nvSpPr>
        <p:spPr>
          <a:xfrm>
            <a:off x="7114032" y="3611880"/>
            <a:ext cx="493776" cy="493776"/>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25" name="Image 2" descr="preencoded.png"/>
          <p:cNvPicPr>
            <a:picLocks noChangeAspect="1"/>
          </p:cNvPicPr>
          <p:nvPr/>
        </p:nvPicPr>
        <p:blipFill>
          <a:blip r:embed="rId5"/>
          <a:stretch>
            <a:fillRect/>
          </a:stretch>
        </p:blipFill>
        <p:spPr>
          <a:xfrm>
            <a:off x="7232538" y="3730386"/>
            <a:ext cx="256764" cy="256764"/>
          </a:xfrm>
          <a:prstGeom prst="rect">
            <a:avLst/>
          </a:prstGeom>
        </p:spPr>
      </p:pic>
      <p:sp>
        <p:nvSpPr>
          <p:cNvPr id="26" name="Text 21"/>
          <p:cNvSpPr/>
          <p:nvPr/>
        </p:nvSpPr>
        <p:spPr>
          <a:xfrm>
            <a:off x="7772400" y="3557016"/>
            <a:ext cx="2011680" cy="320040"/>
          </a:xfrm>
          <a:prstGeom prst="rect">
            <a:avLst/>
          </a:prstGeom>
          <a:noFill/>
          <a:ln/>
        </p:spPr>
        <p:txBody>
          <a:bodyPr wrap="square" rtlCol="0" anchor="ctr"/>
          <a:lstStyle/>
          <a:p>
            <a:pPr marL="0" indent="0">
              <a:buNone/>
            </a:pPr>
            <a:r>
              <a:rPr lang="en-US" sz="1150" kern="0" spc="100" dirty="0">
                <a:solidFill>
                  <a:srgbClr val="16181D"/>
                </a:solidFill>
                <a:latin typeface="Consolas" pitchFamily="34" charset="0"/>
                <a:ea typeface="Consolas" pitchFamily="34" charset="-122"/>
                <a:cs typeface="Consolas" pitchFamily="34" charset="-120"/>
              </a:rPr>
              <a:t>structure</a:t>
            </a:r>
            <a:endParaRPr lang="en-US" sz="1150" dirty="0"/>
          </a:p>
        </p:txBody>
      </p:sp>
      <p:sp>
        <p:nvSpPr>
          <p:cNvPr id="27" name="Text 22"/>
          <p:cNvSpPr/>
          <p:nvPr/>
        </p:nvSpPr>
        <p:spPr>
          <a:xfrm>
            <a:off x="7772400" y="3849624"/>
            <a:ext cx="3291840" cy="320040"/>
          </a:xfrm>
          <a:prstGeom prst="rect">
            <a:avLst/>
          </a:prstGeom>
          <a:noFill/>
          <a:ln/>
        </p:spPr>
        <p:txBody>
          <a:bodyPr wrap="square" rtlCol="0" anchor="ctr"/>
          <a:lstStyle/>
          <a:p>
            <a:pPr marL="0" indent="0">
              <a:buNone/>
            </a:pPr>
            <a:r>
              <a:rPr lang="en-US" sz="1250" dirty="0">
                <a:solidFill>
                  <a:srgbClr val="666C7A"/>
                </a:solidFill>
                <a:latin typeface="Calibri" pitchFamily="34" charset="0"/>
                <a:ea typeface="Calibri" pitchFamily="34" charset="-122"/>
                <a:cs typeface="Calibri" pitchFamily="34" charset="-120"/>
              </a:rPr>
              <a:t>decide the page shape</a:t>
            </a:r>
            <a:endParaRPr lang="en-US" sz="1250" dirty="0"/>
          </a:p>
        </p:txBody>
      </p:sp>
      <p:sp>
        <p:nvSpPr>
          <p:cNvPr id="28" name="Shape 23"/>
          <p:cNvSpPr/>
          <p:nvPr/>
        </p:nvSpPr>
        <p:spPr>
          <a:xfrm>
            <a:off x="7360920" y="4251960"/>
            <a:ext cx="0" cy="146304"/>
          </a:xfrm>
          <a:prstGeom prst="line">
            <a:avLst/>
          </a:prstGeom>
          <a:noFill/>
          <a:ln w="17780">
            <a:solidFill>
              <a:srgbClr val="9AA1B0"/>
            </a:solidFill>
            <a:prstDash val="solid"/>
            <a:tailEnd type="triangle"/>
          </a:ln>
        </p:spPr>
        <p:txBody>
          <a:bodyPr/>
          <a:lstStyle/>
          <a:p>
            <a:endParaRPr lang="en-US"/>
          </a:p>
        </p:txBody>
      </p:sp>
      <p:sp>
        <p:nvSpPr>
          <p:cNvPr id="29" name="Shape 24"/>
          <p:cNvSpPr/>
          <p:nvPr/>
        </p:nvSpPr>
        <p:spPr>
          <a:xfrm>
            <a:off x="6858000" y="4398264"/>
            <a:ext cx="4480560" cy="786384"/>
          </a:xfrm>
          <a:prstGeom prst="roundRect">
            <a:avLst>
              <a:gd name="adj" fmla="val 116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30" name="Shape 25"/>
          <p:cNvSpPr/>
          <p:nvPr/>
        </p:nvSpPr>
        <p:spPr>
          <a:xfrm>
            <a:off x="7114032" y="4544568"/>
            <a:ext cx="493776" cy="493776"/>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31" name="Image 3" descr="preencoded.png"/>
          <p:cNvPicPr>
            <a:picLocks noChangeAspect="1"/>
          </p:cNvPicPr>
          <p:nvPr/>
        </p:nvPicPr>
        <p:blipFill>
          <a:blip r:embed="rId6"/>
          <a:stretch>
            <a:fillRect/>
          </a:stretch>
        </p:blipFill>
        <p:spPr>
          <a:xfrm>
            <a:off x="7232538" y="4663074"/>
            <a:ext cx="256764" cy="256764"/>
          </a:xfrm>
          <a:prstGeom prst="rect">
            <a:avLst/>
          </a:prstGeom>
        </p:spPr>
      </p:pic>
      <p:sp>
        <p:nvSpPr>
          <p:cNvPr id="32" name="Text 26"/>
          <p:cNvSpPr/>
          <p:nvPr/>
        </p:nvSpPr>
        <p:spPr>
          <a:xfrm>
            <a:off x="7772400" y="4489704"/>
            <a:ext cx="2011680" cy="320040"/>
          </a:xfrm>
          <a:prstGeom prst="rect">
            <a:avLst/>
          </a:prstGeom>
          <a:noFill/>
          <a:ln/>
        </p:spPr>
        <p:txBody>
          <a:bodyPr wrap="square" rtlCol="0" anchor="ctr"/>
          <a:lstStyle/>
          <a:p>
            <a:pPr marL="0" indent="0">
              <a:buNone/>
            </a:pPr>
            <a:r>
              <a:rPr lang="en-US" sz="1150" kern="0" spc="100" dirty="0">
                <a:solidFill>
                  <a:srgbClr val="16181D"/>
                </a:solidFill>
                <a:latin typeface="Consolas" pitchFamily="34" charset="0"/>
                <a:ea typeface="Consolas" pitchFamily="34" charset="-122"/>
                <a:cs typeface="Consolas" pitchFamily="34" charset="-120"/>
              </a:rPr>
              <a:t>assets</a:t>
            </a:r>
            <a:endParaRPr lang="en-US" sz="1150" dirty="0"/>
          </a:p>
        </p:txBody>
      </p:sp>
      <p:sp>
        <p:nvSpPr>
          <p:cNvPr id="33" name="Text 27"/>
          <p:cNvSpPr/>
          <p:nvPr/>
        </p:nvSpPr>
        <p:spPr>
          <a:xfrm>
            <a:off x="7772400" y="4782312"/>
            <a:ext cx="3291840" cy="320040"/>
          </a:xfrm>
          <a:prstGeom prst="rect">
            <a:avLst/>
          </a:prstGeom>
          <a:noFill/>
          <a:ln/>
        </p:spPr>
        <p:txBody>
          <a:bodyPr wrap="square" rtlCol="0" anchor="ctr"/>
          <a:lstStyle/>
          <a:p>
            <a:pPr marL="0" indent="0">
              <a:buNone/>
            </a:pPr>
            <a:r>
              <a:rPr lang="en-US" sz="1250" dirty="0">
                <a:solidFill>
                  <a:srgbClr val="666C7A"/>
                </a:solidFill>
                <a:latin typeface="Calibri" pitchFamily="34" charset="0"/>
                <a:ea typeface="Calibri" pitchFamily="34" charset="-122"/>
                <a:cs typeface="Calibri" pitchFamily="34" charset="-120"/>
              </a:rPr>
              <a:t>real pictures, real palettes</a:t>
            </a:r>
            <a:endParaRPr lang="en-US" sz="1250" dirty="0"/>
          </a:p>
        </p:txBody>
      </p:sp>
      <p:sp>
        <p:nvSpPr>
          <p:cNvPr id="34" name="Shape 28"/>
          <p:cNvSpPr/>
          <p:nvPr/>
        </p:nvSpPr>
        <p:spPr>
          <a:xfrm>
            <a:off x="7360920" y="5184648"/>
            <a:ext cx="0" cy="146304"/>
          </a:xfrm>
          <a:prstGeom prst="line">
            <a:avLst/>
          </a:prstGeom>
          <a:noFill/>
          <a:ln w="17780">
            <a:solidFill>
              <a:srgbClr val="9AA1B0"/>
            </a:solidFill>
            <a:prstDash val="solid"/>
            <a:tailEnd type="triangle"/>
          </a:ln>
        </p:spPr>
        <p:txBody>
          <a:bodyPr/>
          <a:lstStyle/>
          <a:p>
            <a:endParaRPr lang="en-US"/>
          </a:p>
        </p:txBody>
      </p:sp>
      <p:sp>
        <p:nvSpPr>
          <p:cNvPr id="35" name="Shape 29"/>
          <p:cNvSpPr/>
          <p:nvPr/>
        </p:nvSpPr>
        <p:spPr>
          <a:xfrm>
            <a:off x="6858000" y="5330952"/>
            <a:ext cx="4480560" cy="786384"/>
          </a:xfrm>
          <a:prstGeom prst="roundRect">
            <a:avLst>
              <a:gd name="adj" fmla="val 116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36" name="Shape 30"/>
          <p:cNvSpPr/>
          <p:nvPr/>
        </p:nvSpPr>
        <p:spPr>
          <a:xfrm>
            <a:off x="7114032" y="5477256"/>
            <a:ext cx="493776" cy="493776"/>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37" name="Image 4" descr="preencoded.png"/>
          <p:cNvPicPr>
            <a:picLocks noChangeAspect="1"/>
          </p:cNvPicPr>
          <p:nvPr/>
        </p:nvPicPr>
        <p:blipFill>
          <a:blip r:embed="rId7"/>
          <a:stretch>
            <a:fillRect/>
          </a:stretch>
        </p:blipFill>
        <p:spPr>
          <a:xfrm>
            <a:off x="7232538" y="5595762"/>
            <a:ext cx="256764" cy="256764"/>
          </a:xfrm>
          <a:prstGeom prst="rect">
            <a:avLst/>
          </a:prstGeom>
        </p:spPr>
      </p:pic>
      <p:sp>
        <p:nvSpPr>
          <p:cNvPr id="38" name="Text 31"/>
          <p:cNvSpPr/>
          <p:nvPr/>
        </p:nvSpPr>
        <p:spPr>
          <a:xfrm>
            <a:off x="7772400" y="5422392"/>
            <a:ext cx="2011680" cy="320040"/>
          </a:xfrm>
          <a:prstGeom prst="rect">
            <a:avLst/>
          </a:prstGeom>
          <a:noFill/>
          <a:ln/>
        </p:spPr>
        <p:txBody>
          <a:bodyPr wrap="square" rtlCol="0" anchor="ctr"/>
          <a:lstStyle/>
          <a:p>
            <a:pPr marL="0" indent="0">
              <a:buNone/>
            </a:pPr>
            <a:r>
              <a:rPr lang="en-US" sz="1150" kern="0" spc="100" dirty="0">
                <a:solidFill>
                  <a:srgbClr val="16181D"/>
                </a:solidFill>
                <a:latin typeface="Consolas" pitchFamily="34" charset="0"/>
                <a:ea typeface="Consolas" pitchFamily="34" charset="-122"/>
                <a:cs typeface="Consolas" pitchFamily="34" charset="-120"/>
              </a:rPr>
              <a:t>the page</a:t>
            </a:r>
            <a:endParaRPr lang="en-US" sz="1150" dirty="0"/>
          </a:p>
        </p:txBody>
      </p:sp>
      <p:sp>
        <p:nvSpPr>
          <p:cNvPr id="39" name="Text 32"/>
          <p:cNvSpPr/>
          <p:nvPr/>
        </p:nvSpPr>
        <p:spPr>
          <a:xfrm>
            <a:off x="7772400" y="5715000"/>
            <a:ext cx="3291840" cy="320040"/>
          </a:xfrm>
          <a:prstGeom prst="rect">
            <a:avLst/>
          </a:prstGeom>
          <a:noFill/>
          <a:ln/>
        </p:spPr>
        <p:txBody>
          <a:bodyPr wrap="square" rtlCol="0" anchor="ctr"/>
          <a:lstStyle/>
          <a:p>
            <a:pPr marL="0" indent="0">
              <a:buNone/>
            </a:pPr>
            <a:r>
              <a:rPr lang="en-US" sz="1250" dirty="0">
                <a:solidFill>
                  <a:srgbClr val="666C7A"/>
                </a:solidFill>
                <a:latin typeface="Calibri" pitchFamily="34" charset="0"/>
                <a:ea typeface="Calibri" pitchFamily="34" charset="-122"/>
                <a:cs typeface="Calibri" pitchFamily="34" charset="-120"/>
              </a:rPr>
              <a:t>what the room sees</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7C3AED"/>
                </a:solidFill>
                <a:latin typeface="Arial" pitchFamily="34" charset="0"/>
                <a:ea typeface="Arial" pitchFamily="34" charset="-122"/>
                <a:cs typeface="Arial" pitchFamily="34" charset="-120"/>
              </a:rPr>
              <a:t>WHAT WE ACTUALLY BUILT</a:t>
            </a:r>
            <a:endParaRPr lang="en-US" sz="1100" dirty="0"/>
          </a:p>
        </p:txBody>
      </p:sp>
      <p:sp>
        <p:nvSpPr>
          <p:cNvPr id="3" name="Text 1"/>
          <p:cNvSpPr/>
          <p:nvPr/>
        </p:nvSpPr>
        <p:spPr>
          <a:xfrm>
            <a:off x="841248" y="1005840"/>
            <a:ext cx="10058400" cy="82296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Sixteen agents and a </a:t>
            </a:r>
            <a:r>
              <a:rPr lang="en-US" sz="3200" b="1" dirty="0">
                <a:solidFill>
                  <a:srgbClr val="4F46E5"/>
                </a:solidFill>
                <a:latin typeface="Arial" pitchFamily="34" charset="0"/>
                <a:ea typeface="Arial" pitchFamily="34" charset="-122"/>
                <a:cs typeface="Arial" pitchFamily="34" charset="-120"/>
              </a:rPr>
              <a:t>set of rules.</a:t>
            </a:r>
            <a:endParaRPr lang="en-US" sz="3200" dirty="0"/>
          </a:p>
        </p:txBody>
      </p:sp>
      <p:sp>
        <p:nvSpPr>
          <p:cNvPr id="4" name="Text 2"/>
          <p:cNvSpPr/>
          <p:nvPr/>
        </p:nvSpPr>
        <p:spPr>
          <a:xfrm>
            <a:off x="841248" y="1783080"/>
            <a:ext cx="7315200" cy="365760"/>
          </a:xfrm>
          <a:prstGeom prst="rect">
            <a:avLst/>
          </a:prstGeom>
          <a:noFill/>
          <a:ln/>
        </p:spPr>
        <p:txBody>
          <a:bodyPr wrap="square" rtlCol="0" anchor="ctr"/>
          <a:lstStyle/>
          <a:p>
            <a:pPr marL="0" indent="0">
              <a:buNone/>
            </a:pPr>
            <a:r>
              <a:rPr lang="en-US" sz="1550" dirty="0">
                <a:solidFill>
                  <a:srgbClr val="666C7A"/>
                </a:solidFill>
                <a:latin typeface="Calibri" pitchFamily="34" charset="0"/>
                <a:ea typeface="Calibri" pitchFamily="34" charset="-122"/>
                <a:cs typeface="Calibri" pitchFamily="34" charset="-120"/>
              </a:rPr>
              <a:t>Every one of these started as output we were not happy with.</a:t>
            </a:r>
            <a:endParaRPr lang="en-US" sz="1550" dirty="0"/>
          </a:p>
        </p:txBody>
      </p:sp>
      <p:sp>
        <p:nvSpPr>
          <p:cNvPr id="5" name="Shape 3"/>
          <p:cNvSpPr/>
          <p:nvPr/>
        </p:nvSpPr>
        <p:spPr>
          <a:xfrm>
            <a:off x="841248" y="2331720"/>
            <a:ext cx="10515600" cy="896112"/>
          </a:xfrm>
          <a:prstGeom prst="roundRect">
            <a:avLst>
              <a:gd name="adj" fmla="val 10204"/>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6" name="Shape 4"/>
          <p:cNvSpPr/>
          <p:nvPr/>
        </p:nvSpPr>
        <p:spPr>
          <a:xfrm>
            <a:off x="1124712" y="2514600"/>
            <a:ext cx="530352" cy="530352"/>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1251996" y="2641884"/>
            <a:ext cx="275783" cy="275783"/>
          </a:xfrm>
          <a:prstGeom prst="rect">
            <a:avLst/>
          </a:prstGeom>
        </p:spPr>
      </p:pic>
      <p:sp>
        <p:nvSpPr>
          <p:cNvPr id="8" name="Text 5"/>
          <p:cNvSpPr/>
          <p:nvPr/>
        </p:nvSpPr>
        <p:spPr>
          <a:xfrm>
            <a:off x="1892808" y="2441448"/>
            <a:ext cx="2377440" cy="347472"/>
          </a:xfrm>
          <a:prstGeom prst="rect">
            <a:avLst/>
          </a:prstGeom>
          <a:noFill/>
          <a:ln/>
        </p:spPr>
        <p:txBody>
          <a:bodyPr wrap="square" rtlCol="0" anchor="ctr"/>
          <a:lstStyle/>
          <a:p>
            <a:pPr marL="0" indent="0">
              <a:buNone/>
            </a:pPr>
            <a:r>
              <a:rPr lang="en-US" sz="1600" b="1" dirty="0">
                <a:solidFill>
                  <a:srgbClr val="16181D"/>
                </a:solidFill>
                <a:latin typeface="Arial" pitchFamily="34" charset="0"/>
                <a:ea typeface="Arial" pitchFamily="34" charset="-122"/>
                <a:cs typeface="Arial" pitchFamily="34" charset="-120"/>
              </a:rPr>
              <a:t>16 agents</a:t>
            </a:r>
            <a:endParaRPr lang="en-US" sz="1600" dirty="0"/>
          </a:p>
        </p:txBody>
      </p:sp>
      <p:sp>
        <p:nvSpPr>
          <p:cNvPr id="9" name="Text 6"/>
          <p:cNvSpPr/>
          <p:nvPr/>
        </p:nvSpPr>
        <p:spPr>
          <a:xfrm>
            <a:off x="4270248" y="2423160"/>
            <a:ext cx="6858000" cy="731520"/>
          </a:xfrm>
          <a:prstGeom prst="rect">
            <a:avLst/>
          </a:prstGeom>
          <a:noFill/>
          <a:ln/>
        </p:spPr>
        <p:txBody>
          <a:bodyPr wrap="square" rtlCol="0" anchor="ctr"/>
          <a:lstStyle/>
          <a:p>
            <a:pPr marL="0" indent="0">
              <a:lnSpc>
                <a:spcPts val="1600"/>
              </a:lnSpc>
              <a:buNone/>
            </a:pPr>
            <a:r>
              <a:rPr lang="en-US" sz="1250" dirty="0">
                <a:solidFill>
                  <a:srgbClr val="666C7A"/>
                </a:solidFill>
                <a:latin typeface="Calibri" pitchFamily="34" charset="0"/>
                <a:ea typeface="Calibri" pitchFamily="34" charset="-122"/>
                <a:cs typeface="Calibri" pitchFamily="34" charset="-120"/>
              </a:rPr>
              <a:t>Insight, researcher, namer, copywriter, designer, illustrator, pricer, strategist, architect, critic, skeptic, proofreader and more.</a:t>
            </a:r>
            <a:endParaRPr lang="en-US" sz="1250" dirty="0"/>
          </a:p>
        </p:txBody>
      </p:sp>
      <p:sp>
        <p:nvSpPr>
          <p:cNvPr id="10" name="Shape 7"/>
          <p:cNvSpPr/>
          <p:nvPr/>
        </p:nvSpPr>
        <p:spPr>
          <a:xfrm>
            <a:off x="841248" y="3355848"/>
            <a:ext cx="10515600" cy="896112"/>
          </a:xfrm>
          <a:prstGeom prst="roundRect">
            <a:avLst>
              <a:gd name="adj" fmla="val 10204"/>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1" name="Shape 8"/>
          <p:cNvSpPr/>
          <p:nvPr/>
        </p:nvSpPr>
        <p:spPr>
          <a:xfrm>
            <a:off x="1124712" y="3538728"/>
            <a:ext cx="530352" cy="530352"/>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1251996" y="3666012"/>
            <a:ext cx="275783" cy="275783"/>
          </a:xfrm>
          <a:prstGeom prst="rect">
            <a:avLst/>
          </a:prstGeom>
        </p:spPr>
      </p:pic>
      <p:sp>
        <p:nvSpPr>
          <p:cNvPr id="13" name="Text 9"/>
          <p:cNvSpPr/>
          <p:nvPr/>
        </p:nvSpPr>
        <p:spPr>
          <a:xfrm>
            <a:off x="1892808" y="3465576"/>
            <a:ext cx="2377440" cy="347472"/>
          </a:xfrm>
          <a:prstGeom prst="rect">
            <a:avLst/>
          </a:prstGeom>
          <a:noFill/>
          <a:ln/>
        </p:spPr>
        <p:txBody>
          <a:bodyPr wrap="square" rtlCol="0" anchor="ctr"/>
          <a:lstStyle/>
          <a:p>
            <a:pPr marL="0" indent="0">
              <a:buNone/>
            </a:pPr>
            <a:r>
              <a:rPr lang="en-US" sz="1600" b="1" dirty="0">
                <a:solidFill>
                  <a:srgbClr val="16181D"/>
                </a:solidFill>
                <a:latin typeface="Arial" pitchFamily="34" charset="0"/>
                <a:ea typeface="Arial" pitchFamily="34" charset="-122"/>
                <a:cs typeface="Arial" pitchFamily="34" charset="-120"/>
              </a:rPr>
              <a:t>18 taste rules</a:t>
            </a:r>
            <a:endParaRPr lang="en-US" sz="1600" dirty="0"/>
          </a:p>
        </p:txBody>
      </p:sp>
      <p:sp>
        <p:nvSpPr>
          <p:cNvPr id="14" name="Text 10"/>
          <p:cNvSpPr/>
          <p:nvPr/>
        </p:nvSpPr>
        <p:spPr>
          <a:xfrm>
            <a:off x="4270248" y="3447288"/>
            <a:ext cx="6858000" cy="731520"/>
          </a:xfrm>
          <a:prstGeom prst="rect">
            <a:avLst/>
          </a:prstGeom>
          <a:noFill/>
          <a:ln/>
        </p:spPr>
        <p:txBody>
          <a:bodyPr wrap="square" rtlCol="0" anchor="ctr"/>
          <a:lstStyle/>
          <a:p>
            <a:pPr marL="0" indent="0">
              <a:lnSpc>
                <a:spcPts val="1600"/>
              </a:lnSpc>
              <a:buNone/>
            </a:pPr>
            <a:r>
              <a:rPr lang="en-US" sz="1250" dirty="0">
                <a:solidFill>
                  <a:srgbClr val="666C7A"/>
                </a:solidFill>
                <a:latin typeface="Calibri" pitchFamily="34" charset="0"/>
                <a:ea typeface="Calibri" pitchFamily="34" charset="-122"/>
                <a:cs typeface="Calibri" pitchFamily="34" charset="-120"/>
              </a:rPr>
              <a:t>Deterministic checks that reject em dashes, three equal cards, AI purple, low-contrast buttons, widowed headlines.</a:t>
            </a:r>
            <a:endParaRPr lang="en-US" sz="1250" dirty="0"/>
          </a:p>
        </p:txBody>
      </p:sp>
      <p:sp>
        <p:nvSpPr>
          <p:cNvPr id="15" name="Shape 11"/>
          <p:cNvSpPr/>
          <p:nvPr/>
        </p:nvSpPr>
        <p:spPr>
          <a:xfrm>
            <a:off x="841248" y="4379976"/>
            <a:ext cx="10515600" cy="896112"/>
          </a:xfrm>
          <a:prstGeom prst="roundRect">
            <a:avLst>
              <a:gd name="adj" fmla="val 10204"/>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6" name="Shape 12"/>
          <p:cNvSpPr/>
          <p:nvPr/>
        </p:nvSpPr>
        <p:spPr>
          <a:xfrm>
            <a:off x="1124712" y="4562856"/>
            <a:ext cx="530352" cy="530352"/>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7" name="Image 2" descr="preencoded.png"/>
          <p:cNvPicPr>
            <a:picLocks noChangeAspect="1"/>
          </p:cNvPicPr>
          <p:nvPr/>
        </p:nvPicPr>
        <p:blipFill>
          <a:blip r:embed="rId5"/>
          <a:stretch>
            <a:fillRect/>
          </a:stretch>
        </p:blipFill>
        <p:spPr>
          <a:xfrm>
            <a:off x="1251996" y="4690140"/>
            <a:ext cx="275783" cy="275783"/>
          </a:xfrm>
          <a:prstGeom prst="rect">
            <a:avLst/>
          </a:prstGeom>
        </p:spPr>
      </p:pic>
      <p:sp>
        <p:nvSpPr>
          <p:cNvPr id="18" name="Text 13"/>
          <p:cNvSpPr/>
          <p:nvPr/>
        </p:nvSpPr>
        <p:spPr>
          <a:xfrm>
            <a:off x="1892808" y="4489704"/>
            <a:ext cx="2377440" cy="347472"/>
          </a:xfrm>
          <a:prstGeom prst="rect">
            <a:avLst/>
          </a:prstGeom>
          <a:noFill/>
          <a:ln/>
        </p:spPr>
        <p:txBody>
          <a:bodyPr wrap="square" rtlCol="0" anchor="ctr"/>
          <a:lstStyle/>
          <a:p>
            <a:pPr marL="0" indent="0">
              <a:buNone/>
            </a:pPr>
            <a:r>
              <a:rPr lang="en-US" sz="1600" b="1" dirty="0">
                <a:solidFill>
                  <a:srgbClr val="16181D"/>
                </a:solidFill>
                <a:latin typeface="Arial" pitchFamily="34" charset="0"/>
                <a:ea typeface="Arial" pitchFamily="34" charset="-122"/>
                <a:cs typeface="Arial" pitchFamily="34" charset="-120"/>
              </a:rPr>
              <a:t>Page architect</a:t>
            </a:r>
            <a:endParaRPr lang="en-US" sz="1600" dirty="0"/>
          </a:p>
        </p:txBody>
      </p:sp>
      <p:sp>
        <p:nvSpPr>
          <p:cNvPr id="19" name="Text 14"/>
          <p:cNvSpPr/>
          <p:nvPr/>
        </p:nvSpPr>
        <p:spPr>
          <a:xfrm>
            <a:off x="4270248" y="4471416"/>
            <a:ext cx="6858000" cy="731520"/>
          </a:xfrm>
          <a:prstGeom prst="rect">
            <a:avLst/>
          </a:prstGeom>
          <a:noFill/>
          <a:ln/>
        </p:spPr>
        <p:txBody>
          <a:bodyPr wrap="square" rtlCol="0" anchor="ctr"/>
          <a:lstStyle/>
          <a:p>
            <a:pPr marL="0" indent="0">
              <a:lnSpc>
                <a:spcPts val="1600"/>
              </a:lnSpc>
              <a:buNone/>
            </a:pPr>
            <a:r>
              <a:rPr lang="en-US" sz="1250" dirty="0">
                <a:solidFill>
                  <a:srgbClr val="666C7A"/>
                </a:solidFill>
                <a:latin typeface="Calibri" pitchFamily="34" charset="0"/>
                <a:ea typeface="Calibri" pitchFamily="34" charset="-122"/>
                <a:cs typeface="Calibri" pitchFamily="34" charset="-120"/>
              </a:rPr>
              <a:t>The AI picks the sections: a food truck gets a menu and a story, a tool gets three steps. No fixed template.</a:t>
            </a:r>
            <a:endParaRPr lang="en-US" sz="1250" dirty="0"/>
          </a:p>
        </p:txBody>
      </p:sp>
      <p:sp>
        <p:nvSpPr>
          <p:cNvPr id="20" name="Shape 15"/>
          <p:cNvSpPr/>
          <p:nvPr/>
        </p:nvSpPr>
        <p:spPr>
          <a:xfrm>
            <a:off x="841248" y="5404104"/>
            <a:ext cx="10515600" cy="896112"/>
          </a:xfrm>
          <a:prstGeom prst="roundRect">
            <a:avLst>
              <a:gd name="adj" fmla="val 10204"/>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1" name="Shape 16"/>
          <p:cNvSpPr/>
          <p:nvPr/>
        </p:nvSpPr>
        <p:spPr>
          <a:xfrm>
            <a:off x="1124712" y="5586984"/>
            <a:ext cx="530352" cy="530352"/>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2" name="Image 3" descr="preencoded.png"/>
          <p:cNvPicPr>
            <a:picLocks noChangeAspect="1"/>
          </p:cNvPicPr>
          <p:nvPr/>
        </p:nvPicPr>
        <p:blipFill>
          <a:blip r:embed="rId6"/>
          <a:stretch>
            <a:fillRect/>
          </a:stretch>
        </p:blipFill>
        <p:spPr>
          <a:xfrm>
            <a:off x="1251996" y="5714268"/>
            <a:ext cx="275783" cy="275783"/>
          </a:xfrm>
          <a:prstGeom prst="rect">
            <a:avLst/>
          </a:prstGeom>
        </p:spPr>
      </p:pic>
      <p:sp>
        <p:nvSpPr>
          <p:cNvPr id="23" name="Text 17"/>
          <p:cNvSpPr/>
          <p:nvPr/>
        </p:nvSpPr>
        <p:spPr>
          <a:xfrm>
            <a:off x="1892808" y="5513832"/>
            <a:ext cx="2377440" cy="347472"/>
          </a:xfrm>
          <a:prstGeom prst="rect">
            <a:avLst/>
          </a:prstGeom>
          <a:noFill/>
          <a:ln/>
        </p:spPr>
        <p:txBody>
          <a:bodyPr wrap="square" rtlCol="0" anchor="ctr"/>
          <a:lstStyle/>
          <a:p>
            <a:pPr marL="0" indent="0">
              <a:buNone/>
            </a:pPr>
            <a:r>
              <a:rPr lang="en-US" sz="1600" b="1" dirty="0">
                <a:solidFill>
                  <a:srgbClr val="16181D"/>
                </a:solidFill>
                <a:latin typeface="Arial" pitchFamily="34" charset="0"/>
                <a:ea typeface="Arial" pitchFamily="34" charset="-122"/>
                <a:cs typeface="Arial" pitchFamily="34" charset="-120"/>
              </a:rPr>
              <a:t>Best of three</a:t>
            </a:r>
            <a:endParaRPr lang="en-US" sz="1600" dirty="0"/>
          </a:p>
        </p:txBody>
      </p:sp>
      <p:sp>
        <p:nvSpPr>
          <p:cNvPr id="24" name="Text 18"/>
          <p:cNvSpPr/>
          <p:nvPr/>
        </p:nvSpPr>
        <p:spPr>
          <a:xfrm>
            <a:off x="4270248" y="5495544"/>
            <a:ext cx="6858000" cy="731520"/>
          </a:xfrm>
          <a:prstGeom prst="rect">
            <a:avLst/>
          </a:prstGeom>
          <a:noFill/>
          <a:ln/>
        </p:spPr>
        <p:txBody>
          <a:bodyPr wrap="square" rtlCol="0" anchor="ctr"/>
          <a:lstStyle/>
          <a:p>
            <a:pPr marL="0" indent="0">
              <a:lnSpc>
                <a:spcPts val="1600"/>
              </a:lnSpc>
              <a:buNone/>
            </a:pPr>
            <a:r>
              <a:rPr lang="en-US" sz="1250" dirty="0">
                <a:solidFill>
                  <a:srgbClr val="666C7A"/>
                </a:solidFill>
                <a:latin typeface="Calibri" pitchFamily="34" charset="0"/>
                <a:ea typeface="Calibri" pitchFamily="34" charset="-122"/>
                <a:cs typeface="Calibri" pitchFamily="34" charset="-120"/>
              </a:rPr>
              <a:t>The crew drafts several names and headlines, then a judge picks the sharpest one.</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0F9E8E"/>
                </a:solidFill>
                <a:latin typeface="Arial" pitchFamily="34" charset="0"/>
                <a:ea typeface="Arial" pitchFamily="34" charset="-122"/>
                <a:cs typeface="Arial" pitchFamily="34" charset="-120"/>
              </a:rPr>
              <a:t>WHY THIS IS WORTH YOUR TIME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The harness is the </a:t>
            </a:r>
            <a:r>
              <a:rPr lang="en-US" sz="3200" b="1" dirty="0">
                <a:solidFill>
                  <a:srgbClr val="4F46E5"/>
                </a:solidFill>
                <a:latin typeface="Arial" pitchFamily="34" charset="0"/>
                <a:ea typeface="Arial" pitchFamily="34" charset="-122"/>
                <a:cs typeface="Arial" pitchFamily="34" charset="-120"/>
              </a:rPr>
              <a:t>asset.</a:t>
            </a:r>
            <a:endParaRPr lang="en-US" sz="3200" dirty="0"/>
          </a:p>
        </p:txBody>
      </p:sp>
      <p:sp>
        <p:nvSpPr>
          <p:cNvPr id="4" name="Shape 2"/>
          <p:cNvSpPr/>
          <p:nvPr/>
        </p:nvSpPr>
        <p:spPr>
          <a:xfrm>
            <a:off x="841248" y="201168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5" name="Shape 3"/>
          <p:cNvSpPr/>
          <p:nvPr/>
        </p:nvSpPr>
        <p:spPr>
          <a:xfrm>
            <a:off x="1133856" y="2286000"/>
            <a:ext cx="512064" cy="51206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256751" y="2408895"/>
            <a:ext cx="266273" cy="266273"/>
          </a:xfrm>
          <a:prstGeom prst="rect">
            <a:avLst/>
          </a:prstGeom>
        </p:spPr>
      </p:pic>
      <p:sp>
        <p:nvSpPr>
          <p:cNvPr id="7" name="Text 4"/>
          <p:cNvSpPr/>
          <p:nvPr/>
        </p:nvSpPr>
        <p:spPr>
          <a:xfrm>
            <a:off x="1801368" y="2331720"/>
            <a:ext cx="2258568" cy="41148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Model agnostic</a:t>
            </a:r>
            <a:endParaRPr lang="en-US" sz="1550" dirty="0"/>
          </a:p>
        </p:txBody>
      </p:sp>
      <p:sp>
        <p:nvSpPr>
          <p:cNvPr id="8" name="Text 5"/>
          <p:cNvSpPr/>
          <p:nvPr/>
        </p:nvSpPr>
        <p:spPr>
          <a:xfrm>
            <a:off x="1161288" y="3017520"/>
            <a:ext cx="2761488" cy="68580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Point it at a local model, or a frontier API. One config line. The crew never changes.</a:t>
            </a:r>
            <a:endParaRPr lang="en-US" sz="1200" dirty="0"/>
          </a:p>
        </p:txBody>
      </p:sp>
      <p:sp>
        <p:nvSpPr>
          <p:cNvPr id="9" name="Shape 6"/>
          <p:cNvSpPr/>
          <p:nvPr/>
        </p:nvSpPr>
        <p:spPr>
          <a:xfrm>
            <a:off x="4498848" y="201168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0" name="Shape 7"/>
          <p:cNvSpPr/>
          <p:nvPr/>
        </p:nvSpPr>
        <p:spPr>
          <a:xfrm>
            <a:off x="4791456" y="2286000"/>
            <a:ext cx="512064" cy="512064"/>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1" name="Image 1" descr="preencoded.png"/>
          <p:cNvPicPr>
            <a:picLocks noChangeAspect="1"/>
          </p:cNvPicPr>
          <p:nvPr/>
        </p:nvPicPr>
        <p:blipFill>
          <a:blip r:embed="rId4"/>
          <a:stretch>
            <a:fillRect/>
          </a:stretch>
        </p:blipFill>
        <p:spPr>
          <a:xfrm>
            <a:off x="4914351" y="2408895"/>
            <a:ext cx="266273" cy="266273"/>
          </a:xfrm>
          <a:prstGeom prst="rect">
            <a:avLst/>
          </a:prstGeom>
        </p:spPr>
      </p:pic>
      <p:sp>
        <p:nvSpPr>
          <p:cNvPr id="12" name="Text 8"/>
          <p:cNvSpPr/>
          <p:nvPr/>
        </p:nvSpPr>
        <p:spPr>
          <a:xfrm>
            <a:off x="5458968" y="2331720"/>
            <a:ext cx="2258568" cy="41148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Quality has a floor</a:t>
            </a:r>
            <a:endParaRPr lang="en-US" sz="1550" dirty="0"/>
          </a:p>
        </p:txBody>
      </p:sp>
      <p:sp>
        <p:nvSpPr>
          <p:cNvPr id="13" name="Text 9"/>
          <p:cNvSpPr/>
          <p:nvPr/>
        </p:nvSpPr>
        <p:spPr>
          <a:xfrm>
            <a:off x="4818888" y="3017520"/>
            <a:ext cx="2761488" cy="68580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Guards run every time. The bad version cannot reach the client, even on a bad day.</a:t>
            </a:r>
            <a:endParaRPr lang="en-US" sz="1200" dirty="0"/>
          </a:p>
        </p:txBody>
      </p:sp>
      <p:sp>
        <p:nvSpPr>
          <p:cNvPr id="14" name="Shape 10"/>
          <p:cNvSpPr/>
          <p:nvPr/>
        </p:nvSpPr>
        <p:spPr>
          <a:xfrm>
            <a:off x="8156448" y="201168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5" name="Shape 11"/>
          <p:cNvSpPr/>
          <p:nvPr/>
        </p:nvSpPr>
        <p:spPr>
          <a:xfrm>
            <a:off x="8449056" y="2286000"/>
            <a:ext cx="512064" cy="512064"/>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8571951" y="2408895"/>
            <a:ext cx="266273" cy="266273"/>
          </a:xfrm>
          <a:prstGeom prst="rect">
            <a:avLst/>
          </a:prstGeom>
        </p:spPr>
      </p:pic>
      <p:sp>
        <p:nvSpPr>
          <p:cNvPr id="17" name="Text 12"/>
          <p:cNvSpPr/>
          <p:nvPr/>
        </p:nvSpPr>
        <p:spPr>
          <a:xfrm>
            <a:off x="9116568" y="2331720"/>
            <a:ext cx="2258568" cy="41148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Cheap to improve</a:t>
            </a:r>
            <a:endParaRPr lang="en-US" sz="1550" dirty="0"/>
          </a:p>
        </p:txBody>
      </p:sp>
      <p:sp>
        <p:nvSpPr>
          <p:cNvPr id="18" name="Text 13"/>
          <p:cNvSpPr/>
          <p:nvPr/>
        </p:nvSpPr>
        <p:spPr>
          <a:xfrm>
            <a:off x="8476488" y="3017520"/>
            <a:ext cx="2761488" cy="68580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Every fix is a rule or an agent, not a retrain. Ship it this afternoon.</a:t>
            </a:r>
            <a:endParaRPr lang="en-US" sz="1200" dirty="0"/>
          </a:p>
        </p:txBody>
      </p:sp>
      <p:sp>
        <p:nvSpPr>
          <p:cNvPr id="19" name="Shape 14"/>
          <p:cNvSpPr/>
          <p:nvPr/>
        </p:nvSpPr>
        <p:spPr>
          <a:xfrm>
            <a:off x="841248" y="4050792"/>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0" name="Shape 15"/>
          <p:cNvSpPr/>
          <p:nvPr/>
        </p:nvSpPr>
        <p:spPr>
          <a:xfrm>
            <a:off x="1133856" y="4325112"/>
            <a:ext cx="512064" cy="512064"/>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1" name="Image 3" descr="preencoded.png"/>
          <p:cNvPicPr>
            <a:picLocks noChangeAspect="1"/>
          </p:cNvPicPr>
          <p:nvPr/>
        </p:nvPicPr>
        <p:blipFill>
          <a:blip r:embed="rId6"/>
          <a:stretch>
            <a:fillRect/>
          </a:stretch>
        </p:blipFill>
        <p:spPr>
          <a:xfrm>
            <a:off x="1256751" y="4448007"/>
            <a:ext cx="266273" cy="266273"/>
          </a:xfrm>
          <a:prstGeom prst="rect">
            <a:avLst/>
          </a:prstGeom>
        </p:spPr>
      </p:pic>
      <p:sp>
        <p:nvSpPr>
          <p:cNvPr id="22" name="Text 16"/>
          <p:cNvSpPr/>
          <p:nvPr/>
        </p:nvSpPr>
        <p:spPr>
          <a:xfrm>
            <a:off x="1801368" y="4370832"/>
            <a:ext cx="2258568" cy="41148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You can explain it</a:t>
            </a:r>
            <a:endParaRPr lang="en-US" sz="1550" dirty="0"/>
          </a:p>
        </p:txBody>
      </p:sp>
      <p:sp>
        <p:nvSpPr>
          <p:cNvPr id="23" name="Text 17"/>
          <p:cNvSpPr/>
          <p:nvPr/>
        </p:nvSpPr>
        <p:spPr>
          <a:xfrm>
            <a:off x="1161288" y="5056632"/>
            <a:ext cx="2761488" cy="68580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When it goes wrong you can point at the agent that did it. Not a black box.</a:t>
            </a:r>
            <a:endParaRPr lang="en-US" sz="1200" dirty="0"/>
          </a:p>
        </p:txBody>
      </p:sp>
      <p:sp>
        <p:nvSpPr>
          <p:cNvPr id="24" name="Shape 18"/>
          <p:cNvSpPr/>
          <p:nvPr/>
        </p:nvSpPr>
        <p:spPr>
          <a:xfrm>
            <a:off x="4498848" y="4050792"/>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5" name="Shape 19"/>
          <p:cNvSpPr/>
          <p:nvPr/>
        </p:nvSpPr>
        <p:spPr>
          <a:xfrm>
            <a:off x="4791456" y="4325112"/>
            <a:ext cx="512064" cy="512064"/>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26" name="Image 4" descr="preencoded.png"/>
          <p:cNvPicPr>
            <a:picLocks noChangeAspect="1"/>
          </p:cNvPicPr>
          <p:nvPr/>
        </p:nvPicPr>
        <p:blipFill>
          <a:blip r:embed="rId7"/>
          <a:stretch>
            <a:fillRect/>
          </a:stretch>
        </p:blipFill>
        <p:spPr>
          <a:xfrm>
            <a:off x="4914351" y="4448007"/>
            <a:ext cx="266273" cy="266273"/>
          </a:xfrm>
          <a:prstGeom prst="rect">
            <a:avLst/>
          </a:prstGeom>
        </p:spPr>
      </p:pic>
      <p:sp>
        <p:nvSpPr>
          <p:cNvPr id="27" name="Text 20"/>
          <p:cNvSpPr/>
          <p:nvPr/>
        </p:nvSpPr>
        <p:spPr>
          <a:xfrm>
            <a:off x="5458968" y="4370832"/>
            <a:ext cx="2258568" cy="41148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It survives the model</a:t>
            </a:r>
            <a:endParaRPr lang="en-US" sz="1550" dirty="0"/>
          </a:p>
        </p:txBody>
      </p:sp>
      <p:sp>
        <p:nvSpPr>
          <p:cNvPr id="28" name="Text 21"/>
          <p:cNvSpPr/>
          <p:nvPr/>
        </p:nvSpPr>
        <p:spPr>
          <a:xfrm>
            <a:off x="4818888" y="5056632"/>
            <a:ext cx="2761488" cy="68580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Models change every few months. The harness you build outlives all of them.</a:t>
            </a:r>
            <a:endParaRPr lang="en-US" sz="1200" dirty="0"/>
          </a:p>
        </p:txBody>
      </p:sp>
      <p:sp>
        <p:nvSpPr>
          <p:cNvPr id="29" name="Shape 22"/>
          <p:cNvSpPr/>
          <p:nvPr/>
        </p:nvSpPr>
        <p:spPr>
          <a:xfrm>
            <a:off x="8156448" y="4050792"/>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30" name="Shape 23"/>
          <p:cNvSpPr/>
          <p:nvPr/>
        </p:nvSpPr>
        <p:spPr>
          <a:xfrm>
            <a:off x="8449056" y="4325112"/>
            <a:ext cx="512064" cy="512064"/>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31" name="Image 5" descr="preencoded.png"/>
          <p:cNvPicPr>
            <a:picLocks noChangeAspect="1"/>
          </p:cNvPicPr>
          <p:nvPr/>
        </p:nvPicPr>
        <p:blipFill>
          <a:blip r:embed="rId8"/>
          <a:stretch>
            <a:fillRect/>
          </a:stretch>
        </p:blipFill>
        <p:spPr>
          <a:xfrm>
            <a:off x="8571951" y="4448007"/>
            <a:ext cx="266273" cy="266273"/>
          </a:xfrm>
          <a:prstGeom prst="rect">
            <a:avLst/>
          </a:prstGeom>
        </p:spPr>
      </p:pic>
      <p:sp>
        <p:nvSpPr>
          <p:cNvPr id="32" name="Text 24"/>
          <p:cNvSpPr/>
          <p:nvPr/>
        </p:nvSpPr>
        <p:spPr>
          <a:xfrm>
            <a:off x="9116568" y="4370832"/>
            <a:ext cx="2258568" cy="41148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It compounds</a:t>
            </a:r>
            <a:endParaRPr lang="en-US" sz="1550" dirty="0"/>
          </a:p>
        </p:txBody>
      </p:sp>
      <p:sp>
        <p:nvSpPr>
          <p:cNvPr id="33" name="Text 25"/>
          <p:cNvSpPr/>
          <p:nvPr/>
        </p:nvSpPr>
        <p:spPr>
          <a:xfrm>
            <a:off x="8476488" y="5056632"/>
            <a:ext cx="2761488" cy="68580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Each rule makes every future build better, forever. That is the whole bet.</a:t>
            </a:r>
            <a:endParaRPr lang="en-US" sz="1200" dirty="0"/>
          </a:p>
        </p:txBody>
      </p:sp>
      <p:sp>
        <p:nvSpPr>
          <p:cNvPr id="34" name="Text 26"/>
          <p:cNvSpPr/>
          <p:nvPr/>
        </p:nvSpPr>
        <p:spPr>
          <a:xfrm>
            <a:off x="2286000" y="6053328"/>
            <a:ext cx="7616952" cy="411480"/>
          </a:xfrm>
          <a:prstGeom prst="rect">
            <a:avLst/>
          </a:prstGeom>
          <a:noFill/>
          <a:ln/>
        </p:spPr>
        <p:txBody>
          <a:bodyPr wrap="square" rtlCol="0" anchor="ctr"/>
          <a:lstStyle/>
          <a:p>
            <a:pPr marL="0" indent="0" algn="ctr">
              <a:buNone/>
            </a:pPr>
            <a:r>
              <a:rPr lang="en-US" sz="1600" dirty="0">
                <a:solidFill>
                  <a:srgbClr val="4F46E5"/>
                </a:solidFill>
                <a:latin typeface="Calibri" pitchFamily="34" charset="0"/>
                <a:ea typeface="Calibri" pitchFamily="34" charset="-122"/>
                <a:cs typeface="Calibri" pitchFamily="34" charset="-120"/>
              </a:rPr>
              <a:t>Everyone is chasing the next model. The harness is the part you own.</a:t>
            </a:r>
            <a:endParaRPr lang="en-US" sz="16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D97706"/>
                </a:solidFill>
                <a:latin typeface="Arial" pitchFamily="34" charset="0"/>
                <a:ea typeface="Arial" pitchFamily="34" charset="-122"/>
                <a:cs typeface="Arial" pitchFamily="34" charset="-120"/>
              </a:rPr>
              <a:t>TONIGHT'S DEMO, WIRED UP</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How the </a:t>
            </a:r>
            <a:r>
              <a:rPr lang="en-US" sz="3200" b="1" dirty="0">
                <a:solidFill>
                  <a:srgbClr val="4F46E5"/>
                </a:solidFill>
                <a:latin typeface="Arial" pitchFamily="34" charset="0"/>
                <a:ea typeface="Arial" pitchFamily="34" charset="-122"/>
                <a:cs typeface="Arial" pitchFamily="34" charset="-120"/>
              </a:rPr>
              <a:t>Live Build</a:t>
            </a:r>
            <a:r>
              <a:rPr lang="en-US" sz="3200" b="1" dirty="0">
                <a:solidFill>
                  <a:srgbClr val="16181D"/>
                </a:solidFill>
                <a:latin typeface="Arial" pitchFamily="34" charset="0"/>
                <a:ea typeface="Arial" pitchFamily="34" charset="-122"/>
                <a:cs typeface="Arial" pitchFamily="34" charset="-120"/>
              </a:rPr>
              <a:t> works.</a:t>
            </a:r>
            <a:endParaRPr lang="en-US" sz="3200" dirty="0"/>
          </a:p>
        </p:txBody>
      </p:sp>
      <p:sp>
        <p:nvSpPr>
          <p:cNvPr id="4" name="Shape 2"/>
          <p:cNvSpPr/>
          <p:nvPr/>
        </p:nvSpPr>
        <p:spPr>
          <a:xfrm>
            <a:off x="841248" y="2697480"/>
            <a:ext cx="1783080" cy="214884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5" name="Shape 3"/>
          <p:cNvSpPr/>
          <p:nvPr/>
        </p:nvSpPr>
        <p:spPr>
          <a:xfrm>
            <a:off x="1412748" y="3035808"/>
            <a:ext cx="640080" cy="640080"/>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566367" y="3189427"/>
            <a:ext cx="332842" cy="332842"/>
          </a:xfrm>
          <a:prstGeom prst="rect">
            <a:avLst/>
          </a:prstGeom>
        </p:spPr>
      </p:pic>
      <p:sp>
        <p:nvSpPr>
          <p:cNvPr id="7" name="Text 4"/>
          <p:cNvSpPr/>
          <p:nvPr/>
        </p:nvSpPr>
        <p:spPr>
          <a:xfrm>
            <a:off x="841248" y="3813048"/>
            <a:ext cx="1783080" cy="36576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Phone</a:t>
            </a:r>
            <a:endParaRPr lang="en-US" sz="1500" dirty="0"/>
          </a:p>
        </p:txBody>
      </p:sp>
      <p:sp>
        <p:nvSpPr>
          <p:cNvPr id="8" name="Text 5"/>
          <p:cNvSpPr/>
          <p:nvPr/>
        </p:nvSpPr>
        <p:spPr>
          <a:xfrm>
            <a:off x="932688" y="4160520"/>
            <a:ext cx="1600200" cy="548640"/>
          </a:xfrm>
          <a:prstGeom prst="rect">
            <a:avLst/>
          </a:prstGeom>
          <a:noFill/>
          <a:ln/>
        </p:spPr>
        <p:txBody>
          <a:bodyPr wrap="square" rtlCol="0" anchor="ctr"/>
          <a:lstStyle/>
          <a:p>
            <a:pPr marL="0" indent="0" algn="ctr">
              <a:lnSpc>
                <a:spcPts val="1200"/>
              </a:lnSpc>
              <a:buNone/>
            </a:pPr>
            <a:r>
              <a:rPr lang="en-US" sz="900" dirty="0">
                <a:solidFill>
                  <a:srgbClr val="666C7A"/>
                </a:solidFill>
                <a:latin typeface="Consolas" pitchFamily="34" charset="0"/>
                <a:ea typeface="Consolas" pitchFamily="34" charset="-122"/>
                <a:cs typeface="Consolas" pitchFamily="34" charset="-120"/>
              </a:rPr>
              <a:t>POST /submit</a:t>
            </a:r>
            <a:endParaRPr lang="en-US" sz="900" dirty="0"/>
          </a:p>
        </p:txBody>
      </p:sp>
      <p:sp>
        <p:nvSpPr>
          <p:cNvPr id="9" name="Shape 6"/>
          <p:cNvSpPr/>
          <p:nvPr/>
        </p:nvSpPr>
        <p:spPr>
          <a:xfrm>
            <a:off x="2684095" y="3771900"/>
            <a:ext cx="278915" cy="0"/>
          </a:xfrm>
          <a:prstGeom prst="line">
            <a:avLst/>
          </a:prstGeom>
          <a:noFill/>
          <a:ln w="20320">
            <a:solidFill>
              <a:srgbClr val="9AA1B0"/>
            </a:solidFill>
            <a:prstDash val="solid"/>
            <a:tailEnd type="triangle"/>
          </a:ln>
        </p:spPr>
        <p:txBody>
          <a:bodyPr/>
          <a:lstStyle/>
          <a:p>
            <a:endParaRPr lang="en-US"/>
          </a:p>
        </p:txBody>
      </p:sp>
      <p:sp>
        <p:nvSpPr>
          <p:cNvPr id="10" name="Shape 7"/>
          <p:cNvSpPr/>
          <p:nvPr/>
        </p:nvSpPr>
        <p:spPr>
          <a:xfrm>
            <a:off x="3022778" y="2697480"/>
            <a:ext cx="1783080" cy="214884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1" name="Shape 8"/>
          <p:cNvSpPr/>
          <p:nvPr/>
        </p:nvSpPr>
        <p:spPr>
          <a:xfrm>
            <a:off x="3594278" y="3035808"/>
            <a:ext cx="640080" cy="640080"/>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3747897" y="3189427"/>
            <a:ext cx="332842" cy="332842"/>
          </a:xfrm>
          <a:prstGeom prst="rect">
            <a:avLst/>
          </a:prstGeom>
        </p:spPr>
      </p:pic>
      <p:sp>
        <p:nvSpPr>
          <p:cNvPr id="13" name="Text 9"/>
          <p:cNvSpPr/>
          <p:nvPr/>
        </p:nvSpPr>
        <p:spPr>
          <a:xfrm>
            <a:off x="3022778" y="3813048"/>
            <a:ext cx="1783080" cy="36576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Spring Boot</a:t>
            </a:r>
            <a:endParaRPr lang="en-US" sz="1500" dirty="0"/>
          </a:p>
        </p:txBody>
      </p:sp>
      <p:sp>
        <p:nvSpPr>
          <p:cNvPr id="14" name="Text 10"/>
          <p:cNvSpPr/>
          <p:nvPr/>
        </p:nvSpPr>
        <p:spPr>
          <a:xfrm>
            <a:off x="3114218" y="4160520"/>
            <a:ext cx="1600200" cy="548640"/>
          </a:xfrm>
          <a:prstGeom prst="rect">
            <a:avLst/>
          </a:prstGeom>
          <a:noFill/>
          <a:ln/>
        </p:spPr>
        <p:txBody>
          <a:bodyPr wrap="square" rtlCol="0" anchor="ctr"/>
          <a:lstStyle/>
          <a:p>
            <a:pPr marL="0" indent="0" algn="ctr">
              <a:lnSpc>
                <a:spcPts val="1200"/>
              </a:lnSpc>
              <a:buNone/>
            </a:pPr>
            <a:r>
              <a:rPr lang="en-US" sz="900" dirty="0">
                <a:solidFill>
                  <a:srgbClr val="666C7A"/>
                </a:solidFill>
                <a:latin typeface="Consolas" pitchFamily="34" charset="0"/>
                <a:ea typeface="Consolas" pitchFamily="34" charset="-122"/>
                <a:cs typeface="Consolas" pitchFamily="34" charset="-120"/>
              </a:rPr>
              <a:t>on this laptop</a:t>
            </a:r>
            <a:endParaRPr lang="en-US" sz="900" dirty="0"/>
          </a:p>
        </p:txBody>
      </p:sp>
      <p:sp>
        <p:nvSpPr>
          <p:cNvPr id="15" name="Shape 11"/>
          <p:cNvSpPr/>
          <p:nvPr/>
        </p:nvSpPr>
        <p:spPr>
          <a:xfrm>
            <a:off x="4865625" y="3771900"/>
            <a:ext cx="278915" cy="0"/>
          </a:xfrm>
          <a:prstGeom prst="line">
            <a:avLst/>
          </a:prstGeom>
          <a:noFill/>
          <a:ln w="20320">
            <a:solidFill>
              <a:srgbClr val="9AA1B0"/>
            </a:solidFill>
            <a:prstDash val="solid"/>
            <a:tailEnd type="triangle"/>
          </a:ln>
        </p:spPr>
        <p:txBody>
          <a:bodyPr/>
          <a:lstStyle/>
          <a:p>
            <a:endParaRPr lang="en-US"/>
          </a:p>
        </p:txBody>
      </p:sp>
      <p:sp>
        <p:nvSpPr>
          <p:cNvPr id="16" name="Shape 12"/>
          <p:cNvSpPr/>
          <p:nvPr/>
        </p:nvSpPr>
        <p:spPr>
          <a:xfrm>
            <a:off x="5204308" y="2697480"/>
            <a:ext cx="1783080" cy="214884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7" name="Shape 13"/>
          <p:cNvSpPr/>
          <p:nvPr/>
        </p:nvSpPr>
        <p:spPr>
          <a:xfrm>
            <a:off x="5775808" y="3035808"/>
            <a:ext cx="640080" cy="640080"/>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8" name="Image 2" descr="preencoded.png"/>
          <p:cNvPicPr>
            <a:picLocks noChangeAspect="1"/>
          </p:cNvPicPr>
          <p:nvPr/>
        </p:nvPicPr>
        <p:blipFill>
          <a:blip r:embed="rId5"/>
          <a:stretch>
            <a:fillRect/>
          </a:stretch>
        </p:blipFill>
        <p:spPr>
          <a:xfrm>
            <a:off x="5929427" y="3189427"/>
            <a:ext cx="332842" cy="332842"/>
          </a:xfrm>
          <a:prstGeom prst="rect">
            <a:avLst/>
          </a:prstGeom>
        </p:spPr>
      </p:pic>
      <p:sp>
        <p:nvSpPr>
          <p:cNvPr id="19" name="Text 14"/>
          <p:cNvSpPr/>
          <p:nvPr/>
        </p:nvSpPr>
        <p:spPr>
          <a:xfrm>
            <a:off x="5204308" y="3813048"/>
            <a:ext cx="1783080" cy="36576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The crew</a:t>
            </a:r>
            <a:endParaRPr lang="en-US" sz="1500" dirty="0"/>
          </a:p>
        </p:txBody>
      </p:sp>
      <p:sp>
        <p:nvSpPr>
          <p:cNvPr id="20" name="Text 15"/>
          <p:cNvSpPr/>
          <p:nvPr/>
        </p:nvSpPr>
        <p:spPr>
          <a:xfrm>
            <a:off x="5295748" y="4160520"/>
            <a:ext cx="1600200" cy="548640"/>
          </a:xfrm>
          <a:prstGeom prst="rect">
            <a:avLst/>
          </a:prstGeom>
          <a:noFill/>
          <a:ln/>
        </p:spPr>
        <p:txBody>
          <a:bodyPr wrap="square" rtlCol="0" anchor="ctr"/>
          <a:lstStyle/>
          <a:p>
            <a:pPr marL="0" indent="0" algn="ctr">
              <a:lnSpc>
                <a:spcPts val="1200"/>
              </a:lnSpc>
              <a:buNone/>
            </a:pPr>
            <a:r>
              <a:rPr lang="en-US" sz="900" dirty="0">
                <a:solidFill>
                  <a:srgbClr val="666C7A"/>
                </a:solidFill>
                <a:latin typeface="Consolas" pitchFamily="34" charset="0"/>
                <a:ea typeface="Consolas" pitchFamily="34" charset="-122"/>
                <a:cs typeface="Consolas" pitchFamily="34" charset="-120"/>
              </a:rPr>
              <a:t>LangChain4j + Qwen</a:t>
            </a:r>
            <a:endParaRPr lang="en-US" sz="900" dirty="0"/>
          </a:p>
        </p:txBody>
      </p:sp>
      <p:sp>
        <p:nvSpPr>
          <p:cNvPr id="21" name="Shape 16"/>
          <p:cNvSpPr/>
          <p:nvPr/>
        </p:nvSpPr>
        <p:spPr>
          <a:xfrm>
            <a:off x="7047155" y="3771900"/>
            <a:ext cx="278915" cy="0"/>
          </a:xfrm>
          <a:prstGeom prst="line">
            <a:avLst/>
          </a:prstGeom>
          <a:noFill/>
          <a:ln w="20320">
            <a:solidFill>
              <a:srgbClr val="9AA1B0"/>
            </a:solidFill>
            <a:prstDash val="solid"/>
            <a:tailEnd type="triangle"/>
          </a:ln>
        </p:spPr>
        <p:txBody>
          <a:bodyPr/>
          <a:lstStyle/>
          <a:p>
            <a:endParaRPr lang="en-US"/>
          </a:p>
        </p:txBody>
      </p:sp>
      <p:sp>
        <p:nvSpPr>
          <p:cNvPr id="22" name="Shape 17"/>
          <p:cNvSpPr/>
          <p:nvPr/>
        </p:nvSpPr>
        <p:spPr>
          <a:xfrm>
            <a:off x="7385837" y="2697480"/>
            <a:ext cx="1783080" cy="214884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3" name="Shape 18"/>
          <p:cNvSpPr/>
          <p:nvPr/>
        </p:nvSpPr>
        <p:spPr>
          <a:xfrm>
            <a:off x="7957337" y="3035808"/>
            <a:ext cx="640080" cy="640080"/>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4" name="Image 3" descr="preencoded.png"/>
          <p:cNvPicPr>
            <a:picLocks noChangeAspect="1"/>
          </p:cNvPicPr>
          <p:nvPr/>
        </p:nvPicPr>
        <p:blipFill>
          <a:blip r:embed="rId6"/>
          <a:stretch>
            <a:fillRect/>
          </a:stretch>
        </p:blipFill>
        <p:spPr>
          <a:xfrm>
            <a:off x="8110957" y="3189427"/>
            <a:ext cx="332842" cy="332842"/>
          </a:xfrm>
          <a:prstGeom prst="rect">
            <a:avLst/>
          </a:prstGeom>
        </p:spPr>
      </p:pic>
      <p:sp>
        <p:nvSpPr>
          <p:cNvPr id="25" name="Text 19"/>
          <p:cNvSpPr/>
          <p:nvPr/>
        </p:nvSpPr>
        <p:spPr>
          <a:xfrm>
            <a:off x="7385837" y="3813048"/>
            <a:ext cx="1783080" cy="36576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Live events</a:t>
            </a:r>
            <a:endParaRPr lang="en-US" sz="1500" dirty="0"/>
          </a:p>
        </p:txBody>
      </p:sp>
      <p:sp>
        <p:nvSpPr>
          <p:cNvPr id="26" name="Text 20"/>
          <p:cNvSpPr/>
          <p:nvPr/>
        </p:nvSpPr>
        <p:spPr>
          <a:xfrm>
            <a:off x="7477277" y="4160520"/>
            <a:ext cx="1600200" cy="548640"/>
          </a:xfrm>
          <a:prstGeom prst="rect">
            <a:avLst/>
          </a:prstGeom>
          <a:noFill/>
          <a:ln/>
        </p:spPr>
        <p:txBody>
          <a:bodyPr wrap="square" rtlCol="0" anchor="ctr"/>
          <a:lstStyle/>
          <a:p>
            <a:pPr marL="0" indent="0" algn="ctr">
              <a:lnSpc>
                <a:spcPts val="1200"/>
              </a:lnSpc>
              <a:buNone/>
            </a:pPr>
            <a:r>
              <a:rPr lang="en-US" sz="900" dirty="0">
                <a:solidFill>
                  <a:srgbClr val="666C7A"/>
                </a:solidFill>
                <a:latin typeface="Consolas" pitchFamily="34" charset="0"/>
                <a:ea typeface="Consolas" pitchFamily="34" charset="-122"/>
                <a:cs typeface="Consolas" pitchFamily="34" charset="-120"/>
              </a:rPr>
              <a:t>server-sent stream</a:t>
            </a:r>
            <a:endParaRPr lang="en-US" sz="900" dirty="0"/>
          </a:p>
        </p:txBody>
      </p:sp>
      <p:sp>
        <p:nvSpPr>
          <p:cNvPr id="27" name="Shape 21"/>
          <p:cNvSpPr/>
          <p:nvPr/>
        </p:nvSpPr>
        <p:spPr>
          <a:xfrm>
            <a:off x="9228685" y="3771900"/>
            <a:ext cx="278915" cy="0"/>
          </a:xfrm>
          <a:prstGeom prst="line">
            <a:avLst/>
          </a:prstGeom>
          <a:noFill/>
          <a:ln w="20320">
            <a:solidFill>
              <a:srgbClr val="9AA1B0"/>
            </a:solidFill>
            <a:prstDash val="solid"/>
            <a:tailEnd type="triangle"/>
          </a:ln>
        </p:spPr>
        <p:txBody>
          <a:bodyPr/>
          <a:lstStyle/>
          <a:p>
            <a:endParaRPr lang="en-US"/>
          </a:p>
        </p:txBody>
      </p:sp>
      <p:sp>
        <p:nvSpPr>
          <p:cNvPr id="28" name="Shape 22"/>
          <p:cNvSpPr/>
          <p:nvPr/>
        </p:nvSpPr>
        <p:spPr>
          <a:xfrm>
            <a:off x="9567367" y="2697480"/>
            <a:ext cx="1783080" cy="214884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9" name="Shape 23"/>
          <p:cNvSpPr/>
          <p:nvPr/>
        </p:nvSpPr>
        <p:spPr>
          <a:xfrm>
            <a:off x="10138867" y="3035808"/>
            <a:ext cx="640080" cy="640080"/>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30" name="Image 4" descr="preencoded.png"/>
          <p:cNvPicPr>
            <a:picLocks noChangeAspect="1"/>
          </p:cNvPicPr>
          <p:nvPr/>
        </p:nvPicPr>
        <p:blipFill>
          <a:blip r:embed="rId7"/>
          <a:stretch>
            <a:fillRect/>
          </a:stretch>
        </p:blipFill>
        <p:spPr>
          <a:xfrm>
            <a:off x="10292486" y="3189427"/>
            <a:ext cx="332842" cy="332842"/>
          </a:xfrm>
          <a:prstGeom prst="rect">
            <a:avLst/>
          </a:prstGeom>
        </p:spPr>
      </p:pic>
      <p:sp>
        <p:nvSpPr>
          <p:cNvPr id="31" name="Text 24"/>
          <p:cNvSpPr/>
          <p:nvPr/>
        </p:nvSpPr>
        <p:spPr>
          <a:xfrm>
            <a:off x="9567367" y="3813048"/>
            <a:ext cx="1783080" cy="36576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The stage</a:t>
            </a:r>
            <a:endParaRPr lang="en-US" sz="1500" dirty="0"/>
          </a:p>
        </p:txBody>
      </p:sp>
      <p:sp>
        <p:nvSpPr>
          <p:cNvPr id="32" name="Text 25"/>
          <p:cNvSpPr/>
          <p:nvPr/>
        </p:nvSpPr>
        <p:spPr>
          <a:xfrm>
            <a:off x="9658807" y="4160520"/>
            <a:ext cx="1600200" cy="548640"/>
          </a:xfrm>
          <a:prstGeom prst="rect">
            <a:avLst/>
          </a:prstGeom>
          <a:noFill/>
          <a:ln/>
        </p:spPr>
        <p:txBody>
          <a:bodyPr wrap="square" rtlCol="0" anchor="ctr"/>
          <a:lstStyle/>
          <a:p>
            <a:pPr marL="0" indent="0" algn="ctr">
              <a:lnSpc>
                <a:spcPts val="1200"/>
              </a:lnSpc>
              <a:buNone/>
            </a:pPr>
            <a:r>
              <a:rPr lang="en-US" sz="900" dirty="0">
                <a:solidFill>
                  <a:srgbClr val="666C7A"/>
                </a:solidFill>
                <a:latin typeface="Consolas" pitchFamily="34" charset="0"/>
                <a:ea typeface="Consolas" pitchFamily="34" charset="-122"/>
                <a:cs typeface="Consolas" pitchFamily="34" charset="-120"/>
              </a:rPr>
              <a:t>page builds live</a:t>
            </a:r>
            <a:endParaRPr lang="en-US" sz="900" dirty="0"/>
          </a:p>
        </p:txBody>
      </p:sp>
      <p:sp>
        <p:nvSpPr>
          <p:cNvPr id="33" name="Text 26"/>
          <p:cNvSpPr/>
          <p:nvPr/>
        </p:nvSpPr>
        <p:spPr>
          <a:xfrm>
            <a:off x="1828800" y="5257800"/>
            <a:ext cx="8534095" cy="731520"/>
          </a:xfrm>
          <a:prstGeom prst="rect">
            <a:avLst/>
          </a:prstGeom>
          <a:noFill/>
          <a:ln/>
        </p:spPr>
        <p:txBody>
          <a:bodyPr wrap="square" rtlCol="0" anchor="ctr"/>
          <a:lstStyle/>
          <a:p>
            <a:pPr marL="0" indent="0" algn="ctr">
              <a:lnSpc>
                <a:spcPts val="2200"/>
              </a:lnSpc>
              <a:buNone/>
            </a:pPr>
            <a:r>
              <a:rPr lang="en-US" sz="1500" dirty="0">
                <a:solidFill>
                  <a:srgbClr val="666C7A"/>
                </a:solidFill>
                <a:latin typeface="Calibri" pitchFamily="34" charset="0"/>
                <a:ea typeface="Calibri" pitchFamily="34" charset="-122"/>
                <a:cs typeface="Calibri" pitchFamily="34" charset="-120"/>
              </a:rPr>
              <a:t>Their phone reaches this laptop through a tunnel. The agents build the page here. Every step streams to the projector.</a:t>
            </a:r>
            <a:endParaRPr lang="en-US" sz="15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LEVER 3, UP CLOSE</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marL="0" indent="0">
              <a:buNone/>
            </a:pPr>
            <a:r>
              <a:rPr lang="en-US" sz="3000" b="1" dirty="0">
                <a:solidFill>
                  <a:srgbClr val="16181D"/>
                </a:solidFill>
                <a:latin typeface="Arial" pitchFamily="34" charset="0"/>
                <a:ea typeface="Arial" pitchFamily="34" charset="-122"/>
                <a:cs typeface="Arial" pitchFamily="34" charset="-120"/>
              </a:rPr>
              <a:t>The crew returns </a:t>
            </a:r>
            <a:r>
              <a:rPr lang="en-US" sz="3000" b="1" dirty="0">
                <a:solidFill>
                  <a:srgbClr val="4F46E5"/>
                </a:solidFill>
                <a:latin typeface="Arial" pitchFamily="34" charset="0"/>
                <a:ea typeface="Arial" pitchFamily="34" charset="-122"/>
                <a:cs typeface="Arial" pitchFamily="34" charset="-120"/>
              </a:rPr>
              <a:t>data</a:t>
            </a:r>
            <a:r>
              <a:rPr lang="en-US" sz="3000" b="1" dirty="0">
                <a:solidFill>
                  <a:srgbClr val="16181D"/>
                </a:solidFill>
                <a:latin typeface="Arial" pitchFamily="34" charset="0"/>
                <a:ea typeface="Arial" pitchFamily="34" charset="-122"/>
                <a:cs typeface="Arial" pitchFamily="34" charset="-120"/>
              </a:rPr>
              <a:t>, not prose.</a:t>
            </a:r>
            <a:endParaRPr lang="en-US" sz="3000" dirty="0"/>
          </a:p>
        </p:txBody>
      </p:sp>
      <p:sp>
        <p:nvSpPr>
          <p:cNvPr id="4" name="Shape 2"/>
          <p:cNvSpPr/>
          <p:nvPr/>
        </p:nvSpPr>
        <p:spPr>
          <a:xfrm>
            <a:off x="841248" y="2057400"/>
            <a:ext cx="5029200" cy="3200400"/>
          </a:xfrm>
          <a:prstGeom prst="roundRect">
            <a:avLst>
              <a:gd name="adj" fmla="val 2857"/>
            </a:avLst>
          </a:prstGeom>
          <a:solidFill>
            <a:srgbClr val="16181D"/>
          </a:solidFill>
          <a:ln w="12700">
            <a:solidFill>
              <a:srgbClr val="16181D"/>
            </a:solidFill>
            <a:prstDash val="solid"/>
          </a:ln>
          <a:effectLst>
            <a:outerShdw blurRad="139700" dist="38100" dir="5400000" algn="bl" rotWithShape="0">
              <a:srgbClr val="9AA6BC">
                <a:alpha val="28000"/>
              </a:srgbClr>
            </a:outerShdw>
          </a:effectLst>
        </p:spPr>
        <p:txBody>
          <a:bodyPr/>
          <a:lstStyle/>
          <a:p>
            <a:endParaRPr lang="en-US"/>
          </a:p>
        </p:txBody>
      </p:sp>
      <p:sp>
        <p:nvSpPr>
          <p:cNvPr id="5" name="Text 3"/>
          <p:cNvSpPr/>
          <p:nvPr/>
        </p:nvSpPr>
        <p:spPr>
          <a:xfrm>
            <a:off x="1252728" y="2331720"/>
            <a:ext cx="4297680" cy="2651760"/>
          </a:xfrm>
          <a:prstGeom prst="rect">
            <a:avLst/>
          </a:prstGeom>
          <a:noFill/>
          <a:ln/>
        </p:spPr>
        <p:txBody>
          <a:bodyPr wrap="square" rtlCol="0" anchor="t"/>
          <a:lstStyle/>
          <a:p>
            <a:pPr marL="0" indent="0">
              <a:lnSpc>
                <a:spcPts val="2500"/>
              </a:lnSpc>
              <a:buNone/>
            </a:pPr>
            <a:r>
              <a:rPr lang="en-US" sz="1400" dirty="0">
                <a:solidFill>
                  <a:srgbClr val="6B7280"/>
                </a:solidFill>
                <a:latin typeface="Consolas" pitchFamily="34" charset="0"/>
                <a:ea typeface="Consolas" pitchFamily="34" charset="-122"/>
                <a:cs typeface="Consolas" pitchFamily="34" charset="-120"/>
              </a:rPr>
              <a:t>// Model.java, verbatim
</a:t>
            </a:r>
            <a:r>
              <a:rPr lang="en-US" sz="1400" dirty="0">
                <a:solidFill>
                  <a:srgbClr val="C4B5FD"/>
                </a:solidFill>
                <a:latin typeface="Consolas" pitchFamily="34" charset="0"/>
                <a:ea typeface="Consolas" pitchFamily="34" charset="-122"/>
                <a:cs typeface="Consolas" pitchFamily="34" charset="-120"/>
              </a:rPr>
              <a:t>record </a:t>
            </a:r>
            <a:r>
              <a:rPr lang="en-US" sz="1400" dirty="0">
                <a:solidFill>
                  <a:srgbClr val="7DD3FC"/>
                </a:solidFill>
                <a:latin typeface="Consolas" pitchFamily="34" charset="0"/>
                <a:ea typeface="Consolas" pitchFamily="34" charset="-122"/>
                <a:cs typeface="Consolas" pitchFamily="34" charset="-120"/>
              </a:rPr>
              <a:t>Copy</a:t>
            </a:r>
            <a:r>
              <a:rPr lang="en-US" sz="1400" dirty="0">
                <a:solidFill>
                  <a:srgbClr val="E6E9F0"/>
                </a:solidFill>
                <a:latin typeface="Consolas" pitchFamily="34" charset="0"/>
                <a:ea typeface="Consolas" pitchFamily="34" charset="-122"/>
                <a:cs typeface="Consolas" pitchFamily="34" charset="-120"/>
              </a:rPr>
              <a:t>(
</a:t>
            </a:r>
            <a:r>
              <a:rPr lang="en-US" sz="1400" dirty="0">
                <a:solidFill>
                  <a:srgbClr val="7DD3FC"/>
                </a:solidFill>
                <a:latin typeface="Consolas" pitchFamily="34" charset="0"/>
                <a:ea typeface="Consolas" pitchFamily="34" charset="-122"/>
                <a:cs typeface="Consolas" pitchFamily="34" charset="-120"/>
              </a:rPr>
              <a:t>   String </a:t>
            </a:r>
            <a:r>
              <a:rPr lang="en-US" sz="1400" dirty="0">
                <a:solidFill>
                  <a:srgbClr val="E6E9F0"/>
                </a:solidFill>
                <a:latin typeface="Consolas" pitchFamily="34" charset="0"/>
                <a:ea typeface="Consolas" pitchFamily="34" charset="-122"/>
                <a:cs typeface="Consolas" pitchFamily="34" charset="-120"/>
              </a:rPr>
              <a:t>badge,
</a:t>
            </a:r>
            <a:r>
              <a:rPr lang="en-US" sz="1400" dirty="0">
                <a:solidFill>
                  <a:srgbClr val="7DD3FC"/>
                </a:solidFill>
                <a:latin typeface="Consolas" pitchFamily="34" charset="0"/>
                <a:ea typeface="Consolas" pitchFamily="34" charset="-122"/>
                <a:cs typeface="Consolas" pitchFamily="34" charset="-120"/>
              </a:rPr>
              <a:t>   String </a:t>
            </a:r>
            <a:r>
              <a:rPr lang="en-US" sz="1400" dirty="0">
                <a:solidFill>
                  <a:srgbClr val="E6E9F0"/>
                </a:solidFill>
                <a:latin typeface="Consolas" pitchFamily="34" charset="0"/>
                <a:ea typeface="Consolas" pitchFamily="34" charset="-122"/>
                <a:cs typeface="Consolas" pitchFamily="34" charset="-120"/>
              </a:rPr>
              <a:t>headline,
</a:t>
            </a:r>
            <a:r>
              <a:rPr lang="en-US" sz="1400" dirty="0">
                <a:solidFill>
                  <a:srgbClr val="7DD3FC"/>
                </a:solidFill>
                <a:latin typeface="Consolas" pitchFamily="34" charset="0"/>
                <a:ea typeface="Consolas" pitchFamily="34" charset="-122"/>
                <a:cs typeface="Consolas" pitchFamily="34" charset="-120"/>
              </a:rPr>
              <a:t>   String </a:t>
            </a:r>
            <a:r>
              <a:rPr lang="en-US" sz="1400" dirty="0">
                <a:solidFill>
                  <a:srgbClr val="E6E9F0"/>
                </a:solidFill>
                <a:latin typeface="Consolas" pitchFamily="34" charset="0"/>
                <a:ea typeface="Consolas" pitchFamily="34" charset="-122"/>
                <a:cs typeface="Consolas" pitchFamily="34" charset="-120"/>
              </a:rPr>
              <a:t>subhead,
</a:t>
            </a:r>
            <a:r>
              <a:rPr lang="en-US" sz="1400" dirty="0">
                <a:solidFill>
                  <a:srgbClr val="7DD3FC"/>
                </a:solidFill>
                <a:latin typeface="Consolas" pitchFamily="34" charset="0"/>
                <a:ea typeface="Consolas" pitchFamily="34" charset="-122"/>
                <a:cs typeface="Consolas" pitchFamily="34" charset="-120"/>
              </a:rPr>
              <a:t>   String </a:t>
            </a:r>
            <a:r>
              <a:rPr lang="en-US" sz="1400" dirty="0">
                <a:solidFill>
                  <a:srgbClr val="E6E9F0"/>
                </a:solidFill>
                <a:latin typeface="Consolas" pitchFamily="34" charset="0"/>
                <a:ea typeface="Consolas" pitchFamily="34" charset="-122"/>
                <a:cs typeface="Consolas" pitchFamily="34" charset="-120"/>
              </a:rPr>
              <a:t>cta,
</a:t>
            </a:r>
            <a:r>
              <a:rPr lang="en-US" sz="1400" dirty="0">
                <a:solidFill>
                  <a:srgbClr val="7DD3FC"/>
                </a:solidFill>
                <a:latin typeface="Consolas" pitchFamily="34" charset="0"/>
                <a:ea typeface="Consolas" pitchFamily="34" charset="-122"/>
                <a:cs typeface="Consolas" pitchFamily="34" charset="-120"/>
              </a:rPr>
              <a:t>   List&lt;Feature&gt; </a:t>
            </a:r>
            <a:r>
              <a:rPr lang="en-US" sz="1400" dirty="0">
                <a:solidFill>
                  <a:srgbClr val="E6E9F0"/>
                </a:solidFill>
                <a:latin typeface="Consolas" pitchFamily="34" charset="0"/>
                <a:ea typeface="Consolas" pitchFamily="34" charset="-122"/>
                <a:cs typeface="Consolas" pitchFamily="34" charset="-120"/>
              </a:rPr>
              <a:t>features
) {}</a:t>
            </a:r>
            <a:endParaRPr lang="en-US" sz="1400" dirty="0"/>
          </a:p>
        </p:txBody>
      </p:sp>
      <p:sp>
        <p:nvSpPr>
          <p:cNvPr id="6" name="Shape 4"/>
          <p:cNvSpPr/>
          <p:nvPr/>
        </p:nvSpPr>
        <p:spPr>
          <a:xfrm>
            <a:off x="6400800" y="2057400"/>
            <a:ext cx="4937760" cy="3200400"/>
          </a:xfrm>
          <a:prstGeom prst="roundRect">
            <a:avLst>
              <a:gd name="adj" fmla="val 2857"/>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7" name="Text 5"/>
          <p:cNvSpPr/>
          <p:nvPr/>
        </p:nvSpPr>
        <p:spPr>
          <a:xfrm>
            <a:off x="6766560" y="2331720"/>
            <a:ext cx="4206240" cy="2651760"/>
          </a:xfrm>
          <a:prstGeom prst="rect">
            <a:avLst/>
          </a:prstGeom>
          <a:noFill/>
          <a:ln/>
        </p:spPr>
        <p:txBody>
          <a:bodyPr wrap="square" rtlCol="0" anchor="t"/>
          <a:lstStyle/>
          <a:p>
            <a:pPr marL="0" indent="0">
              <a:lnSpc>
                <a:spcPts val="2500"/>
              </a:lnSpc>
              <a:buNone/>
            </a:pPr>
            <a:r>
              <a:rPr lang="en-US" sz="1350" dirty="0">
                <a:solidFill>
                  <a:srgbClr val="666C7A"/>
                </a:solidFill>
                <a:latin typeface="Consolas" pitchFamily="34" charset="0"/>
                <a:ea typeface="Consolas" pitchFamily="34" charset="-122"/>
                <a:cs typeface="Consolas" pitchFamily="34" charset="-120"/>
              </a:rPr>
              <a:t>{
</a:t>
            </a:r>
            <a:r>
              <a:rPr lang="en-US" sz="1350" dirty="0">
                <a:solidFill>
                  <a:srgbClr val="4F46E5"/>
                </a:solidFill>
                <a:latin typeface="Consolas" pitchFamily="34" charset="0"/>
                <a:ea typeface="Consolas" pitchFamily="34" charset="-122"/>
                <a:cs typeface="Consolas" pitchFamily="34" charset="-120"/>
              </a:rPr>
              <a:t>  "headline"</a:t>
            </a:r>
            <a:r>
              <a:rPr lang="en-US" sz="1350" dirty="0">
                <a:solidFill>
                  <a:srgbClr val="16181D"/>
                </a:solidFill>
                <a:latin typeface="Consolas" pitchFamily="34" charset="0"/>
                <a:ea typeface="Consolas" pitchFamily="34" charset="-122"/>
                <a:cs typeface="Consolas" pitchFamily="34" charset="-120"/>
              </a:rPr>
              <a:t>: "Plants, but they text you.",
</a:t>
            </a:r>
            <a:r>
              <a:rPr lang="en-US" sz="1350" dirty="0">
                <a:solidFill>
                  <a:srgbClr val="4F46E5"/>
                </a:solidFill>
                <a:latin typeface="Consolas" pitchFamily="34" charset="0"/>
                <a:ea typeface="Consolas" pitchFamily="34" charset="-122"/>
                <a:cs typeface="Consolas" pitchFamily="34" charset="-120"/>
              </a:rPr>
              <a:t>  "subhead"</a:t>
            </a:r>
            <a:r>
              <a:rPr lang="en-US" sz="1350" dirty="0">
                <a:solidFill>
                  <a:srgbClr val="16181D"/>
                </a:solidFill>
                <a:latin typeface="Consolas" pitchFamily="34" charset="0"/>
                <a:ea typeface="Consolas" pitchFamily="34" charset="-122"/>
                <a:cs typeface="Consolas" pitchFamily="34" charset="-120"/>
              </a:rPr>
              <a:t>: "Never kill a fern again.",
</a:t>
            </a:r>
            <a:r>
              <a:rPr lang="en-US" sz="1350" dirty="0">
                <a:solidFill>
                  <a:srgbClr val="4F46E5"/>
                </a:solidFill>
                <a:latin typeface="Consolas" pitchFamily="34" charset="0"/>
                <a:ea typeface="Consolas" pitchFamily="34" charset="-122"/>
                <a:cs typeface="Consolas" pitchFamily="34" charset="-120"/>
              </a:rPr>
              <a:t>  "cta"</a:t>
            </a:r>
            <a:r>
              <a:rPr lang="en-US" sz="1350" dirty="0">
                <a:solidFill>
                  <a:srgbClr val="16181D"/>
                </a:solidFill>
                <a:latin typeface="Consolas" pitchFamily="34" charset="0"/>
                <a:ea typeface="Consolas" pitchFamily="34" charset="-122"/>
                <a:cs typeface="Consolas" pitchFamily="34" charset="-120"/>
              </a:rPr>
              <a:t>: "Get early access",
</a:t>
            </a:r>
            <a:r>
              <a:rPr lang="en-US" sz="1350" dirty="0">
                <a:solidFill>
                  <a:srgbClr val="4F46E5"/>
                </a:solidFill>
                <a:latin typeface="Consolas" pitchFamily="34" charset="0"/>
                <a:ea typeface="Consolas" pitchFamily="34" charset="-122"/>
                <a:cs typeface="Consolas" pitchFamily="34" charset="-120"/>
              </a:rPr>
              <a:t>  "features"</a:t>
            </a:r>
            <a:r>
              <a:rPr lang="en-US" sz="1350" dirty="0">
                <a:solidFill>
                  <a:srgbClr val="16181D"/>
                </a:solidFill>
                <a:latin typeface="Consolas" pitchFamily="34" charset="0"/>
                <a:ea typeface="Consolas" pitchFamily="34" charset="-122"/>
                <a:cs typeface="Consolas" pitchFamily="34" charset="-120"/>
              </a:rPr>
              <a:t>: [ {…}, {…}, {…} ]
</a:t>
            </a:r>
            <a:r>
              <a:rPr lang="en-US" sz="1350" dirty="0">
                <a:solidFill>
                  <a:srgbClr val="666C7A"/>
                </a:solidFill>
                <a:latin typeface="Consolas" pitchFamily="34" charset="0"/>
                <a:ea typeface="Consolas" pitchFamily="34" charset="-122"/>
                <a:cs typeface="Consolas" pitchFamily="34" charset="-120"/>
              </a:rPr>
              <a:t>}</a:t>
            </a:r>
            <a:endParaRPr lang="en-US" sz="1350" dirty="0"/>
          </a:p>
        </p:txBody>
      </p:sp>
      <p:sp>
        <p:nvSpPr>
          <p:cNvPr id="8" name="Text 6"/>
          <p:cNvSpPr/>
          <p:nvPr/>
        </p:nvSpPr>
        <p:spPr>
          <a:xfrm>
            <a:off x="841248" y="5577840"/>
            <a:ext cx="10509199" cy="548640"/>
          </a:xfrm>
          <a:prstGeom prst="rect">
            <a:avLst/>
          </a:prstGeom>
          <a:noFill/>
          <a:ln/>
        </p:spPr>
        <p:txBody>
          <a:bodyPr wrap="square" rtlCol="0" anchor="ctr"/>
          <a:lstStyle/>
          <a:p>
            <a:pPr marL="0" indent="0">
              <a:buNone/>
            </a:pPr>
            <a:r>
              <a:rPr lang="en-US" sz="1500" dirty="0">
                <a:solidFill>
                  <a:srgbClr val="666C7A"/>
                </a:solidFill>
                <a:latin typeface="Calibri" pitchFamily="34" charset="0"/>
                <a:ea typeface="Calibri" pitchFamily="34" charset="-122"/>
                <a:cs typeface="Calibri" pitchFamily="34" charset="-120"/>
              </a:rPr>
              <a:t>No scraping a paragraph. The page is built field by field from a typed object, so it never surprises you.</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LIVE CODE  /  1 OF 2  ·  AGENTS.JAVA</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marL="0" indent="0">
              <a:buNone/>
            </a:pPr>
            <a:r>
              <a:rPr lang="en-US" sz="2700" b="1" dirty="0">
                <a:solidFill>
                  <a:srgbClr val="16181D"/>
                </a:solidFill>
                <a:latin typeface="Arial" pitchFamily="34" charset="0"/>
                <a:ea typeface="Arial" pitchFamily="34" charset="-122"/>
                <a:cs typeface="Arial" pitchFamily="34" charset="-120"/>
              </a:rPr>
              <a:t>A worker is an </a:t>
            </a:r>
            <a:r>
              <a:rPr lang="en-US" sz="2700" b="1" dirty="0">
                <a:solidFill>
                  <a:srgbClr val="4F46E5"/>
                </a:solidFill>
                <a:latin typeface="Arial" pitchFamily="34" charset="0"/>
                <a:ea typeface="Arial" pitchFamily="34" charset="-122"/>
                <a:cs typeface="Arial" pitchFamily="34" charset="-120"/>
              </a:rPr>
              <a:t>interface.</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blurRad="139700" dist="38100" dir="5400000" algn="bl" rotWithShape="0">
              <a:srgbClr val="9AA6BC">
                <a:alpha val="28000"/>
              </a:srgbClr>
            </a:outerShdw>
          </a:effectLst>
        </p:spPr>
        <p:txBody>
          <a:bodyPr/>
          <a:lstStyle/>
          <a:p>
            <a:endParaRPr lang="en-US"/>
          </a:p>
        </p:txBody>
      </p:sp>
      <p:sp>
        <p:nvSpPr>
          <p:cNvPr id="5" name="Text 3"/>
          <p:cNvSpPr/>
          <p:nvPr/>
        </p:nvSpPr>
        <p:spPr>
          <a:xfrm>
            <a:off x="1298448" y="2148840"/>
            <a:ext cx="9594799" cy="2743200"/>
          </a:xfrm>
          <a:prstGeom prst="rect">
            <a:avLst/>
          </a:prstGeom>
          <a:noFill/>
          <a:ln/>
        </p:spPr>
        <p:txBody>
          <a:bodyPr wrap="square" rtlCol="0" anchor="t"/>
          <a:lstStyle/>
          <a:p>
            <a:pPr marL="0" indent="0">
              <a:lnSpc>
                <a:spcPts val="3000"/>
              </a:lnSpc>
              <a:buNone/>
            </a:pPr>
            <a:r>
              <a:rPr lang="en-US" sz="1550" dirty="0">
                <a:solidFill>
                  <a:srgbClr val="6B7280"/>
                </a:solidFill>
                <a:latin typeface="Consolas" pitchFamily="34" charset="0"/>
                <a:ea typeface="Consolas" pitchFamily="34" charset="-122"/>
                <a:cs typeface="Consolas" pitchFamily="34" charset="-120"/>
              </a:rPr>
              <a:t>// Agents.java, verbatim. There is no implementation anywhere.</a:t>
            </a:r>
            <a:endParaRPr lang="en-US" sz="1550" dirty="0"/>
          </a:p>
          <a:p>
            <a:pPr marL="0" indent="0">
              <a:lnSpc>
                <a:spcPts val="3000"/>
              </a:lnSpc>
              <a:buNone/>
            </a:pPr>
            <a:r>
              <a:rPr lang="en-US" sz="1550" dirty="0">
                <a:solidFill>
                  <a:srgbClr val="C4B5FD"/>
                </a:solidFill>
                <a:latin typeface="Consolas" pitchFamily="34" charset="0"/>
                <a:ea typeface="Consolas" pitchFamily="34" charset="-122"/>
                <a:cs typeface="Consolas" pitchFamily="34" charset="-120"/>
              </a:rPr>
              <a:t>public interface </a:t>
            </a:r>
            <a:r>
              <a:rPr lang="en-US" sz="1550" dirty="0">
                <a:solidFill>
                  <a:srgbClr val="7DD3FC"/>
                </a:solidFill>
                <a:latin typeface="Consolas" pitchFamily="34" charset="0"/>
                <a:ea typeface="Consolas" pitchFamily="34" charset="-122"/>
                <a:cs typeface="Consolas" pitchFamily="34" charset="-120"/>
              </a:rPr>
              <a:t>Namer</a:t>
            </a:r>
            <a:r>
              <a:rPr lang="en-US" sz="1550" dirty="0">
                <a:solidFill>
                  <a:srgbClr val="E6E9F0"/>
                </a:solidFill>
                <a:latin typeface="Consolas" pitchFamily="34" charset="0"/>
                <a:ea typeface="Consolas" pitchFamily="34" charset="-122"/>
                <a:cs typeface="Consolas" pitchFamily="34" charset="-120"/>
              </a:rPr>
              <a:t> {</a:t>
            </a:r>
            <a:endParaRPr lang="en-US" sz="1550" dirty="0"/>
          </a:p>
          <a:p>
            <a:pPr marL="0" indent="0">
              <a:lnSpc>
                <a:spcPts val="3000"/>
              </a:lnSpc>
              <a:buNone/>
            </a:pPr>
            <a:r>
              <a:rPr lang="en-US" sz="1550" dirty="0">
                <a:solidFill>
                  <a:srgbClr val="FBBF24"/>
                </a:solidFill>
                <a:latin typeface="Consolas" pitchFamily="34" charset="0"/>
                <a:ea typeface="Consolas" pitchFamily="34" charset="-122"/>
                <a:cs typeface="Consolas" pitchFamily="34" charset="-120"/>
              </a:rPr>
              <a:t>  @SystemMessage</a:t>
            </a:r>
            <a:r>
              <a:rPr lang="en-US" sz="1550" dirty="0">
                <a:solidFill>
                  <a:srgbClr val="E6E9F0"/>
                </a:solidFill>
                <a:latin typeface="Consolas" pitchFamily="34" charset="0"/>
                <a:ea typeface="Consolas" pitchFamily="34" charset="-122"/>
                <a:cs typeface="Consolas" pitchFamily="34" charset="-120"/>
              </a:rPr>
              <a:t>("""</a:t>
            </a:r>
            <a:endParaRPr lang="en-US" sz="1550" dirty="0"/>
          </a:p>
          <a:p>
            <a:pPr marL="0" indent="0">
              <a:lnSpc>
                <a:spcPts val="3000"/>
              </a:lnSpc>
              <a:buNone/>
            </a:pPr>
            <a:r>
              <a:rPr lang="en-US" sz="1550" dirty="0">
                <a:solidFill>
                  <a:srgbClr val="6EE7D8"/>
                </a:solidFill>
                <a:latin typeface="Consolas" pitchFamily="34" charset="0"/>
                <a:ea typeface="Consolas" pitchFamily="34" charset="-122"/>
                <a:cs typeface="Consolas" pitchFamily="34" charset="-120"/>
              </a:rPr>
              <a:t>      You name products. Given an idea, give ONE name of 4 to 14</a:t>
            </a:r>
            <a:endParaRPr lang="en-US" sz="1550" dirty="0"/>
          </a:p>
          <a:p>
            <a:pPr marL="0" indent="0">
              <a:lnSpc>
                <a:spcPts val="3000"/>
              </a:lnSpc>
              <a:buNone/>
            </a:pPr>
            <a:r>
              <a:rPr lang="en-US" sz="1550" dirty="0">
                <a:solidFill>
                  <a:srgbClr val="6EE7D8"/>
                </a:solidFill>
                <a:latin typeface="Consolas" pitchFamily="34" charset="0"/>
                <a:ea typeface="Consolas" pitchFamily="34" charset="-122"/>
                <a:cs typeface="Consolas" pitchFamily="34" charset="-120"/>
              </a:rPr>
              <a:t>      letters, easy to say out loud, one or two words.</a:t>
            </a:r>
            <a:endParaRPr lang="en-US" sz="1550" dirty="0"/>
          </a:p>
          <a:p>
            <a:pPr marL="0" indent="0">
              <a:lnSpc>
                <a:spcPts val="3000"/>
              </a:lnSpc>
              <a:buNone/>
            </a:pPr>
            <a:r>
              <a:rPr lang="en-US" sz="1550" dirty="0">
                <a:solidFill>
                  <a:srgbClr val="6EE7D8"/>
                </a:solidFill>
                <a:latin typeface="Consolas" pitchFamily="34" charset="0"/>
                <a:ea typeface="Consolas" pitchFamily="34" charset="-122"/>
                <a:cs typeface="Consolas" pitchFamily="34" charset="-120"/>
              </a:rPr>
              <a:t>      Never end the name with ly, ify, io, Hub, Kit, Pro, App.</a:t>
            </a:r>
            <a:endParaRPr lang="en-US" sz="1550" dirty="0"/>
          </a:p>
          <a:p>
            <a:pPr marL="0" indent="0">
              <a:lnSpc>
                <a:spcPts val="3000"/>
              </a:lnSpc>
              <a:buNone/>
            </a:pPr>
            <a:r>
              <a:rPr lang="en-US" sz="1550" dirty="0">
                <a:solidFill>
                  <a:srgbClr val="6EE7D8"/>
                </a:solidFill>
                <a:latin typeface="Consolas" pitchFamily="34" charset="0"/>
                <a:ea typeface="Consolas" pitchFamily="34" charset="-122"/>
                <a:cs typeface="Consolas" pitchFamily="34" charset="-120"/>
              </a:rPr>
              <a:t>      Name it after the moment the product matters. A bin rota</a:t>
            </a:r>
            <a:endParaRPr lang="en-US" sz="1550" dirty="0"/>
          </a:p>
          <a:p>
            <a:pPr marL="0" indent="0">
              <a:lnSpc>
                <a:spcPts val="3000"/>
              </a:lnSpc>
              <a:buNone/>
            </a:pPr>
            <a:r>
              <a:rPr lang="en-US" sz="1550" dirty="0">
                <a:solidFill>
                  <a:srgbClr val="6EE7D8"/>
                </a:solidFill>
                <a:latin typeface="Consolas" pitchFamily="34" charset="0"/>
                <a:ea typeface="Consolas" pitchFamily="34" charset="-122"/>
                <a:cs typeface="Consolas" pitchFamily="34" charset="-120"/>
              </a:rPr>
              <a:t>      is called Wednesday. A braai timer is called Coalfall.</a:t>
            </a:r>
            <a:endParaRPr lang="en-US" sz="1550" dirty="0"/>
          </a:p>
          <a:p>
            <a:pPr marL="0" indent="0">
              <a:lnSpc>
                <a:spcPts val="3000"/>
              </a:lnSpc>
              <a:buNone/>
            </a:pPr>
            <a:r>
              <a:rPr lang="en-US" sz="1550" dirty="0">
                <a:solidFill>
                  <a:srgbClr val="E6E9F0"/>
                </a:solidFill>
                <a:latin typeface="Consolas" pitchFamily="34" charset="0"/>
                <a:ea typeface="Consolas" pitchFamily="34" charset="-122"/>
                <a:cs typeface="Consolas" pitchFamily="34" charset="-120"/>
              </a:rPr>
              <a:t>      """)</a:t>
            </a:r>
            <a:endParaRPr lang="en-US" sz="1550" dirty="0"/>
          </a:p>
          <a:p>
            <a:pPr marL="0" indent="0">
              <a:lnSpc>
                <a:spcPts val="3000"/>
              </a:lnSpc>
              <a:buNone/>
            </a:pPr>
            <a:r>
              <a:rPr lang="en-US" sz="1550" dirty="0">
                <a:solidFill>
                  <a:srgbClr val="FBBF24"/>
                </a:solidFill>
                <a:latin typeface="Consolas" pitchFamily="34" charset="0"/>
                <a:ea typeface="Consolas" pitchFamily="34" charset="-122"/>
                <a:cs typeface="Consolas" pitchFamily="34" charset="-120"/>
              </a:rPr>
              <a:t>  @UserMessage</a:t>
            </a:r>
            <a:r>
              <a:rPr lang="en-US" sz="1550" dirty="0">
                <a:solidFill>
                  <a:srgbClr val="E6E9F0"/>
                </a:solidFill>
                <a:latin typeface="Consolas" pitchFamily="34" charset="0"/>
                <a:ea typeface="Consolas" pitchFamily="34" charset="-122"/>
                <a:cs typeface="Consolas" pitchFamily="34" charset="-120"/>
              </a:rPr>
              <a:t>(</a:t>
            </a:r>
            <a:r>
              <a:rPr lang="en-US" sz="1550" dirty="0">
                <a:solidFill>
                  <a:srgbClr val="6EE7D8"/>
                </a:solidFill>
                <a:latin typeface="Consolas" pitchFamily="34" charset="0"/>
                <a:ea typeface="Consolas" pitchFamily="34" charset="-122"/>
                <a:cs typeface="Consolas" pitchFamily="34" charset="-120"/>
              </a:rPr>
              <a:t>"Product idea: {{it}}"</a:t>
            </a:r>
            <a:r>
              <a:rPr lang="en-US" sz="1550" dirty="0">
                <a:solidFill>
                  <a:srgbClr val="E6E9F0"/>
                </a:solidFill>
                <a:latin typeface="Consolas" pitchFamily="34" charset="0"/>
                <a:ea typeface="Consolas" pitchFamily="34" charset="-122"/>
                <a:cs typeface="Consolas" pitchFamily="34" charset="-120"/>
              </a:rPr>
              <a:t>)</a:t>
            </a:r>
            <a:endParaRPr lang="en-US" sz="1550" dirty="0"/>
          </a:p>
          <a:p>
            <a:pPr marL="0" indent="0">
              <a:lnSpc>
                <a:spcPts val="3000"/>
              </a:lnSpc>
              <a:buNone/>
            </a:pPr>
            <a:r>
              <a:rPr lang="en-US" sz="1550" dirty="0">
                <a:solidFill>
                  <a:srgbClr val="7DD3FC"/>
                </a:solidFill>
                <a:latin typeface="Consolas" pitchFamily="34" charset="0"/>
                <a:ea typeface="Consolas" pitchFamily="34" charset="-122"/>
                <a:cs typeface="Consolas" pitchFamily="34" charset="-120"/>
              </a:rPr>
              <a:t>  String </a:t>
            </a:r>
            <a:r>
              <a:rPr lang="en-US" sz="1550" dirty="0">
                <a:solidFill>
                  <a:srgbClr val="E6E9F0"/>
                </a:solidFill>
                <a:latin typeface="Consolas" pitchFamily="34" charset="0"/>
                <a:ea typeface="Consolas" pitchFamily="34" charset="-122"/>
                <a:cs typeface="Consolas" pitchFamily="34" charset="-120"/>
              </a:rPr>
              <a:t>name(String idea);</a:t>
            </a:r>
            <a:endParaRPr lang="en-US" sz="1550" dirty="0"/>
          </a:p>
          <a:p>
            <a:pPr marL="0" indent="0">
              <a:lnSpc>
                <a:spcPts val="3000"/>
              </a:lnSpc>
              <a:buNone/>
            </a:pPr>
            <a:r>
              <a:rPr lang="en-US" sz="1550" dirty="0">
                <a:solidFill>
                  <a:srgbClr val="E6E9F0"/>
                </a:solidFill>
                <a:latin typeface="Consolas" pitchFamily="34" charset="0"/>
                <a:ea typeface="Consolas" pitchFamily="34" charset="-122"/>
                <a:cs typeface="Consolas" pitchFamily="34" charset="-120"/>
              </a:rPr>
              <a:t>}</a:t>
            </a:r>
            <a:endParaRPr lang="en-US" sz="15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LIVE CODE  /  2 OF 2  ·  CREWSERVICE.JAVA</a:t>
            </a:r>
            <a:endParaRPr lang="en-US" sz="1100" dirty="0"/>
          </a:p>
        </p:txBody>
      </p:sp>
      <p:sp>
        <p:nvSpPr>
          <p:cNvPr id="3" name="Text 1"/>
          <p:cNvSpPr/>
          <p:nvPr/>
        </p:nvSpPr>
        <p:spPr>
          <a:xfrm>
            <a:off x="841248" y="960120"/>
            <a:ext cx="10058400" cy="640080"/>
          </a:xfrm>
          <a:prstGeom prst="rect">
            <a:avLst/>
          </a:prstGeom>
          <a:noFill/>
          <a:ln/>
        </p:spPr>
        <p:txBody>
          <a:bodyPr wrap="square" rtlCol="0" anchor="ctr"/>
          <a:lstStyle/>
          <a:p>
            <a:pPr marL="0" indent="0">
              <a:buNone/>
            </a:pPr>
            <a:r>
              <a:rPr lang="en-US" sz="2700" b="1" dirty="0">
                <a:solidFill>
                  <a:srgbClr val="16181D"/>
                </a:solidFill>
                <a:latin typeface="Arial" pitchFamily="34" charset="0"/>
                <a:ea typeface="Arial" pitchFamily="34" charset="-122"/>
                <a:cs typeface="Arial" pitchFamily="34" charset="-120"/>
              </a:rPr>
              <a:t>Four workers, </a:t>
            </a:r>
            <a:r>
              <a:rPr lang="en-US" sz="2700" b="1" dirty="0">
                <a:solidFill>
                  <a:srgbClr val="4F46E5"/>
                </a:solidFill>
                <a:latin typeface="Arial" pitchFamily="34" charset="0"/>
                <a:ea typeface="Arial" pitchFamily="34" charset="-122"/>
                <a:cs typeface="Arial" pitchFamily="34" charset="-120"/>
              </a:rPr>
              <a:t>one line each.</a:t>
            </a:r>
            <a:endParaRPr lang="en-US" sz="2700" dirty="0"/>
          </a:p>
        </p:txBody>
      </p:sp>
      <p:sp>
        <p:nvSpPr>
          <p:cNvPr id="4" name="Shape 2"/>
          <p:cNvSpPr/>
          <p:nvPr/>
        </p:nvSpPr>
        <p:spPr>
          <a:xfrm>
            <a:off x="841248" y="1828800"/>
            <a:ext cx="10509199" cy="3383280"/>
          </a:xfrm>
          <a:prstGeom prst="roundRect">
            <a:avLst>
              <a:gd name="adj" fmla="val 2703"/>
            </a:avLst>
          </a:prstGeom>
          <a:solidFill>
            <a:srgbClr val="16181D"/>
          </a:solidFill>
          <a:ln w="12700">
            <a:solidFill>
              <a:srgbClr val="16181D"/>
            </a:solidFill>
            <a:prstDash val="solid"/>
          </a:ln>
          <a:effectLst>
            <a:outerShdw blurRad="139700" dist="38100" dir="5400000" algn="bl" rotWithShape="0">
              <a:srgbClr val="9AA6BC">
                <a:alpha val="28000"/>
              </a:srgbClr>
            </a:outerShdw>
          </a:effectLst>
        </p:spPr>
        <p:txBody>
          <a:bodyPr/>
          <a:lstStyle/>
          <a:p>
            <a:endParaRPr lang="en-US"/>
          </a:p>
        </p:txBody>
      </p:sp>
      <p:sp>
        <p:nvSpPr>
          <p:cNvPr id="5" name="Text 3"/>
          <p:cNvSpPr/>
          <p:nvPr/>
        </p:nvSpPr>
        <p:spPr>
          <a:xfrm>
            <a:off x="1298448" y="2148840"/>
            <a:ext cx="9594799" cy="2743200"/>
          </a:xfrm>
          <a:prstGeom prst="rect">
            <a:avLst/>
          </a:prstGeom>
          <a:noFill/>
          <a:ln/>
        </p:spPr>
        <p:txBody>
          <a:bodyPr wrap="square" rtlCol="0" anchor="t"/>
          <a:lstStyle/>
          <a:p>
            <a:pPr marL="0" indent="0">
              <a:lnSpc>
                <a:spcPts val="3000"/>
              </a:lnSpc>
              <a:buNone/>
            </a:pPr>
            <a:r>
              <a:rPr lang="en-US" sz="1550" dirty="0">
                <a:solidFill>
                  <a:srgbClr val="6B7280"/>
                </a:solidFill>
                <a:latin typeface="Consolas" pitchFamily="34" charset="0"/>
                <a:ea typeface="Consolas" pitchFamily="34" charset="-122"/>
                <a:cs typeface="Consolas" pitchFamily="34" charset="-120"/>
              </a:rPr>
              <a:t>// CrewService.runCrew, verbatim. They all start at once.</a:t>
            </a:r>
            <a:endParaRPr lang="en-US" sz="1550" dirty="0"/>
          </a:p>
          <a:p>
            <a:pPr marL="0" indent="0">
              <a:lnSpc>
                <a:spcPts val="3000"/>
              </a:lnSpc>
              <a:buNone/>
            </a:pPr>
            <a:r>
              <a:rPr lang="en-US" sz="1550" dirty="0">
                <a:solidFill>
                  <a:srgbClr val="7DD3FC"/>
                </a:solidFill>
                <a:latin typeface="Consolas" pitchFamily="34" charset="0"/>
                <a:ea typeface="Consolas" pitchFamily="34" charset="-122"/>
                <a:cs typeface="Consolas" pitchFamily="34" charset="-120"/>
              </a:rPr>
              <a:t>Future&lt;String&gt; </a:t>
            </a:r>
            <a:r>
              <a:rPr lang="en-US" sz="1550" dirty="0">
                <a:solidFill>
                  <a:srgbClr val="E6E9F0"/>
                </a:solidFill>
                <a:latin typeface="Consolas" pitchFamily="34" charset="0"/>
                <a:ea typeface="Consolas" pitchFamily="34" charset="-122"/>
                <a:cs typeface="Consolas" pitchFamily="34" charset="-120"/>
              </a:rPr>
              <a:t>tensionF = pool.submit(() -&gt; safeInsight(stage(), idea.text));</a:t>
            </a:r>
            <a:endParaRPr lang="en-US" sz="1550" dirty="0"/>
          </a:p>
          <a:p>
            <a:pPr marL="0" indent="0">
              <a:lnSpc>
                <a:spcPts val="3000"/>
              </a:lnSpc>
              <a:buNone/>
            </a:pPr>
            <a:r>
              <a:rPr lang="en-US" sz="1550" dirty="0">
                <a:solidFill>
                  <a:srgbClr val="7DD3FC"/>
                </a:solidFill>
                <a:latin typeface="Consolas" pitchFamily="34" charset="0"/>
                <a:ea typeface="Consolas" pitchFamily="34" charset="-122"/>
                <a:cs typeface="Consolas" pitchFamily="34" charset="-120"/>
              </a:rPr>
              <a:t>Future&lt;String&gt; </a:t>
            </a:r>
            <a:r>
              <a:rPr lang="en-US" sz="1550" dirty="0">
                <a:solidFill>
                  <a:srgbClr val="E6E9F0"/>
                </a:solidFill>
                <a:latin typeface="Consolas" pitchFamily="34" charset="0"/>
                <a:ea typeface="Consolas" pitchFamily="34" charset="-122"/>
                <a:cs typeface="Consolas" pitchFamily="34" charset="-120"/>
              </a:rPr>
              <a:t>factsF   = pool.submit(() -&gt; safeFacts(stage(), idea.text));</a:t>
            </a:r>
            <a:endParaRPr lang="en-US" sz="1550" dirty="0"/>
          </a:p>
          <a:p>
            <a:pPr marL="0" indent="0">
              <a:lnSpc>
                <a:spcPts val="3000"/>
              </a:lnSpc>
              <a:buNone/>
            </a:pPr>
            <a:r>
              <a:rPr lang="en-US" sz="1550" dirty="0">
                <a:solidFill>
                  <a:srgbClr val="7DD3FC"/>
                </a:solidFill>
                <a:latin typeface="Consolas" pitchFamily="34" charset="0"/>
                <a:ea typeface="Consolas" pitchFamily="34" charset="-122"/>
                <a:cs typeface="Consolas" pitchFamily="34" charset="-120"/>
              </a:rPr>
              <a:t>Future&lt;String&gt; </a:t>
            </a:r>
            <a:r>
              <a:rPr lang="en-US" sz="1550" dirty="0">
                <a:solidFill>
                  <a:srgbClr val="E6E9F0"/>
                </a:solidFill>
                <a:latin typeface="Consolas" pitchFamily="34" charset="0"/>
                <a:ea typeface="Consolas" pitchFamily="34" charset="-122"/>
                <a:cs typeface="Consolas" pitchFamily="34" charset="-120"/>
              </a:rPr>
              <a:t>nameF    = pool.submit(() -&gt; safeName(stage(), idea.text));</a:t>
            </a:r>
            <a:endParaRPr lang="en-US" sz="1550" dirty="0"/>
          </a:p>
          <a:p>
            <a:pPr marL="0" indent="0">
              <a:lnSpc>
                <a:spcPts val="3000"/>
              </a:lnSpc>
              <a:buNone/>
            </a:pPr>
            <a:r>
              <a:rPr lang="en-US" sz="1550" dirty="0">
                <a:solidFill>
                  <a:srgbClr val="7DD3FC"/>
                </a:solidFill>
                <a:latin typeface="Consolas" pitchFamily="34" charset="0"/>
                <a:ea typeface="Consolas" pitchFamily="34" charset="-122"/>
                <a:cs typeface="Consolas" pitchFamily="34" charset="-120"/>
              </a:rPr>
              <a:t>Future&lt;Palette&gt; </a:t>
            </a:r>
            <a:r>
              <a:rPr lang="en-US" sz="1550" dirty="0">
                <a:solidFill>
                  <a:srgbClr val="E6E9F0"/>
                </a:solidFill>
                <a:latin typeface="Consolas" pitchFamily="34" charset="0"/>
                <a:ea typeface="Consolas" pitchFamily="34" charset="-122"/>
                <a:cs typeface="Consolas" pitchFamily="34" charset="-120"/>
              </a:rPr>
              <a:t>paletteF = pool.submit(() -&gt; safePalette(stage(), idea.text));</a:t>
            </a:r>
            <a:endParaRPr lang="en-US" sz="1550" dirty="0"/>
          </a:p>
          <a:p>
            <a:pPr marL="0" indent="0">
              <a:lnSpc>
                <a:spcPts val="3000"/>
              </a:lnSpc>
              <a:buNone/>
            </a:pPr>
            <a:endParaRPr lang="en-US" sz="1550" dirty="0"/>
          </a:p>
          <a:p>
            <a:pPr marL="0" indent="0">
              <a:lnSpc>
                <a:spcPts val="3000"/>
              </a:lnSpc>
              <a:buNone/>
            </a:pPr>
            <a:r>
              <a:rPr lang="en-US" sz="1550" dirty="0">
                <a:solidFill>
                  <a:srgbClr val="6B7280"/>
                </a:solidFill>
                <a:latin typeface="Consolas" pitchFamily="34" charset="0"/>
                <a:ea typeface="Consolas" pitchFamily="34" charset="-122"/>
                <a:cs typeface="Consolas" pitchFamily="34" charset="-120"/>
              </a:rPr>
              <a:t>// the namer lands first, so its result unblocks three others</a:t>
            </a:r>
            <a:endParaRPr lang="en-US" sz="1550" dirty="0"/>
          </a:p>
          <a:p>
            <a:pPr marL="0" indent="0">
              <a:lnSpc>
                <a:spcPts val="3000"/>
              </a:lnSpc>
              <a:buNone/>
            </a:pPr>
            <a:r>
              <a:rPr lang="en-US" sz="1550" dirty="0">
                <a:solidFill>
                  <a:srgbClr val="7DD3FC"/>
                </a:solidFill>
                <a:latin typeface="Consolas" pitchFamily="34" charset="0"/>
                <a:ea typeface="Consolas" pitchFamily="34" charset="-122"/>
                <a:cs typeface="Consolas" pitchFamily="34" charset="-120"/>
              </a:rPr>
              <a:t>String </a:t>
            </a:r>
            <a:r>
              <a:rPr lang="en-US" sz="1550" dirty="0">
                <a:solidFill>
                  <a:srgbClr val="E6E9F0"/>
                </a:solidFill>
                <a:latin typeface="Consolas" pitchFamily="34" charset="0"/>
                <a:ea typeface="Consolas" pitchFamily="34" charset="-122"/>
                <a:cs typeface="Consolas" pitchFamily="34" charset="-120"/>
              </a:rPr>
              <a:t>productName = nameF.get();</a:t>
            </a:r>
            <a:endParaRPr lang="en-US" sz="1550" dirty="0"/>
          </a:p>
          <a:p>
            <a:pPr marL="0" indent="0">
              <a:lnSpc>
                <a:spcPts val="3000"/>
              </a:lnSpc>
              <a:buNone/>
            </a:pPr>
            <a:r>
              <a:rPr lang="en-US" sz="1550" dirty="0">
                <a:solidFill>
                  <a:srgbClr val="7DD3FC"/>
                </a:solidFill>
                <a:latin typeface="Consolas" pitchFamily="34" charset="0"/>
                <a:ea typeface="Consolas" pitchFamily="34" charset="-122"/>
                <a:cs typeface="Consolas" pitchFamily="34" charset="-120"/>
              </a:rPr>
              <a:t>Copy </a:t>
            </a:r>
            <a:r>
              <a:rPr lang="en-US" sz="1550" dirty="0">
                <a:solidFill>
                  <a:srgbClr val="E6E9F0"/>
                </a:solidFill>
                <a:latin typeface="Consolas" pitchFamily="34" charset="0"/>
                <a:ea typeface="Consolas" pitchFamily="34" charset="-122"/>
                <a:cs typeface="Consolas" pitchFamily="34" charset="-120"/>
              </a:rPr>
              <a:t>copy = copyF.get();</a:t>
            </a:r>
            <a:r>
              <a:rPr lang="en-US" sz="1550" dirty="0">
                <a:solidFill>
                  <a:srgbClr val="6B7280"/>
                </a:solidFill>
                <a:latin typeface="Consolas" pitchFamily="34" charset="0"/>
                <a:ea typeface="Consolas" pitchFamily="34" charset="-122"/>
                <a:cs typeface="Consolas" pitchFamily="34" charset="-120"/>
              </a:rPr>
              <a:t>     // written against the tension</a:t>
            </a:r>
            <a:endParaRPr lang="en-US" sz="15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txBody>
          <a:bodyPr/>
          <a:lstStyle/>
          <a:p>
            <a:endParaRPr lang="en-US"/>
          </a:p>
        </p:txBody>
      </p:sp>
      <p:sp>
        <p:nvSpPr>
          <p:cNvPr id="3" name="Text 1"/>
          <p:cNvSpPr/>
          <p:nvPr/>
        </p:nvSpPr>
        <p:spPr>
          <a:xfrm>
            <a:off x="1207008" y="566928"/>
            <a:ext cx="4572000" cy="292608"/>
          </a:xfrm>
          <a:prstGeom prst="rect">
            <a:avLst/>
          </a:prstGeom>
          <a:noFill/>
          <a:ln/>
        </p:spPr>
        <p:txBody>
          <a:bodyPr wrap="square" rtlCol="0" anchor="ctr"/>
          <a:lstStyle/>
          <a:p>
            <a:pPr marL="0" indent="0">
              <a:buNone/>
            </a:pPr>
            <a:r>
              <a:rPr lang="en-US" sz="1200" kern="0" spc="400" dirty="0">
                <a:solidFill>
                  <a:srgbClr val="4F46E5"/>
                </a:solidFill>
                <a:latin typeface="Consolas" pitchFamily="34" charset="0"/>
                <a:ea typeface="Consolas" pitchFamily="34" charset="-122"/>
                <a:cs typeface="Consolas" pitchFamily="34" charset="-120"/>
              </a:rPr>
              <a:t>THE LIVE BUILD</a:t>
            </a:r>
            <a:endParaRPr lang="en-US" sz="1200" dirty="0"/>
          </a:p>
        </p:txBody>
      </p:sp>
      <p:sp>
        <p:nvSpPr>
          <p:cNvPr id="4" name="Text 2"/>
          <p:cNvSpPr/>
          <p:nvPr/>
        </p:nvSpPr>
        <p:spPr>
          <a:xfrm>
            <a:off x="0" y="1828800"/>
            <a:ext cx="12191695" cy="1188720"/>
          </a:xfrm>
          <a:prstGeom prst="rect">
            <a:avLst/>
          </a:prstGeom>
          <a:noFill/>
          <a:ln/>
        </p:spPr>
        <p:txBody>
          <a:bodyPr wrap="square" rtlCol="0" anchor="ctr"/>
          <a:lstStyle/>
          <a:p>
            <a:pPr marL="0" indent="0" algn="ctr">
              <a:buNone/>
            </a:pPr>
            <a:r>
              <a:rPr lang="en-US" sz="5800" b="1" dirty="0">
                <a:solidFill>
                  <a:srgbClr val="16181D"/>
                </a:solidFill>
                <a:latin typeface="Arial" pitchFamily="34" charset="0"/>
                <a:ea typeface="Arial" pitchFamily="34" charset="-122"/>
                <a:cs typeface="Arial" pitchFamily="34" charset="-120"/>
              </a:rPr>
              <a:t>Let's build </a:t>
            </a:r>
            <a:r>
              <a:rPr lang="en-US" sz="5800" b="1" dirty="0">
                <a:solidFill>
                  <a:srgbClr val="4F46E5"/>
                </a:solidFill>
                <a:latin typeface="Arial" pitchFamily="34" charset="0"/>
                <a:ea typeface="Arial" pitchFamily="34" charset="-122"/>
                <a:cs typeface="Arial" pitchFamily="34" charset="-120"/>
              </a:rPr>
              <a:t>one of yours.</a:t>
            </a:r>
            <a:endParaRPr lang="en-US" sz="5800" dirty="0"/>
          </a:p>
        </p:txBody>
      </p:sp>
      <p:sp>
        <p:nvSpPr>
          <p:cNvPr id="5" name="Shape 3"/>
          <p:cNvSpPr/>
          <p:nvPr/>
        </p:nvSpPr>
        <p:spPr>
          <a:xfrm>
            <a:off x="1158088" y="3383280"/>
            <a:ext cx="2743200" cy="822960"/>
          </a:xfrm>
          <a:prstGeom prst="roundRect">
            <a:avLst>
              <a:gd name="adj" fmla="val 13333"/>
            </a:avLst>
          </a:prstGeom>
          <a:solidFill>
            <a:srgbClr val="F5F7FA"/>
          </a:solidFill>
          <a:ln w="19050">
            <a:solidFill>
              <a:srgbClr val="4F46E5"/>
            </a:solidFill>
            <a:prstDash val="solid"/>
          </a:ln>
          <a:effectLst>
            <a:outerShdw blurRad="139700" dist="38100" dir="5400000" algn="bl" rotWithShape="0">
              <a:srgbClr val="9AA6BC">
                <a:alpha val="28000"/>
              </a:srgbClr>
            </a:outerShdw>
          </a:effectLst>
        </p:spPr>
        <p:txBody>
          <a:bodyPr/>
          <a:lstStyle/>
          <a:p>
            <a:endParaRPr lang="en-US"/>
          </a:p>
        </p:txBody>
      </p:sp>
      <p:sp>
        <p:nvSpPr>
          <p:cNvPr id="6" name="Text 4"/>
          <p:cNvSpPr/>
          <p:nvPr/>
        </p:nvSpPr>
        <p:spPr>
          <a:xfrm>
            <a:off x="1158088" y="3383280"/>
            <a:ext cx="2743200" cy="822960"/>
          </a:xfrm>
          <a:prstGeom prst="rect">
            <a:avLst/>
          </a:prstGeom>
          <a:noFill/>
          <a:ln/>
        </p:spPr>
        <p:txBody>
          <a:bodyPr wrap="square" rtlCol="0" anchor="ctr"/>
          <a:lstStyle/>
          <a:p>
            <a:pPr marL="0" indent="0" algn="ctr">
              <a:buNone/>
            </a:pPr>
            <a:r>
              <a:rPr lang="en-US" sz="1600" b="1" dirty="0">
                <a:solidFill>
                  <a:srgbClr val="16181D"/>
                </a:solidFill>
                <a:latin typeface="Arial" pitchFamily="34" charset="0"/>
                <a:ea typeface="Arial" pitchFamily="34" charset="-122"/>
                <a:cs typeface="Arial" pitchFamily="34" charset="-120"/>
              </a:rPr>
              <a:t>your idea</a:t>
            </a:r>
            <a:endParaRPr lang="en-US" sz="1600" dirty="0"/>
          </a:p>
        </p:txBody>
      </p:sp>
      <p:sp>
        <p:nvSpPr>
          <p:cNvPr id="7" name="Shape 5"/>
          <p:cNvSpPr/>
          <p:nvPr/>
        </p:nvSpPr>
        <p:spPr>
          <a:xfrm>
            <a:off x="4065880" y="3794760"/>
            <a:ext cx="493776" cy="0"/>
          </a:xfrm>
          <a:prstGeom prst="line">
            <a:avLst/>
          </a:prstGeom>
          <a:noFill/>
          <a:ln w="22860">
            <a:solidFill>
              <a:srgbClr val="9AA1B0"/>
            </a:solidFill>
            <a:prstDash val="solid"/>
            <a:tailEnd type="triangle"/>
          </a:ln>
        </p:spPr>
        <p:txBody>
          <a:bodyPr/>
          <a:lstStyle/>
          <a:p>
            <a:endParaRPr lang="en-US"/>
          </a:p>
        </p:txBody>
      </p:sp>
      <p:sp>
        <p:nvSpPr>
          <p:cNvPr id="8" name="Shape 6"/>
          <p:cNvSpPr/>
          <p:nvPr/>
        </p:nvSpPr>
        <p:spPr>
          <a:xfrm>
            <a:off x="4724248" y="3383280"/>
            <a:ext cx="2743200" cy="822960"/>
          </a:xfrm>
          <a:prstGeom prst="roundRect">
            <a:avLst>
              <a:gd name="adj" fmla="val 13333"/>
            </a:avLst>
          </a:prstGeom>
          <a:solidFill>
            <a:srgbClr val="F5F7FA"/>
          </a:solidFill>
          <a:ln w="19050">
            <a:solidFill>
              <a:srgbClr val="7C3AED"/>
            </a:solidFill>
            <a:prstDash val="solid"/>
          </a:ln>
          <a:effectLst>
            <a:outerShdw blurRad="139700" dist="38100" dir="5400000" algn="bl" rotWithShape="0">
              <a:srgbClr val="9AA6BC">
                <a:alpha val="28000"/>
              </a:srgbClr>
            </a:outerShdw>
          </a:effectLst>
        </p:spPr>
        <p:txBody>
          <a:bodyPr/>
          <a:lstStyle/>
          <a:p>
            <a:endParaRPr lang="en-US"/>
          </a:p>
        </p:txBody>
      </p:sp>
      <p:sp>
        <p:nvSpPr>
          <p:cNvPr id="9" name="Text 7"/>
          <p:cNvSpPr/>
          <p:nvPr/>
        </p:nvSpPr>
        <p:spPr>
          <a:xfrm>
            <a:off x="4724248" y="3383280"/>
            <a:ext cx="2743200" cy="822960"/>
          </a:xfrm>
          <a:prstGeom prst="rect">
            <a:avLst/>
          </a:prstGeom>
          <a:noFill/>
          <a:ln/>
        </p:spPr>
        <p:txBody>
          <a:bodyPr wrap="square" rtlCol="0" anchor="ctr"/>
          <a:lstStyle/>
          <a:p>
            <a:pPr marL="0" indent="0" algn="ctr">
              <a:buNone/>
            </a:pPr>
            <a:r>
              <a:rPr lang="en-US" sz="1600" b="1" dirty="0">
                <a:solidFill>
                  <a:srgbClr val="16181D"/>
                </a:solidFill>
                <a:latin typeface="Arial" pitchFamily="34" charset="0"/>
                <a:ea typeface="Arial" pitchFamily="34" charset="-122"/>
                <a:cs typeface="Arial" pitchFamily="34" charset="-120"/>
              </a:rPr>
              <a:t>the crew</a:t>
            </a:r>
            <a:endParaRPr lang="en-US" sz="1600" dirty="0"/>
          </a:p>
        </p:txBody>
      </p:sp>
      <p:sp>
        <p:nvSpPr>
          <p:cNvPr id="10" name="Shape 8"/>
          <p:cNvSpPr/>
          <p:nvPr/>
        </p:nvSpPr>
        <p:spPr>
          <a:xfrm>
            <a:off x="7632040" y="3794760"/>
            <a:ext cx="493776" cy="0"/>
          </a:xfrm>
          <a:prstGeom prst="line">
            <a:avLst/>
          </a:prstGeom>
          <a:noFill/>
          <a:ln w="22860">
            <a:solidFill>
              <a:srgbClr val="9AA1B0"/>
            </a:solidFill>
            <a:prstDash val="solid"/>
            <a:tailEnd type="triangle"/>
          </a:ln>
        </p:spPr>
        <p:txBody>
          <a:bodyPr/>
          <a:lstStyle/>
          <a:p>
            <a:endParaRPr lang="en-US"/>
          </a:p>
        </p:txBody>
      </p:sp>
      <p:sp>
        <p:nvSpPr>
          <p:cNvPr id="11" name="Shape 9"/>
          <p:cNvSpPr/>
          <p:nvPr/>
        </p:nvSpPr>
        <p:spPr>
          <a:xfrm>
            <a:off x="8290408" y="3383280"/>
            <a:ext cx="2743200" cy="822960"/>
          </a:xfrm>
          <a:prstGeom prst="roundRect">
            <a:avLst>
              <a:gd name="adj" fmla="val 13333"/>
            </a:avLst>
          </a:prstGeom>
          <a:solidFill>
            <a:srgbClr val="F5F7FA"/>
          </a:solidFill>
          <a:ln w="19050">
            <a:solidFill>
              <a:srgbClr val="0F9E8E"/>
            </a:solidFill>
            <a:prstDash val="solid"/>
          </a:ln>
          <a:effectLst>
            <a:outerShdw blurRad="139700" dist="38100" dir="5400000" algn="bl" rotWithShape="0">
              <a:srgbClr val="9AA6BC">
                <a:alpha val="28000"/>
              </a:srgbClr>
            </a:outerShdw>
          </a:effectLst>
        </p:spPr>
        <p:txBody>
          <a:bodyPr/>
          <a:lstStyle/>
          <a:p>
            <a:endParaRPr lang="en-US"/>
          </a:p>
        </p:txBody>
      </p:sp>
      <p:sp>
        <p:nvSpPr>
          <p:cNvPr id="12" name="Text 10"/>
          <p:cNvSpPr/>
          <p:nvPr/>
        </p:nvSpPr>
        <p:spPr>
          <a:xfrm>
            <a:off x="8290408" y="3383280"/>
            <a:ext cx="2743200" cy="822960"/>
          </a:xfrm>
          <a:prstGeom prst="rect">
            <a:avLst/>
          </a:prstGeom>
          <a:noFill/>
          <a:ln/>
        </p:spPr>
        <p:txBody>
          <a:bodyPr wrap="square" rtlCol="0" anchor="ctr"/>
          <a:lstStyle/>
          <a:p>
            <a:pPr marL="0" indent="0" algn="ctr">
              <a:buNone/>
            </a:pPr>
            <a:r>
              <a:rPr lang="en-US" sz="1600" b="1" dirty="0">
                <a:solidFill>
                  <a:srgbClr val="16181D"/>
                </a:solidFill>
                <a:latin typeface="Arial" pitchFamily="34" charset="0"/>
                <a:ea typeface="Arial" pitchFamily="34" charset="-122"/>
                <a:cs typeface="Arial" pitchFamily="34" charset="-120"/>
              </a:rPr>
              <a:t>a live landing page</a:t>
            </a:r>
            <a:endParaRPr lang="en-US" sz="1600" dirty="0"/>
          </a:p>
        </p:txBody>
      </p:sp>
      <p:sp>
        <p:nvSpPr>
          <p:cNvPr id="13" name="Text 11"/>
          <p:cNvSpPr/>
          <p:nvPr/>
        </p:nvSpPr>
        <p:spPr>
          <a:xfrm>
            <a:off x="1828800" y="4892040"/>
            <a:ext cx="8534095" cy="640080"/>
          </a:xfrm>
          <a:prstGeom prst="rect">
            <a:avLst/>
          </a:prstGeom>
          <a:noFill/>
          <a:ln/>
        </p:spPr>
        <p:txBody>
          <a:bodyPr wrap="square" rtlCol="0" anchor="ctr"/>
          <a:lstStyle/>
          <a:p>
            <a:pPr marL="0" indent="0" algn="ctr">
              <a:buNone/>
            </a:pPr>
            <a:r>
              <a:rPr lang="en-US" sz="1600" dirty="0">
                <a:solidFill>
                  <a:srgbClr val="666C7A"/>
                </a:solidFill>
                <a:latin typeface="Calibri" pitchFamily="34" charset="0"/>
                <a:ea typeface="Calibri" pitchFamily="34" charset="-122"/>
                <a:cs typeface="Calibri" pitchFamily="34" charset="-120"/>
              </a:rPr>
              <a:t>Didn't send one yet? Scan the code. I'll pick a good one and we watch the crew build it, live.</a:t>
            </a:r>
            <a:endParaRPr lang="en-US" sz="1600" dirty="0"/>
          </a:p>
        </p:txBody>
      </p:sp>
      <p:pic>
        <p:nvPicPr>
          <p:cNvPr id="14" name="Image 0" descr="preencoded.png"/>
          <p:cNvPicPr>
            <a:picLocks noChangeAspect="1"/>
          </p:cNvPicPr>
          <p:nvPr/>
        </p:nvPicPr>
        <p:blipFill>
          <a:blip r:embed="rId3"/>
          <a:stretch>
            <a:fillRect/>
          </a:stretch>
        </p:blipFill>
        <p:spPr>
          <a:xfrm>
            <a:off x="5547208" y="5577840"/>
            <a:ext cx="960120" cy="960120"/>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D97706"/>
                </a:solidFill>
                <a:latin typeface="Arial" pitchFamily="34" charset="0"/>
                <a:ea typeface="Arial" pitchFamily="34" charset="-122"/>
                <a:cs typeface="Arial" pitchFamily="34" charset="-120"/>
              </a:rPr>
              <a:t>WHAT JUST HAPPENED</a:t>
            </a:r>
            <a:endParaRPr lang="en-US" sz="1100" dirty="0"/>
          </a:p>
        </p:txBody>
      </p:sp>
      <p:sp>
        <p:nvSpPr>
          <p:cNvPr id="3" name="Text 1"/>
          <p:cNvSpPr/>
          <p:nvPr/>
        </p:nvSpPr>
        <p:spPr>
          <a:xfrm>
            <a:off x="841248" y="1051560"/>
            <a:ext cx="10058400" cy="82296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One sentence became a </a:t>
            </a:r>
            <a:r>
              <a:rPr lang="en-US" sz="3200" b="1" dirty="0">
                <a:solidFill>
                  <a:srgbClr val="4F46E5"/>
                </a:solidFill>
                <a:latin typeface="Arial" pitchFamily="34" charset="0"/>
                <a:ea typeface="Arial" pitchFamily="34" charset="-122"/>
                <a:cs typeface="Arial" pitchFamily="34" charset="-120"/>
              </a:rPr>
              <a:t>team.</a:t>
            </a:r>
            <a:endParaRPr lang="en-US" sz="3200" dirty="0"/>
          </a:p>
        </p:txBody>
      </p:sp>
      <p:sp>
        <p:nvSpPr>
          <p:cNvPr id="4" name="Shape 2"/>
          <p:cNvSpPr/>
          <p:nvPr/>
        </p:nvSpPr>
        <p:spPr>
          <a:xfrm>
            <a:off x="841248" y="2377440"/>
            <a:ext cx="3383280" cy="2743200"/>
          </a:xfrm>
          <a:prstGeom prst="roundRect">
            <a:avLst>
              <a:gd name="adj" fmla="val 3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5" name="Shape 3"/>
          <p:cNvSpPr/>
          <p:nvPr/>
        </p:nvSpPr>
        <p:spPr>
          <a:xfrm>
            <a:off x="1161288" y="2734056"/>
            <a:ext cx="603504" cy="603504"/>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1306129" y="2878897"/>
            <a:ext cx="313822" cy="313822"/>
          </a:xfrm>
          <a:prstGeom prst="rect">
            <a:avLst/>
          </a:prstGeom>
        </p:spPr>
      </p:pic>
      <p:sp>
        <p:nvSpPr>
          <p:cNvPr id="7" name="Text 4"/>
          <p:cNvSpPr/>
          <p:nvPr/>
        </p:nvSpPr>
        <p:spPr>
          <a:xfrm>
            <a:off x="1207008" y="3611880"/>
            <a:ext cx="2651760" cy="548640"/>
          </a:xfrm>
          <a:prstGeom prst="rect">
            <a:avLst/>
          </a:prstGeom>
          <a:noFill/>
          <a:ln/>
        </p:spPr>
        <p:txBody>
          <a:bodyPr wrap="square" rtlCol="0" anchor="ctr"/>
          <a:lstStyle/>
          <a:p>
            <a:pPr marL="0" indent="0">
              <a:buNone/>
            </a:pPr>
            <a:r>
              <a:rPr lang="en-US" sz="2100" b="1" dirty="0">
                <a:solidFill>
                  <a:srgbClr val="16181D"/>
                </a:solidFill>
                <a:latin typeface="Arial" pitchFamily="34" charset="0"/>
                <a:ea typeface="Arial" pitchFamily="34" charset="-122"/>
                <a:cs typeface="Arial" pitchFamily="34" charset="-120"/>
              </a:rPr>
              <a:t>It self-assembled</a:t>
            </a:r>
            <a:endParaRPr lang="en-US" sz="2100" dirty="0"/>
          </a:p>
        </p:txBody>
      </p:sp>
      <p:sp>
        <p:nvSpPr>
          <p:cNvPr id="8" name="Text 5"/>
          <p:cNvSpPr/>
          <p:nvPr/>
        </p:nvSpPr>
        <p:spPr>
          <a:xfrm>
            <a:off x="1207008" y="4206240"/>
            <a:ext cx="2651760" cy="914400"/>
          </a:xfrm>
          <a:prstGeom prst="rect">
            <a:avLst/>
          </a:prstGeom>
          <a:noFill/>
          <a:ln/>
        </p:spPr>
        <p:txBody>
          <a:bodyPr wrap="square" rtlCol="0" anchor="ctr"/>
          <a:lstStyle/>
          <a:p>
            <a:pPr marL="0" indent="0">
              <a:lnSpc>
                <a:spcPts val="2000"/>
              </a:lnSpc>
              <a:buNone/>
            </a:pPr>
            <a:r>
              <a:rPr lang="en-US" sz="1400" dirty="0">
                <a:solidFill>
                  <a:srgbClr val="666C7A"/>
                </a:solidFill>
                <a:latin typeface="Calibri" pitchFamily="34" charset="0"/>
                <a:ea typeface="Calibri" pitchFamily="34" charset="-122"/>
                <a:cs typeface="Calibri" pitchFamily="34" charset="-120"/>
              </a:rPr>
              <a:t>You never named the crew. The planner chose who to hire.</a:t>
            </a:r>
            <a:endParaRPr lang="en-US" sz="1400" dirty="0"/>
          </a:p>
        </p:txBody>
      </p:sp>
      <p:sp>
        <p:nvSpPr>
          <p:cNvPr id="9" name="Shape 6"/>
          <p:cNvSpPr/>
          <p:nvPr/>
        </p:nvSpPr>
        <p:spPr>
          <a:xfrm>
            <a:off x="4544568" y="2377440"/>
            <a:ext cx="3383280" cy="2743200"/>
          </a:xfrm>
          <a:prstGeom prst="roundRect">
            <a:avLst>
              <a:gd name="adj" fmla="val 3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0" name="Shape 7"/>
          <p:cNvSpPr/>
          <p:nvPr/>
        </p:nvSpPr>
        <p:spPr>
          <a:xfrm>
            <a:off x="4864608" y="2734056"/>
            <a:ext cx="603504" cy="603504"/>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1" name="Image 1" descr="preencoded.png"/>
          <p:cNvPicPr>
            <a:picLocks noChangeAspect="1"/>
          </p:cNvPicPr>
          <p:nvPr/>
        </p:nvPicPr>
        <p:blipFill>
          <a:blip r:embed="rId4"/>
          <a:stretch>
            <a:fillRect/>
          </a:stretch>
        </p:blipFill>
        <p:spPr>
          <a:xfrm>
            <a:off x="5009449" y="2878897"/>
            <a:ext cx="313822" cy="313822"/>
          </a:xfrm>
          <a:prstGeom prst="rect">
            <a:avLst/>
          </a:prstGeom>
        </p:spPr>
      </p:pic>
      <p:sp>
        <p:nvSpPr>
          <p:cNvPr id="12" name="Text 8"/>
          <p:cNvSpPr/>
          <p:nvPr/>
        </p:nvSpPr>
        <p:spPr>
          <a:xfrm>
            <a:off x="4910328" y="3611880"/>
            <a:ext cx="2651760" cy="548640"/>
          </a:xfrm>
          <a:prstGeom prst="rect">
            <a:avLst/>
          </a:prstGeom>
          <a:noFill/>
          <a:ln/>
        </p:spPr>
        <p:txBody>
          <a:bodyPr wrap="square" rtlCol="0" anchor="ctr"/>
          <a:lstStyle/>
          <a:p>
            <a:pPr marL="0" indent="0">
              <a:buNone/>
            </a:pPr>
            <a:r>
              <a:rPr lang="en-US" sz="2100" b="1" dirty="0">
                <a:solidFill>
                  <a:srgbClr val="16181D"/>
                </a:solidFill>
                <a:latin typeface="Arial" pitchFamily="34" charset="0"/>
                <a:ea typeface="Arial" pitchFamily="34" charset="-122"/>
                <a:cs typeface="Arial" pitchFamily="34" charset="-120"/>
              </a:rPr>
              <a:t>It stayed home</a:t>
            </a:r>
            <a:endParaRPr lang="en-US" sz="2100" dirty="0"/>
          </a:p>
        </p:txBody>
      </p:sp>
      <p:sp>
        <p:nvSpPr>
          <p:cNvPr id="13" name="Text 9"/>
          <p:cNvSpPr/>
          <p:nvPr/>
        </p:nvSpPr>
        <p:spPr>
          <a:xfrm>
            <a:off x="4910328" y="4206240"/>
            <a:ext cx="2651760" cy="914400"/>
          </a:xfrm>
          <a:prstGeom prst="rect">
            <a:avLst/>
          </a:prstGeom>
          <a:noFill/>
          <a:ln/>
        </p:spPr>
        <p:txBody>
          <a:bodyPr wrap="square" rtlCol="0" anchor="ctr"/>
          <a:lstStyle/>
          <a:p>
            <a:pPr marL="0" indent="0">
              <a:lnSpc>
                <a:spcPts val="2000"/>
              </a:lnSpc>
              <a:buNone/>
            </a:pPr>
            <a:r>
              <a:rPr lang="en-US" sz="1400" dirty="0">
                <a:solidFill>
                  <a:srgbClr val="666C7A"/>
                </a:solidFill>
                <a:latin typeface="Calibri" pitchFamily="34" charset="0"/>
                <a:ea typeface="Calibri" pitchFamily="34" charset="-122"/>
                <a:cs typeface="Calibri" pitchFamily="34" charset="-120"/>
              </a:rPr>
              <a:t>Every token ran on this laptop. Nothing left the room.</a:t>
            </a:r>
            <a:endParaRPr lang="en-US" sz="1400" dirty="0"/>
          </a:p>
        </p:txBody>
      </p:sp>
      <p:sp>
        <p:nvSpPr>
          <p:cNvPr id="14" name="Shape 10"/>
          <p:cNvSpPr/>
          <p:nvPr/>
        </p:nvSpPr>
        <p:spPr>
          <a:xfrm>
            <a:off x="8247888" y="2377440"/>
            <a:ext cx="3383280" cy="2743200"/>
          </a:xfrm>
          <a:prstGeom prst="roundRect">
            <a:avLst>
              <a:gd name="adj" fmla="val 3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5" name="Shape 11"/>
          <p:cNvSpPr/>
          <p:nvPr/>
        </p:nvSpPr>
        <p:spPr>
          <a:xfrm>
            <a:off x="8567928" y="2734056"/>
            <a:ext cx="603504" cy="60350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16" name="Image 2" descr="preencoded.png"/>
          <p:cNvPicPr>
            <a:picLocks noChangeAspect="1"/>
          </p:cNvPicPr>
          <p:nvPr/>
        </p:nvPicPr>
        <p:blipFill>
          <a:blip r:embed="rId5"/>
          <a:stretch>
            <a:fillRect/>
          </a:stretch>
        </p:blipFill>
        <p:spPr>
          <a:xfrm>
            <a:off x="8712769" y="2878897"/>
            <a:ext cx="313822" cy="313822"/>
          </a:xfrm>
          <a:prstGeom prst="rect">
            <a:avLst/>
          </a:prstGeom>
        </p:spPr>
      </p:pic>
      <p:sp>
        <p:nvSpPr>
          <p:cNvPr id="17" name="Text 12"/>
          <p:cNvSpPr/>
          <p:nvPr/>
        </p:nvSpPr>
        <p:spPr>
          <a:xfrm>
            <a:off x="8613648" y="3611880"/>
            <a:ext cx="2651760" cy="548640"/>
          </a:xfrm>
          <a:prstGeom prst="rect">
            <a:avLst/>
          </a:prstGeom>
          <a:noFill/>
          <a:ln/>
        </p:spPr>
        <p:txBody>
          <a:bodyPr wrap="square" rtlCol="0" anchor="ctr"/>
          <a:lstStyle/>
          <a:p>
            <a:pPr marL="0" indent="0">
              <a:buNone/>
            </a:pPr>
            <a:r>
              <a:rPr lang="en-US" sz="2100" b="1" dirty="0">
                <a:solidFill>
                  <a:srgbClr val="16181D"/>
                </a:solidFill>
                <a:latin typeface="Arial" pitchFamily="34" charset="0"/>
                <a:ea typeface="Arial" pitchFamily="34" charset="-122"/>
                <a:cs typeface="Arial" pitchFamily="34" charset="-120"/>
              </a:rPr>
              <a:t>It was small</a:t>
            </a:r>
            <a:endParaRPr lang="en-US" sz="2100" dirty="0"/>
          </a:p>
        </p:txBody>
      </p:sp>
      <p:sp>
        <p:nvSpPr>
          <p:cNvPr id="18" name="Text 13"/>
          <p:cNvSpPr/>
          <p:nvPr/>
        </p:nvSpPr>
        <p:spPr>
          <a:xfrm>
            <a:off x="8613648" y="4206240"/>
            <a:ext cx="2651760" cy="914400"/>
          </a:xfrm>
          <a:prstGeom prst="rect">
            <a:avLst/>
          </a:prstGeom>
          <a:noFill/>
          <a:ln/>
        </p:spPr>
        <p:txBody>
          <a:bodyPr wrap="square" rtlCol="0" anchor="ctr"/>
          <a:lstStyle/>
          <a:p>
            <a:pPr marL="0" indent="0">
              <a:lnSpc>
                <a:spcPts val="2000"/>
              </a:lnSpc>
              <a:buNone/>
            </a:pPr>
            <a:r>
              <a:rPr lang="en-US" sz="1400" dirty="0">
                <a:solidFill>
                  <a:srgbClr val="666C7A"/>
                </a:solidFill>
                <a:latin typeface="Calibri" pitchFamily="34" charset="0"/>
                <a:ea typeface="Calibri" pitchFamily="34" charset="-122"/>
                <a:cs typeface="Calibri" pitchFamily="34" charset="-120"/>
              </a:rPr>
              <a:t>Roughly a hundred lines of Java. That's the scary part.</a:t>
            </a:r>
            <a:endParaRPr lang="en-US" sz="14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0F9E8E"/>
                </a:solidFill>
                <a:latin typeface="Arial" pitchFamily="34" charset="0"/>
                <a:ea typeface="Arial" pitchFamily="34" charset="-122"/>
                <a:cs typeface="Arial" pitchFamily="34" charset="-120"/>
              </a:rPr>
              <a:t>NO HAND WAVING</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marL="0" indent="0">
              <a:buNone/>
            </a:pPr>
            <a:r>
              <a:rPr lang="en-US" sz="3200" b="1" dirty="0">
                <a:solidFill>
                  <a:srgbClr val="16181D"/>
                </a:solidFill>
                <a:latin typeface="Arial" pitchFamily="34" charset="0"/>
                <a:ea typeface="Arial" pitchFamily="34" charset="-122"/>
                <a:cs typeface="Arial" pitchFamily="34" charset="-120"/>
              </a:rPr>
              <a:t>The whole thing, </a:t>
            </a:r>
            <a:r>
              <a:rPr lang="en-US" sz="3200" b="1" dirty="0">
                <a:solidFill>
                  <a:srgbClr val="4F46E5"/>
                </a:solidFill>
                <a:latin typeface="Arial" pitchFamily="34" charset="0"/>
                <a:ea typeface="Arial" pitchFamily="34" charset="-122"/>
                <a:cs typeface="Arial" pitchFamily="34" charset="-120"/>
              </a:rPr>
              <a:t>measured.</a:t>
            </a:r>
            <a:endParaRPr lang="en-US" sz="3200" dirty="0"/>
          </a:p>
        </p:txBody>
      </p:sp>
      <p:sp>
        <p:nvSpPr>
          <p:cNvPr id="4" name="Text 2"/>
          <p:cNvSpPr/>
          <p:nvPr/>
        </p:nvSpPr>
        <p:spPr>
          <a:xfrm>
            <a:off x="841248" y="1783080"/>
            <a:ext cx="7863840" cy="457200"/>
          </a:xfrm>
          <a:prstGeom prst="rect">
            <a:avLst/>
          </a:prstGeom>
          <a:noFill/>
          <a:ln/>
        </p:spPr>
        <p:txBody>
          <a:bodyPr wrap="square" rtlCol="0" anchor="ctr"/>
          <a:lstStyle/>
          <a:p>
            <a:pPr marL="0" indent="0">
              <a:buNone/>
            </a:pPr>
            <a:r>
              <a:rPr lang="en-US" sz="1500" dirty="0">
                <a:solidFill>
                  <a:srgbClr val="666C7A"/>
                </a:solidFill>
                <a:latin typeface="Calibri" pitchFamily="34" charset="0"/>
                <a:ea typeface="Calibri" pitchFamily="34" charset="-122"/>
                <a:cs typeface="Calibri" pitchFamily="34" charset="-120"/>
              </a:rPr>
              <a:t>Everything on this slide is counted from the repository you can clone tonight, not rounded up for a talk.</a:t>
            </a:r>
            <a:endParaRPr lang="en-US" sz="1500" dirty="0"/>
          </a:p>
        </p:txBody>
      </p:sp>
      <p:sp>
        <p:nvSpPr>
          <p:cNvPr id="5" name="Shape 3"/>
          <p:cNvSpPr/>
          <p:nvPr/>
        </p:nvSpPr>
        <p:spPr>
          <a:xfrm>
            <a:off x="841248" y="2468880"/>
            <a:ext cx="3401568" cy="1481328"/>
          </a:xfrm>
          <a:prstGeom prst="roundRect">
            <a:avLst>
              <a:gd name="adj" fmla="val 617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6" name="Text 4"/>
          <p:cNvSpPr/>
          <p:nvPr/>
        </p:nvSpPr>
        <p:spPr>
          <a:xfrm>
            <a:off x="1161288" y="2670048"/>
            <a:ext cx="2761488" cy="566928"/>
          </a:xfrm>
          <a:prstGeom prst="rect">
            <a:avLst/>
          </a:prstGeom>
          <a:noFill/>
          <a:ln/>
        </p:spPr>
        <p:txBody>
          <a:bodyPr wrap="square" rtlCol="0" anchor="ctr"/>
          <a:lstStyle/>
          <a:p>
            <a:pPr marL="0" indent="0">
              <a:buNone/>
            </a:pPr>
            <a:r>
              <a:rPr lang="en-US" sz="3000" b="1" dirty="0">
                <a:solidFill>
                  <a:srgbClr val="4F46E5"/>
                </a:solidFill>
                <a:latin typeface="Arial" pitchFamily="34" charset="0"/>
                <a:ea typeface="Arial" pitchFamily="34" charset="-122"/>
                <a:cs typeface="Arial" pitchFamily="34" charset="-120"/>
              </a:rPr>
              <a:t>1 212</a:t>
            </a:r>
            <a:endParaRPr lang="en-US" sz="3000" dirty="0"/>
          </a:p>
        </p:txBody>
      </p:sp>
      <p:sp>
        <p:nvSpPr>
          <p:cNvPr id="7" name="Text 5"/>
          <p:cNvSpPr/>
          <p:nvPr/>
        </p:nvSpPr>
        <p:spPr>
          <a:xfrm>
            <a:off x="1161288" y="3218688"/>
            <a:ext cx="2761488" cy="310896"/>
          </a:xfrm>
          <a:prstGeom prst="rect">
            <a:avLst/>
          </a:prstGeom>
          <a:noFill/>
          <a:ln/>
        </p:spPr>
        <p:txBody>
          <a:bodyPr wrap="square" rtlCol="0" anchor="ctr"/>
          <a:lstStyle/>
          <a:p>
            <a:pPr marL="0" indent="0">
              <a:buNone/>
            </a:pPr>
            <a:r>
              <a:rPr lang="en-US" sz="1400" b="1" dirty="0">
                <a:solidFill>
                  <a:srgbClr val="16181D"/>
                </a:solidFill>
                <a:latin typeface="Arial" pitchFamily="34" charset="0"/>
                <a:ea typeface="Arial" pitchFamily="34" charset="-122"/>
                <a:cs typeface="Arial" pitchFamily="34" charset="-120"/>
              </a:rPr>
              <a:t>lines of Java</a:t>
            </a:r>
            <a:endParaRPr lang="en-US" sz="1400" dirty="0"/>
          </a:p>
        </p:txBody>
      </p:sp>
      <p:sp>
        <p:nvSpPr>
          <p:cNvPr id="8" name="Text 6"/>
          <p:cNvSpPr/>
          <p:nvPr/>
        </p:nvSpPr>
        <p:spPr>
          <a:xfrm>
            <a:off x="1161288" y="3511296"/>
            <a:ext cx="2761488" cy="347472"/>
          </a:xfrm>
          <a:prstGeom prst="rect">
            <a:avLst/>
          </a:prstGeom>
          <a:noFill/>
          <a:ln/>
        </p:spPr>
        <p:txBody>
          <a:bodyPr wrap="square" rtlCol="0" anchor="ctr"/>
          <a:lstStyle/>
          <a:p>
            <a:pPr marL="0" indent="0">
              <a:lnSpc>
                <a:spcPts val="1400"/>
              </a:lnSpc>
              <a:buNone/>
            </a:pPr>
            <a:r>
              <a:rPr lang="en-US" sz="1150" dirty="0">
                <a:solidFill>
                  <a:srgbClr val="666C7A"/>
                </a:solidFill>
                <a:latin typeface="Calibri" pitchFamily="34" charset="0"/>
                <a:ea typeface="Calibri" pitchFamily="34" charset="-122"/>
                <a:cs typeface="Calibri" pitchFamily="34" charset="-120"/>
              </a:rPr>
              <a:t>across 8 files</a:t>
            </a:r>
            <a:endParaRPr lang="en-US" sz="1150" dirty="0"/>
          </a:p>
        </p:txBody>
      </p:sp>
      <p:sp>
        <p:nvSpPr>
          <p:cNvPr id="9" name="Shape 7"/>
          <p:cNvSpPr/>
          <p:nvPr/>
        </p:nvSpPr>
        <p:spPr>
          <a:xfrm>
            <a:off x="4498848" y="2468880"/>
            <a:ext cx="3401568" cy="1481328"/>
          </a:xfrm>
          <a:prstGeom prst="roundRect">
            <a:avLst>
              <a:gd name="adj" fmla="val 617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0" name="Text 8"/>
          <p:cNvSpPr/>
          <p:nvPr/>
        </p:nvSpPr>
        <p:spPr>
          <a:xfrm>
            <a:off x="4818888" y="2670048"/>
            <a:ext cx="2761488" cy="566928"/>
          </a:xfrm>
          <a:prstGeom prst="rect">
            <a:avLst/>
          </a:prstGeom>
          <a:noFill/>
          <a:ln/>
        </p:spPr>
        <p:txBody>
          <a:bodyPr wrap="square" rtlCol="0" anchor="ctr"/>
          <a:lstStyle/>
          <a:p>
            <a:pPr marL="0" indent="0">
              <a:buNone/>
            </a:pPr>
            <a:r>
              <a:rPr lang="en-US" sz="3000" b="1" dirty="0">
                <a:solidFill>
                  <a:srgbClr val="7C3AED"/>
                </a:solidFill>
                <a:latin typeface="Arial" pitchFamily="34" charset="0"/>
                <a:ea typeface="Arial" pitchFamily="34" charset="-122"/>
                <a:cs typeface="Arial" pitchFamily="34" charset="-120"/>
              </a:rPr>
              <a:t>7</a:t>
            </a:r>
            <a:endParaRPr lang="en-US" sz="3000" dirty="0"/>
          </a:p>
        </p:txBody>
      </p:sp>
      <p:sp>
        <p:nvSpPr>
          <p:cNvPr id="11" name="Text 9"/>
          <p:cNvSpPr/>
          <p:nvPr/>
        </p:nvSpPr>
        <p:spPr>
          <a:xfrm>
            <a:off x="4818888" y="3218688"/>
            <a:ext cx="2761488" cy="310896"/>
          </a:xfrm>
          <a:prstGeom prst="rect">
            <a:avLst/>
          </a:prstGeom>
          <a:noFill/>
          <a:ln/>
        </p:spPr>
        <p:txBody>
          <a:bodyPr wrap="square" rtlCol="0" anchor="ctr"/>
          <a:lstStyle/>
          <a:p>
            <a:pPr marL="0" indent="0">
              <a:buNone/>
            </a:pPr>
            <a:r>
              <a:rPr lang="en-US" sz="1400" b="1" dirty="0">
                <a:solidFill>
                  <a:srgbClr val="16181D"/>
                </a:solidFill>
                <a:latin typeface="Arial" pitchFamily="34" charset="0"/>
                <a:ea typeface="Arial" pitchFamily="34" charset="-122"/>
                <a:cs typeface="Arial" pitchFamily="34" charset="-120"/>
              </a:rPr>
              <a:t>agents</a:t>
            </a:r>
            <a:endParaRPr lang="en-US" sz="1400" dirty="0"/>
          </a:p>
        </p:txBody>
      </p:sp>
      <p:sp>
        <p:nvSpPr>
          <p:cNvPr id="12" name="Text 10"/>
          <p:cNvSpPr/>
          <p:nvPr/>
        </p:nvSpPr>
        <p:spPr>
          <a:xfrm>
            <a:off x="4818888" y="3511296"/>
            <a:ext cx="2761488" cy="347472"/>
          </a:xfrm>
          <a:prstGeom prst="rect">
            <a:avLst/>
          </a:prstGeom>
          <a:noFill/>
          <a:ln/>
        </p:spPr>
        <p:txBody>
          <a:bodyPr wrap="square" rtlCol="0" anchor="ctr"/>
          <a:lstStyle/>
          <a:p>
            <a:pPr marL="0" indent="0">
              <a:lnSpc>
                <a:spcPts val="1400"/>
              </a:lnSpc>
              <a:buNone/>
            </a:pPr>
            <a:r>
              <a:rPr lang="en-US" sz="1150" dirty="0">
                <a:solidFill>
                  <a:srgbClr val="666C7A"/>
                </a:solidFill>
                <a:latin typeface="Calibri" pitchFamily="34" charset="0"/>
                <a:ea typeface="Calibri" pitchFamily="34" charset="-122"/>
                <a:cs typeface="Calibri" pitchFamily="34" charset="-120"/>
              </a:rPr>
              <a:t>one model, seven system prompts</a:t>
            </a:r>
            <a:endParaRPr lang="en-US" sz="1150" dirty="0"/>
          </a:p>
        </p:txBody>
      </p:sp>
      <p:sp>
        <p:nvSpPr>
          <p:cNvPr id="13" name="Shape 11"/>
          <p:cNvSpPr/>
          <p:nvPr/>
        </p:nvSpPr>
        <p:spPr>
          <a:xfrm>
            <a:off x="8156448" y="2468880"/>
            <a:ext cx="3401568" cy="1481328"/>
          </a:xfrm>
          <a:prstGeom prst="roundRect">
            <a:avLst>
              <a:gd name="adj" fmla="val 617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4" name="Text 12"/>
          <p:cNvSpPr/>
          <p:nvPr/>
        </p:nvSpPr>
        <p:spPr>
          <a:xfrm>
            <a:off x="8476488" y="2670048"/>
            <a:ext cx="2761488" cy="566928"/>
          </a:xfrm>
          <a:prstGeom prst="rect">
            <a:avLst/>
          </a:prstGeom>
          <a:noFill/>
          <a:ln/>
        </p:spPr>
        <p:txBody>
          <a:bodyPr wrap="square" rtlCol="0" anchor="ctr"/>
          <a:lstStyle/>
          <a:p>
            <a:pPr marL="0" indent="0">
              <a:buNone/>
            </a:pPr>
            <a:r>
              <a:rPr lang="en-US" sz="3000" b="1" dirty="0">
                <a:solidFill>
                  <a:srgbClr val="0284C7"/>
                </a:solidFill>
                <a:latin typeface="Arial" pitchFamily="34" charset="0"/>
                <a:ea typeface="Arial" pitchFamily="34" charset="-122"/>
                <a:cs typeface="Arial" pitchFamily="34" charset="-120"/>
              </a:rPr>
              <a:t>9</a:t>
            </a:r>
            <a:endParaRPr lang="en-US" sz="3000" dirty="0"/>
          </a:p>
        </p:txBody>
      </p:sp>
      <p:sp>
        <p:nvSpPr>
          <p:cNvPr id="15" name="Text 13"/>
          <p:cNvSpPr/>
          <p:nvPr/>
        </p:nvSpPr>
        <p:spPr>
          <a:xfrm>
            <a:off x="8476488" y="3218688"/>
            <a:ext cx="2761488" cy="310896"/>
          </a:xfrm>
          <a:prstGeom prst="rect">
            <a:avLst/>
          </a:prstGeom>
          <a:noFill/>
          <a:ln/>
        </p:spPr>
        <p:txBody>
          <a:bodyPr wrap="square" rtlCol="0" anchor="ctr"/>
          <a:lstStyle/>
          <a:p>
            <a:pPr marL="0" indent="0">
              <a:buNone/>
            </a:pPr>
            <a:r>
              <a:rPr lang="en-US" sz="1400" b="1" dirty="0">
                <a:solidFill>
                  <a:srgbClr val="16181D"/>
                </a:solidFill>
                <a:latin typeface="Arial" pitchFamily="34" charset="0"/>
                <a:ea typeface="Arial" pitchFamily="34" charset="-122"/>
                <a:cs typeface="Arial" pitchFamily="34" charset="-120"/>
              </a:rPr>
              <a:t>HTTP endpoints</a:t>
            </a:r>
            <a:endParaRPr lang="en-US" sz="1400" dirty="0"/>
          </a:p>
        </p:txBody>
      </p:sp>
      <p:sp>
        <p:nvSpPr>
          <p:cNvPr id="16" name="Text 14"/>
          <p:cNvSpPr/>
          <p:nvPr/>
        </p:nvSpPr>
        <p:spPr>
          <a:xfrm>
            <a:off x="8476488" y="3511296"/>
            <a:ext cx="2761488" cy="347472"/>
          </a:xfrm>
          <a:prstGeom prst="rect">
            <a:avLst/>
          </a:prstGeom>
          <a:noFill/>
          <a:ln/>
        </p:spPr>
        <p:txBody>
          <a:bodyPr wrap="square" rtlCol="0" anchor="ctr"/>
          <a:lstStyle/>
          <a:p>
            <a:pPr marL="0" indent="0">
              <a:lnSpc>
                <a:spcPts val="1400"/>
              </a:lnSpc>
              <a:buNone/>
            </a:pPr>
            <a:r>
              <a:rPr lang="en-US" sz="1150" dirty="0">
                <a:solidFill>
                  <a:srgbClr val="666C7A"/>
                </a:solidFill>
                <a:latin typeface="Calibri" pitchFamily="34" charset="0"/>
                <a:ea typeface="Calibri" pitchFamily="34" charset="-122"/>
                <a:cs typeface="Calibri" pitchFamily="34" charset="-120"/>
              </a:rPr>
              <a:t>submit, run, hide, queue, gallery, page…</a:t>
            </a:r>
            <a:endParaRPr lang="en-US" sz="1150" dirty="0"/>
          </a:p>
        </p:txBody>
      </p:sp>
      <p:sp>
        <p:nvSpPr>
          <p:cNvPr id="17" name="Shape 15"/>
          <p:cNvSpPr/>
          <p:nvPr/>
        </p:nvSpPr>
        <p:spPr>
          <a:xfrm>
            <a:off x="841248" y="4187952"/>
            <a:ext cx="3401568" cy="1481328"/>
          </a:xfrm>
          <a:prstGeom prst="roundRect">
            <a:avLst>
              <a:gd name="adj" fmla="val 617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8" name="Text 16"/>
          <p:cNvSpPr/>
          <p:nvPr/>
        </p:nvSpPr>
        <p:spPr>
          <a:xfrm>
            <a:off x="1161288" y="4389120"/>
            <a:ext cx="2761488" cy="566928"/>
          </a:xfrm>
          <a:prstGeom prst="rect">
            <a:avLst/>
          </a:prstGeom>
          <a:noFill/>
          <a:ln/>
        </p:spPr>
        <p:txBody>
          <a:bodyPr wrap="square" rtlCol="0" anchor="ctr"/>
          <a:lstStyle/>
          <a:p>
            <a:pPr marL="0" indent="0">
              <a:buNone/>
            </a:pPr>
            <a:r>
              <a:rPr lang="en-US" sz="3000" b="1" dirty="0">
                <a:solidFill>
                  <a:srgbClr val="0F9E8E"/>
                </a:solidFill>
                <a:latin typeface="Arial" pitchFamily="34" charset="0"/>
                <a:ea typeface="Arial" pitchFamily="34" charset="-122"/>
                <a:cs typeface="Arial" pitchFamily="34" charset="-120"/>
              </a:rPr>
              <a:t>10</a:t>
            </a:r>
            <a:endParaRPr lang="en-US" sz="3000" dirty="0"/>
          </a:p>
        </p:txBody>
      </p:sp>
      <p:sp>
        <p:nvSpPr>
          <p:cNvPr id="19" name="Text 17"/>
          <p:cNvSpPr/>
          <p:nvPr/>
        </p:nvSpPr>
        <p:spPr>
          <a:xfrm>
            <a:off x="1161288" y="4937760"/>
            <a:ext cx="2761488" cy="310896"/>
          </a:xfrm>
          <a:prstGeom prst="rect">
            <a:avLst/>
          </a:prstGeom>
          <a:noFill/>
          <a:ln/>
        </p:spPr>
        <p:txBody>
          <a:bodyPr wrap="square" rtlCol="0" anchor="ctr"/>
          <a:lstStyle/>
          <a:p>
            <a:pPr marL="0" indent="0">
              <a:buNone/>
            </a:pPr>
            <a:r>
              <a:rPr lang="en-US" sz="1400" b="1" dirty="0">
                <a:solidFill>
                  <a:srgbClr val="16181D"/>
                </a:solidFill>
                <a:latin typeface="Arial" pitchFamily="34" charset="0"/>
                <a:ea typeface="Arial" pitchFamily="34" charset="-122"/>
                <a:cs typeface="Arial" pitchFamily="34" charset="-120"/>
              </a:rPr>
              <a:t>event types</a:t>
            </a:r>
            <a:endParaRPr lang="en-US" sz="1400" dirty="0"/>
          </a:p>
        </p:txBody>
      </p:sp>
      <p:sp>
        <p:nvSpPr>
          <p:cNvPr id="20" name="Text 18"/>
          <p:cNvSpPr/>
          <p:nvPr/>
        </p:nvSpPr>
        <p:spPr>
          <a:xfrm>
            <a:off x="1161288" y="5230368"/>
            <a:ext cx="2761488" cy="347472"/>
          </a:xfrm>
          <a:prstGeom prst="rect">
            <a:avLst/>
          </a:prstGeom>
          <a:noFill/>
          <a:ln/>
        </p:spPr>
        <p:txBody>
          <a:bodyPr wrap="square" rtlCol="0" anchor="ctr"/>
          <a:lstStyle/>
          <a:p>
            <a:pPr marL="0" indent="0">
              <a:lnSpc>
                <a:spcPts val="1400"/>
              </a:lnSpc>
              <a:buNone/>
            </a:pPr>
            <a:r>
              <a:rPr lang="en-US" sz="1150" dirty="0">
                <a:solidFill>
                  <a:srgbClr val="666C7A"/>
                </a:solidFill>
                <a:latin typeface="Calibri" pitchFamily="34" charset="0"/>
                <a:ea typeface="Calibri" pitchFamily="34" charset="-122"/>
                <a:cs typeface="Calibri" pitchFamily="34" charset="-120"/>
              </a:rPr>
              <a:t>streamed to the projector over SSE</a:t>
            </a:r>
            <a:endParaRPr lang="en-US" sz="1150" dirty="0"/>
          </a:p>
        </p:txBody>
      </p:sp>
      <p:sp>
        <p:nvSpPr>
          <p:cNvPr id="21" name="Shape 19"/>
          <p:cNvSpPr/>
          <p:nvPr/>
        </p:nvSpPr>
        <p:spPr>
          <a:xfrm>
            <a:off x="4498848" y="4187952"/>
            <a:ext cx="3401568" cy="1481328"/>
          </a:xfrm>
          <a:prstGeom prst="roundRect">
            <a:avLst>
              <a:gd name="adj" fmla="val 617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2" name="Text 20"/>
          <p:cNvSpPr/>
          <p:nvPr/>
        </p:nvSpPr>
        <p:spPr>
          <a:xfrm>
            <a:off x="4818888" y="4389120"/>
            <a:ext cx="2761488" cy="566928"/>
          </a:xfrm>
          <a:prstGeom prst="rect">
            <a:avLst/>
          </a:prstGeom>
          <a:noFill/>
          <a:ln/>
        </p:spPr>
        <p:txBody>
          <a:bodyPr wrap="square" rtlCol="0" anchor="ctr"/>
          <a:lstStyle/>
          <a:p>
            <a:pPr marL="0" indent="0">
              <a:buNone/>
            </a:pPr>
            <a:r>
              <a:rPr lang="en-US" sz="3000" b="1" dirty="0">
                <a:solidFill>
                  <a:srgbClr val="D97706"/>
                </a:solidFill>
                <a:latin typeface="Arial" pitchFamily="34" charset="0"/>
                <a:ea typeface="Arial" pitchFamily="34" charset="-122"/>
                <a:cs typeface="Arial" pitchFamily="34" charset="-120"/>
              </a:rPr>
              <a:t>8</a:t>
            </a:r>
            <a:endParaRPr lang="en-US" sz="3000" dirty="0"/>
          </a:p>
        </p:txBody>
      </p:sp>
      <p:sp>
        <p:nvSpPr>
          <p:cNvPr id="23" name="Text 21"/>
          <p:cNvSpPr/>
          <p:nvPr/>
        </p:nvSpPr>
        <p:spPr>
          <a:xfrm>
            <a:off x="4818888" y="4937760"/>
            <a:ext cx="2761488" cy="310896"/>
          </a:xfrm>
          <a:prstGeom prst="rect">
            <a:avLst/>
          </a:prstGeom>
          <a:noFill/>
          <a:ln/>
        </p:spPr>
        <p:txBody>
          <a:bodyPr wrap="square" rtlCol="0" anchor="ctr"/>
          <a:lstStyle/>
          <a:p>
            <a:pPr marL="0" indent="0">
              <a:buNone/>
            </a:pPr>
            <a:r>
              <a:rPr lang="en-US" sz="1400" b="1" dirty="0">
                <a:solidFill>
                  <a:srgbClr val="16181D"/>
                </a:solidFill>
                <a:latin typeface="Arial" pitchFamily="34" charset="0"/>
                <a:ea typeface="Arial" pitchFamily="34" charset="-122"/>
                <a:cs typeface="Arial" pitchFamily="34" charset="-120"/>
              </a:rPr>
              <a:t>dependencies</a:t>
            </a:r>
            <a:endParaRPr lang="en-US" sz="1400" dirty="0"/>
          </a:p>
        </p:txBody>
      </p:sp>
      <p:sp>
        <p:nvSpPr>
          <p:cNvPr id="24" name="Text 22"/>
          <p:cNvSpPr/>
          <p:nvPr/>
        </p:nvSpPr>
        <p:spPr>
          <a:xfrm>
            <a:off x="4818888" y="5230368"/>
            <a:ext cx="2761488" cy="347472"/>
          </a:xfrm>
          <a:prstGeom prst="rect">
            <a:avLst/>
          </a:prstGeom>
          <a:noFill/>
          <a:ln/>
        </p:spPr>
        <p:txBody>
          <a:bodyPr wrap="square" rtlCol="0" anchor="ctr"/>
          <a:lstStyle/>
          <a:p>
            <a:pPr marL="0" indent="0">
              <a:lnSpc>
                <a:spcPts val="1400"/>
              </a:lnSpc>
              <a:buNone/>
            </a:pPr>
            <a:r>
              <a:rPr lang="en-US" sz="1150" dirty="0">
                <a:solidFill>
                  <a:srgbClr val="666C7A"/>
                </a:solidFill>
                <a:latin typeface="Calibri" pitchFamily="34" charset="0"/>
                <a:ea typeface="Calibri" pitchFamily="34" charset="-122"/>
                <a:cs typeface="Calibri" pitchFamily="34" charset="-120"/>
              </a:rPr>
              <a:t>Spring Boot, LangChain4j, Ollama, ZXing</a:t>
            </a:r>
            <a:endParaRPr lang="en-US" sz="1150" dirty="0"/>
          </a:p>
        </p:txBody>
      </p:sp>
      <p:sp>
        <p:nvSpPr>
          <p:cNvPr id="25" name="Shape 23"/>
          <p:cNvSpPr/>
          <p:nvPr/>
        </p:nvSpPr>
        <p:spPr>
          <a:xfrm>
            <a:off x="8156448" y="4187952"/>
            <a:ext cx="3401568" cy="1481328"/>
          </a:xfrm>
          <a:prstGeom prst="roundRect">
            <a:avLst>
              <a:gd name="adj" fmla="val 617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6" name="Text 24"/>
          <p:cNvSpPr/>
          <p:nvPr/>
        </p:nvSpPr>
        <p:spPr>
          <a:xfrm>
            <a:off x="8476488" y="4389120"/>
            <a:ext cx="2761488" cy="566928"/>
          </a:xfrm>
          <a:prstGeom prst="rect">
            <a:avLst/>
          </a:prstGeom>
          <a:noFill/>
          <a:ln/>
        </p:spPr>
        <p:txBody>
          <a:bodyPr wrap="square" rtlCol="0" anchor="ctr"/>
          <a:lstStyle/>
          <a:p>
            <a:pPr marL="0" indent="0">
              <a:buNone/>
            </a:pPr>
            <a:r>
              <a:rPr lang="en-US" sz="3000" b="1" dirty="0">
                <a:solidFill>
                  <a:srgbClr val="E11D48"/>
                </a:solidFill>
                <a:latin typeface="Arial" pitchFamily="34" charset="0"/>
                <a:ea typeface="Arial" pitchFamily="34" charset="-122"/>
                <a:cs typeface="Arial" pitchFamily="34" charset="-120"/>
              </a:rPr>
              <a:t>0</a:t>
            </a:r>
            <a:endParaRPr lang="en-US" sz="3000" dirty="0"/>
          </a:p>
        </p:txBody>
      </p:sp>
      <p:sp>
        <p:nvSpPr>
          <p:cNvPr id="27" name="Text 25"/>
          <p:cNvSpPr/>
          <p:nvPr/>
        </p:nvSpPr>
        <p:spPr>
          <a:xfrm>
            <a:off x="8476488" y="4937760"/>
            <a:ext cx="2761488" cy="310896"/>
          </a:xfrm>
          <a:prstGeom prst="rect">
            <a:avLst/>
          </a:prstGeom>
          <a:noFill/>
          <a:ln/>
        </p:spPr>
        <p:txBody>
          <a:bodyPr wrap="square" rtlCol="0" anchor="ctr"/>
          <a:lstStyle/>
          <a:p>
            <a:pPr marL="0" indent="0">
              <a:buNone/>
            </a:pPr>
            <a:r>
              <a:rPr lang="en-US" sz="1400" b="1" dirty="0">
                <a:solidFill>
                  <a:srgbClr val="16181D"/>
                </a:solidFill>
                <a:latin typeface="Arial" pitchFamily="34" charset="0"/>
                <a:ea typeface="Arial" pitchFamily="34" charset="-122"/>
                <a:cs typeface="Arial" pitchFamily="34" charset="-120"/>
              </a:rPr>
              <a:t>cloud calls</a:t>
            </a:r>
            <a:endParaRPr lang="en-US" sz="1400" dirty="0"/>
          </a:p>
        </p:txBody>
      </p:sp>
      <p:sp>
        <p:nvSpPr>
          <p:cNvPr id="28" name="Text 26"/>
          <p:cNvSpPr/>
          <p:nvPr/>
        </p:nvSpPr>
        <p:spPr>
          <a:xfrm>
            <a:off x="8476488" y="5230368"/>
            <a:ext cx="2761488" cy="347472"/>
          </a:xfrm>
          <a:prstGeom prst="rect">
            <a:avLst/>
          </a:prstGeom>
          <a:noFill/>
          <a:ln/>
        </p:spPr>
        <p:txBody>
          <a:bodyPr wrap="square" rtlCol="0" anchor="ctr"/>
          <a:lstStyle/>
          <a:p>
            <a:pPr marL="0" indent="0">
              <a:lnSpc>
                <a:spcPts val="1400"/>
              </a:lnSpc>
              <a:buNone/>
            </a:pPr>
            <a:r>
              <a:rPr lang="en-US" sz="1150" dirty="0">
                <a:solidFill>
                  <a:srgbClr val="666C7A"/>
                </a:solidFill>
                <a:latin typeface="Calibri" pitchFamily="34" charset="0"/>
                <a:ea typeface="Calibri" pitchFamily="34" charset="-122"/>
                <a:cs typeface="Calibri" pitchFamily="34" charset="-120"/>
              </a:rPr>
              <a:t>nothing left the laptop, all evening</a:t>
            </a:r>
            <a:endParaRPr lang="en-US" sz="1150" dirty="0"/>
          </a:p>
        </p:txBody>
      </p:sp>
      <p:sp>
        <p:nvSpPr>
          <p:cNvPr id="29" name="Text 27"/>
          <p:cNvSpPr/>
          <p:nvPr/>
        </p:nvSpPr>
        <p:spPr>
          <a:xfrm>
            <a:off x="841248" y="5943600"/>
            <a:ext cx="10509199" cy="548640"/>
          </a:xfrm>
          <a:prstGeom prst="rect">
            <a:avLst/>
          </a:prstGeom>
          <a:noFill/>
          <a:ln/>
        </p:spPr>
        <p:txBody>
          <a:bodyPr wrap="square" rtlCol="0" anchor="ctr"/>
          <a:lstStyle/>
          <a:p>
            <a:pPr marL="0" indent="0" algn="ctr">
              <a:buNone/>
            </a:pPr>
            <a:r>
              <a:rPr lang="en-US" sz="1500" dirty="0">
                <a:solidFill>
                  <a:srgbClr val="666C7A"/>
                </a:solidFill>
                <a:latin typeface="Calibri" pitchFamily="34" charset="0"/>
                <a:ea typeface="Calibri" pitchFamily="34" charset="-122"/>
                <a:cs typeface="Calibri" pitchFamily="34" charset="-120"/>
              </a:rPr>
              <a:t>A landing page comes out as </a:t>
            </a:r>
            <a:r>
              <a:rPr lang="en-US" sz="1500" b="1" dirty="0">
                <a:solidFill>
                  <a:srgbClr val="4F46E5"/>
                </a:solidFill>
                <a:latin typeface="Calibri" pitchFamily="34" charset="0"/>
                <a:ea typeface="Calibri" pitchFamily="34" charset="-122"/>
                <a:cs typeface="Calibri" pitchFamily="34" charset="-120"/>
              </a:rPr>
              <a:t>one file</a:t>
            </a:r>
            <a:r>
              <a:rPr lang="en-US" sz="1500" dirty="0">
                <a:solidFill>
                  <a:srgbClr val="666C7A"/>
                </a:solidFill>
                <a:latin typeface="Calibri" pitchFamily="34" charset="0"/>
                <a:ea typeface="Calibri" pitchFamily="34" charset="-122"/>
                <a:cs typeface="Calibri" pitchFamily="34" charset="-120"/>
              </a:rPr>
              <a:t>: about 24 KB of markup, plus the photograph embedded in it. No framework, no build step, no network.</a:t>
            </a:r>
            <a:endParaRPr lang="en-US" sz="15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7C3AED"/>
                </a:solidFill>
                <a:latin typeface="Arial" pitchFamily="34" charset="0"/>
                <a:ea typeface="Arial" pitchFamily="34" charset="-122"/>
                <a:cs typeface="Arial" pitchFamily="34" charset="-120"/>
              </a:rPr>
              <a:t>WHAT YOU ACTUALLY WATCHED</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marL="0" indent="0">
              <a:buNone/>
            </a:pPr>
            <a:r>
              <a:rPr lang="en-US" sz="3000" b="1" dirty="0">
                <a:solidFill>
                  <a:srgbClr val="16181D"/>
                </a:solidFill>
                <a:latin typeface="Arial" pitchFamily="34" charset="0"/>
                <a:ea typeface="Arial" pitchFamily="34" charset="-122"/>
                <a:cs typeface="Arial" pitchFamily="34" charset="-120"/>
              </a:rPr>
              <a:t>The model was the easy part. </a:t>
            </a:r>
            <a:r>
              <a:rPr lang="en-US" sz="3000" b="1" dirty="0">
                <a:solidFill>
                  <a:srgbClr val="4F46E5"/>
                </a:solidFill>
                <a:latin typeface="Arial" pitchFamily="34" charset="0"/>
                <a:ea typeface="Arial" pitchFamily="34" charset="-122"/>
                <a:cs typeface="Arial" pitchFamily="34" charset="-120"/>
              </a:rPr>
              <a:t>This is the work.</a:t>
            </a:r>
            <a:endParaRPr lang="en-US" sz="3000" dirty="0"/>
          </a:p>
        </p:txBody>
      </p:sp>
      <p:sp>
        <p:nvSpPr>
          <p:cNvPr id="4" name="Text 2"/>
          <p:cNvSpPr/>
          <p:nvPr/>
        </p:nvSpPr>
        <p:spPr>
          <a:xfrm>
            <a:off x="841248" y="1783080"/>
            <a:ext cx="7863840" cy="548640"/>
          </a:xfrm>
          <a:prstGeom prst="rect">
            <a:avLst/>
          </a:prstGeom>
          <a:noFill/>
          <a:ln/>
        </p:spPr>
        <p:txBody>
          <a:bodyPr wrap="square" rtlCol="0" anchor="ctr"/>
          <a:lstStyle/>
          <a:p>
            <a:pPr marL="0" indent="0">
              <a:buNone/>
            </a:pPr>
            <a:r>
              <a:rPr lang="en-US" sz="1550" dirty="0">
                <a:solidFill>
                  <a:srgbClr val="666C7A"/>
                </a:solidFill>
                <a:latin typeface="Calibri" pitchFamily="34" charset="0"/>
                <a:ea typeface="Calibri" pitchFamily="34" charset="-122"/>
                <a:cs typeface="Calibri" pitchFamily="34" charset="-120"/>
              </a:rPr>
              <a:t>Swap Qwen for a bigger model and almost nothing here changes. The harness is the part you build, own and get paged about.</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6" name="Shape 4"/>
          <p:cNvSpPr/>
          <p:nvPr/>
        </p:nvSpPr>
        <p:spPr>
          <a:xfrm>
            <a:off x="1143000" y="2798064"/>
            <a:ext cx="493776" cy="493776"/>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Parallelism</a:t>
            </a:r>
            <a:endParaRPr lang="en-US" sz="1550" dirty="0"/>
          </a:p>
        </p:txBody>
      </p:sp>
      <p:sp>
        <p:nvSpPr>
          <p:cNvPr id="9" name="Text 6"/>
          <p:cNvSpPr/>
          <p:nvPr/>
        </p:nvSpPr>
        <p:spPr>
          <a:xfrm>
            <a:off x="1161288" y="3429000"/>
            <a:ext cx="2761488" cy="73152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Three agents start together. The one that finishes first assists, it does not idle.</a:t>
            </a:r>
            <a:endParaRPr lang="en-US" sz="120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1" name="Shape 8"/>
          <p:cNvSpPr/>
          <p:nvPr/>
        </p:nvSpPr>
        <p:spPr>
          <a:xfrm>
            <a:off x="4800600" y="2798064"/>
            <a:ext cx="493776" cy="493776"/>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Feedback loops</a:t>
            </a:r>
            <a:endParaRPr lang="en-US" sz="1550" dirty="0"/>
          </a:p>
        </p:txBody>
      </p:sp>
      <p:sp>
        <p:nvSpPr>
          <p:cNvPr id="14" name="Text 10"/>
          <p:cNvSpPr/>
          <p:nvPr/>
        </p:nvSpPr>
        <p:spPr>
          <a:xfrm>
            <a:off x="4818888" y="3429000"/>
            <a:ext cx="2761488" cy="73152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The Reviewer and the Skeptic send work backwards, and the copy is rewritten.</a:t>
            </a:r>
            <a:endParaRPr lang="en-US" sz="120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6" name="Shape 12"/>
          <p:cNvSpPr/>
          <p:nvPr/>
        </p:nvSpPr>
        <p:spPr>
          <a:xfrm>
            <a:off x="8458200" y="2798064"/>
            <a:ext cx="493776" cy="493776"/>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17" name="Image 2" descr="preencoded.png"/>
          <p:cNvPicPr>
            <a:picLocks noChangeAspect="1"/>
          </p:cNvPicPr>
          <p:nvPr/>
        </p:nvPicPr>
        <p:blipFill>
          <a:blip r:embed="rId5"/>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Fallbacks</a:t>
            </a:r>
            <a:endParaRPr lang="en-US" sz="1550" dirty="0"/>
          </a:p>
        </p:txBody>
      </p:sp>
      <p:sp>
        <p:nvSpPr>
          <p:cNvPr id="19" name="Text 14"/>
          <p:cNvSpPr/>
          <p:nvPr/>
        </p:nvSpPr>
        <p:spPr>
          <a:xfrm>
            <a:off x="8476488" y="3429000"/>
            <a:ext cx="2761488" cy="73152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Every agent has a house answer. Kill Ollama mid-talk and the page still builds.</a:t>
            </a:r>
            <a:endParaRPr lang="en-US" sz="120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1" name="Shape 16"/>
          <p:cNvSpPr/>
          <p:nvPr/>
        </p:nvSpPr>
        <p:spPr>
          <a:xfrm>
            <a:off x="1143000" y="4818888"/>
            <a:ext cx="493776" cy="493776"/>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22" name="Image 3" descr="preencoded.png"/>
          <p:cNvPicPr>
            <a:picLocks noChangeAspect="1"/>
          </p:cNvPicPr>
          <p:nvPr/>
        </p:nvPicPr>
        <p:blipFill>
          <a:blip r:embed="rId6"/>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Human in the loop</a:t>
            </a:r>
            <a:endParaRPr lang="en-US" sz="1550" dirty="0"/>
          </a:p>
        </p:txBody>
      </p:sp>
      <p:sp>
        <p:nvSpPr>
          <p:cNvPr id="24" name="Text 18"/>
          <p:cNvSpPr/>
          <p:nvPr/>
        </p:nvSpPr>
        <p:spPr>
          <a:xfrm>
            <a:off x="1161288" y="5449824"/>
            <a:ext cx="2761488" cy="73152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Nothing reaches the projector until I press Run. I can Hide anything first.</a:t>
            </a:r>
            <a:endParaRPr lang="en-US" sz="120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6" name="Shape 20"/>
          <p:cNvSpPr/>
          <p:nvPr/>
        </p:nvSpPr>
        <p:spPr>
          <a:xfrm>
            <a:off x="4800600" y="4818888"/>
            <a:ext cx="493776" cy="493776"/>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7" name="Image 4" descr="preencoded.png"/>
          <p:cNvPicPr>
            <a:picLocks noChangeAspect="1"/>
          </p:cNvPicPr>
          <p:nvPr/>
        </p:nvPicPr>
        <p:blipFill>
          <a:blip r:embed="rId7"/>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Limits</a:t>
            </a:r>
            <a:endParaRPr lang="en-US" sz="1550" dirty="0"/>
          </a:p>
        </p:txBody>
      </p:sp>
      <p:sp>
        <p:nvSpPr>
          <p:cNvPr id="29" name="Text 22"/>
          <p:cNvSpPr/>
          <p:nvPr/>
        </p:nvSpPr>
        <p:spPr>
          <a:xfrm>
            <a:off x="4818888" y="5449824"/>
            <a:ext cx="2761488" cy="73152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Rate limits, a queue cap, dedup and a key on the panel. A room of devs will test all four.</a:t>
            </a:r>
            <a:endParaRPr lang="en-US" sz="120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31" name="Shape 24"/>
          <p:cNvSpPr/>
          <p:nvPr/>
        </p:nvSpPr>
        <p:spPr>
          <a:xfrm>
            <a:off x="8458200" y="4818888"/>
            <a:ext cx="493776" cy="493776"/>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32" name="Image 5" descr="preencoded.png"/>
          <p:cNvPicPr>
            <a:picLocks noChangeAspect="1"/>
          </p:cNvPicPr>
          <p:nvPr/>
        </p:nvPicPr>
        <p:blipFill>
          <a:blip r:embed="rId8"/>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marL="0" indent="0">
              <a:buNone/>
            </a:pPr>
            <a:r>
              <a:rPr lang="en-US" sz="1550" b="1" dirty="0">
                <a:solidFill>
                  <a:srgbClr val="16181D"/>
                </a:solidFill>
                <a:latin typeface="Arial" pitchFamily="34" charset="0"/>
                <a:ea typeface="Arial" pitchFamily="34" charset="-122"/>
                <a:cs typeface="Arial" pitchFamily="34" charset="-120"/>
              </a:rPr>
              <a:t>Background work</a:t>
            </a:r>
            <a:endParaRPr lang="en-US" sz="1550" dirty="0"/>
          </a:p>
        </p:txBody>
      </p:sp>
      <p:sp>
        <p:nvSpPr>
          <p:cNvPr id="34" name="Text 26"/>
          <p:cNvSpPr/>
          <p:nvPr/>
        </p:nvSpPr>
        <p:spPr>
          <a:xfrm>
            <a:off x="8476488" y="5449824"/>
            <a:ext cx="2761488" cy="73152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The queue kept building while I talked. Scheduling is orchestration too.</a:t>
            </a:r>
            <a:endParaRPr lang="en-US" sz="1200" dirty="0"/>
          </a:p>
        </p:txBody>
      </p:sp>
      <p:sp>
        <p:nvSpPr>
          <p:cNvPr id="35" name="Text 27"/>
          <p:cNvSpPr/>
          <p:nvPr/>
        </p:nvSpPr>
        <p:spPr>
          <a:xfrm>
            <a:off x="1828800" y="6263640"/>
            <a:ext cx="8534095" cy="457200"/>
          </a:xfrm>
          <a:prstGeom prst="rect">
            <a:avLst/>
          </a:prstGeom>
          <a:noFill/>
          <a:ln/>
        </p:spPr>
        <p:txBody>
          <a:bodyPr wrap="square" rtlCol="0" anchor="ctr"/>
          <a:lstStyle/>
          <a:p>
            <a:pPr marL="0" indent="0" algn="ctr">
              <a:buNone/>
            </a:pPr>
            <a:r>
              <a:rPr lang="en-US" sz="1550" dirty="0">
                <a:solidFill>
                  <a:srgbClr val="666C7A"/>
                </a:solidFill>
                <a:latin typeface="Calibri" pitchFamily="34" charset="0"/>
                <a:ea typeface="Calibri" pitchFamily="34" charset="-122"/>
                <a:cs typeface="Calibri" pitchFamily="34" charset="-120"/>
              </a:rPr>
              <a:t>None of that is prompting. </a:t>
            </a:r>
            <a:r>
              <a:rPr lang="en-US" sz="1550" b="1" dirty="0">
                <a:solidFill>
                  <a:srgbClr val="4F46E5"/>
                </a:solidFill>
                <a:latin typeface="Calibri" pitchFamily="34" charset="0"/>
                <a:ea typeface="Calibri" pitchFamily="34" charset="-122"/>
                <a:cs typeface="Calibri" pitchFamily="34" charset="-120"/>
              </a:rPr>
              <a:t>All of it is engineering you already know how to do.</a:t>
            </a:r>
            <a:endParaRPr lang="en-US" sz="15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E11D48"/>
                </a:solidFill>
                <a:latin typeface="Arial" pitchFamily="34" charset="0"/>
                <a:ea typeface="Arial" pitchFamily="34" charset="-122"/>
                <a:cs typeface="Arial" pitchFamily="34" charset="-120"/>
              </a:rPr>
              <a:t>LEVER FOUR, THE HONEST VERSION</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marL="0" indent="0">
              <a:buNone/>
            </a:pPr>
            <a:r>
              <a:rPr lang="en-US" sz="3000" b="1" dirty="0">
                <a:solidFill>
                  <a:srgbClr val="16181D"/>
                </a:solidFill>
                <a:latin typeface="Arial" pitchFamily="34" charset="0"/>
                <a:ea typeface="Arial" pitchFamily="34" charset="-122"/>
                <a:cs typeface="Arial" pitchFamily="34" charset="-120"/>
              </a:rPr>
              <a:t>Every page passed. </a:t>
            </a:r>
            <a:r>
              <a:rPr lang="en-US" sz="3000" b="1" dirty="0">
                <a:solidFill>
                  <a:srgbClr val="E11D48"/>
                </a:solidFill>
                <a:latin typeface="Arial" pitchFamily="34" charset="0"/>
                <a:ea typeface="Arial" pitchFamily="34" charset="-122"/>
                <a:cs typeface="Arial" pitchFamily="34" charset="-120"/>
              </a:rPr>
              <a:t>Together they looked machine-made.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marL="0" indent="0">
              <a:buNone/>
            </a:pPr>
            <a:r>
              <a:rPr lang="en-US" sz="1550" dirty="0">
                <a:solidFill>
                  <a:srgbClr val="666C7A"/>
                </a:solidFill>
                <a:latin typeface="Calibri" pitchFamily="34" charset="0"/>
                <a:ea typeface="Calibri" pitchFamily="34" charset="-122"/>
                <a:cs typeface="Calibri" pitchFamily="34" charset="-120"/>
              </a:rPr>
              <a:t>A guard that reads one page at a time cannot see the thing a room notices first. Six ideas, six clean pages, and three of them opened with the same four words.</a:t>
            </a:r>
            <a:endParaRPr lang="en-US" sz="1550" dirty="0"/>
          </a:p>
        </p:txBody>
      </p:sp>
      <p:sp>
        <p:nvSpPr>
          <p:cNvPr id="5" name="Shape 3"/>
          <p:cNvSpPr/>
          <p:nvPr/>
        </p:nvSpPr>
        <p:spPr>
          <a:xfrm>
            <a:off x="841248" y="251460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6" name="Shape 4"/>
          <p:cNvSpPr/>
          <p:nvPr/>
        </p:nvSpPr>
        <p:spPr>
          <a:xfrm>
            <a:off x="1143000" y="2798064"/>
            <a:ext cx="493776" cy="493776"/>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1261506" y="2916570"/>
            <a:ext cx="256764" cy="256764"/>
          </a:xfrm>
          <a:prstGeom prst="rect">
            <a:avLst/>
          </a:prstGeom>
        </p:spPr>
      </p:pic>
      <p:sp>
        <p:nvSpPr>
          <p:cNvPr id="8" name="Text 5"/>
          <p:cNvSpPr/>
          <p:nvPr/>
        </p:nvSpPr>
        <p:spPr>
          <a:xfrm>
            <a:off x="1773936" y="2807208"/>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Absence is not quality</a:t>
            </a:r>
            <a:endParaRPr lang="en-US" sz="1500" dirty="0"/>
          </a:p>
        </p:txBody>
      </p:sp>
      <p:sp>
        <p:nvSpPr>
          <p:cNvPr id="9" name="Text 6"/>
          <p:cNvSpPr/>
          <p:nvPr/>
        </p:nvSpPr>
        <p:spPr>
          <a:xfrm>
            <a:off x="1161288" y="3429000"/>
            <a:ext cx="2761488" cy="777240"/>
          </a:xfrm>
          <a:prstGeom prst="rect">
            <a:avLst/>
          </a:prstGeom>
          <a:noFill/>
          <a:ln/>
        </p:spPr>
        <p:txBody>
          <a:bodyPr wrap="square" rtlCol="0" anchor="ctr"/>
          <a:lstStyle/>
          <a:p>
            <a:pPr marL="0" indent="0">
              <a:lnSpc>
                <a:spcPts val="1500"/>
              </a:lnSpc>
              <a:buNone/>
            </a:pPr>
            <a:r>
              <a:rPr lang="en-US" sz="1150" dirty="0">
                <a:solidFill>
                  <a:srgbClr val="666C7A"/>
                </a:solidFill>
                <a:latin typeface="Calibri" pitchFamily="34" charset="0"/>
                <a:ea typeface="Calibri" pitchFamily="34" charset="-122"/>
                <a:cs typeface="Calibri" pitchFamily="34" charset="-120"/>
              </a:rPr>
              <a:t>Eight rules checked that tells were missing. Nothing required anything to be good, so the output was clean and forgettable.</a:t>
            </a:r>
            <a:endParaRPr lang="en-US" sz="1150" dirty="0"/>
          </a:p>
        </p:txBody>
      </p:sp>
      <p:sp>
        <p:nvSpPr>
          <p:cNvPr id="10" name="Shape 7"/>
          <p:cNvSpPr/>
          <p:nvPr/>
        </p:nvSpPr>
        <p:spPr>
          <a:xfrm>
            <a:off x="4498848" y="251460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1" name="Shape 8"/>
          <p:cNvSpPr/>
          <p:nvPr/>
        </p:nvSpPr>
        <p:spPr>
          <a:xfrm>
            <a:off x="4800600" y="2798064"/>
            <a:ext cx="493776" cy="493776"/>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19106" y="2916570"/>
            <a:ext cx="256764" cy="256764"/>
          </a:xfrm>
          <a:prstGeom prst="rect">
            <a:avLst/>
          </a:prstGeom>
        </p:spPr>
      </p:pic>
      <p:sp>
        <p:nvSpPr>
          <p:cNvPr id="13" name="Text 9"/>
          <p:cNvSpPr/>
          <p:nvPr/>
        </p:nvSpPr>
        <p:spPr>
          <a:xfrm>
            <a:off x="5431536" y="2807208"/>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Colour, computed</a:t>
            </a:r>
            <a:endParaRPr lang="en-US" sz="1500" dirty="0"/>
          </a:p>
        </p:txBody>
      </p:sp>
      <p:sp>
        <p:nvSpPr>
          <p:cNvPr id="14" name="Text 10"/>
          <p:cNvSpPr/>
          <p:nvPr/>
        </p:nvSpPr>
        <p:spPr>
          <a:xfrm>
            <a:off x="4818888" y="3429000"/>
            <a:ext cx="2761488" cy="777240"/>
          </a:xfrm>
          <a:prstGeom prst="rect">
            <a:avLst/>
          </a:prstGeom>
          <a:noFill/>
          <a:ln/>
        </p:spPr>
        <p:txBody>
          <a:bodyPr wrap="square" rtlCol="0" anchor="ctr"/>
          <a:lstStyle/>
          <a:p>
            <a:pPr marL="0" indent="0">
              <a:lnSpc>
                <a:spcPts val="1500"/>
              </a:lnSpc>
              <a:buNone/>
            </a:pPr>
            <a:r>
              <a:rPr lang="en-US" sz="1150" dirty="0">
                <a:solidFill>
                  <a:srgbClr val="666C7A"/>
                </a:solidFill>
                <a:latin typeface="Calibri" pitchFamily="34" charset="0"/>
                <a:ea typeface="Calibri" pitchFamily="34" charset="-122"/>
                <a:cs typeface="Calibri" pitchFamily="34" charset="-120"/>
              </a:rPr>
              <a:t>Nine of thirty-six palette values sat in the blue-violet band. Now the hue, the WCAG contrast and the accent separation are arithmetic.</a:t>
            </a:r>
            <a:endParaRPr lang="en-US" sz="1150" dirty="0"/>
          </a:p>
        </p:txBody>
      </p:sp>
      <p:sp>
        <p:nvSpPr>
          <p:cNvPr id="15" name="Shape 11"/>
          <p:cNvSpPr/>
          <p:nvPr/>
        </p:nvSpPr>
        <p:spPr>
          <a:xfrm>
            <a:off x="8156448" y="2514600"/>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6" name="Shape 12"/>
          <p:cNvSpPr/>
          <p:nvPr/>
        </p:nvSpPr>
        <p:spPr>
          <a:xfrm>
            <a:off x="8458200" y="2798064"/>
            <a:ext cx="493776" cy="493776"/>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17" name="Image 2" descr="preencoded.png"/>
          <p:cNvPicPr>
            <a:picLocks noChangeAspect="1"/>
          </p:cNvPicPr>
          <p:nvPr/>
        </p:nvPicPr>
        <p:blipFill>
          <a:blip r:embed="rId5"/>
          <a:stretch>
            <a:fillRect/>
          </a:stretch>
        </p:blipFill>
        <p:spPr>
          <a:xfrm>
            <a:off x="8576706" y="2916570"/>
            <a:ext cx="256764" cy="256764"/>
          </a:xfrm>
          <a:prstGeom prst="rect">
            <a:avLst/>
          </a:prstGeom>
        </p:spPr>
      </p:pic>
      <p:sp>
        <p:nvSpPr>
          <p:cNvPr id="18" name="Text 13"/>
          <p:cNvSpPr/>
          <p:nvPr/>
        </p:nvSpPr>
        <p:spPr>
          <a:xfrm>
            <a:off x="9089136" y="2807208"/>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One template is the tell</a:t>
            </a:r>
            <a:endParaRPr lang="en-US" sz="1500" dirty="0"/>
          </a:p>
        </p:txBody>
      </p:sp>
      <p:sp>
        <p:nvSpPr>
          <p:cNvPr id="19" name="Text 14"/>
          <p:cNvSpPr/>
          <p:nvPr/>
        </p:nvSpPr>
        <p:spPr>
          <a:xfrm>
            <a:off x="8476488" y="3429000"/>
            <a:ext cx="2761488" cy="777240"/>
          </a:xfrm>
          <a:prstGeom prst="rect">
            <a:avLst/>
          </a:prstGeom>
          <a:noFill/>
          <a:ln/>
        </p:spPr>
        <p:txBody>
          <a:bodyPr wrap="square" rtlCol="0" anchor="ctr"/>
          <a:lstStyle/>
          <a:p>
            <a:pPr marL="0" indent="0">
              <a:lnSpc>
                <a:spcPts val="1500"/>
              </a:lnSpc>
              <a:buNone/>
            </a:pPr>
            <a:r>
              <a:rPr lang="en-US" sz="1150" dirty="0">
                <a:solidFill>
                  <a:srgbClr val="666C7A"/>
                </a:solidFill>
                <a:latin typeface="Calibri" pitchFamily="34" charset="0"/>
                <a:ea typeface="Calibri" pitchFamily="34" charset="-122"/>
                <a:cs typeface="Calibri" pitchFamily="34" charset="-120"/>
              </a:rPr>
              <a:t>Three hero compositions, eight palette families, five artworks. The layout is a decision per idea, not a constant.</a:t>
            </a:r>
            <a:endParaRPr lang="en-US" sz="1150" dirty="0"/>
          </a:p>
        </p:txBody>
      </p:sp>
      <p:sp>
        <p:nvSpPr>
          <p:cNvPr id="20" name="Shape 15"/>
          <p:cNvSpPr/>
          <p:nvPr/>
        </p:nvSpPr>
        <p:spPr>
          <a:xfrm>
            <a:off x="841248" y="4535424"/>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1" name="Shape 16"/>
          <p:cNvSpPr/>
          <p:nvPr/>
        </p:nvSpPr>
        <p:spPr>
          <a:xfrm>
            <a:off x="1143000" y="4818888"/>
            <a:ext cx="493776" cy="493776"/>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22" name="Image 3" descr="preencoded.png"/>
          <p:cNvPicPr>
            <a:picLocks noChangeAspect="1"/>
          </p:cNvPicPr>
          <p:nvPr/>
        </p:nvPicPr>
        <p:blipFill>
          <a:blip r:embed="rId6"/>
          <a:stretch>
            <a:fillRect/>
          </a:stretch>
        </p:blipFill>
        <p:spPr>
          <a:xfrm>
            <a:off x="1261506" y="4937394"/>
            <a:ext cx="256764" cy="256764"/>
          </a:xfrm>
          <a:prstGeom prst="rect">
            <a:avLst/>
          </a:prstGeom>
        </p:spPr>
      </p:pic>
      <p:sp>
        <p:nvSpPr>
          <p:cNvPr id="23" name="Text 17"/>
          <p:cNvSpPr/>
          <p:nvPr/>
        </p:nvSpPr>
        <p:spPr>
          <a:xfrm>
            <a:off x="1773936" y="4828032"/>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Remember the slot</a:t>
            </a:r>
            <a:endParaRPr lang="en-US" sz="1500" dirty="0"/>
          </a:p>
        </p:txBody>
      </p:sp>
      <p:sp>
        <p:nvSpPr>
          <p:cNvPr id="24" name="Text 18"/>
          <p:cNvSpPr/>
          <p:nvPr/>
        </p:nvSpPr>
        <p:spPr>
          <a:xfrm>
            <a:off x="1161288" y="5449824"/>
            <a:ext cx="2761488" cy="777240"/>
          </a:xfrm>
          <a:prstGeom prst="rect">
            <a:avLst/>
          </a:prstGeom>
          <a:noFill/>
          <a:ln/>
        </p:spPr>
        <p:txBody>
          <a:bodyPr wrap="square" rtlCol="0" anchor="ctr"/>
          <a:lstStyle/>
          <a:p>
            <a:pPr marL="0" indent="0">
              <a:lnSpc>
                <a:spcPts val="1500"/>
              </a:lnSpc>
              <a:buNone/>
            </a:pPr>
            <a:r>
              <a:rPr lang="en-US" sz="1150" dirty="0">
                <a:solidFill>
                  <a:srgbClr val="666C7A"/>
                </a:solidFill>
                <a:latin typeface="Calibri" pitchFamily="34" charset="0"/>
                <a:ea typeface="Calibri" pitchFamily="34" charset="-122"/>
                <a:cs typeface="Calibri" pitchFamily="34" charset="-120"/>
              </a:rPr>
              <a:t>The ledger first remembered finished sentences, so two pages that shared a template looked like two values. A room sees the template.</a:t>
            </a:r>
            <a:endParaRPr lang="en-US" sz="1150" dirty="0"/>
          </a:p>
        </p:txBody>
      </p:sp>
      <p:sp>
        <p:nvSpPr>
          <p:cNvPr id="25" name="Shape 19"/>
          <p:cNvSpPr/>
          <p:nvPr/>
        </p:nvSpPr>
        <p:spPr>
          <a:xfrm>
            <a:off x="4498848" y="4535424"/>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6" name="Shape 20"/>
          <p:cNvSpPr/>
          <p:nvPr/>
        </p:nvSpPr>
        <p:spPr>
          <a:xfrm>
            <a:off x="4800600" y="4818888"/>
            <a:ext cx="493776" cy="493776"/>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27" name="Image 4" descr="preencoded.png"/>
          <p:cNvPicPr>
            <a:picLocks noChangeAspect="1"/>
          </p:cNvPicPr>
          <p:nvPr/>
        </p:nvPicPr>
        <p:blipFill>
          <a:blip r:embed="rId7"/>
          <a:stretch>
            <a:fillRect/>
          </a:stretch>
        </p:blipFill>
        <p:spPr>
          <a:xfrm>
            <a:off x="4919106" y="4937394"/>
            <a:ext cx="256764" cy="256764"/>
          </a:xfrm>
          <a:prstGeom prst="rect">
            <a:avLst/>
          </a:prstGeom>
        </p:spPr>
      </p:pic>
      <p:sp>
        <p:nvSpPr>
          <p:cNvPr id="28" name="Text 21"/>
          <p:cNvSpPr/>
          <p:nvPr/>
        </p:nvSpPr>
        <p:spPr>
          <a:xfrm>
            <a:off x="5431536" y="4828032"/>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Record the model's pick too</a:t>
            </a:r>
            <a:endParaRPr lang="en-US" sz="1500" dirty="0"/>
          </a:p>
        </p:txBody>
      </p:sp>
      <p:sp>
        <p:nvSpPr>
          <p:cNvPr id="29" name="Text 22"/>
          <p:cNvSpPr/>
          <p:nvPr/>
        </p:nvSpPr>
        <p:spPr>
          <a:xfrm>
            <a:off x="4818888" y="5449824"/>
            <a:ext cx="2761488" cy="777240"/>
          </a:xfrm>
          <a:prstGeom prst="rect">
            <a:avLst/>
          </a:prstGeom>
          <a:noFill/>
          <a:ln/>
        </p:spPr>
        <p:txBody>
          <a:bodyPr wrap="square" rtlCol="0" anchor="ctr"/>
          <a:lstStyle/>
          <a:p>
            <a:pPr marL="0" indent="0">
              <a:lnSpc>
                <a:spcPts val="1500"/>
              </a:lnSpc>
              <a:buNone/>
            </a:pPr>
            <a:r>
              <a:rPr lang="en-US" sz="1150" dirty="0">
                <a:solidFill>
                  <a:srgbClr val="666C7A"/>
                </a:solidFill>
                <a:latin typeface="Calibri" pitchFamily="34" charset="0"/>
                <a:ea typeface="Calibri" pitchFamily="34" charset="-122"/>
                <a:cs typeface="Calibri" pitchFamily="34" charset="-120"/>
              </a:rPr>
              <a:t>It only wrote down its own choices. The Illustrator answered 'waves' five times running and nothing stopped it.</a:t>
            </a:r>
            <a:endParaRPr lang="en-US" sz="1150" dirty="0"/>
          </a:p>
        </p:txBody>
      </p:sp>
      <p:sp>
        <p:nvSpPr>
          <p:cNvPr id="30" name="Shape 23"/>
          <p:cNvSpPr/>
          <p:nvPr/>
        </p:nvSpPr>
        <p:spPr>
          <a:xfrm>
            <a:off x="8156448" y="4535424"/>
            <a:ext cx="3401568" cy="1783080"/>
          </a:xfrm>
          <a:prstGeom prst="roundRect">
            <a:avLst>
              <a:gd name="adj" fmla="val 512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31" name="Shape 24"/>
          <p:cNvSpPr/>
          <p:nvPr/>
        </p:nvSpPr>
        <p:spPr>
          <a:xfrm>
            <a:off x="8458200" y="4818888"/>
            <a:ext cx="493776" cy="493776"/>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32" name="Image 5" descr="preencoded.png"/>
          <p:cNvPicPr>
            <a:picLocks noChangeAspect="1"/>
          </p:cNvPicPr>
          <p:nvPr/>
        </p:nvPicPr>
        <p:blipFill>
          <a:blip r:embed="rId8"/>
          <a:stretch>
            <a:fillRect/>
          </a:stretch>
        </p:blipFill>
        <p:spPr>
          <a:xfrm>
            <a:off x="8576706" y="4937394"/>
            <a:ext cx="256764" cy="256764"/>
          </a:xfrm>
          <a:prstGeom prst="rect">
            <a:avLst/>
          </a:prstGeom>
        </p:spPr>
      </p:pic>
      <p:sp>
        <p:nvSpPr>
          <p:cNvPr id="33" name="Text 25"/>
          <p:cNvSpPr/>
          <p:nvPr/>
        </p:nvSpPr>
        <p:spPr>
          <a:xfrm>
            <a:off x="9089136" y="4828032"/>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The schema is a lever</a:t>
            </a:r>
            <a:endParaRPr lang="en-US" sz="1500" dirty="0"/>
          </a:p>
        </p:txBody>
      </p:sp>
      <p:sp>
        <p:nvSpPr>
          <p:cNvPr id="34" name="Text 26"/>
          <p:cNvSpPr/>
          <p:nvPr/>
        </p:nvSpPr>
        <p:spPr>
          <a:xfrm>
            <a:off x="8476488" y="5449824"/>
            <a:ext cx="2761488" cy="777240"/>
          </a:xfrm>
          <a:prstGeom prst="rect">
            <a:avLst/>
          </a:prstGeom>
          <a:noFill/>
          <a:ln/>
        </p:spPr>
        <p:txBody>
          <a:bodyPr wrap="square" rtlCol="0" anchor="ctr"/>
          <a:lstStyle/>
          <a:p>
            <a:pPr marL="0" indent="0">
              <a:lnSpc>
                <a:spcPts val="1500"/>
              </a:lnSpc>
              <a:buNone/>
            </a:pPr>
            <a:r>
              <a:rPr lang="en-US" sz="1150" dirty="0">
                <a:solidFill>
                  <a:srgbClr val="666C7A"/>
                </a:solidFill>
                <a:latin typeface="Calibri" pitchFamily="34" charset="0"/>
                <a:ea typeface="Calibri" pitchFamily="34" charset="-122"/>
                <a:cs typeface="Calibri" pitchFamily="34" charset="-120"/>
              </a:rPr>
              <a:t>A nested object failed every call on a 3b model. Five flat labelled lines land nearly every time. Same model, same prompt.</a:t>
            </a:r>
            <a:endParaRPr lang="en-US" sz="1150" dirty="0"/>
          </a:p>
        </p:txBody>
      </p:sp>
      <p:sp>
        <p:nvSpPr>
          <p:cNvPr id="35" name="Text 27"/>
          <p:cNvSpPr/>
          <p:nvPr/>
        </p:nvSpPr>
        <p:spPr>
          <a:xfrm>
            <a:off x="1828800" y="6263640"/>
            <a:ext cx="8534095" cy="457200"/>
          </a:xfrm>
          <a:prstGeom prst="rect">
            <a:avLst/>
          </a:prstGeom>
          <a:noFill/>
          <a:ln/>
        </p:spPr>
        <p:txBody>
          <a:bodyPr wrap="square" rtlCol="0" anchor="ctr"/>
          <a:lstStyle/>
          <a:p>
            <a:pPr marL="0" indent="0" algn="ctr">
              <a:buNone/>
            </a:pPr>
            <a:r>
              <a:rPr lang="en-US" sz="1550" dirty="0">
                <a:solidFill>
                  <a:srgbClr val="666C7A"/>
                </a:solidFill>
                <a:latin typeface="Calibri" pitchFamily="34" charset="0"/>
                <a:ea typeface="Calibri" pitchFamily="34" charset="-122"/>
                <a:cs typeface="Calibri" pitchFamily="34" charset="-120"/>
              </a:rPr>
              <a:t>The guard reads one page. </a:t>
            </a:r>
            <a:r>
              <a:rPr lang="en-US" sz="1550" b="1" dirty="0">
                <a:solidFill>
                  <a:srgbClr val="E11D48"/>
                </a:solidFill>
                <a:latin typeface="Calibri" pitchFamily="34" charset="0"/>
                <a:ea typeface="Calibri" pitchFamily="34" charset="-122"/>
                <a:cs typeface="Calibri" pitchFamily="34" charset="-120"/>
              </a:rPr>
              <a:t>The harness has to read the room.</a:t>
            </a:r>
            <a:endParaRPr lang="en-US" sz="15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0F9E8E"/>
                </a:solidFill>
                <a:latin typeface="Arial" pitchFamily="34" charset="0"/>
                <a:ea typeface="Arial" pitchFamily="34" charset="-122"/>
                <a:cs typeface="Arial" pitchFamily="34" charset="-120"/>
              </a:rPr>
              <a:t>WHAT THE PAGE ACTUALLY SHOWS</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marL="0" indent="0">
              <a:buNone/>
            </a:pPr>
            <a:r>
              <a:rPr lang="en-US" sz="3000" b="1" dirty="0">
                <a:solidFill>
                  <a:srgbClr val="16181D"/>
                </a:solidFill>
                <a:latin typeface="Arial" pitchFamily="34" charset="0"/>
                <a:ea typeface="Arial" pitchFamily="34" charset="-122"/>
                <a:cs typeface="Arial" pitchFamily="34" charset="-120"/>
              </a:rPr>
              <a:t>Abstract art is decoration. </a:t>
            </a:r>
            <a:r>
              <a:rPr lang="en-US" sz="3000" b="1" dirty="0">
                <a:solidFill>
                  <a:srgbClr val="0F9E8E"/>
                </a:solidFill>
                <a:latin typeface="Arial" pitchFamily="34" charset="0"/>
                <a:ea typeface="Arial" pitchFamily="34" charset="-122"/>
                <a:cs typeface="Arial" pitchFamily="34" charset="-120"/>
              </a:rPr>
              <a:t>Decoration is slop.</a:t>
            </a:r>
            <a:endParaRPr lang="en-US" sz="3000" dirty="0"/>
          </a:p>
        </p:txBody>
      </p:sp>
      <p:sp>
        <p:nvSpPr>
          <p:cNvPr id="4" name="Text 2"/>
          <p:cNvSpPr/>
          <p:nvPr/>
        </p:nvSpPr>
        <p:spPr>
          <a:xfrm>
            <a:off x="841248" y="1783080"/>
            <a:ext cx="8595360" cy="548640"/>
          </a:xfrm>
          <a:prstGeom prst="rect">
            <a:avLst/>
          </a:prstGeom>
          <a:noFill/>
          <a:ln/>
        </p:spPr>
        <p:txBody>
          <a:bodyPr wrap="square" rtlCol="0" anchor="ctr"/>
          <a:lstStyle/>
          <a:p>
            <a:pPr marL="0" indent="0">
              <a:buNone/>
            </a:pPr>
            <a:r>
              <a:rPr lang="en-US" sz="1550" dirty="0">
                <a:solidFill>
                  <a:srgbClr val="666C7A"/>
                </a:solidFill>
                <a:latin typeface="Calibri" pitchFamily="34" charset="0"/>
                <a:ea typeface="Calibri" pitchFamily="34" charset="-122"/>
                <a:cs typeface="Calibri" pitchFamily="34" charset="-120"/>
              </a:rPr>
              <a:t>The Illustrator used to pick rings, waves or a field of dots. Every page got a pattern. A real landing page shows the product, so now it draws one: nine interfaces, in SVG, offline.</a:t>
            </a:r>
            <a:endParaRPr lang="en-US" sz="1550" dirty="0"/>
          </a:p>
        </p:txBody>
      </p:sp>
      <p:sp>
        <p:nvSpPr>
          <p:cNvPr id="5" name="Shape 3"/>
          <p:cNvSpPr/>
          <p:nvPr/>
        </p:nvSpPr>
        <p:spPr>
          <a:xfrm>
            <a:off x="841248" y="2487168"/>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6" name="Shape 4"/>
          <p:cNvSpPr/>
          <p:nvPr/>
        </p:nvSpPr>
        <p:spPr>
          <a:xfrm>
            <a:off x="1133856" y="2679192"/>
            <a:ext cx="420624" cy="42062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1234806" y="2780142"/>
            <a:ext cx="218724" cy="218724"/>
          </a:xfrm>
          <a:prstGeom prst="rect">
            <a:avLst/>
          </a:prstGeom>
        </p:spPr>
      </p:pic>
      <p:sp>
        <p:nvSpPr>
          <p:cNvPr id="8" name="Text 5"/>
          <p:cNvSpPr/>
          <p:nvPr/>
        </p:nvSpPr>
        <p:spPr>
          <a:xfrm>
            <a:off x="1709928" y="2670048"/>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calendar</a:t>
            </a:r>
            <a:endParaRPr lang="en-US" sz="1300" dirty="0"/>
          </a:p>
        </p:txBody>
      </p:sp>
      <p:sp>
        <p:nvSpPr>
          <p:cNvPr id="9" name="Text 6"/>
          <p:cNvSpPr/>
          <p:nvPr/>
        </p:nvSpPr>
        <p:spPr>
          <a:xfrm>
            <a:off x="1709928" y="3017520"/>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slots taken, one booked</a:t>
            </a:r>
            <a:endParaRPr lang="en-US" sz="1150" dirty="0"/>
          </a:p>
        </p:txBody>
      </p:sp>
      <p:sp>
        <p:nvSpPr>
          <p:cNvPr id="10" name="Shape 7"/>
          <p:cNvSpPr/>
          <p:nvPr/>
        </p:nvSpPr>
        <p:spPr>
          <a:xfrm>
            <a:off x="4498848" y="2487168"/>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1" name="Shape 8"/>
          <p:cNvSpPr/>
          <p:nvPr/>
        </p:nvSpPr>
        <p:spPr>
          <a:xfrm>
            <a:off x="4791456" y="2679192"/>
            <a:ext cx="420624" cy="420624"/>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892406" y="2780142"/>
            <a:ext cx="218724" cy="218724"/>
          </a:xfrm>
          <a:prstGeom prst="rect">
            <a:avLst/>
          </a:prstGeom>
        </p:spPr>
      </p:pic>
      <p:sp>
        <p:nvSpPr>
          <p:cNvPr id="13" name="Text 9"/>
          <p:cNvSpPr/>
          <p:nvPr/>
        </p:nvSpPr>
        <p:spPr>
          <a:xfrm>
            <a:off x="5367528" y="2670048"/>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timer</a:t>
            </a:r>
            <a:endParaRPr lang="en-US" sz="1300" dirty="0"/>
          </a:p>
        </p:txBody>
      </p:sp>
      <p:sp>
        <p:nvSpPr>
          <p:cNvPr id="14" name="Text 10"/>
          <p:cNvSpPr/>
          <p:nvPr/>
        </p:nvSpPr>
        <p:spPr>
          <a:xfrm>
            <a:off x="5367528" y="3017520"/>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a dial and the time left</a:t>
            </a:r>
            <a:endParaRPr lang="en-US" sz="1150" dirty="0"/>
          </a:p>
        </p:txBody>
      </p:sp>
      <p:sp>
        <p:nvSpPr>
          <p:cNvPr id="15" name="Shape 11"/>
          <p:cNvSpPr/>
          <p:nvPr/>
        </p:nvSpPr>
        <p:spPr>
          <a:xfrm>
            <a:off x="8156448" y="2487168"/>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6" name="Shape 12"/>
          <p:cNvSpPr/>
          <p:nvPr/>
        </p:nvSpPr>
        <p:spPr>
          <a:xfrm>
            <a:off x="8449056" y="2679192"/>
            <a:ext cx="420624" cy="420624"/>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7" name="Image 2" descr="preencoded.png"/>
          <p:cNvPicPr>
            <a:picLocks noChangeAspect="1"/>
          </p:cNvPicPr>
          <p:nvPr/>
        </p:nvPicPr>
        <p:blipFill>
          <a:blip r:embed="rId5"/>
          <a:stretch>
            <a:fillRect/>
          </a:stretch>
        </p:blipFill>
        <p:spPr>
          <a:xfrm>
            <a:off x="8550006" y="2780142"/>
            <a:ext cx="218724" cy="218724"/>
          </a:xfrm>
          <a:prstGeom prst="rect">
            <a:avLst/>
          </a:prstGeom>
        </p:spPr>
      </p:pic>
      <p:sp>
        <p:nvSpPr>
          <p:cNvPr id="18" name="Text 13"/>
          <p:cNvSpPr/>
          <p:nvPr/>
        </p:nvSpPr>
        <p:spPr>
          <a:xfrm>
            <a:off x="9025128" y="2670048"/>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ledger</a:t>
            </a:r>
            <a:endParaRPr lang="en-US" sz="1300" dirty="0"/>
          </a:p>
        </p:txBody>
      </p:sp>
      <p:sp>
        <p:nvSpPr>
          <p:cNvPr id="19" name="Text 14"/>
          <p:cNvSpPr/>
          <p:nvPr/>
        </p:nvSpPr>
        <p:spPr>
          <a:xfrm>
            <a:off x="9025128" y="3017520"/>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contributions and a total</a:t>
            </a:r>
            <a:endParaRPr lang="en-US" sz="1150" dirty="0"/>
          </a:p>
        </p:txBody>
      </p:sp>
      <p:sp>
        <p:nvSpPr>
          <p:cNvPr id="20" name="Shape 15"/>
          <p:cNvSpPr/>
          <p:nvPr/>
        </p:nvSpPr>
        <p:spPr>
          <a:xfrm>
            <a:off x="841248" y="3785616"/>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1" name="Shape 16"/>
          <p:cNvSpPr/>
          <p:nvPr/>
        </p:nvSpPr>
        <p:spPr>
          <a:xfrm>
            <a:off x="1133856" y="3977640"/>
            <a:ext cx="420624" cy="420624"/>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22" name="Image 3" descr="preencoded.png"/>
          <p:cNvPicPr>
            <a:picLocks noChangeAspect="1"/>
          </p:cNvPicPr>
          <p:nvPr/>
        </p:nvPicPr>
        <p:blipFill>
          <a:blip r:embed="rId6"/>
          <a:stretch>
            <a:fillRect/>
          </a:stretch>
        </p:blipFill>
        <p:spPr>
          <a:xfrm>
            <a:off x="1234806" y="4078590"/>
            <a:ext cx="218724" cy="218724"/>
          </a:xfrm>
          <a:prstGeom prst="rect">
            <a:avLst/>
          </a:prstGeom>
        </p:spPr>
      </p:pic>
      <p:sp>
        <p:nvSpPr>
          <p:cNvPr id="23" name="Text 17"/>
          <p:cNvSpPr/>
          <p:nvPr/>
        </p:nvSpPr>
        <p:spPr>
          <a:xfrm>
            <a:off x="1709928" y="3968496"/>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chart</a:t>
            </a:r>
            <a:endParaRPr lang="en-US" sz="1300" dirty="0"/>
          </a:p>
        </p:txBody>
      </p:sp>
      <p:sp>
        <p:nvSpPr>
          <p:cNvPr id="24" name="Text 18"/>
          <p:cNvSpPr/>
          <p:nvPr/>
        </p:nvSpPr>
        <p:spPr>
          <a:xfrm>
            <a:off x="1709928" y="4315968"/>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a threshold, and the breach</a:t>
            </a:r>
            <a:endParaRPr lang="en-US" sz="1150" dirty="0"/>
          </a:p>
        </p:txBody>
      </p:sp>
      <p:sp>
        <p:nvSpPr>
          <p:cNvPr id="25" name="Shape 19"/>
          <p:cNvSpPr/>
          <p:nvPr/>
        </p:nvSpPr>
        <p:spPr>
          <a:xfrm>
            <a:off x="4498848" y="3785616"/>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6" name="Shape 20"/>
          <p:cNvSpPr/>
          <p:nvPr/>
        </p:nvSpPr>
        <p:spPr>
          <a:xfrm>
            <a:off x="4791456" y="3977640"/>
            <a:ext cx="420624" cy="420624"/>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27" name="Image 4" descr="preencoded.png"/>
          <p:cNvPicPr>
            <a:picLocks noChangeAspect="1"/>
          </p:cNvPicPr>
          <p:nvPr/>
        </p:nvPicPr>
        <p:blipFill>
          <a:blip r:embed="rId7"/>
          <a:stretch>
            <a:fillRect/>
          </a:stretch>
        </p:blipFill>
        <p:spPr>
          <a:xfrm>
            <a:off x="4892406" y="4078590"/>
            <a:ext cx="218724" cy="218724"/>
          </a:xfrm>
          <a:prstGeom prst="rect">
            <a:avLst/>
          </a:prstGeom>
        </p:spPr>
      </p:pic>
      <p:sp>
        <p:nvSpPr>
          <p:cNvPr id="28" name="Text 21"/>
          <p:cNvSpPr/>
          <p:nvPr/>
        </p:nvSpPr>
        <p:spPr>
          <a:xfrm>
            <a:off x="5367528" y="3968496"/>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checklist</a:t>
            </a:r>
            <a:endParaRPr lang="en-US" sz="1300" dirty="0"/>
          </a:p>
        </p:txBody>
      </p:sp>
      <p:sp>
        <p:nvSpPr>
          <p:cNvPr id="29" name="Text 22"/>
          <p:cNvSpPr/>
          <p:nvPr/>
        </p:nvSpPr>
        <p:spPr>
          <a:xfrm>
            <a:off x="5367528" y="4315968"/>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ticked off, and whose turn</a:t>
            </a:r>
            <a:endParaRPr lang="en-US" sz="1150" dirty="0"/>
          </a:p>
        </p:txBody>
      </p:sp>
      <p:sp>
        <p:nvSpPr>
          <p:cNvPr id="30" name="Shape 23"/>
          <p:cNvSpPr/>
          <p:nvPr/>
        </p:nvSpPr>
        <p:spPr>
          <a:xfrm>
            <a:off x="8156448" y="3785616"/>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31" name="Shape 24"/>
          <p:cNvSpPr/>
          <p:nvPr/>
        </p:nvSpPr>
        <p:spPr>
          <a:xfrm>
            <a:off x="8449056" y="3977640"/>
            <a:ext cx="420624" cy="420624"/>
          </a:xfrm>
          <a:prstGeom prst="ellipse">
            <a:avLst/>
          </a:prstGeom>
          <a:solidFill>
            <a:srgbClr val="0284C7"/>
          </a:solidFill>
          <a:ln/>
          <a:effectLst>
            <a:outerShdw blurRad="139700" dist="38100" dir="5400000" algn="bl" rotWithShape="0">
              <a:srgbClr val="9AA6BC">
                <a:alpha val="28000"/>
              </a:srgbClr>
            </a:outerShdw>
          </a:effectLst>
        </p:spPr>
        <p:txBody>
          <a:bodyPr/>
          <a:lstStyle/>
          <a:p>
            <a:endParaRPr lang="en-US"/>
          </a:p>
        </p:txBody>
      </p:sp>
      <p:pic>
        <p:nvPicPr>
          <p:cNvPr id="32" name="Image 5" descr="preencoded.png"/>
          <p:cNvPicPr>
            <a:picLocks noChangeAspect="1"/>
          </p:cNvPicPr>
          <p:nvPr/>
        </p:nvPicPr>
        <p:blipFill>
          <a:blip r:embed="rId8"/>
          <a:stretch>
            <a:fillRect/>
          </a:stretch>
        </p:blipFill>
        <p:spPr>
          <a:xfrm>
            <a:off x="8550006" y="4078590"/>
            <a:ext cx="218724" cy="218724"/>
          </a:xfrm>
          <a:prstGeom prst="rect">
            <a:avLst/>
          </a:prstGeom>
        </p:spPr>
      </p:pic>
      <p:sp>
        <p:nvSpPr>
          <p:cNvPr id="33" name="Text 25"/>
          <p:cNvSpPr/>
          <p:nvPr/>
        </p:nvSpPr>
        <p:spPr>
          <a:xfrm>
            <a:off x="9025128" y="3968496"/>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route</a:t>
            </a:r>
            <a:endParaRPr lang="en-US" sz="1300" dirty="0"/>
          </a:p>
        </p:txBody>
      </p:sp>
      <p:sp>
        <p:nvSpPr>
          <p:cNvPr id="34" name="Text 26"/>
          <p:cNvSpPr/>
          <p:nvPr/>
        </p:nvSpPr>
        <p:spPr>
          <a:xfrm>
            <a:off x="9025128" y="4315968"/>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stops, and a destination pin</a:t>
            </a:r>
            <a:endParaRPr lang="en-US" sz="1150" dirty="0"/>
          </a:p>
        </p:txBody>
      </p:sp>
      <p:sp>
        <p:nvSpPr>
          <p:cNvPr id="35" name="Shape 27"/>
          <p:cNvSpPr/>
          <p:nvPr/>
        </p:nvSpPr>
        <p:spPr>
          <a:xfrm>
            <a:off x="841248" y="5084064"/>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36" name="Shape 28"/>
          <p:cNvSpPr/>
          <p:nvPr/>
        </p:nvSpPr>
        <p:spPr>
          <a:xfrm>
            <a:off x="1133856" y="5276088"/>
            <a:ext cx="420624" cy="42062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37" name="Image 6" descr="preencoded.png"/>
          <p:cNvPicPr>
            <a:picLocks noChangeAspect="1"/>
          </p:cNvPicPr>
          <p:nvPr/>
        </p:nvPicPr>
        <p:blipFill>
          <a:blip r:embed="rId9"/>
          <a:stretch>
            <a:fillRect/>
          </a:stretch>
        </p:blipFill>
        <p:spPr>
          <a:xfrm>
            <a:off x="1234806" y="5377038"/>
            <a:ext cx="218724" cy="218724"/>
          </a:xfrm>
          <a:prstGeom prst="rect">
            <a:avLst/>
          </a:prstGeom>
        </p:spPr>
      </p:pic>
      <p:sp>
        <p:nvSpPr>
          <p:cNvPr id="38" name="Text 29"/>
          <p:cNvSpPr/>
          <p:nvPr/>
        </p:nvSpPr>
        <p:spPr>
          <a:xfrm>
            <a:off x="1709928" y="5266944"/>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inbox</a:t>
            </a:r>
            <a:endParaRPr lang="en-US" sz="1300" dirty="0"/>
          </a:p>
        </p:txBody>
      </p:sp>
      <p:sp>
        <p:nvSpPr>
          <p:cNvPr id="39" name="Text 30"/>
          <p:cNvSpPr/>
          <p:nvPr/>
        </p:nvSpPr>
        <p:spPr>
          <a:xfrm>
            <a:off x="1709928" y="5614416"/>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a thread and a reply box</a:t>
            </a:r>
            <a:endParaRPr lang="en-US" sz="1150" dirty="0"/>
          </a:p>
        </p:txBody>
      </p:sp>
      <p:sp>
        <p:nvSpPr>
          <p:cNvPr id="40" name="Shape 31"/>
          <p:cNvSpPr/>
          <p:nvPr/>
        </p:nvSpPr>
        <p:spPr>
          <a:xfrm>
            <a:off x="4498848" y="5084064"/>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41" name="Shape 32"/>
          <p:cNvSpPr/>
          <p:nvPr/>
        </p:nvSpPr>
        <p:spPr>
          <a:xfrm>
            <a:off x="4791456" y="5276088"/>
            <a:ext cx="420624" cy="420624"/>
          </a:xfrm>
          <a:prstGeom prst="ellipse">
            <a:avLst/>
          </a:prstGeom>
          <a:solidFill>
            <a:srgbClr val="D97706"/>
          </a:solidFill>
          <a:ln/>
          <a:effectLst>
            <a:outerShdw blurRad="139700" dist="38100" dir="5400000" algn="bl" rotWithShape="0">
              <a:srgbClr val="9AA6BC">
                <a:alpha val="28000"/>
              </a:srgbClr>
            </a:outerShdw>
          </a:effectLst>
        </p:spPr>
        <p:txBody>
          <a:bodyPr/>
          <a:lstStyle/>
          <a:p>
            <a:endParaRPr lang="en-US"/>
          </a:p>
        </p:txBody>
      </p:sp>
      <p:pic>
        <p:nvPicPr>
          <p:cNvPr id="42" name="Image 7" descr="preencoded.png"/>
          <p:cNvPicPr>
            <a:picLocks noChangeAspect="1"/>
          </p:cNvPicPr>
          <p:nvPr/>
        </p:nvPicPr>
        <p:blipFill>
          <a:blip r:embed="rId10"/>
          <a:stretch>
            <a:fillRect/>
          </a:stretch>
        </p:blipFill>
        <p:spPr>
          <a:xfrm>
            <a:off x="4892406" y="5377038"/>
            <a:ext cx="218724" cy="218724"/>
          </a:xfrm>
          <a:prstGeom prst="rect">
            <a:avLst/>
          </a:prstGeom>
        </p:spPr>
      </p:pic>
      <p:sp>
        <p:nvSpPr>
          <p:cNvPr id="43" name="Text 33"/>
          <p:cNvSpPr/>
          <p:nvPr/>
        </p:nvSpPr>
        <p:spPr>
          <a:xfrm>
            <a:off x="5367528" y="5266944"/>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catalog</a:t>
            </a:r>
            <a:endParaRPr lang="en-US" sz="1300" dirty="0"/>
          </a:p>
        </p:txBody>
      </p:sp>
      <p:sp>
        <p:nvSpPr>
          <p:cNvPr id="44" name="Text 34"/>
          <p:cNvSpPr/>
          <p:nvPr/>
        </p:nvSpPr>
        <p:spPr>
          <a:xfrm>
            <a:off x="5367528" y="5614416"/>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product cards and a basket</a:t>
            </a:r>
            <a:endParaRPr lang="en-US" sz="1150" dirty="0"/>
          </a:p>
        </p:txBody>
      </p:sp>
      <p:sp>
        <p:nvSpPr>
          <p:cNvPr id="45" name="Shape 35"/>
          <p:cNvSpPr/>
          <p:nvPr/>
        </p:nvSpPr>
        <p:spPr>
          <a:xfrm>
            <a:off x="8156448" y="5084064"/>
            <a:ext cx="3401568" cy="1097280"/>
          </a:xfrm>
          <a:prstGeom prst="roundRect">
            <a:avLst>
              <a:gd name="adj" fmla="val 8333"/>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46" name="Shape 36"/>
          <p:cNvSpPr/>
          <p:nvPr/>
        </p:nvSpPr>
        <p:spPr>
          <a:xfrm>
            <a:off x="8449056" y="5276088"/>
            <a:ext cx="420624" cy="420624"/>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47" name="Image 8" descr="preencoded.png"/>
          <p:cNvPicPr>
            <a:picLocks noChangeAspect="1"/>
          </p:cNvPicPr>
          <p:nvPr/>
        </p:nvPicPr>
        <p:blipFill>
          <a:blip r:embed="rId11"/>
          <a:stretch>
            <a:fillRect/>
          </a:stretch>
        </p:blipFill>
        <p:spPr>
          <a:xfrm>
            <a:off x="8550006" y="5377038"/>
            <a:ext cx="218724" cy="218724"/>
          </a:xfrm>
          <a:prstGeom prst="rect">
            <a:avLst/>
          </a:prstGeom>
        </p:spPr>
      </p:pic>
      <p:sp>
        <p:nvSpPr>
          <p:cNvPr id="48" name="Text 37"/>
          <p:cNvSpPr/>
          <p:nvPr/>
        </p:nvSpPr>
        <p:spPr>
          <a:xfrm>
            <a:off x="9025128" y="5266944"/>
            <a:ext cx="2350008" cy="365760"/>
          </a:xfrm>
          <a:prstGeom prst="rect">
            <a:avLst/>
          </a:prstGeom>
          <a:noFill/>
          <a:ln/>
        </p:spPr>
        <p:txBody>
          <a:bodyPr wrap="square" rtlCol="0" anchor="ctr"/>
          <a:lstStyle/>
          <a:p>
            <a:pPr marL="0" indent="0">
              <a:buNone/>
            </a:pPr>
            <a:r>
              <a:rPr lang="en-US" sz="1300" b="1" dirty="0">
                <a:solidFill>
                  <a:srgbClr val="16181D"/>
                </a:solidFill>
                <a:latin typeface="Consolas" pitchFamily="34" charset="0"/>
                <a:ea typeface="Consolas" pitchFamily="34" charset="-122"/>
                <a:cs typeface="Consolas" pitchFamily="34" charset="-120"/>
              </a:rPr>
              <a:t>dashboard</a:t>
            </a:r>
            <a:endParaRPr lang="en-US" sz="1300" dirty="0"/>
          </a:p>
        </p:txBody>
      </p:sp>
      <p:sp>
        <p:nvSpPr>
          <p:cNvPr id="49" name="Text 38"/>
          <p:cNvSpPr/>
          <p:nvPr/>
        </p:nvSpPr>
        <p:spPr>
          <a:xfrm>
            <a:off x="9025128" y="5614416"/>
            <a:ext cx="2350008" cy="384048"/>
          </a:xfrm>
          <a:prstGeom prst="rect">
            <a:avLst/>
          </a:prstGeom>
          <a:noFill/>
          <a:ln/>
        </p:spPr>
        <p:txBody>
          <a:bodyPr wrap="square" rtlCol="0" anchor="ctr"/>
          <a:lstStyle/>
          <a:p>
            <a:pPr marL="0" indent="0">
              <a:buNone/>
            </a:pPr>
            <a:r>
              <a:rPr lang="en-US" sz="1150" dirty="0">
                <a:solidFill>
                  <a:srgbClr val="666C7A"/>
                </a:solidFill>
                <a:latin typeface="Calibri" pitchFamily="34" charset="0"/>
                <a:ea typeface="Calibri" pitchFamily="34" charset="-122"/>
                <a:cs typeface="Calibri" pitchFamily="34" charset="-120"/>
              </a:rPr>
              <a:t>when nothing else fits</a:t>
            </a:r>
            <a:endParaRPr lang="en-US" sz="1150" dirty="0"/>
          </a:p>
        </p:txBody>
      </p:sp>
      <p:sp>
        <p:nvSpPr>
          <p:cNvPr id="50" name="Text 39"/>
          <p:cNvSpPr/>
          <p:nvPr/>
        </p:nvSpPr>
        <p:spPr>
          <a:xfrm>
            <a:off x="1280160" y="6309360"/>
            <a:ext cx="9631375" cy="457200"/>
          </a:xfrm>
          <a:prstGeom prst="rect">
            <a:avLst/>
          </a:prstGeom>
          <a:noFill/>
          <a:ln/>
        </p:spPr>
        <p:txBody>
          <a:bodyPr wrap="square" rtlCol="0" anchor="ctr"/>
          <a:lstStyle/>
          <a:p>
            <a:pPr marL="0" indent="0" algn="ctr">
              <a:buNone/>
            </a:pPr>
            <a:r>
              <a:rPr lang="en-US" sz="1450" dirty="0">
                <a:solidFill>
                  <a:srgbClr val="666C7A"/>
                </a:solidFill>
                <a:latin typeface="Calibri" pitchFamily="34" charset="0"/>
                <a:ea typeface="Calibri" pitchFamily="34" charset="-122"/>
                <a:cs typeface="Calibri" pitchFamily="34" charset="-120"/>
              </a:rPr>
              <a:t>Asked to choose, Qwen said dashboard for a stokvel tracker. </a:t>
            </a:r>
            <a:r>
              <a:rPr lang="en-US" sz="1450" b="1" dirty="0">
                <a:solidFill>
                  <a:srgbClr val="0F9E8E"/>
                </a:solidFill>
                <a:latin typeface="Calibri" pitchFamily="34" charset="0"/>
                <a:ea typeface="Calibri" pitchFamily="34" charset="-122"/>
                <a:cs typeface="Calibri" pitchFamily="34" charset="-120"/>
              </a:rPr>
              <a:t>When the idea's own words are clear, the words win.</a:t>
            </a:r>
            <a:endParaRPr lang="en-US" sz="14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E11D48"/>
                </a:solidFill>
                <a:latin typeface="Arial" pitchFamily="34" charset="0"/>
                <a:ea typeface="Arial" pitchFamily="34" charset="-122"/>
                <a:cs typeface="Arial" pitchFamily="34" charset="-120"/>
              </a:rPr>
              <a:t>THE LAST EDGE IN THE WEB</a:t>
            </a:r>
            <a:endParaRPr lang="en-US" sz="1100" dirty="0"/>
          </a:p>
        </p:txBody>
      </p:sp>
      <p:sp>
        <p:nvSpPr>
          <p:cNvPr id="3" name="Text 1"/>
          <p:cNvSpPr/>
          <p:nvPr/>
        </p:nvSpPr>
        <p:spPr>
          <a:xfrm>
            <a:off x="841248" y="1005840"/>
            <a:ext cx="10424160" cy="822960"/>
          </a:xfrm>
          <a:prstGeom prst="rect">
            <a:avLst/>
          </a:prstGeom>
          <a:noFill/>
          <a:ln/>
        </p:spPr>
        <p:txBody>
          <a:bodyPr wrap="square" rtlCol="0" anchor="ctr"/>
          <a:lstStyle/>
          <a:p>
            <a:pPr marL="0" indent="0">
              <a:buNone/>
            </a:pPr>
            <a:r>
              <a:rPr lang="en-US" sz="3000" b="1" dirty="0">
                <a:solidFill>
                  <a:srgbClr val="16181D"/>
                </a:solidFill>
                <a:latin typeface="Arial" pitchFamily="34" charset="0"/>
                <a:ea typeface="Arial" pitchFamily="34" charset="-122"/>
                <a:cs typeface="Arial" pitchFamily="34" charset="-120"/>
              </a:rPr>
              <a:t>Seven agents wrote a field. </a:t>
            </a:r>
            <a:r>
              <a:rPr lang="en-US" sz="3000" b="1" dirty="0">
                <a:solidFill>
                  <a:srgbClr val="E11D48"/>
                </a:solidFill>
                <a:latin typeface="Arial" pitchFamily="34" charset="0"/>
                <a:ea typeface="Arial" pitchFamily="34" charset="-122"/>
                <a:cs typeface="Arial" pitchFamily="34" charset="-120"/>
              </a:rPr>
              <a:t>Nobody read the page.</a:t>
            </a:r>
            <a:endParaRPr lang="en-US" sz="3000" dirty="0"/>
          </a:p>
        </p:txBody>
      </p:sp>
      <p:sp>
        <p:nvSpPr>
          <p:cNvPr id="4" name="Text 2"/>
          <p:cNvSpPr/>
          <p:nvPr/>
        </p:nvSpPr>
        <p:spPr>
          <a:xfrm>
            <a:off x="841248" y="1783080"/>
            <a:ext cx="8412480" cy="548640"/>
          </a:xfrm>
          <a:prstGeom prst="rect">
            <a:avLst/>
          </a:prstGeom>
          <a:noFill/>
          <a:ln/>
        </p:spPr>
        <p:txBody>
          <a:bodyPr wrap="square" rtlCol="0" anchor="ctr"/>
          <a:lstStyle/>
          <a:p>
            <a:pPr marL="0" indent="0">
              <a:buNone/>
            </a:pPr>
            <a:r>
              <a:rPr lang="en-US" sz="1550" dirty="0">
                <a:solidFill>
                  <a:srgbClr val="666C7A"/>
                </a:solidFill>
                <a:latin typeface="Calibri" pitchFamily="34" charset="0"/>
                <a:ea typeface="Calibri" pitchFamily="34" charset="-122"/>
                <a:cs typeface="Calibri" pitchFamily="34" charset="-120"/>
              </a:rPr>
              <a:t>Every worker owns one slice, so nothing in the crew ever saw the assembled result. That is how copy ships that is individually fine and collectively flat.</a:t>
            </a:r>
            <a:endParaRPr lang="en-US" sz="1550" dirty="0"/>
          </a:p>
        </p:txBody>
      </p:sp>
      <p:sp>
        <p:nvSpPr>
          <p:cNvPr id="5" name="Shape 3"/>
          <p:cNvSpPr/>
          <p:nvPr/>
        </p:nvSpPr>
        <p:spPr>
          <a:xfrm>
            <a:off x="841248" y="2606040"/>
            <a:ext cx="3401568" cy="1920240"/>
          </a:xfrm>
          <a:prstGeom prst="roundRect">
            <a:avLst>
              <a:gd name="adj" fmla="val 4762"/>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6" name="Shape 4"/>
          <p:cNvSpPr/>
          <p:nvPr/>
        </p:nvSpPr>
        <p:spPr>
          <a:xfrm>
            <a:off x="1143000" y="2907792"/>
            <a:ext cx="493776" cy="493776"/>
          </a:xfrm>
          <a:prstGeom prst="ellipse">
            <a:avLst/>
          </a:prstGeom>
          <a:solidFill>
            <a:srgbClr val="E11D48"/>
          </a:solidFill>
          <a:ln/>
          <a:effectLst>
            <a:outerShdw blurRad="139700" dist="38100" dir="5400000" algn="bl" rotWithShape="0">
              <a:srgbClr val="9AA6BC">
                <a:alpha val="28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1261506" y="3026298"/>
            <a:ext cx="256764" cy="256764"/>
          </a:xfrm>
          <a:prstGeom prst="rect">
            <a:avLst/>
          </a:prstGeom>
        </p:spPr>
      </p:pic>
      <p:sp>
        <p:nvSpPr>
          <p:cNvPr id="8" name="Text 5"/>
          <p:cNvSpPr/>
          <p:nvPr/>
        </p:nvSpPr>
        <p:spPr>
          <a:xfrm>
            <a:off x="1773936" y="2916936"/>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It sees the whole page</a:t>
            </a:r>
            <a:endParaRPr lang="en-US" sz="1500" dirty="0"/>
          </a:p>
        </p:txBody>
      </p:sp>
      <p:sp>
        <p:nvSpPr>
          <p:cNvPr id="9" name="Text 6"/>
          <p:cNvSpPr/>
          <p:nvPr/>
        </p:nvSpPr>
        <p:spPr>
          <a:xfrm>
            <a:off x="1161288" y="3566160"/>
            <a:ext cx="2761488" cy="86868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Headline, subhead, button and all three features, together, after everything else has run.</a:t>
            </a:r>
            <a:endParaRPr lang="en-US" sz="1200" dirty="0"/>
          </a:p>
        </p:txBody>
      </p:sp>
      <p:sp>
        <p:nvSpPr>
          <p:cNvPr id="10" name="Shape 7"/>
          <p:cNvSpPr/>
          <p:nvPr/>
        </p:nvSpPr>
        <p:spPr>
          <a:xfrm>
            <a:off x="4498848" y="2606040"/>
            <a:ext cx="3401568" cy="1920240"/>
          </a:xfrm>
          <a:prstGeom prst="roundRect">
            <a:avLst>
              <a:gd name="adj" fmla="val 4762"/>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1" name="Shape 8"/>
          <p:cNvSpPr/>
          <p:nvPr/>
        </p:nvSpPr>
        <p:spPr>
          <a:xfrm>
            <a:off x="4800600" y="2907792"/>
            <a:ext cx="493776" cy="493776"/>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12" name="Image 1" descr="preencoded.png"/>
          <p:cNvPicPr>
            <a:picLocks noChangeAspect="1"/>
          </p:cNvPicPr>
          <p:nvPr/>
        </p:nvPicPr>
        <p:blipFill>
          <a:blip r:embed="rId4"/>
          <a:stretch>
            <a:fillRect/>
          </a:stretch>
        </p:blipFill>
        <p:spPr>
          <a:xfrm>
            <a:off x="4919106" y="3026298"/>
            <a:ext cx="256764" cy="256764"/>
          </a:xfrm>
          <a:prstGeom prst="rect">
            <a:avLst/>
          </a:prstGeom>
        </p:spPr>
      </p:pic>
      <p:sp>
        <p:nvSpPr>
          <p:cNvPr id="13" name="Text 9"/>
          <p:cNvSpPr/>
          <p:nvPr/>
        </p:nvSpPr>
        <p:spPr>
          <a:xfrm>
            <a:off x="5431536" y="2916936"/>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It changes one line</a:t>
            </a:r>
            <a:endParaRPr lang="en-US" sz="1500" dirty="0"/>
          </a:p>
        </p:txBody>
      </p:sp>
      <p:sp>
        <p:nvSpPr>
          <p:cNvPr id="14" name="Text 10"/>
          <p:cNvSpPr/>
          <p:nvPr/>
        </p:nvSpPr>
        <p:spPr>
          <a:xfrm>
            <a:off x="4818888" y="3566160"/>
            <a:ext cx="2761488" cy="86868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One field, one replacement. Ask for everything wrong and you get a list nobody acts on.</a:t>
            </a:r>
            <a:endParaRPr lang="en-US" sz="1200" dirty="0"/>
          </a:p>
        </p:txBody>
      </p:sp>
      <p:sp>
        <p:nvSpPr>
          <p:cNvPr id="15" name="Shape 11"/>
          <p:cNvSpPr/>
          <p:nvPr/>
        </p:nvSpPr>
        <p:spPr>
          <a:xfrm>
            <a:off x="8156448" y="2606040"/>
            <a:ext cx="3401568" cy="1920240"/>
          </a:xfrm>
          <a:prstGeom prst="roundRect">
            <a:avLst>
              <a:gd name="adj" fmla="val 4762"/>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6" name="Shape 12"/>
          <p:cNvSpPr/>
          <p:nvPr/>
        </p:nvSpPr>
        <p:spPr>
          <a:xfrm>
            <a:off x="8458200" y="2907792"/>
            <a:ext cx="493776" cy="493776"/>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17" name="Image 2" descr="preencoded.png"/>
          <p:cNvPicPr>
            <a:picLocks noChangeAspect="1"/>
          </p:cNvPicPr>
          <p:nvPr/>
        </p:nvPicPr>
        <p:blipFill>
          <a:blip r:embed="rId5"/>
          <a:stretch>
            <a:fillRect/>
          </a:stretch>
        </p:blipFill>
        <p:spPr>
          <a:xfrm>
            <a:off x="8576706" y="3026298"/>
            <a:ext cx="256764" cy="256764"/>
          </a:xfrm>
          <a:prstGeom prst="rect">
            <a:avLst/>
          </a:prstGeom>
        </p:spPr>
      </p:pic>
      <p:sp>
        <p:nvSpPr>
          <p:cNvPr id="18" name="Text 13"/>
          <p:cNvSpPr/>
          <p:nvPr/>
        </p:nvSpPr>
        <p:spPr>
          <a:xfrm>
            <a:off x="9089136" y="2916936"/>
            <a:ext cx="2258568" cy="457200"/>
          </a:xfrm>
          <a:prstGeom prst="rect">
            <a:avLst/>
          </a:prstGeom>
          <a:noFill/>
          <a:ln/>
        </p:spPr>
        <p:txBody>
          <a:bodyPr wrap="square" rtlCol="0" anchor="ctr"/>
          <a:lstStyle/>
          <a:p>
            <a:pPr marL="0" indent="0">
              <a:buNone/>
            </a:pPr>
            <a:r>
              <a:rPr lang="en-US" sz="1500" b="1" dirty="0">
                <a:solidFill>
                  <a:srgbClr val="16181D"/>
                </a:solidFill>
                <a:latin typeface="Arial" pitchFamily="34" charset="0"/>
                <a:ea typeface="Arial" pitchFamily="34" charset="-122"/>
                <a:cs typeface="Arial" pitchFamily="34" charset="-120"/>
              </a:rPr>
              <a:t>Its rewrite is not trusted</a:t>
            </a:r>
            <a:endParaRPr lang="en-US" sz="1500" dirty="0"/>
          </a:p>
        </p:txBody>
      </p:sp>
      <p:sp>
        <p:nvSpPr>
          <p:cNvPr id="19" name="Text 14"/>
          <p:cNvSpPr/>
          <p:nvPr/>
        </p:nvSpPr>
        <p:spPr>
          <a:xfrm>
            <a:off x="8476488" y="3566160"/>
            <a:ext cx="2761488" cy="868680"/>
          </a:xfrm>
          <a:prstGeom prst="rect">
            <a:avLst/>
          </a:prstGeom>
          <a:noFill/>
          <a:ln/>
        </p:spPr>
        <p:txBody>
          <a:bodyPr wrap="square" rtlCol="0" anchor="ctr"/>
          <a:lstStyle/>
          <a:p>
            <a:pPr marL="0" indent="0">
              <a:lnSpc>
                <a:spcPts val="1600"/>
              </a:lnSpc>
              <a:buNone/>
            </a:pPr>
            <a:r>
              <a:rPr lang="en-US" sz="1200" dirty="0">
                <a:solidFill>
                  <a:srgbClr val="666C7A"/>
                </a:solidFill>
                <a:latin typeface="Calibri" pitchFamily="34" charset="0"/>
                <a:ea typeface="Calibri" pitchFamily="34" charset="-122"/>
                <a:cs typeface="Calibri" pitchFamily="34" charset="-120"/>
              </a:rPr>
              <a:t>The replacement clears the same checks as any other copy, and gets refused if it does not.</a:t>
            </a:r>
            <a:endParaRPr lang="en-US" sz="1200" dirty="0"/>
          </a:p>
        </p:txBody>
      </p:sp>
      <p:sp>
        <p:nvSpPr>
          <p:cNvPr id="20" name="Text 15"/>
          <p:cNvSpPr/>
          <p:nvPr/>
        </p:nvSpPr>
        <p:spPr>
          <a:xfrm>
            <a:off x="1097280" y="5120640"/>
            <a:ext cx="9997135" cy="457200"/>
          </a:xfrm>
          <a:prstGeom prst="rect">
            <a:avLst/>
          </a:prstGeom>
          <a:noFill/>
          <a:ln/>
        </p:spPr>
        <p:txBody>
          <a:bodyPr wrap="square" rtlCol="0" anchor="ctr"/>
          <a:lstStyle/>
          <a:p>
            <a:pPr marL="0" indent="0" algn="ctr">
              <a:buNone/>
            </a:pPr>
            <a:r>
              <a:rPr lang="en-US" sz="1450" dirty="0">
                <a:solidFill>
                  <a:srgbClr val="666C7A"/>
                </a:solidFill>
                <a:latin typeface="Calibri" pitchFamily="34" charset="0"/>
                <a:ea typeface="Calibri" pitchFamily="34" charset="-122"/>
                <a:cs typeface="Calibri" pitchFamily="34" charset="-120"/>
              </a:rPr>
              <a:t>It was asked for two labelled lines. It replies </a:t>
            </a:r>
            <a:r>
              <a:rPr lang="en-US" sz="1450" b="1" dirty="0">
                <a:solidFill>
                  <a:srgbClr val="E11D48"/>
                </a:solidFill>
                <a:latin typeface="Consolas" pitchFamily="34" charset="0"/>
                <a:ea typeface="Consolas" pitchFamily="34" charset="-122"/>
                <a:cs typeface="Consolas" pitchFamily="34" charset="-120"/>
              </a:rPr>
              <a:t>subhead: &lt;rewrite&gt;</a:t>
            </a:r>
            <a:r>
              <a:rPr lang="en-US" sz="1450" dirty="0">
                <a:solidFill>
                  <a:srgbClr val="666C7A"/>
                </a:solidFill>
                <a:latin typeface="Calibri" pitchFamily="34" charset="0"/>
                <a:ea typeface="Calibri" pitchFamily="34" charset="-122"/>
                <a:cs typeface="Calibri" pitchFamily="34" charset="-120"/>
              </a:rPr>
              <a:t> instead. That is a usable answer, so the parser takes both.</a:t>
            </a:r>
            <a:endParaRPr lang="en-US" sz="14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566928"/>
            <a:ext cx="9144000" cy="292608"/>
          </a:xfrm>
          <a:prstGeom prst="rect">
            <a:avLst/>
          </a:prstGeom>
          <a:noFill/>
          <a:ln/>
        </p:spPr>
        <p:txBody>
          <a:bodyPr wrap="square" rtlCol="0" anchor="ctr"/>
          <a:lstStyle/>
          <a:p>
            <a:pPr marL="0" indent="0">
              <a:buNone/>
            </a:pPr>
            <a:r>
              <a:rPr lang="en-US" sz="1100" b="1" kern="0" spc="300" dirty="0">
                <a:solidFill>
                  <a:srgbClr val="D97706"/>
                </a:solidFill>
                <a:latin typeface="Arial" pitchFamily="34" charset="0"/>
                <a:ea typeface="Arial" pitchFamily="34" charset="-122"/>
                <a:cs typeface="Arial" pitchFamily="34" charset="-120"/>
              </a:rPr>
              <a:t>THE REVEAL</a:t>
            </a:r>
            <a:endParaRPr lang="en-US" sz="1100" dirty="0"/>
          </a:p>
        </p:txBody>
      </p:sp>
      <p:sp>
        <p:nvSpPr>
          <p:cNvPr id="3" name="Text 1"/>
          <p:cNvSpPr/>
          <p:nvPr/>
        </p:nvSpPr>
        <p:spPr>
          <a:xfrm>
            <a:off x="841248" y="1463040"/>
            <a:ext cx="7680960" cy="1828800"/>
          </a:xfrm>
          <a:prstGeom prst="rect">
            <a:avLst/>
          </a:prstGeom>
          <a:noFill/>
          <a:ln/>
        </p:spPr>
        <p:txBody>
          <a:bodyPr wrap="square" rtlCol="0" anchor="ctr"/>
          <a:lstStyle/>
          <a:p>
            <a:pPr marL="0" indent="0">
              <a:lnSpc>
                <a:spcPts val="5000"/>
              </a:lnSpc>
              <a:buNone/>
            </a:pPr>
            <a:r>
              <a:rPr lang="en-US" sz="4000" b="1" dirty="0">
                <a:solidFill>
                  <a:srgbClr val="16181D"/>
                </a:solidFill>
                <a:latin typeface="Arial" pitchFamily="34" charset="0"/>
                <a:ea typeface="Arial" pitchFamily="34" charset="-122"/>
                <a:cs typeface="Arial" pitchFamily="34" charset="-120"/>
              </a:rPr>
              <a:t>You have been </a:t>
            </a:r>
            <a:r>
              <a:rPr lang="en-US" sz="4000" b="1" dirty="0">
                <a:solidFill>
                  <a:srgbClr val="4F46E5"/>
                </a:solidFill>
                <a:latin typeface="Arial" pitchFamily="34" charset="0"/>
                <a:ea typeface="Arial" pitchFamily="34" charset="-122"/>
                <a:cs typeface="Arial" pitchFamily="34" charset="-120"/>
              </a:rPr>
              <a:t>employing them</a:t>
            </a:r>
            <a:endParaRPr lang="en-US" sz="4000" dirty="0"/>
          </a:p>
          <a:p>
            <a:pPr marL="0" indent="0">
              <a:lnSpc>
                <a:spcPts val="5000"/>
              </a:lnSpc>
              <a:buNone/>
            </a:pPr>
            <a:r>
              <a:rPr lang="en-US" sz="4000" b="1" dirty="0">
                <a:solidFill>
                  <a:srgbClr val="16181D"/>
                </a:solidFill>
                <a:latin typeface="Arial" pitchFamily="34" charset="0"/>
                <a:ea typeface="Arial" pitchFamily="34" charset="-122"/>
                <a:cs typeface="Arial" pitchFamily="34" charset="-120"/>
              </a:rPr>
              <a:t>this whole time.</a:t>
            </a:r>
            <a:endParaRPr lang="en-US" sz="4000" dirty="0"/>
          </a:p>
        </p:txBody>
      </p:sp>
      <p:sp>
        <p:nvSpPr>
          <p:cNvPr id="4" name="Text 2"/>
          <p:cNvSpPr/>
          <p:nvPr/>
        </p:nvSpPr>
        <p:spPr>
          <a:xfrm>
            <a:off x="841248" y="3520440"/>
            <a:ext cx="5943600" cy="1463040"/>
          </a:xfrm>
          <a:prstGeom prst="rect">
            <a:avLst/>
          </a:prstGeom>
          <a:noFill/>
          <a:ln/>
        </p:spPr>
        <p:txBody>
          <a:bodyPr wrap="square" rtlCol="0" anchor="ctr"/>
          <a:lstStyle/>
          <a:p>
            <a:pPr marL="0" indent="0">
              <a:lnSpc>
                <a:spcPts val="2700"/>
              </a:lnSpc>
              <a:buNone/>
            </a:pPr>
            <a:r>
              <a:rPr lang="en-US" sz="1700" dirty="0">
                <a:solidFill>
                  <a:srgbClr val="666C7A"/>
                </a:solidFill>
                <a:latin typeface="Calibri" pitchFamily="34" charset="0"/>
                <a:ea typeface="Calibri" pitchFamily="34" charset="-122"/>
                <a:cs typeface="Calibri" pitchFamily="34" charset="-120"/>
              </a:rPr>
              <a:t>Every idea you sent went straight into the queue. While I was talking about prompts and levers and loops, eight agents on this laptop were quietly building a landing page for each one.</a:t>
            </a:r>
            <a:endParaRPr lang="en-US" sz="1700" dirty="0"/>
          </a:p>
        </p:txBody>
      </p:sp>
      <p:sp>
        <p:nvSpPr>
          <p:cNvPr id="5" name="Text 3"/>
          <p:cNvSpPr/>
          <p:nvPr/>
        </p:nvSpPr>
        <p:spPr>
          <a:xfrm>
            <a:off x="841248" y="5120640"/>
            <a:ext cx="1828800" cy="685800"/>
          </a:xfrm>
          <a:prstGeom prst="rect">
            <a:avLst/>
          </a:prstGeom>
          <a:noFill/>
          <a:ln/>
        </p:spPr>
        <p:txBody>
          <a:bodyPr wrap="square" rtlCol="0" anchor="ctr"/>
          <a:lstStyle/>
          <a:p>
            <a:pPr marL="0" indent="0">
              <a:buNone/>
            </a:pPr>
            <a:r>
              <a:rPr lang="en-US" sz="3800" b="1" dirty="0">
                <a:solidFill>
                  <a:srgbClr val="4F46E5"/>
                </a:solidFill>
                <a:latin typeface="Arial" pitchFamily="34" charset="0"/>
                <a:ea typeface="Arial" pitchFamily="34" charset="-122"/>
                <a:cs typeface="Arial" pitchFamily="34" charset="-120"/>
              </a:rPr>
              <a:t>7</a:t>
            </a:r>
            <a:endParaRPr lang="en-US" sz="3800" dirty="0"/>
          </a:p>
        </p:txBody>
      </p:sp>
      <p:sp>
        <p:nvSpPr>
          <p:cNvPr id="6" name="Text 4"/>
          <p:cNvSpPr/>
          <p:nvPr/>
        </p:nvSpPr>
        <p:spPr>
          <a:xfrm>
            <a:off x="841248" y="5779008"/>
            <a:ext cx="1920240" cy="548640"/>
          </a:xfrm>
          <a:prstGeom prst="rect">
            <a:avLst/>
          </a:prstGeom>
          <a:noFill/>
          <a:ln/>
        </p:spPr>
        <p:txBody>
          <a:bodyPr wrap="square" rtlCol="0" anchor="ctr"/>
          <a:lstStyle/>
          <a:p>
            <a:pPr marL="0" indent="0">
              <a:lnSpc>
                <a:spcPts val="1200"/>
              </a:lnSpc>
              <a:buNone/>
            </a:pPr>
            <a:r>
              <a:rPr lang="en-US" sz="950" kern="0" spc="150" dirty="0">
                <a:solidFill>
                  <a:srgbClr val="666C7A"/>
                </a:solidFill>
                <a:latin typeface="Consolas" pitchFamily="34" charset="0"/>
                <a:ea typeface="Consolas" pitchFamily="34" charset="-122"/>
                <a:cs typeface="Consolas" pitchFamily="34" charset="-120"/>
              </a:rPr>
              <a:t>AGENTS PER IDEA</a:t>
            </a:r>
            <a:endParaRPr lang="en-US" sz="950" dirty="0"/>
          </a:p>
        </p:txBody>
      </p:sp>
      <p:sp>
        <p:nvSpPr>
          <p:cNvPr id="7" name="Text 5"/>
          <p:cNvSpPr/>
          <p:nvPr/>
        </p:nvSpPr>
        <p:spPr>
          <a:xfrm>
            <a:off x="2852928" y="5120640"/>
            <a:ext cx="1828800" cy="685800"/>
          </a:xfrm>
          <a:prstGeom prst="rect">
            <a:avLst/>
          </a:prstGeom>
          <a:noFill/>
          <a:ln/>
        </p:spPr>
        <p:txBody>
          <a:bodyPr wrap="square" rtlCol="0" anchor="ctr"/>
          <a:lstStyle/>
          <a:p>
            <a:pPr marL="0" indent="0">
              <a:buNone/>
            </a:pPr>
            <a:r>
              <a:rPr lang="en-US" sz="3800" b="1" dirty="0">
                <a:solidFill>
                  <a:srgbClr val="16181D"/>
                </a:solidFill>
                <a:latin typeface="Arial" pitchFamily="34" charset="0"/>
                <a:ea typeface="Arial" pitchFamily="34" charset="-122"/>
                <a:cs typeface="Arial" pitchFamily="34" charset="-120"/>
              </a:rPr>
              <a:t>0</a:t>
            </a:r>
            <a:endParaRPr lang="en-US" sz="3800" dirty="0"/>
          </a:p>
        </p:txBody>
      </p:sp>
      <p:sp>
        <p:nvSpPr>
          <p:cNvPr id="8" name="Text 6"/>
          <p:cNvSpPr/>
          <p:nvPr/>
        </p:nvSpPr>
        <p:spPr>
          <a:xfrm>
            <a:off x="2852928" y="5779008"/>
            <a:ext cx="1920240" cy="548640"/>
          </a:xfrm>
          <a:prstGeom prst="rect">
            <a:avLst/>
          </a:prstGeom>
          <a:noFill/>
          <a:ln/>
        </p:spPr>
        <p:txBody>
          <a:bodyPr wrap="square" rtlCol="0" anchor="ctr"/>
          <a:lstStyle/>
          <a:p>
            <a:pPr marL="0" indent="0">
              <a:lnSpc>
                <a:spcPts val="1200"/>
              </a:lnSpc>
              <a:buNone/>
            </a:pPr>
            <a:r>
              <a:rPr lang="en-US" sz="950" kern="0" spc="150" dirty="0">
                <a:solidFill>
                  <a:srgbClr val="666C7A"/>
                </a:solidFill>
                <a:latin typeface="Consolas" pitchFamily="34" charset="0"/>
                <a:ea typeface="Consolas" pitchFamily="34" charset="-122"/>
                <a:cs typeface="Consolas" pitchFamily="34" charset="-120"/>
              </a:rPr>
              <a:t>CLOUD CALLS</a:t>
            </a:r>
            <a:endParaRPr lang="en-US" sz="950" dirty="0"/>
          </a:p>
        </p:txBody>
      </p:sp>
      <p:sp>
        <p:nvSpPr>
          <p:cNvPr id="9" name="Text 7"/>
          <p:cNvSpPr/>
          <p:nvPr/>
        </p:nvSpPr>
        <p:spPr>
          <a:xfrm>
            <a:off x="4590288" y="5120640"/>
            <a:ext cx="1828800" cy="685800"/>
          </a:xfrm>
          <a:prstGeom prst="rect">
            <a:avLst/>
          </a:prstGeom>
          <a:noFill/>
          <a:ln/>
        </p:spPr>
        <p:txBody>
          <a:bodyPr wrap="square" rtlCol="0" anchor="ctr"/>
          <a:lstStyle/>
          <a:p>
            <a:pPr marL="0" indent="0">
              <a:buNone/>
            </a:pPr>
            <a:r>
              <a:rPr lang="en-US" sz="3800" b="1" dirty="0">
                <a:solidFill>
                  <a:srgbClr val="16181D"/>
                </a:solidFill>
                <a:latin typeface="Arial" pitchFamily="34" charset="0"/>
                <a:ea typeface="Arial" pitchFamily="34" charset="-122"/>
                <a:cs typeface="Arial" pitchFamily="34" charset="-120"/>
              </a:rPr>
              <a:t>1</a:t>
            </a:r>
            <a:endParaRPr lang="en-US" sz="3800" dirty="0"/>
          </a:p>
        </p:txBody>
      </p:sp>
      <p:sp>
        <p:nvSpPr>
          <p:cNvPr id="10" name="Text 8"/>
          <p:cNvSpPr/>
          <p:nvPr/>
        </p:nvSpPr>
        <p:spPr>
          <a:xfrm>
            <a:off x="4590288" y="5779008"/>
            <a:ext cx="1920240" cy="548640"/>
          </a:xfrm>
          <a:prstGeom prst="rect">
            <a:avLst/>
          </a:prstGeom>
          <a:noFill/>
          <a:ln/>
        </p:spPr>
        <p:txBody>
          <a:bodyPr wrap="square" rtlCol="0" anchor="ctr"/>
          <a:lstStyle/>
          <a:p>
            <a:pPr marL="0" indent="0">
              <a:lnSpc>
                <a:spcPts val="1200"/>
              </a:lnSpc>
              <a:buNone/>
            </a:pPr>
            <a:r>
              <a:rPr lang="en-US" sz="950" kern="0" spc="150" dirty="0">
                <a:solidFill>
                  <a:srgbClr val="666C7A"/>
                </a:solidFill>
                <a:latin typeface="Consolas" pitchFamily="34" charset="0"/>
                <a:ea typeface="Consolas" pitchFamily="34" charset="-122"/>
                <a:cs typeface="Consolas" pitchFamily="34" charset="-120"/>
              </a:rPr>
              <a:t>LAPTOP, STILL WARM</a:t>
            </a:r>
            <a:endParaRPr lang="en-US" sz="950" dirty="0"/>
          </a:p>
        </p:txBody>
      </p:sp>
      <p:sp>
        <p:nvSpPr>
          <p:cNvPr id="11" name="Shape 9"/>
          <p:cNvSpPr/>
          <p:nvPr/>
        </p:nvSpPr>
        <p:spPr>
          <a:xfrm>
            <a:off x="7680960" y="1737360"/>
            <a:ext cx="3657600" cy="1051560"/>
          </a:xfrm>
          <a:prstGeom prst="roundRect">
            <a:avLst>
              <a:gd name="adj" fmla="val 8696"/>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2" name="Shape 10"/>
          <p:cNvSpPr/>
          <p:nvPr/>
        </p:nvSpPr>
        <p:spPr>
          <a:xfrm>
            <a:off x="7973568" y="1988820"/>
            <a:ext cx="548640" cy="548640"/>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13" name="Image 0" descr="preencoded.png"/>
          <p:cNvPicPr>
            <a:picLocks noChangeAspect="1"/>
          </p:cNvPicPr>
          <p:nvPr/>
        </p:nvPicPr>
        <p:blipFill>
          <a:blip r:embed="rId3"/>
          <a:stretch>
            <a:fillRect/>
          </a:stretch>
        </p:blipFill>
        <p:spPr>
          <a:xfrm>
            <a:off x="8105242" y="2120494"/>
            <a:ext cx="285293" cy="285293"/>
          </a:xfrm>
          <a:prstGeom prst="rect">
            <a:avLst/>
          </a:prstGeom>
        </p:spPr>
      </p:pic>
      <p:sp>
        <p:nvSpPr>
          <p:cNvPr id="14" name="Text 11"/>
          <p:cNvSpPr/>
          <p:nvPr/>
        </p:nvSpPr>
        <p:spPr>
          <a:xfrm>
            <a:off x="8732520" y="1737360"/>
            <a:ext cx="2468880" cy="1051560"/>
          </a:xfrm>
          <a:prstGeom prst="rect">
            <a:avLst/>
          </a:prstGeom>
          <a:noFill/>
          <a:ln/>
        </p:spPr>
        <p:txBody>
          <a:bodyPr wrap="square" rtlCol="0" anchor="ctr"/>
          <a:lstStyle/>
          <a:p>
            <a:pPr marL="0" indent="0">
              <a:buNone/>
            </a:pPr>
            <a:r>
              <a:rPr lang="en-US" sz="1700" b="1" dirty="0">
                <a:solidFill>
                  <a:srgbClr val="16181D"/>
                </a:solidFill>
                <a:latin typeface="Arial" pitchFamily="34" charset="0"/>
                <a:ea typeface="Arial" pitchFamily="34" charset="-122"/>
                <a:cs typeface="Arial" pitchFamily="34" charset="-120"/>
              </a:rPr>
              <a:t>you sent it</a:t>
            </a:r>
            <a:endParaRPr lang="en-US" sz="1700" dirty="0"/>
          </a:p>
        </p:txBody>
      </p:sp>
      <p:sp>
        <p:nvSpPr>
          <p:cNvPr id="15" name="Shape 12"/>
          <p:cNvSpPr/>
          <p:nvPr/>
        </p:nvSpPr>
        <p:spPr>
          <a:xfrm>
            <a:off x="9509760" y="2788920"/>
            <a:ext cx="0" cy="320040"/>
          </a:xfrm>
          <a:prstGeom prst="line">
            <a:avLst/>
          </a:prstGeom>
          <a:noFill/>
          <a:ln w="20320">
            <a:solidFill>
              <a:srgbClr val="9AA1B0"/>
            </a:solidFill>
            <a:prstDash val="solid"/>
            <a:tailEnd type="triangle"/>
          </a:ln>
        </p:spPr>
        <p:txBody>
          <a:bodyPr/>
          <a:lstStyle/>
          <a:p>
            <a:endParaRPr lang="en-US"/>
          </a:p>
        </p:txBody>
      </p:sp>
      <p:sp>
        <p:nvSpPr>
          <p:cNvPr id="16" name="Shape 13"/>
          <p:cNvSpPr/>
          <p:nvPr/>
        </p:nvSpPr>
        <p:spPr>
          <a:xfrm>
            <a:off x="7680960" y="3108960"/>
            <a:ext cx="3657600" cy="1051560"/>
          </a:xfrm>
          <a:prstGeom prst="roundRect">
            <a:avLst>
              <a:gd name="adj" fmla="val 8696"/>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17" name="Shape 14"/>
          <p:cNvSpPr/>
          <p:nvPr/>
        </p:nvSpPr>
        <p:spPr>
          <a:xfrm>
            <a:off x="7973568" y="3360420"/>
            <a:ext cx="548640" cy="548640"/>
          </a:xfrm>
          <a:prstGeom prst="ellipse">
            <a:avLst/>
          </a:prstGeom>
          <a:solidFill>
            <a:srgbClr val="7C3AED"/>
          </a:solidFill>
          <a:ln/>
          <a:effectLst>
            <a:outerShdw blurRad="139700" dist="38100" dir="5400000" algn="bl" rotWithShape="0">
              <a:srgbClr val="9AA6BC">
                <a:alpha val="28000"/>
              </a:srgbClr>
            </a:outerShdw>
          </a:effectLst>
        </p:spPr>
        <p:txBody>
          <a:bodyPr/>
          <a:lstStyle/>
          <a:p>
            <a:endParaRPr lang="en-US"/>
          </a:p>
        </p:txBody>
      </p:sp>
      <p:pic>
        <p:nvPicPr>
          <p:cNvPr id="18" name="Image 1" descr="preencoded.png"/>
          <p:cNvPicPr>
            <a:picLocks noChangeAspect="1"/>
          </p:cNvPicPr>
          <p:nvPr/>
        </p:nvPicPr>
        <p:blipFill>
          <a:blip r:embed="rId4"/>
          <a:stretch>
            <a:fillRect/>
          </a:stretch>
        </p:blipFill>
        <p:spPr>
          <a:xfrm>
            <a:off x="8105242" y="3492094"/>
            <a:ext cx="285293" cy="285293"/>
          </a:xfrm>
          <a:prstGeom prst="rect">
            <a:avLst/>
          </a:prstGeom>
        </p:spPr>
      </p:pic>
      <p:sp>
        <p:nvSpPr>
          <p:cNvPr id="19" name="Text 15"/>
          <p:cNvSpPr/>
          <p:nvPr/>
        </p:nvSpPr>
        <p:spPr>
          <a:xfrm>
            <a:off x="8732520" y="3108960"/>
            <a:ext cx="2468880" cy="1051560"/>
          </a:xfrm>
          <a:prstGeom prst="rect">
            <a:avLst/>
          </a:prstGeom>
          <a:noFill/>
          <a:ln/>
        </p:spPr>
        <p:txBody>
          <a:bodyPr wrap="square" rtlCol="0" anchor="ctr"/>
          <a:lstStyle/>
          <a:p>
            <a:pPr marL="0" indent="0">
              <a:buNone/>
            </a:pPr>
            <a:r>
              <a:rPr lang="en-US" sz="1700" b="1" dirty="0">
                <a:solidFill>
                  <a:srgbClr val="16181D"/>
                </a:solidFill>
                <a:latin typeface="Arial" pitchFamily="34" charset="0"/>
                <a:ea typeface="Arial" pitchFamily="34" charset="-122"/>
                <a:cs typeface="Arial" pitchFamily="34" charset="-120"/>
              </a:rPr>
              <a:t>they built it</a:t>
            </a:r>
            <a:endParaRPr lang="en-US" sz="1700" dirty="0"/>
          </a:p>
        </p:txBody>
      </p:sp>
      <p:sp>
        <p:nvSpPr>
          <p:cNvPr id="20" name="Shape 16"/>
          <p:cNvSpPr/>
          <p:nvPr/>
        </p:nvSpPr>
        <p:spPr>
          <a:xfrm>
            <a:off x="9509760" y="4160520"/>
            <a:ext cx="0" cy="320040"/>
          </a:xfrm>
          <a:prstGeom prst="line">
            <a:avLst/>
          </a:prstGeom>
          <a:noFill/>
          <a:ln w="20320">
            <a:solidFill>
              <a:srgbClr val="9AA1B0"/>
            </a:solidFill>
            <a:prstDash val="solid"/>
            <a:tailEnd type="triangle"/>
          </a:ln>
        </p:spPr>
        <p:txBody>
          <a:bodyPr/>
          <a:lstStyle/>
          <a:p>
            <a:endParaRPr lang="en-US"/>
          </a:p>
        </p:txBody>
      </p:sp>
      <p:sp>
        <p:nvSpPr>
          <p:cNvPr id="21" name="Shape 17"/>
          <p:cNvSpPr/>
          <p:nvPr/>
        </p:nvSpPr>
        <p:spPr>
          <a:xfrm>
            <a:off x="7680960" y="4480560"/>
            <a:ext cx="3657600" cy="1051560"/>
          </a:xfrm>
          <a:prstGeom prst="roundRect">
            <a:avLst>
              <a:gd name="adj" fmla="val 8696"/>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sp>
        <p:nvSpPr>
          <p:cNvPr id="22" name="Shape 18"/>
          <p:cNvSpPr/>
          <p:nvPr/>
        </p:nvSpPr>
        <p:spPr>
          <a:xfrm>
            <a:off x="7973568" y="4732020"/>
            <a:ext cx="548640" cy="548640"/>
          </a:xfrm>
          <a:prstGeom prst="ellipse">
            <a:avLst/>
          </a:prstGeom>
          <a:solidFill>
            <a:srgbClr val="0F9E8E"/>
          </a:solidFill>
          <a:ln/>
          <a:effectLst>
            <a:outerShdw blurRad="139700" dist="38100" dir="5400000" algn="bl" rotWithShape="0">
              <a:srgbClr val="9AA6BC">
                <a:alpha val="28000"/>
              </a:srgbClr>
            </a:outerShdw>
          </a:effectLst>
        </p:spPr>
        <p:txBody>
          <a:bodyPr/>
          <a:lstStyle/>
          <a:p>
            <a:endParaRPr lang="en-US"/>
          </a:p>
        </p:txBody>
      </p:sp>
      <p:pic>
        <p:nvPicPr>
          <p:cNvPr id="23" name="Image 2" descr="preencoded.png"/>
          <p:cNvPicPr>
            <a:picLocks noChangeAspect="1"/>
          </p:cNvPicPr>
          <p:nvPr/>
        </p:nvPicPr>
        <p:blipFill>
          <a:blip r:embed="rId5"/>
          <a:stretch>
            <a:fillRect/>
          </a:stretch>
        </p:blipFill>
        <p:spPr>
          <a:xfrm>
            <a:off x="8105242" y="4863694"/>
            <a:ext cx="285293" cy="285293"/>
          </a:xfrm>
          <a:prstGeom prst="rect">
            <a:avLst/>
          </a:prstGeom>
        </p:spPr>
      </p:pic>
      <p:sp>
        <p:nvSpPr>
          <p:cNvPr id="24" name="Text 19"/>
          <p:cNvSpPr/>
          <p:nvPr/>
        </p:nvSpPr>
        <p:spPr>
          <a:xfrm>
            <a:off x="8732520" y="4480560"/>
            <a:ext cx="2468880" cy="1051560"/>
          </a:xfrm>
          <a:prstGeom prst="rect">
            <a:avLst/>
          </a:prstGeom>
          <a:noFill/>
          <a:ln/>
        </p:spPr>
        <p:txBody>
          <a:bodyPr wrap="square" rtlCol="0" anchor="ctr"/>
          <a:lstStyle/>
          <a:p>
            <a:pPr marL="0" indent="0">
              <a:buNone/>
            </a:pPr>
            <a:r>
              <a:rPr lang="en-US" sz="1700" b="1" dirty="0">
                <a:solidFill>
                  <a:srgbClr val="16181D"/>
                </a:solidFill>
                <a:latin typeface="Arial" pitchFamily="34" charset="0"/>
                <a:ea typeface="Arial" pitchFamily="34" charset="-122"/>
                <a:cs typeface="Arial" pitchFamily="34" charset="-120"/>
              </a:rPr>
              <a:t>here it all is</a:t>
            </a:r>
            <a:endParaRPr lang="en-US" sz="17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9536" y="621792"/>
            <a:ext cx="182880" cy="182880"/>
          </a:xfrm>
          <a:prstGeom prst="ellipse">
            <a:avLst/>
          </a:prstGeom>
          <a:solidFill>
            <a:srgbClr val="4F46E5"/>
          </a:solidFill>
          <a:ln/>
        </p:spPr>
        <p:txBody>
          <a:bodyPr/>
          <a:lstStyle/>
          <a:p>
            <a:endParaRPr lang="en-US"/>
          </a:p>
        </p:txBody>
      </p:sp>
      <p:sp>
        <p:nvSpPr>
          <p:cNvPr id="3" name="Text 1"/>
          <p:cNvSpPr/>
          <p:nvPr/>
        </p:nvSpPr>
        <p:spPr>
          <a:xfrm>
            <a:off x="1207008" y="566928"/>
            <a:ext cx="4572000" cy="292608"/>
          </a:xfrm>
          <a:prstGeom prst="rect">
            <a:avLst/>
          </a:prstGeom>
          <a:noFill/>
          <a:ln/>
        </p:spPr>
        <p:txBody>
          <a:bodyPr wrap="square" rtlCol="0" anchor="ctr"/>
          <a:lstStyle/>
          <a:p>
            <a:pPr marL="0" indent="0">
              <a:buNone/>
            </a:pPr>
            <a:r>
              <a:rPr lang="en-US" sz="1200" kern="0" spc="400" dirty="0">
                <a:solidFill>
                  <a:srgbClr val="4F46E5"/>
                </a:solidFill>
                <a:latin typeface="Consolas" pitchFamily="34" charset="0"/>
                <a:ea typeface="Consolas" pitchFamily="34" charset="-122"/>
                <a:cs typeface="Consolas" pitchFamily="34" charset="-120"/>
              </a:rPr>
              <a:t>THE WALL</a:t>
            </a:r>
            <a:endParaRPr lang="en-US" sz="1200" dirty="0"/>
          </a:p>
        </p:txBody>
      </p:sp>
      <p:sp>
        <p:nvSpPr>
          <p:cNvPr id="4" name="Text 2"/>
          <p:cNvSpPr/>
          <p:nvPr/>
        </p:nvSpPr>
        <p:spPr>
          <a:xfrm>
            <a:off x="0" y="1463040"/>
            <a:ext cx="12191695" cy="1005840"/>
          </a:xfrm>
          <a:prstGeom prst="rect">
            <a:avLst/>
          </a:prstGeom>
          <a:noFill/>
          <a:ln/>
        </p:spPr>
        <p:txBody>
          <a:bodyPr wrap="square" rtlCol="0" anchor="ctr"/>
          <a:lstStyle/>
          <a:p>
            <a:pPr marL="0" indent="0" algn="ctr">
              <a:buNone/>
            </a:pPr>
            <a:r>
              <a:rPr lang="en-US" sz="4600" b="1" dirty="0">
                <a:solidFill>
                  <a:srgbClr val="16181D"/>
                </a:solidFill>
                <a:latin typeface="Arial" pitchFamily="34" charset="0"/>
                <a:ea typeface="Arial" pitchFamily="34" charset="-122"/>
                <a:cs typeface="Arial" pitchFamily="34" charset="-120"/>
              </a:rPr>
              <a:t>Everyone's, </a:t>
            </a:r>
            <a:r>
              <a:rPr lang="en-US" sz="4600" b="1" dirty="0">
                <a:solidFill>
                  <a:srgbClr val="4F46E5"/>
                </a:solidFill>
                <a:latin typeface="Arial" pitchFamily="34" charset="0"/>
                <a:ea typeface="Arial" pitchFamily="34" charset="-122"/>
                <a:cs typeface="Arial" pitchFamily="34" charset="-120"/>
              </a:rPr>
              <a:t>all at once.</a:t>
            </a:r>
            <a:endParaRPr lang="en-US" sz="4600" dirty="0"/>
          </a:p>
        </p:txBody>
      </p:sp>
      <p:sp>
        <p:nvSpPr>
          <p:cNvPr id="5" name="Text 3"/>
          <p:cNvSpPr/>
          <p:nvPr/>
        </p:nvSpPr>
        <p:spPr>
          <a:xfrm>
            <a:off x="0" y="2606040"/>
            <a:ext cx="12191695" cy="457200"/>
          </a:xfrm>
          <a:prstGeom prst="rect">
            <a:avLst/>
          </a:prstGeom>
          <a:noFill/>
          <a:ln/>
        </p:spPr>
        <p:txBody>
          <a:bodyPr wrap="square" rtlCol="0" anchor="ctr"/>
          <a:lstStyle/>
          <a:p>
            <a:pPr marL="0" indent="0" algn="ctr">
              <a:buNone/>
            </a:pPr>
            <a:r>
              <a:rPr lang="en-US" sz="1900" dirty="0">
                <a:solidFill>
                  <a:srgbClr val="666C7A"/>
                </a:solidFill>
                <a:latin typeface="Calibri" pitchFamily="34" charset="0"/>
                <a:ea typeface="Calibri" pitchFamily="34" charset="-122"/>
                <a:cs typeface="Calibri" pitchFamily="34" charset="-120"/>
              </a:rPr>
              <a:t>Find yours. Your name is on it.</a:t>
            </a:r>
            <a:endParaRPr lang="en-US" sz="1900" dirty="0"/>
          </a:p>
        </p:txBody>
      </p:sp>
      <p:sp>
        <p:nvSpPr>
          <p:cNvPr id="6" name="Shape 4"/>
          <p:cNvSpPr/>
          <p:nvPr/>
        </p:nvSpPr>
        <p:spPr>
          <a:xfrm>
            <a:off x="783184" y="3429000"/>
            <a:ext cx="1920240" cy="1371600"/>
          </a:xfrm>
          <a:prstGeom prst="roundRect">
            <a:avLst>
              <a:gd name="adj" fmla="val 8000"/>
            </a:avLst>
          </a:prstGeom>
          <a:solidFill>
            <a:srgbClr val="F5F7FA"/>
          </a:solidFill>
          <a:ln w="17780">
            <a:solidFill>
              <a:srgbClr val="4F46E5"/>
            </a:solidFill>
            <a:prstDash val="solid"/>
          </a:ln>
          <a:effectLst>
            <a:outerShdw blurRad="139700" dist="38100" dir="5400000" algn="bl" rotWithShape="0">
              <a:srgbClr val="9AA6BC">
                <a:alpha val="28000"/>
              </a:srgbClr>
            </a:outerShdw>
          </a:effectLst>
        </p:spPr>
        <p:txBody>
          <a:bodyPr/>
          <a:lstStyle/>
          <a:p>
            <a:endParaRPr lang="en-US"/>
          </a:p>
        </p:txBody>
      </p:sp>
      <p:sp>
        <p:nvSpPr>
          <p:cNvPr id="7" name="Text 5"/>
          <p:cNvSpPr/>
          <p:nvPr/>
        </p:nvSpPr>
        <p:spPr>
          <a:xfrm>
            <a:off x="783184" y="3429000"/>
            <a:ext cx="1920240" cy="137160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a name</a:t>
            </a:r>
            <a:endParaRPr lang="en-US" sz="1500" dirty="0"/>
          </a:p>
        </p:txBody>
      </p:sp>
      <p:sp>
        <p:nvSpPr>
          <p:cNvPr id="8" name="Shape 6"/>
          <p:cNvSpPr/>
          <p:nvPr/>
        </p:nvSpPr>
        <p:spPr>
          <a:xfrm>
            <a:off x="2959456" y="3429000"/>
            <a:ext cx="1920240" cy="1371600"/>
          </a:xfrm>
          <a:prstGeom prst="roundRect">
            <a:avLst>
              <a:gd name="adj" fmla="val 8000"/>
            </a:avLst>
          </a:prstGeom>
          <a:solidFill>
            <a:srgbClr val="F5F7FA"/>
          </a:solidFill>
          <a:ln w="17780">
            <a:solidFill>
              <a:srgbClr val="7C3AED"/>
            </a:solidFill>
            <a:prstDash val="solid"/>
          </a:ln>
          <a:effectLst>
            <a:outerShdw blurRad="139700" dist="38100" dir="5400000" algn="bl" rotWithShape="0">
              <a:srgbClr val="9AA6BC">
                <a:alpha val="28000"/>
              </a:srgbClr>
            </a:outerShdw>
          </a:effectLst>
        </p:spPr>
        <p:txBody>
          <a:bodyPr/>
          <a:lstStyle/>
          <a:p>
            <a:endParaRPr lang="en-US"/>
          </a:p>
        </p:txBody>
      </p:sp>
      <p:sp>
        <p:nvSpPr>
          <p:cNvPr id="9" name="Text 7"/>
          <p:cNvSpPr/>
          <p:nvPr/>
        </p:nvSpPr>
        <p:spPr>
          <a:xfrm>
            <a:off x="2959456" y="3429000"/>
            <a:ext cx="1920240" cy="137160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artwork</a:t>
            </a:r>
            <a:endParaRPr lang="en-US" sz="1500" dirty="0"/>
          </a:p>
        </p:txBody>
      </p:sp>
      <p:sp>
        <p:nvSpPr>
          <p:cNvPr id="10" name="Shape 8"/>
          <p:cNvSpPr/>
          <p:nvPr/>
        </p:nvSpPr>
        <p:spPr>
          <a:xfrm>
            <a:off x="5135728" y="3429000"/>
            <a:ext cx="1920240" cy="1371600"/>
          </a:xfrm>
          <a:prstGeom prst="roundRect">
            <a:avLst>
              <a:gd name="adj" fmla="val 8000"/>
            </a:avLst>
          </a:prstGeom>
          <a:solidFill>
            <a:srgbClr val="F5F7FA"/>
          </a:solidFill>
          <a:ln w="17780">
            <a:solidFill>
              <a:srgbClr val="0F9E8E"/>
            </a:solidFill>
            <a:prstDash val="solid"/>
          </a:ln>
          <a:effectLst>
            <a:outerShdw blurRad="139700" dist="38100" dir="5400000" algn="bl" rotWithShape="0">
              <a:srgbClr val="9AA6BC">
                <a:alpha val="28000"/>
              </a:srgbClr>
            </a:outerShdw>
          </a:effectLst>
        </p:spPr>
        <p:txBody>
          <a:bodyPr/>
          <a:lstStyle/>
          <a:p>
            <a:endParaRPr lang="en-US"/>
          </a:p>
        </p:txBody>
      </p:sp>
      <p:sp>
        <p:nvSpPr>
          <p:cNvPr id="11" name="Text 9"/>
          <p:cNvSpPr/>
          <p:nvPr/>
        </p:nvSpPr>
        <p:spPr>
          <a:xfrm>
            <a:off x="5135728" y="3429000"/>
            <a:ext cx="1920240" cy="137160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copy</a:t>
            </a:r>
            <a:endParaRPr lang="en-US" sz="1500" dirty="0"/>
          </a:p>
        </p:txBody>
      </p:sp>
      <p:sp>
        <p:nvSpPr>
          <p:cNvPr id="12" name="Shape 10"/>
          <p:cNvSpPr/>
          <p:nvPr/>
        </p:nvSpPr>
        <p:spPr>
          <a:xfrm>
            <a:off x="7312000" y="3429000"/>
            <a:ext cx="1920240" cy="1371600"/>
          </a:xfrm>
          <a:prstGeom prst="roundRect">
            <a:avLst>
              <a:gd name="adj" fmla="val 8000"/>
            </a:avLst>
          </a:prstGeom>
          <a:solidFill>
            <a:srgbClr val="F5F7FA"/>
          </a:solidFill>
          <a:ln w="17780">
            <a:solidFill>
              <a:srgbClr val="D97706"/>
            </a:solidFill>
            <a:prstDash val="solid"/>
          </a:ln>
          <a:effectLst>
            <a:outerShdw blurRad="139700" dist="38100" dir="5400000" algn="bl" rotWithShape="0">
              <a:srgbClr val="9AA6BC">
                <a:alpha val="28000"/>
              </a:srgbClr>
            </a:outerShdw>
          </a:effectLst>
        </p:spPr>
        <p:txBody>
          <a:bodyPr/>
          <a:lstStyle/>
          <a:p>
            <a:endParaRPr lang="en-US"/>
          </a:p>
        </p:txBody>
      </p:sp>
      <p:sp>
        <p:nvSpPr>
          <p:cNvPr id="13" name="Text 11"/>
          <p:cNvSpPr/>
          <p:nvPr/>
        </p:nvSpPr>
        <p:spPr>
          <a:xfrm>
            <a:off x="7312000" y="3429000"/>
            <a:ext cx="1920240" cy="137160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a palette</a:t>
            </a:r>
            <a:endParaRPr lang="en-US" sz="1500" dirty="0"/>
          </a:p>
        </p:txBody>
      </p:sp>
      <p:sp>
        <p:nvSpPr>
          <p:cNvPr id="14" name="Shape 12"/>
          <p:cNvSpPr/>
          <p:nvPr/>
        </p:nvSpPr>
        <p:spPr>
          <a:xfrm>
            <a:off x="9488272" y="3429000"/>
            <a:ext cx="1920240" cy="1371600"/>
          </a:xfrm>
          <a:prstGeom prst="roundRect">
            <a:avLst>
              <a:gd name="adj" fmla="val 8000"/>
            </a:avLst>
          </a:prstGeom>
          <a:solidFill>
            <a:srgbClr val="F5F7FA"/>
          </a:solidFill>
          <a:ln w="17780">
            <a:solidFill>
              <a:srgbClr val="E11D48"/>
            </a:solidFill>
            <a:prstDash val="solid"/>
          </a:ln>
          <a:effectLst>
            <a:outerShdw blurRad="139700" dist="38100" dir="5400000" algn="bl" rotWithShape="0">
              <a:srgbClr val="9AA6BC">
                <a:alpha val="28000"/>
              </a:srgbClr>
            </a:outerShdw>
          </a:effectLst>
        </p:spPr>
        <p:txBody>
          <a:bodyPr/>
          <a:lstStyle/>
          <a:p>
            <a:endParaRPr lang="en-US"/>
          </a:p>
        </p:txBody>
      </p:sp>
      <p:sp>
        <p:nvSpPr>
          <p:cNvPr id="15" name="Text 13"/>
          <p:cNvSpPr/>
          <p:nvPr/>
        </p:nvSpPr>
        <p:spPr>
          <a:xfrm>
            <a:off x="9488272" y="3429000"/>
            <a:ext cx="1920240" cy="137160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a critique</a:t>
            </a:r>
            <a:endParaRPr lang="en-US" sz="1500" dirty="0"/>
          </a:p>
        </p:txBody>
      </p:sp>
      <p:sp>
        <p:nvSpPr>
          <p:cNvPr id="16" name="Text 14"/>
          <p:cNvSpPr/>
          <p:nvPr/>
        </p:nvSpPr>
        <p:spPr>
          <a:xfrm>
            <a:off x="1828800" y="5120640"/>
            <a:ext cx="8534095" cy="457200"/>
          </a:xfrm>
          <a:prstGeom prst="rect">
            <a:avLst/>
          </a:prstGeom>
          <a:noFill/>
          <a:ln/>
        </p:spPr>
        <p:txBody>
          <a:bodyPr wrap="square" rtlCol="0" anchor="ctr"/>
          <a:lstStyle/>
          <a:p>
            <a:pPr marL="0" indent="0" algn="ctr">
              <a:buNone/>
            </a:pPr>
            <a:r>
              <a:rPr lang="en-US" sz="1200" dirty="0">
                <a:solidFill>
                  <a:srgbClr val="9AA1B0"/>
                </a:solidFill>
                <a:latin typeface="Consolas" pitchFamily="34" charset="0"/>
                <a:ea typeface="Consolas" pitchFamily="34" charset="-122"/>
                <a:cs typeface="Consolas" pitchFamily="34" charset="-120"/>
              </a:rPr>
              <a:t>every page invented from scratch, by a different run of the same eight agents</a:t>
            </a:r>
            <a:endParaRPr lang="en-US" sz="1200" dirty="0"/>
          </a:p>
        </p:txBody>
      </p:sp>
      <p:sp>
        <p:nvSpPr>
          <p:cNvPr id="17" name="Text 15"/>
          <p:cNvSpPr/>
          <p:nvPr/>
        </p:nvSpPr>
        <p:spPr>
          <a:xfrm>
            <a:off x="1828800" y="5852160"/>
            <a:ext cx="8534095" cy="457200"/>
          </a:xfrm>
          <a:prstGeom prst="rect">
            <a:avLst/>
          </a:prstGeom>
          <a:noFill/>
          <a:ln/>
        </p:spPr>
        <p:txBody>
          <a:bodyPr wrap="square" rtlCol="0" anchor="ctr"/>
          <a:lstStyle/>
          <a:p>
            <a:pPr marL="0" indent="0" algn="ctr">
              <a:buNone/>
            </a:pPr>
            <a:r>
              <a:rPr lang="en-US" sz="1300" dirty="0">
                <a:solidFill>
                  <a:srgbClr val="4F46E5"/>
                </a:solidFill>
                <a:latin typeface="Consolas" pitchFamily="34" charset="0"/>
                <a:ea typeface="Consolas" pitchFamily="34" charset="-122"/>
                <a:cs typeface="Consolas" pitchFamily="34" charset="-120"/>
              </a:rPr>
              <a:t>open  /gallery  on the projector</a:t>
            </a:r>
            <a:endParaRPr lang="en-US" sz="130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841248" y="640080"/>
            <a:ext cx="9144000" cy="292608"/>
          </a:xfrm>
          <a:prstGeom prst="rect">
            <a:avLst/>
          </a:prstGeom>
          <a:noFill/>
          <a:ln/>
        </p:spPr>
        <p:txBody>
          <a:bodyPr wrap="square" rtlCol="0" anchor="ctr"/>
          <a:lstStyle/>
          <a:p>
            <a:pPr marL="0" indent="0">
              <a:buNone/>
            </a:pPr>
            <a:r>
              <a:rPr lang="en-US" sz="1100" b="1" kern="0" spc="300" dirty="0">
                <a:solidFill>
                  <a:srgbClr val="4F46E5"/>
                </a:solidFill>
                <a:latin typeface="Arial" pitchFamily="34" charset="0"/>
                <a:ea typeface="Arial" pitchFamily="34" charset="-122"/>
                <a:cs typeface="Arial" pitchFamily="34" charset="-120"/>
              </a:rPr>
              <a:t>THE TAKEAWAY</a:t>
            </a:r>
            <a:endParaRPr lang="en-US" sz="1100" dirty="0"/>
          </a:p>
        </p:txBody>
      </p:sp>
      <p:sp>
        <p:nvSpPr>
          <p:cNvPr id="3" name="Text 1"/>
          <p:cNvSpPr/>
          <p:nvPr/>
        </p:nvSpPr>
        <p:spPr>
          <a:xfrm>
            <a:off x="841248" y="1325880"/>
            <a:ext cx="5943600" cy="2377440"/>
          </a:xfrm>
          <a:prstGeom prst="rect">
            <a:avLst/>
          </a:prstGeom>
          <a:noFill/>
          <a:ln/>
        </p:spPr>
        <p:txBody>
          <a:bodyPr wrap="square" rtlCol="0" anchor="ctr"/>
          <a:lstStyle/>
          <a:p>
            <a:pPr marL="0" indent="0">
              <a:lnSpc>
                <a:spcPts val="4400"/>
              </a:lnSpc>
              <a:buNone/>
            </a:pPr>
            <a:r>
              <a:rPr lang="en-US" sz="3600" b="1" dirty="0">
                <a:solidFill>
                  <a:srgbClr val="16181D"/>
                </a:solidFill>
                <a:latin typeface="Arial" pitchFamily="34" charset="0"/>
                <a:ea typeface="Arial" pitchFamily="34" charset="-122"/>
                <a:cs typeface="Arial" pitchFamily="34" charset="-120"/>
              </a:rPr>
              <a:t>Your codebase</a:t>
            </a:r>
            <a:endParaRPr lang="en-US" sz="3600" dirty="0"/>
          </a:p>
          <a:p>
            <a:pPr marL="0" indent="0">
              <a:lnSpc>
                <a:spcPts val="4400"/>
              </a:lnSpc>
              <a:buNone/>
            </a:pPr>
            <a:r>
              <a:rPr lang="en-US" sz="3600" b="1" dirty="0">
                <a:solidFill>
                  <a:srgbClr val="16181D"/>
                </a:solidFill>
                <a:latin typeface="Arial" pitchFamily="34" charset="0"/>
                <a:ea typeface="Arial" pitchFamily="34" charset="-122"/>
                <a:cs typeface="Arial" pitchFamily="34" charset="-120"/>
              </a:rPr>
              <a:t>becomes a </a:t>
            </a:r>
            <a:endParaRPr lang="en-US" sz="3600" dirty="0"/>
          </a:p>
          <a:p>
            <a:pPr marL="0" indent="0">
              <a:lnSpc>
                <a:spcPts val="4400"/>
              </a:lnSpc>
              <a:buNone/>
            </a:pPr>
            <a:r>
              <a:rPr lang="en-US" sz="3600" b="1" dirty="0">
                <a:solidFill>
                  <a:srgbClr val="4F46E5"/>
                </a:solidFill>
                <a:latin typeface="Arial" pitchFamily="34" charset="0"/>
                <a:ea typeface="Arial" pitchFamily="34" charset="-122"/>
                <a:cs typeface="Arial" pitchFamily="34" charset="-120"/>
              </a:rPr>
              <a:t>team</a:t>
            </a:r>
            <a:endParaRPr lang="en-US" sz="3600" dirty="0"/>
          </a:p>
          <a:p>
            <a:pPr marL="0" indent="0">
              <a:lnSpc>
                <a:spcPts val="4400"/>
              </a:lnSpc>
              <a:buNone/>
            </a:pPr>
            <a:r>
              <a:rPr lang="en-US" sz="3600" b="1" dirty="0">
                <a:solidFill>
                  <a:srgbClr val="4F46E5"/>
                </a:solidFill>
                <a:latin typeface="Arial" pitchFamily="34" charset="0"/>
                <a:ea typeface="Arial" pitchFamily="34" charset="-122"/>
                <a:cs typeface="Arial" pitchFamily="34" charset="-120"/>
              </a:rPr>
              <a:t>you direct</a:t>
            </a:r>
            <a:endParaRPr lang="en-US" sz="3600" dirty="0"/>
          </a:p>
          <a:p>
            <a:pPr marL="0" indent="0">
              <a:lnSpc>
                <a:spcPts val="4400"/>
              </a:lnSpc>
              <a:buNone/>
            </a:pPr>
            <a:r>
              <a:rPr lang="en-US" sz="3600" b="1" dirty="0">
                <a:solidFill>
                  <a:srgbClr val="16181D"/>
                </a:solidFill>
                <a:latin typeface="Arial" pitchFamily="34" charset="0"/>
                <a:ea typeface="Arial" pitchFamily="34" charset="-122"/>
                <a:cs typeface="Arial" pitchFamily="34" charset="-120"/>
              </a:rPr>
              <a:t> in English.</a:t>
            </a:r>
            <a:endParaRPr lang="en-US" sz="3600" dirty="0"/>
          </a:p>
        </p:txBody>
      </p:sp>
      <p:sp>
        <p:nvSpPr>
          <p:cNvPr id="4" name="Text 2"/>
          <p:cNvSpPr/>
          <p:nvPr/>
        </p:nvSpPr>
        <p:spPr>
          <a:xfrm>
            <a:off x="841248" y="4160520"/>
            <a:ext cx="5760720" cy="1280160"/>
          </a:xfrm>
          <a:prstGeom prst="rect">
            <a:avLst/>
          </a:prstGeom>
          <a:noFill/>
          <a:ln/>
        </p:spPr>
        <p:txBody>
          <a:bodyPr wrap="square" rtlCol="0" anchor="ctr"/>
          <a:lstStyle/>
          <a:p>
            <a:pPr marL="0" indent="0">
              <a:lnSpc>
                <a:spcPts val="2500"/>
              </a:lnSpc>
              <a:buNone/>
            </a:pPr>
            <a:r>
              <a:rPr lang="en-US" sz="1600" dirty="0">
                <a:solidFill>
                  <a:srgbClr val="666C7A"/>
                </a:solidFill>
                <a:latin typeface="Calibri" pitchFamily="34" charset="0"/>
                <a:ea typeface="Calibri" pitchFamily="34" charset="-122"/>
                <a:cs typeface="Calibri" pitchFamily="34" charset="-120"/>
              </a:rPr>
              <a:t>One prompt. Many workers. In Java, on your own machine. The skill ahead is knowing what to ask, and how to constrain the answer.</a:t>
            </a:r>
            <a:endParaRPr lang="en-US" sz="1600" dirty="0"/>
          </a:p>
        </p:txBody>
      </p:sp>
      <p:sp>
        <p:nvSpPr>
          <p:cNvPr id="5" name="Text 3"/>
          <p:cNvSpPr/>
          <p:nvPr/>
        </p:nvSpPr>
        <p:spPr>
          <a:xfrm>
            <a:off x="841248" y="5669280"/>
            <a:ext cx="5486400" cy="822960"/>
          </a:xfrm>
          <a:prstGeom prst="rect">
            <a:avLst/>
          </a:prstGeom>
          <a:noFill/>
          <a:ln/>
        </p:spPr>
        <p:txBody>
          <a:bodyPr wrap="square" rtlCol="0" anchor="ctr"/>
          <a:lstStyle/>
          <a:p>
            <a:pPr marL="0" indent="0">
              <a:lnSpc>
                <a:spcPts val="2200"/>
              </a:lnSpc>
              <a:buNone/>
            </a:pPr>
            <a:r>
              <a:rPr lang="en-US" sz="1250" b="1" dirty="0">
                <a:solidFill>
                  <a:srgbClr val="16181D"/>
                </a:solidFill>
                <a:latin typeface="Consolas" pitchFamily="34" charset="0"/>
                <a:ea typeface="Consolas" pitchFamily="34" charset="-122"/>
                <a:cs typeface="Consolas" pitchFamily="34" charset="-120"/>
              </a:rPr>
              <a:t>Nevin Tom</a:t>
            </a:r>
            <a:r>
              <a:rPr lang="en-US" sz="1250" b="1" dirty="0">
                <a:solidFill>
                  <a:srgbClr val="4F46E5"/>
                </a:solidFill>
                <a:latin typeface="Consolas" pitchFamily="34" charset="0"/>
                <a:ea typeface="Consolas" pitchFamily="34" charset="-122"/>
                <a:cs typeface="Consolas" pitchFamily="34" charset="-120"/>
              </a:rPr>
              <a:t>   /   BBD</a:t>
            </a:r>
            <a:endParaRPr lang="en-US" sz="1250" dirty="0"/>
          </a:p>
          <a:p>
            <a:pPr marL="0" indent="0">
              <a:lnSpc>
                <a:spcPts val="2200"/>
              </a:lnSpc>
              <a:buNone/>
            </a:pPr>
            <a:r>
              <a:rPr lang="en-US" sz="1250" dirty="0">
                <a:solidFill>
                  <a:srgbClr val="9AA1B0"/>
                </a:solidFill>
                <a:latin typeface="Consolas" pitchFamily="34" charset="0"/>
                <a:ea typeface="Consolas" pitchFamily="34" charset="-122"/>
                <a:cs typeface="Consolas" pitchFamily="34" charset="-120"/>
              </a:rPr>
              <a:t>what do you want to break first?</a:t>
            </a:r>
            <a:endParaRPr lang="en-US" sz="1250" dirty="0"/>
          </a:p>
        </p:txBody>
      </p:sp>
      <p:sp>
        <p:nvSpPr>
          <p:cNvPr id="6" name="Shape 4"/>
          <p:cNvSpPr/>
          <p:nvPr/>
        </p:nvSpPr>
        <p:spPr>
          <a:xfrm>
            <a:off x="7360920" y="1691640"/>
            <a:ext cx="1874520" cy="3154680"/>
          </a:xfrm>
          <a:prstGeom prst="roundRect">
            <a:avLst>
              <a:gd name="adj" fmla="val 487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pic>
        <p:nvPicPr>
          <p:cNvPr id="7" name="Image 0" descr="preencoded.png"/>
          <p:cNvPicPr>
            <a:picLocks noChangeAspect="1"/>
          </p:cNvPicPr>
          <p:nvPr/>
        </p:nvPicPr>
        <p:blipFill>
          <a:blip r:embed="rId3"/>
          <a:stretch>
            <a:fillRect/>
          </a:stretch>
        </p:blipFill>
        <p:spPr>
          <a:xfrm>
            <a:off x="7612380" y="1965960"/>
            <a:ext cx="1371600" cy="1371600"/>
          </a:xfrm>
          <a:prstGeom prst="rect">
            <a:avLst/>
          </a:prstGeom>
        </p:spPr>
      </p:pic>
      <p:sp>
        <p:nvSpPr>
          <p:cNvPr id="8" name="Shape 5"/>
          <p:cNvSpPr/>
          <p:nvPr/>
        </p:nvSpPr>
        <p:spPr>
          <a:xfrm>
            <a:off x="8087868" y="3566160"/>
            <a:ext cx="420624" cy="420624"/>
          </a:xfrm>
          <a:prstGeom prst="ellipse">
            <a:avLst/>
          </a:prstGeom>
          <a:solidFill>
            <a:srgbClr val="4F46E5"/>
          </a:solidFill>
          <a:ln/>
          <a:effectLst>
            <a:outerShdw blurRad="139700" dist="38100" dir="5400000" algn="bl" rotWithShape="0">
              <a:srgbClr val="9AA6BC">
                <a:alpha val="28000"/>
              </a:srgbClr>
            </a:outerShdw>
          </a:effectLst>
        </p:spPr>
        <p:txBody>
          <a:bodyPr/>
          <a:lstStyle/>
          <a:p>
            <a:endParaRPr lang="en-US"/>
          </a:p>
        </p:txBody>
      </p:sp>
      <p:pic>
        <p:nvPicPr>
          <p:cNvPr id="9" name="Image 1" descr="preencoded.png"/>
          <p:cNvPicPr>
            <a:picLocks noChangeAspect="1"/>
          </p:cNvPicPr>
          <p:nvPr/>
        </p:nvPicPr>
        <p:blipFill>
          <a:blip r:embed="rId4"/>
          <a:stretch>
            <a:fillRect/>
          </a:stretch>
        </p:blipFill>
        <p:spPr>
          <a:xfrm>
            <a:off x="8188818" y="3667110"/>
            <a:ext cx="218724" cy="218724"/>
          </a:xfrm>
          <a:prstGeom prst="rect">
            <a:avLst/>
          </a:prstGeom>
        </p:spPr>
      </p:pic>
      <p:sp>
        <p:nvSpPr>
          <p:cNvPr id="10" name="Text 6"/>
          <p:cNvSpPr/>
          <p:nvPr/>
        </p:nvSpPr>
        <p:spPr>
          <a:xfrm>
            <a:off x="7360920" y="4069080"/>
            <a:ext cx="1874520" cy="32004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LinkedIn</a:t>
            </a:r>
            <a:endParaRPr lang="en-US" sz="1500" dirty="0"/>
          </a:p>
        </p:txBody>
      </p:sp>
      <p:sp>
        <p:nvSpPr>
          <p:cNvPr id="11" name="Text 7"/>
          <p:cNvSpPr/>
          <p:nvPr/>
        </p:nvSpPr>
        <p:spPr>
          <a:xfrm>
            <a:off x="7360920" y="4379976"/>
            <a:ext cx="1874520" cy="274320"/>
          </a:xfrm>
          <a:prstGeom prst="rect">
            <a:avLst/>
          </a:prstGeom>
          <a:noFill/>
          <a:ln/>
        </p:spPr>
        <p:txBody>
          <a:bodyPr wrap="square" rtlCol="0" anchor="ctr"/>
          <a:lstStyle/>
          <a:p>
            <a:pPr marL="0" indent="0" algn="ctr">
              <a:buNone/>
            </a:pPr>
            <a:r>
              <a:rPr lang="en-US" sz="1150" dirty="0">
                <a:solidFill>
                  <a:srgbClr val="666C7A"/>
                </a:solidFill>
                <a:latin typeface="Calibri" pitchFamily="34" charset="0"/>
                <a:ea typeface="Calibri" pitchFamily="34" charset="-122"/>
                <a:cs typeface="Calibri" pitchFamily="34" charset="-120"/>
              </a:rPr>
              <a:t>Nevin Tom</a:t>
            </a:r>
            <a:endParaRPr lang="en-US" sz="1150" dirty="0"/>
          </a:p>
        </p:txBody>
      </p:sp>
      <p:sp>
        <p:nvSpPr>
          <p:cNvPr id="12" name="Shape 8"/>
          <p:cNvSpPr/>
          <p:nvPr/>
        </p:nvSpPr>
        <p:spPr>
          <a:xfrm>
            <a:off x="9555480" y="1691640"/>
            <a:ext cx="1874520" cy="3154680"/>
          </a:xfrm>
          <a:prstGeom prst="roundRect">
            <a:avLst>
              <a:gd name="adj" fmla="val 4878"/>
            </a:avLst>
          </a:prstGeom>
          <a:solidFill>
            <a:srgbClr val="F5F7FA"/>
          </a:solidFill>
          <a:ln w="12700">
            <a:solidFill>
              <a:srgbClr val="E1E5EC"/>
            </a:solidFill>
            <a:prstDash val="solid"/>
          </a:ln>
          <a:effectLst>
            <a:outerShdw blurRad="139700" dist="38100" dir="5400000" algn="bl" rotWithShape="0">
              <a:srgbClr val="9AA6BC">
                <a:alpha val="28000"/>
              </a:srgbClr>
            </a:outerShdw>
          </a:effectLst>
        </p:spPr>
        <p:txBody>
          <a:bodyPr/>
          <a:lstStyle/>
          <a:p>
            <a:endParaRPr lang="en-US"/>
          </a:p>
        </p:txBody>
      </p:sp>
      <p:pic>
        <p:nvPicPr>
          <p:cNvPr id="13" name="Image 2" descr="preencoded.png"/>
          <p:cNvPicPr>
            <a:picLocks noChangeAspect="1"/>
          </p:cNvPicPr>
          <p:nvPr/>
        </p:nvPicPr>
        <p:blipFill>
          <a:blip r:embed="rId5"/>
          <a:stretch>
            <a:fillRect/>
          </a:stretch>
        </p:blipFill>
        <p:spPr>
          <a:xfrm>
            <a:off x="9806940" y="1965960"/>
            <a:ext cx="1371600" cy="1371600"/>
          </a:xfrm>
          <a:prstGeom prst="rect">
            <a:avLst/>
          </a:prstGeom>
        </p:spPr>
      </p:pic>
      <p:sp>
        <p:nvSpPr>
          <p:cNvPr id="14" name="Shape 9"/>
          <p:cNvSpPr/>
          <p:nvPr/>
        </p:nvSpPr>
        <p:spPr>
          <a:xfrm>
            <a:off x="10282428" y="3566160"/>
            <a:ext cx="420624" cy="420624"/>
          </a:xfrm>
          <a:prstGeom prst="ellipse">
            <a:avLst/>
          </a:prstGeom>
          <a:solidFill>
            <a:srgbClr val="16181D"/>
          </a:solidFill>
          <a:ln/>
          <a:effectLst>
            <a:outerShdw blurRad="139700" dist="38100" dir="5400000" algn="bl" rotWithShape="0">
              <a:srgbClr val="9AA6BC">
                <a:alpha val="28000"/>
              </a:srgbClr>
            </a:outerShdw>
          </a:effectLst>
        </p:spPr>
        <p:txBody>
          <a:bodyPr/>
          <a:lstStyle/>
          <a:p>
            <a:endParaRPr lang="en-US"/>
          </a:p>
        </p:txBody>
      </p:sp>
      <p:pic>
        <p:nvPicPr>
          <p:cNvPr id="15" name="Image 3" descr="preencoded.png"/>
          <p:cNvPicPr>
            <a:picLocks noChangeAspect="1"/>
          </p:cNvPicPr>
          <p:nvPr/>
        </p:nvPicPr>
        <p:blipFill>
          <a:blip r:embed="rId6"/>
          <a:stretch>
            <a:fillRect/>
          </a:stretch>
        </p:blipFill>
        <p:spPr>
          <a:xfrm>
            <a:off x="10383378" y="3667110"/>
            <a:ext cx="218724" cy="218724"/>
          </a:xfrm>
          <a:prstGeom prst="rect">
            <a:avLst/>
          </a:prstGeom>
        </p:spPr>
      </p:pic>
      <p:sp>
        <p:nvSpPr>
          <p:cNvPr id="16" name="Text 10"/>
          <p:cNvSpPr/>
          <p:nvPr/>
        </p:nvSpPr>
        <p:spPr>
          <a:xfrm>
            <a:off x="9555480" y="4069080"/>
            <a:ext cx="1874520" cy="320040"/>
          </a:xfrm>
          <a:prstGeom prst="rect">
            <a:avLst/>
          </a:prstGeom>
          <a:noFill/>
          <a:ln/>
        </p:spPr>
        <p:txBody>
          <a:bodyPr wrap="square" rtlCol="0" anchor="ctr"/>
          <a:lstStyle/>
          <a:p>
            <a:pPr marL="0" indent="0" algn="ctr">
              <a:buNone/>
            </a:pPr>
            <a:r>
              <a:rPr lang="en-US" sz="1500" b="1" dirty="0">
                <a:solidFill>
                  <a:srgbClr val="16181D"/>
                </a:solidFill>
                <a:latin typeface="Arial" pitchFamily="34" charset="0"/>
                <a:ea typeface="Arial" pitchFamily="34" charset="-122"/>
                <a:cs typeface="Arial" pitchFamily="34" charset="-120"/>
              </a:rPr>
              <a:t>GitHub</a:t>
            </a:r>
            <a:endParaRPr lang="en-US" sz="1500" dirty="0"/>
          </a:p>
        </p:txBody>
      </p:sp>
      <p:sp>
        <p:nvSpPr>
          <p:cNvPr id="17" name="Text 11"/>
          <p:cNvSpPr/>
          <p:nvPr/>
        </p:nvSpPr>
        <p:spPr>
          <a:xfrm>
            <a:off x="9555480" y="4379976"/>
            <a:ext cx="1874520" cy="274320"/>
          </a:xfrm>
          <a:prstGeom prst="rect">
            <a:avLst/>
          </a:prstGeom>
          <a:noFill/>
          <a:ln/>
        </p:spPr>
        <p:txBody>
          <a:bodyPr wrap="square" rtlCol="0" anchor="ctr"/>
          <a:lstStyle/>
          <a:p>
            <a:pPr marL="0" indent="0" algn="ctr">
              <a:buNone/>
            </a:pPr>
            <a:r>
              <a:rPr lang="en-US" sz="1150" dirty="0">
                <a:solidFill>
                  <a:srgbClr val="666C7A"/>
                </a:solidFill>
                <a:latin typeface="Calibri" pitchFamily="34" charset="0"/>
                <a:ea typeface="Calibri" pitchFamily="34" charset="-122"/>
                <a:cs typeface="Calibri" pitchFamily="34" charset="-120"/>
              </a:rPr>
              <a:t>the demo repo</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1107</TotalTime>
  <Words>5586</Words>
  <Application>Microsoft Macintosh PowerPoint</Application>
  <PresentationFormat>Widescreen</PresentationFormat>
  <Paragraphs>504</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Nevin Tom</cp:lastModifiedBy>
  <cp:revision>2</cp:revision>
  <dcterms:created xsi:type="dcterms:W3CDTF">2026-08-12T10:15:32Z</dcterms:created>
  <dcterms:modified xsi:type="dcterms:W3CDTF">2026-08-13T04:43:07Z</dcterms:modified>
</cp:coreProperties>
</file>