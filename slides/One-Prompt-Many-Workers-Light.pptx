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room. That fan is the whole talk: one thing becoming a team. Tonight we build it for real, in Java, on this laptop, with a model that never phones home. Name, thank BBD.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hook, slow. Last week I typed one sentence, fourteen words, and my laptop assembled a team of five, split the work, handed me back a plan. No cloud, no bill, no internet. That is magic, then, that is horrifying, because it was so little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early and leave it up. This is the setup for the whole talk. 'Scan that, hop on the wifi, send my agents a product idea. Here is the thing: the moment you send it, a crew of agents on this laptop starts building a real landing page for it. They will keep working the entire time I am talking. At the end I will show you every single one.' Then carry on. The queue fills while you teach, and the payoff is waiting.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A prompt, an agent, the infrastructure, the control panel almost nobody talks about, and then we point one prompt at a whole crew and run it live. Promise the demo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 Slow down. Rung one, the prompt, and almost everyone misunderstands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marketing, a model is a function. Text in, text out. No memory, no hands, no way to check itself. Ask twice, get two answers. A very good guesser, but a guesser. A prompt is you calling that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walls, fast. No memory, every call from zero. No hands, describes the email but cannot send it. No proof, equally sure when right and when inventing. A brilliant intern who forgets your name and invents a co-worker.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the function a memory, some hands, and a loop. It stops being a chatbot. It becomes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definition: an agent is a model, plus tools it can call, wrapped in a loop. Everything else is a flavour of this. Model is the brain, tools the hands, the loop is where the magic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idea. It reasons, acts by calling a tool, observes what came back, asks am I done. If not, around again. That circle is the difference between a model that talks and a system that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on a slide is easy. A loop you can run at BBD, that a client trusts, needs a stack. Let's build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Runtime, Ollama with Qwen. Orchestration, LangChain4j or Spring AI. Tools, the hands. Memory, the notebook. Structured output, so the answer comes back as data, not a paragraph. Hold that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tutorial online is Python, and Python is lovely. But your systems of record run on the JVM. You do not rewrite any of it. LangChain4j and Spring AI put the AI next to the business, behind Spring Security, inside your transactions, next to your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 through Ollama, entirely on this laptop. The client's data never leaves the building. No token bill that scales with success. Works on a plane. For a bank, it never leaves the building is the whole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Most people think the prompt is the steering wheel. It is one control out of six. Here is the whole cockpit.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says what. Tools decide what it can touch. Schema decides shape. Guardrails reject bad output. Memory decides what it knows and forgets. Orchestration decides who talks to whom. You barely touch the prompt, you change the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remember, then stop for two seconds. You don't program an agent, you constrain it. Prompt says what, tools say how far, schema says what shape, orchestration says who. Good agent engineering is good constraint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Lift the energy. Lever six, orchestration, is the fun one. Instead of one agent doing everything, we point a single prompt at a whole crew. One becomes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tonight's crew, and it is not a line. Copy and design start together. Design finishes first, and instead of sitting idle it helps: it hands the copywriter a tone hint. Both feed the builder. The builder hands the page to the skeptic. And then the important edge, the dashed one: the skeptic's critique loops all the way back to the copywriter, who rewrites the headline. You will watch that happen on the screen in a minute. Output from one agent becoming input to another, including backwards. That is the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what steers the crew. The prompt barely changes. The real control is structured output turning a sentence into a typed crew, and orchestration deciding they run as a team. Two levers you could never reach from the prompt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demo's plumbing, all boring reliable Java. Their phone posts one line to a Spring Boot server on my hotspot. LangChain4j runs the crew on the local Qwen model. Each event, an agent starting, a headline, a palette, streams to the stage over server-sent events. No internet anywhere in that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Structured output made concrete. The Copywriter does not hand back a wall of text I have to scrape. It returns a typed Copy object. Same for the Designer's palette. The stage builds the page field by field. When you control the shape of the answer, you control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worker in LangChain4j is an interface. No implementation. The annotations are the program. The system message makes it a specialist, role and task get slotted in. One interface backs every worker, that is the many workers line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is the whole talk in fifteen lines. The planner turns one prompt into a crew, a typed Plan. We loop, each worker does its job, we collect notes, the synthesizer folds them into one answer. Fan out, fan in. Now, let's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Switch the projector to the stage view and keep the control panel on your laptop. 'Right, let's see what you gave me.' Pick a fun submission, hit Run. Narrate as the crew lights up: copywriter writing the hero, designer choosing colours, the page recolouring live, then the skeptic's one-liner, read it out loud. If Qwen wobbles the house crew covers it, and mock mode is your parachute.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 while the awe is warm. One sentence became a team that split the work and reported back. It self-assembled, it stayed home, it was a hundred lines. The scary part is not that it worked, it is how little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kill the 'yes but in the real world' objection before it is asked. Twelve hundred lines. Eight files. Seven agents that are one model with seven different system prompts. Nine endpoints. Eight dependencies. Zero cloud calls. You could read the whole thing on the train home, and the repo is in the QR at the end. Nothing here is a framework you have to buy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talk worth an hour of a senior engineer's evening. Say it plainly: 'Everything you just watched, the parallel starts, the handoffs, the loops back, the fact that it did not die when I unplugged the model, the fact that nothing rude reached the screen, the fact that the queue kept building while I talked. None of that came from the model. That is a harness, and it is ordinary engineering. Threads, queues, schedulers, validation, a human approval step. The model is a component. The harness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whole talk has been building to. Say it slowly. 'Remember the code at the start? Every idea you sent went into a queue. And while I was up here talking about prompts and levers and loops, the crew never stopped. Seven agents. One laptop. No internet. Let me show you what they made.' Then switch the projector to the gallery.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gallery on the projector and just let the room look for a few seconds. Do not talk over it. Then: 'Every one of these has its own name, its own artwork, its own colours, its own copy, and its own honest criticism. Same seven agents, run once per idea, on one laptop, while I was busy talking.' Point out one or two of the funnier ones by name. Let people find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A function that guesses, given a loop, a stack, six levers, and a crew, learns to command a team, in Java, offline. The real skill is knowing what to ask and how to constrain the answer. Scan to connect on LinkedIn and grab the code on GitHub. What do you want to break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BBD TECH TALK  /  JAVA</a:t>
            </a:r>
            <a:endParaRPr lang="en-US" sz="1100" dirty="0"/>
          </a:p>
        </p:txBody>
      </p:sp>
      <p:sp>
        <p:nvSpPr>
          <p:cNvPr id="3" name="Text 1"/>
          <p:cNvSpPr/>
          <p:nvPr/>
        </p:nvSpPr>
        <p:spPr>
          <a:xfrm>
            <a:off x="841248" y="1417320"/>
            <a:ext cx="7315200" cy="2286000"/>
          </a:xfrm>
          <a:prstGeom prst="rect">
            <a:avLst/>
          </a:prstGeom>
          <a:noFill/>
          <a:ln/>
        </p:spPr>
        <p:txBody>
          <a:bodyPr wrap="square" rtlCol="0" anchor="ctr"/>
          <a:lstStyle/>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One Prompt.</a:t>
            </a:r>
            <a:endParaRPr lang="en-US" sz="6000" dirty="0"/>
          </a:p>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Many Workers</a:t>
            </a:r>
            <a:pPr indent="0" marL="0">
              <a:lnSpc>
                <a:spcPts val="6200"/>
              </a:lnSpc>
              <a:buNone/>
            </a:pPr>
            <a:r>
              <a:rPr lang="en-US" sz="6000" b="1" spc="-50" kern="0" dirty="0">
                <a:solidFill>
                  <a:srgbClr val="4F46E5"/>
                </a:solidFill>
                <a:latin typeface="Arial" pitchFamily="34" charset="0"/>
                <a:ea typeface="Arial" pitchFamily="34" charset="-122"/>
                <a:cs typeface="Arial" pitchFamily="34" charset="-120"/>
              </a:rPr>
              <a:t>.</a:t>
            </a:r>
            <a:endParaRPr lang="en-US" sz="6000" dirty="0"/>
          </a:p>
        </p:txBody>
      </p:sp>
      <p:sp>
        <p:nvSpPr>
          <p:cNvPr id="4" name="Text 2"/>
          <p:cNvSpPr/>
          <p:nvPr/>
        </p:nvSpPr>
        <p:spPr>
          <a:xfrm>
            <a:off x="841248" y="3886200"/>
            <a:ext cx="5760720" cy="9144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Building multi-agent AI systems in Java, where a single sentence commands a whole crew.</a:t>
            </a:r>
            <a:endParaRPr lang="en-US" sz="1700" dirty="0"/>
          </a:p>
        </p:txBody>
      </p:sp>
      <p:sp>
        <p:nvSpPr>
          <p:cNvPr id="5" name="Text 3"/>
          <p:cNvSpPr/>
          <p:nvPr/>
        </p:nvSpPr>
        <p:spPr>
          <a:xfrm>
            <a:off x="841248" y="5074920"/>
            <a:ext cx="6400800" cy="822960"/>
          </a:xfrm>
          <a:prstGeom prst="rect">
            <a:avLst/>
          </a:prstGeom>
          <a:noFill/>
          <a:ln/>
        </p:spPr>
        <p:txBody>
          <a:bodyPr wrap="square" rtlCol="0" anchor="ctr"/>
          <a:lstStyle/>
          <a:p>
            <a:pPr indent="0" marL="0">
              <a:lnSpc>
                <a:spcPts val="24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4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400"/>
              </a:lnSpc>
              <a:buNone/>
            </a:pPr>
            <a:endParaRPr lang="en-US" sz="1250" dirty="0"/>
          </a:p>
          <a:p>
            <a:pPr indent="0" marL="0">
              <a:lnSpc>
                <a:spcPts val="2400"/>
              </a:lnSpc>
              <a:buNone/>
            </a:pPr>
            <a:r>
              <a:rPr lang="en-US" sz="1250" dirty="0">
                <a:solidFill>
                  <a:srgbClr val="666C7A"/>
                </a:solidFill>
                <a:latin typeface="Consolas" pitchFamily="34" charset="0"/>
                <a:ea typeface="Consolas" pitchFamily="34" charset="-122"/>
                <a:cs typeface="Consolas" pitchFamily="34" charset="-120"/>
              </a:rPr>
              <a:t>local model   ·   no cloud   ·   live code</a:t>
            </a:r>
            <a:endParaRPr lang="en-US" sz="1250" dirty="0"/>
          </a:p>
        </p:txBody>
      </p:sp>
      <p:sp>
        <p:nvSpPr>
          <p:cNvPr id="6" name="Shape 4"/>
          <p:cNvSpPr/>
          <p:nvPr/>
        </p:nvSpPr>
        <p:spPr>
          <a:xfrm flipV="1">
            <a:off x="8366760" y="1280160"/>
            <a:ext cx="2377440" cy="2148840"/>
          </a:xfrm>
          <a:prstGeom prst="line">
            <a:avLst/>
          </a:prstGeom>
          <a:noFill/>
          <a:ln w="22225">
            <a:solidFill>
              <a:srgbClr val="0F9E8E"/>
            </a:solidFill>
            <a:prstDash val="solid"/>
          </a:ln>
        </p:spPr>
      </p:sp>
      <p:sp>
        <p:nvSpPr>
          <p:cNvPr id="7" name="Shape 5"/>
          <p:cNvSpPr/>
          <p:nvPr/>
        </p:nvSpPr>
        <p:spPr>
          <a:xfrm flipV="1">
            <a:off x="8366760" y="2331720"/>
            <a:ext cx="2377440" cy="1097280"/>
          </a:xfrm>
          <a:prstGeom prst="line">
            <a:avLst/>
          </a:prstGeom>
          <a:noFill/>
          <a:ln w="22225">
            <a:solidFill>
              <a:srgbClr val="7C3AED"/>
            </a:solidFill>
            <a:prstDash val="solid"/>
          </a:ln>
        </p:spPr>
      </p:sp>
      <p:sp>
        <p:nvSpPr>
          <p:cNvPr id="8" name="Shape 6"/>
          <p:cNvSpPr/>
          <p:nvPr/>
        </p:nvSpPr>
        <p:spPr>
          <a:xfrm>
            <a:off x="8366760" y="3429000"/>
            <a:ext cx="2377440" cy="0"/>
          </a:xfrm>
          <a:prstGeom prst="line">
            <a:avLst/>
          </a:prstGeom>
          <a:noFill/>
          <a:ln w="22225">
            <a:solidFill>
              <a:srgbClr val="4F46E5"/>
            </a:solidFill>
            <a:prstDash val="solid"/>
          </a:ln>
        </p:spPr>
      </p:sp>
      <p:sp>
        <p:nvSpPr>
          <p:cNvPr id="9" name="Shape 7"/>
          <p:cNvSpPr/>
          <p:nvPr/>
        </p:nvSpPr>
        <p:spPr>
          <a:xfrm>
            <a:off x="8366760" y="3429000"/>
            <a:ext cx="2377440" cy="1097280"/>
          </a:xfrm>
          <a:prstGeom prst="line">
            <a:avLst/>
          </a:prstGeom>
          <a:noFill/>
          <a:ln w="22225">
            <a:solidFill>
              <a:srgbClr val="E11D48"/>
            </a:solidFill>
            <a:prstDash val="solid"/>
          </a:ln>
        </p:spPr>
      </p:sp>
      <p:sp>
        <p:nvSpPr>
          <p:cNvPr id="10" name="Shape 8"/>
          <p:cNvSpPr/>
          <p:nvPr/>
        </p:nvSpPr>
        <p:spPr>
          <a:xfrm>
            <a:off x="8366760" y="3429000"/>
            <a:ext cx="2377440" cy="2148840"/>
          </a:xfrm>
          <a:prstGeom prst="line">
            <a:avLst/>
          </a:prstGeom>
          <a:noFill/>
          <a:ln w="22225">
            <a:solidFill>
              <a:srgbClr val="0284C7"/>
            </a:solidFill>
            <a:prstDash val="solid"/>
          </a:ln>
        </p:spPr>
      </p:sp>
      <p:sp>
        <p:nvSpPr>
          <p:cNvPr id="11" name="Shape 9"/>
          <p:cNvSpPr/>
          <p:nvPr/>
        </p:nvSpPr>
        <p:spPr>
          <a:xfrm>
            <a:off x="10634472" y="1170432"/>
            <a:ext cx="219456" cy="219456"/>
          </a:xfrm>
          <a:prstGeom prst="ellipse">
            <a:avLst/>
          </a:prstGeom>
          <a:solidFill>
            <a:srgbClr val="0F9E8E"/>
          </a:solidFill>
          <a:ln/>
        </p:spPr>
      </p:sp>
      <p:sp>
        <p:nvSpPr>
          <p:cNvPr id="12" name="Shape 10"/>
          <p:cNvSpPr/>
          <p:nvPr/>
        </p:nvSpPr>
        <p:spPr>
          <a:xfrm>
            <a:off x="10634472" y="2221992"/>
            <a:ext cx="219456" cy="219456"/>
          </a:xfrm>
          <a:prstGeom prst="ellipse">
            <a:avLst/>
          </a:prstGeom>
          <a:solidFill>
            <a:srgbClr val="7C3AED"/>
          </a:solidFill>
          <a:ln/>
        </p:spPr>
      </p:sp>
      <p:sp>
        <p:nvSpPr>
          <p:cNvPr id="13" name="Shape 11"/>
          <p:cNvSpPr/>
          <p:nvPr/>
        </p:nvSpPr>
        <p:spPr>
          <a:xfrm>
            <a:off x="10634472" y="3319272"/>
            <a:ext cx="219456" cy="219456"/>
          </a:xfrm>
          <a:prstGeom prst="ellipse">
            <a:avLst/>
          </a:prstGeom>
          <a:solidFill>
            <a:srgbClr val="4F46E5"/>
          </a:solidFill>
          <a:ln/>
        </p:spPr>
      </p:sp>
      <p:sp>
        <p:nvSpPr>
          <p:cNvPr id="14" name="Shape 12"/>
          <p:cNvSpPr/>
          <p:nvPr/>
        </p:nvSpPr>
        <p:spPr>
          <a:xfrm>
            <a:off x="10634472" y="4416552"/>
            <a:ext cx="219456" cy="219456"/>
          </a:xfrm>
          <a:prstGeom prst="ellipse">
            <a:avLst/>
          </a:prstGeom>
          <a:solidFill>
            <a:srgbClr val="E11D48"/>
          </a:solidFill>
          <a:ln/>
        </p:spPr>
      </p:sp>
      <p:sp>
        <p:nvSpPr>
          <p:cNvPr id="15" name="Shape 13"/>
          <p:cNvSpPr/>
          <p:nvPr/>
        </p:nvSpPr>
        <p:spPr>
          <a:xfrm>
            <a:off x="10634472" y="5468112"/>
            <a:ext cx="219456" cy="219456"/>
          </a:xfrm>
          <a:prstGeom prst="ellipse">
            <a:avLst/>
          </a:prstGeom>
          <a:solidFill>
            <a:srgbClr val="0284C7"/>
          </a:solidFill>
          <a:ln/>
        </p:spPr>
      </p:sp>
      <p:sp>
        <p:nvSpPr>
          <p:cNvPr id="16" name="Shape 14"/>
          <p:cNvSpPr/>
          <p:nvPr/>
        </p:nvSpPr>
        <p:spPr>
          <a:xfrm>
            <a:off x="8156448" y="3218688"/>
            <a:ext cx="420624" cy="420624"/>
          </a:xfrm>
          <a:prstGeom prst="ellipse">
            <a:avLst/>
          </a:prstGeom>
          <a:solidFill>
            <a:srgbClr val="4F46E5"/>
          </a:solidFill>
          <a:ln/>
        </p:spPr>
      </p:sp>
      <p:pic>
        <p:nvPicPr>
          <p:cNvPr id="17" name="Image 0" descr="preencoded.png">    </p:cNvPr>
          <p:cNvPicPr>
            <a:picLocks noChangeAspect="1"/>
          </p:cNvPicPr>
          <p:nvPr/>
        </p:nvPicPr>
        <p:blipFill>
          <a:blip r:embed="rId1"/>
          <a:stretch>
            <a:fillRect/>
          </a:stretch>
        </p:blipFill>
        <p:spPr>
          <a:xfrm>
            <a:off x="8247888" y="3319272"/>
            <a:ext cx="237744" cy="237744"/>
          </a:xfrm>
          <a:prstGeom prst="rect">
            <a:avLst/>
          </a:prstGeom>
        </p:spPr>
      </p:pic>
      <p:sp>
        <p:nvSpPr>
          <p:cNvPr id="18" name="Text 15"/>
          <p:cNvSpPr/>
          <p:nvPr/>
        </p:nvSpPr>
        <p:spPr>
          <a:xfrm>
            <a:off x="7543800" y="3721608"/>
            <a:ext cx="1645920" cy="274320"/>
          </a:xfrm>
          <a:prstGeom prst="rect">
            <a:avLst/>
          </a:prstGeom>
          <a:noFill/>
          <a:ln/>
        </p:spPr>
        <p:txBody>
          <a:bodyPr wrap="square" rtlCol="0" anchor="ctr"/>
          <a:lstStyle/>
          <a:p>
            <a:pPr algn="ctr" indent="0" marL="0">
              <a:buNone/>
            </a:pPr>
            <a:r>
              <a:rPr lang="en-US" sz="900" spc="200" kern="0" dirty="0">
                <a:solidFill>
                  <a:srgbClr val="4F46E5"/>
                </a:solidFill>
                <a:latin typeface="Consolas" pitchFamily="34" charset="0"/>
                <a:ea typeface="Consolas" pitchFamily="34" charset="-122"/>
                <a:cs typeface="Consolas" pitchFamily="34" charset="-120"/>
              </a:rPr>
              <a:t>PROMPT</a:t>
            </a:r>
            <a:endParaRPr lang="en-US" sz="900" dirty="0"/>
          </a:p>
        </p:txBody>
      </p:sp>
      <p:sp>
        <p:nvSpPr>
          <p:cNvPr id="19" name="Text 16"/>
          <p:cNvSpPr/>
          <p:nvPr/>
        </p:nvSpPr>
        <p:spPr>
          <a:xfrm>
            <a:off x="10195560" y="5760720"/>
            <a:ext cx="1554480" cy="274320"/>
          </a:xfrm>
          <a:prstGeom prst="rect">
            <a:avLst/>
          </a:prstGeom>
          <a:noFill/>
          <a:ln/>
        </p:spPr>
        <p:txBody>
          <a:bodyPr wrap="square" rtlCol="0" anchor="ctr"/>
          <a:lstStyle/>
          <a:p>
            <a:pPr algn="ctr" indent="0" marL="0">
              <a:buNone/>
            </a:pPr>
            <a:r>
              <a:rPr lang="en-US" sz="900" spc="200" kern="0" dirty="0">
                <a:solidFill>
                  <a:srgbClr val="666C7A"/>
                </a:solidFill>
                <a:latin typeface="Consolas" pitchFamily="34" charset="0"/>
                <a:ea typeface="Consolas" pitchFamily="34" charset="-122"/>
                <a:cs typeface="Consolas" pitchFamily="34" charset="-120"/>
              </a:rPr>
              <a:t>WORKERS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PROMISE</a:t>
            </a:r>
            <a:endParaRPr lang="en-US" sz="1100" dirty="0"/>
          </a:p>
        </p:txBody>
      </p:sp>
      <p:sp>
        <p:nvSpPr>
          <p:cNvPr id="3" name="Text 1"/>
          <p:cNvSpPr/>
          <p:nvPr/>
        </p:nvSpPr>
        <p:spPr>
          <a:xfrm>
            <a:off x="841248" y="1737360"/>
            <a:ext cx="6583680" cy="2103120"/>
          </a:xfrm>
          <a:prstGeom prst="rect">
            <a:avLst/>
          </a:prstGeom>
          <a:noFill/>
          <a:ln/>
        </p:spPr>
        <p:txBody>
          <a:bodyPr wrap="square" rtlCol="0" anchor="ctr"/>
          <a:lstStyle/>
          <a:p>
            <a:pPr indent="0" marL="0">
              <a:lnSpc>
                <a:spcPts val="4800"/>
              </a:lnSpc>
              <a:buNone/>
            </a:pPr>
            <a:r>
              <a:rPr lang="en-US" sz="3800" b="1" dirty="0">
                <a:solidFill>
                  <a:srgbClr val="16181D"/>
                </a:solidFill>
                <a:latin typeface="Arial" pitchFamily="34" charset="0"/>
                <a:ea typeface="Arial" pitchFamily="34" charset="-122"/>
                <a:cs typeface="Arial" pitchFamily="34" charset="-120"/>
              </a:rPr>
              <a:t>I typed </a:t>
            </a:r>
            <a:pPr indent="0" marL="0">
              <a:lnSpc>
                <a:spcPts val="4800"/>
              </a:lnSpc>
              <a:buNone/>
            </a:pPr>
            <a:r>
              <a:rPr lang="en-US" sz="3800" b="1" dirty="0">
                <a:solidFill>
                  <a:srgbClr val="4F46E5"/>
                </a:solidFill>
                <a:latin typeface="Arial" pitchFamily="34" charset="0"/>
                <a:ea typeface="Arial" pitchFamily="34" charset="-122"/>
                <a:cs typeface="Arial" pitchFamily="34" charset="-120"/>
              </a:rPr>
              <a:t>one sentence.</a:t>
            </a:r>
            <a:pPr indent="0" marL="0">
              <a:lnSpc>
                <a:spcPts val="4800"/>
              </a:lnSpc>
              <a:buNone/>
            </a:pPr>
            <a:endParaRPr lang="en-US" sz="3800" dirty="0"/>
          </a:p>
          <a:p>
            <a:pPr indent="0" marL="0">
              <a:lnSpc>
                <a:spcPts val="4800"/>
              </a:lnSpc>
              <a:buNone/>
            </a:pPr>
            <a:r>
              <a:rPr lang="en-US" sz="3800" b="1" dirty="0">
                <a:solidFill>
                  <a:srgbClr val="16181D"/>
                </a:solidFill>
                <a:latin typeface="Arial" pitchFamily="34" charset="0"/>
                <a:ea typeface="Arial" pitchFamily="34" charset="-122"/>
                <a:cs typeface="Arial" pitchFamily="34" charset="-120"/>
              </a:rPr>
              <a:t>My laptop hired </a:t>
            </a:r>
            <a:endParaRPr lang="en-US" sz="3800" dirty="0"/>
          </a:p>
          <a:p>
            <a:pPr indent="0" marL="0">
              <a:lnSpc>
                <a:spcPts val="4800"/>
              </a:lnSpc>
              <a:buNone/>
            </a:pPr>
            <a:r>
              <a:rPr lang="en-US" sz="3800" b="1" dirty="0">
                <a:solidFill>
                  <a:srgbClr val="4F46E5"/>
                </a:solidFill>
                <a:latin typeface="Arial" pitchFamily="34" charset="0"/>
                <a:ea typeface="Arial" pitchFamily="34" charset="-122"/>
                <a:cs typeface="Arial" pitchFamily="34" charset="-120"/>
              </a:rPr>
              <a:t>five workers.</a:t>
            </a:r>
            <a:endParaRPr lang="en-US" sz="3800" dirty="0"/>
          </a:p>
        </p:txBody>
      </p:sp>
      <p:sp>
        <p:nvSpPr>
          <p:cNvPr id="4" name="Text 2"/>
          <p:cNvSpPr/>
          <p:nvPr/>
        </p:nvSpPr>
        <p:spPr>
          <a:xfrm>
            <a:off x="841248" y="3977640"/>
            <a:ext cx="5669280" cy="100584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No cloud. No API bill. It never touched the internet. By the end of tonight you will have built it yourself.</a:t>
            </a:r>
            <a:endParaRPr lang="en-US" sz="1700" dirty="0"/>
          </a:p>
        </p:txBody>
      </p:sp>
      <p:sp>
        <p:nvSpPr>
          <p:cNvPr id="5" name="Text 3"/>
          <p:cNvSpPr/>
          <p:nvPr/>
        </p:nvSpPr>
        <p:spPr>
          <a:xfrm>
            <a:off x="841248" y="525780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5</a:t>
            </a:r>
            <a:endParaRPr lang="en-US" sz="3800" dirty="0"/>
          </a:p>
        </p:txBody>
      </p:sp>
      <p:sp>
        <p:nvSpPr>
          <p:cNvPr id="6" name="Text 4"/>
          <p:cNvSpPr/>
          <p:nvPr/>
        </p:nvSpPr>
        <p:spPr>
          <a:xfrm>
            <a:off x="84124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WORKERS HIRED</a:t>
            </a:r>
            <a:endParaRPr lang="en-US" sz="950" dirty="0"/>
          </a:p>
        </p:txBody>
      </p:sp>
      <p:sp>
        <p:nvSpPr>
          <p:cNvPr id="7" name="Text 5"/>
          <p:cNvSpPr/>
          <p:nvPr/>
        </p:nvSpPr>
        <p:spPr>
          <a:xfrm>
            <a:off x="280720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0720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~100</a:t>
            </a:r>
            <a:endParaRPr lang="en-US" sz="3800" dirty="0"/>
          </a:p>
        </p:txBody>
      </p:sp>
      <p:sp>
        <p:nvSpPr>
          <p:cNvPr id="10" name="Text 8"/>
          <p:cNvSpPr/>
          <p:nvPr/>
        </p:nvSpPr>
        <p:spPr>
          <a:xfrm>
            <a:off x="459028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LINES OF JAVA</a:t>
            </a:r>
            <a:endParaRPr lang="en-US" sz="950" dirty="0"/>
          </a:p>
        </p:txBody>
      </p:sp>
      <p:sp>
        <p:nvSpPr>
          <p:cNvPr id="11" name="Text 9"/>
          <p:cNvSpPr/>
          <p:nvPr/>
        </p:nvSpPr>
        <p:spPr>
          <a:xfrm>
            <a:off x="7589520" y="1965960"/>
            <a:ext cx="1554480" cy="2468880"/>
          </a:xfrm>
          <a:prstGeom prst="rect">
            <a:avLst/>
          </a:prstGeom>
          <a:noFill/>
          <a:ln/>
        </p:spPr>
        <p:txBody>
          <a:bodyPr wrap="square" rtlCol="0" anchor="ctr"/>
          <a:lstStyle/>
          <a:p>
            <a:pPr algn="ctr" indent="0" marL="0">
              <a:buNone/>
            </a:pPr>
            <a:r>
              <a:rPr lang="en-US" sz="15000" b="1" dirty="0">
                <a:solidFill>
                  <a:srgbClr val="4F46E5"/>
                </a:solidFill>
                <a:latin typeface="Arial" pitchFamily="34" charset="0"/>
                <a:ea typeface="Arial" pitchFamily="34" charset="-122"/>
                <a:cs typeface="Arial" pitchFamily="34" charset="-120"/>
              </a:rPr>
              <a:t>1</a:t>
            </a:r>
            <a:endParaRPr lang="en-US" sz="15000" dirty="0"/>
          </a:p>
        </p:txBody>
      </p:sp>
      <p:sp>
        <p:nvSpPr>
          <p:cNvPr id="12" name="Shape 10"/>
          <p:cNvSpPr/>
          <p:nvPr/>
        </p:nvSpPr>
        <p:spPr>
          <a:xfrm>
            <a:off x="9189720" y="3291840"/>
            <a:ext cx="548640" cy="0"/>
          </a:xfrm>
          <a:prstGeom prst="line">
            <a:avLst/>
          </a:prstGeom>
          <a:noFill/>
          <a:ln w="25400">
            <a:solidFill>
              <a:srgbClr val="9AA1B0"/>
            </a:solidFill>
            <a:prstDash val="solid"/>
            <a:tailEnd type="triangle"/>
          </a:ln>
        </p:spPr>
      </p:sp>
      <p:sp>
        <p:nvSpPr>
          <p:cNvPr id="13" name="Shape 11"/>
          <p:cNvSpPr/>
          <p:nvPr/>
        </p:nvSpPr>
        <p:spPr>
          <a:xfrm>
            <a:off x="9893808" y="2139696"/>
            <a:ext cx="329184" cy="32918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9972812" y="2218700"/>
            <a:ext cx="171176" cy="171176"/>
          </a:xfrm>
          <a:prstGeom prst="rect">
            <a:avLst/>
          </a:prstGeom>
        </p:spPr>
      </p:pic>
      <p:sp>
        <p:nvSpPr>
          <p:cNvPr id="15" name="Text 12"/>
          <p:cNvSpPr/>
          <p:nvPr/>
        </p:nvSpPr>
        <p:spPr>
          <a:xfrm>
            <a:off x="10351008" y="2148840"/>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ENGINEER</a:t>
            </a:r>
            <a:endParaRPr lang="en-US" sz="1100" dirty="0"/>
          </a:p>
        </p:txBody>
      </p:sp>
      <p:sp>
        <p:nvSpPr>
          <p:cNvPr id="16" name="Shape 13"/>
          <p:cNvSpPr/>
          <p:nvPr/>
        </p:nvSpPr>
        <p:spPr>
          <a:xfrm>
            <a:off x="9893808" y="2706624"/>
            <a:ext cx="329184" cy="32918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972812" y="2785628"/>
            <a:ext cx="171176" cy="171176"/>
          </a:xfrm>
          <a:prstGeom prst="rect">
            <a:avLst/>
          </a:prstGeom>
        </p:spPr>
      </p:pic>
      <p:sp>
        <p:nvSpPr>
          <p:cNvPr id="18" name="Text 14"/>
          <p:cNvSpPr/>
          <p:nvPr/>
        </p:nvSpPr>
        <p:spPr>
          <a:xfrm>
            <a:off x="10351008" y="2715768"/>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MARKETER</a:t>
            </a:r>
            <a:endParaRPr lang="en-US" sz="1100" dirty="0"/>
          </a:p>
        </p:txBody>
      </p:sp>
      <p:sp>
        <p:nvSpPr>
          <p:cNvPr id="19" name="Shape 15"/>
          <p:cNvSpPr/>
          <p:nvPr/>
        </p:nvSpPr>
        <p:spPr>
          <a:xfrm>
            <a:off x="9893808" y="3273552"/>
            <a:ext cx="329184" cy="32918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9972812" y="3352556"/>
            <a:ext cx="171176" cy="171176"/>
          </a:xfrm>
          <a:prstGeom prst="rect">
            <a:avLst/>
          </a:prstGeom>
        </p:spPr>
      </p:pic>
      <p:sp>
        <p:nvSpPr>
          <p:cNvPr id="21" name="Text 16"/>
          <p:cNvSpPr/>
          <p:nvPr/>
        </p:nvSpPr>
        <p:spPr>
          <a:xfrm>
            <a:off x="10351008" y="3282696"/>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DESIGNER</a:t>
            </a:r>
            <a:endParaRPr lang="en-US" sz="1100" dirty="0"/>
          </a:p>
        </p:txBody>
      </p:sp>
      <p:sp>
        <p:nvSpPr>
          <p:cNvPr id="22" name="Shape 17"/>
          <p:cNvSpPr/>
          <p:nvPr/>
        </p:nvSpPr>
        <p:spPr>
          <a:xfrm>
            <a:off x="9893808" y="3840480"/>
            <a:ext cx="329184" cy="32918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3" name="Image 3" descr="preencoded.png">    </p:cNvPr>
          <p:cNvPicPr>
            <a:picLocks noChangeAspect="1"/>
          </p:cNvPicPr>
          <p:nvPr/>
        </p:nvPicPr>
        <p:blipFill>
          <a:blip r:embed="rId4"/>
          <a:stretch>
            <a:fillRect/>
          </a:stretch>
        </p:blipFill>
        <p:spPr>
          <a:xfrm>
            <a:off x="9972812" y="3919484"/>
            <a:ext cx="171176" cy="171176"/>
          </a:xfrm>
          <a:prstGeom prst="rect">
            <a:avLst/>
          </a:prstGeom>
        </p:spPr>
      </p:pic>
      <p:sp>
        <p:nvSpPr>
          <p:cNvPr id="24" name="Text 18"/>
          <p:cNvSpPr/>
          <p:nvPr/>
        </p:nvSpPr>
        <p:spPr>
          <a:xfrm>
            <a:off x="10351008" y="3849624"/>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LEGAL</a:t>
            </a:r>
            <a:endParaRPr lang="en-US" sz="1100" dirty="0"/>
          </a:p>
        </p:txBody>
      </p:sp>
      <p:sp>
        <p:nvSpPr>
          <p:cNvPr id="25" name="Shape 19"/>
          <p:cNvSpPr/>
          <p:nvPr/>
        </p:nvSpPr>
        <p:spPr>
          <a:xfrm>
            <a:off x="9893808" y="4407408"/>
            <a:ext cx="329184" cy="32918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9972812" y="4486412"/>
            <a:ext cx="171176" cy="171176"/>
          </a:xfrm>
          <a:prstGeom prst="rect">
            <a:avLst/>
          </a:prstGeom>
        </p:spPr>
      </p:pic>
      <p:sp>
        <p:nvSpPr>
          <p:cNvPr id="27" name="Text 20"/>
          <p:cNvSpPr/>
          <p:nvPr/>
        </p:nvSpPr>
        <p:spPr>
          <a:xfrm>
            <a:off x="10351008" y="4416552"/>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DEVREL</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JOIN IN  ·  THIS ONE'S INTERACTIVE</a:t>
            </a:r>
            <a:endParaRPr lang="en-US" sz="1100" dirty="0"/>
          </a:p>
        </p:txBody>
      </p:sp>
      <p:sp>
        <p:nvSpPr>
          <p:cNvPr id="3" name="Text 1"/>
          <p:cNvSpPr/>
          <p:nvPr/>
        </p:nvSpPr>
        <p:spPr>
          <a:xfrm>
            <a:off x="841248" y="1371600"/>
            <a:ext cx="6400800" cy="173736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Scan it. Type </a:t>
            </a:r>
            <a:pPr indent="0" marL="0">
              <a:lnSpc>
                <a:spcPts val="4600"/>
              </a:lnSpc>
              <a:buNone/>
            </a:pPr>
            <a:r>
              <a:rPr lang="en-US" sz="3800" b="1" dirty="0">
                <a:solidFill>
                  <a:srgbClr val="4F46E5"/>
                </a:solidFill>
                <a:latin typeface="Arial" pitchFamily="34" charset="0"/>
                <a:ea typeface="Arial" pitchFamily="34" charset="-122"/>
                <a:cs typeface="Arial" pitchFamily="34" charset="-120"/>
              </a:rPr>
              <a:t>one line.</a:t>
            </a:r>
            <a:pPr indent="0" marL="0">
              <a:lnSpc>
                <a:spcPts val="4600"/>
              </a:lnSpc>
              <a:buNone/>
            </a:pP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The crew starts on it now.</a:t>
            </a:r>
            <a:endParaRPr lang="en-US" sz="3800" dirty="0"/>
          </a:p>
        </p:txBody>
      </p:sp>
      <p:sp>
        <p:nvSpPr>
          <p:cNvPr id="4" name="Shape 2"/>
          <p:cNvSpPr/>
          <p:nvPr/>
        </p:nvSpPr>
        <p:spPr>
          <a:xfrm>
            <a:off x="841248" y="3520440"/>
            <a:ext cx="402336" cy="402336"/>
          </a:xfrm>
          <a:prstGeom prst="ellipse">
            <a:avLst/>
          </a:prstGeom>
          <a:solidFill>
            <a:srgbClr val="4F46E5"/>
          </a:solidFill>
          <a:ln/>
        </p:spPr>
      </p:sp>
      <p:sp>
        <p:nvSpPr>
          <p:cNvPr id="5" name="Text 3"/>
          <p:cNvSpPr/>
          <p:nvPr/>
        </p:nvSpPr>
        <p:spPr>
          <a:xfrm>
            <a:off x="841248" y="3520440"/>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408176" y="3502152"/>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Join the room's Wi-Fi hotspot</a:t>
            </a:r>
            <a:endParaRPr lang="en-US" sz="1650" dirty="0"/>
          </a:p>
        </p:txBody>
      </p:sp>
      <p:sp>
        <p:nvSpPr>
          <p:cNvPr id="7" name="Shape 5"/>
          <p:cNvSpPr/>
          <p:nvPr/>
        </p:nvSpPr>
        <p:spPr>
          <a:xfrm>
            <a:off x="841248" y="4197096"/>
            <a:ext cx="402336" cy="402336"/>
          </a:xfrm>
          <a:prstGeom prst="ellipse">
            <a:avLst/>
          </a:prstGeom>
          <a:solidFill>
            <a:srgbClr val="4F46E5"/>
          </a:solidFill>
          <a:ln/>
        </p:spPr>
      </p:sp>
      <p:sp>
        <p:nvSpPr>
          <p:cNvPr id="8" name="Text 6"/>
          <p:cNvSpPr/>
          <p:nvPr/>
        </p:nvSpPr>
        <p:spPr>
          <a:xfrm>
            <a:off x="841248" y="4197096"/>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1408176" y="4178808"/>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Scan the code with your phone</a:t>
            </a:r>
            <a:endParaRPr lang="en-US" sz="1650" dirty="0"/>
          </a:p>
        </p:txBody>
      </p:sp>
      <p:sp>
        <p:nvSpPr>
          <p:cNvPr id="10" name="Shape 8"/>
          <p:cNvSpPr/>
          <p:nvPr/>
        </p:nvSpPr>
        <p:spPr>
          <a:xfrm>
            <a:off x="841248" y="4873752"/>
            <a:ext cx="402336" cy="402336"/>
          </a:xfrm>
          <a:prstGeom prst="ellipse">
            <a:avLst/>
          </a:prstGeom>
          <a:solidFill>
            <a:srgbClr val="4F46E5"/>
          </a:solidFill>
          <a:ln/>
        </p:spPr>
      </p:sp>
      <p:sp>
        <p:nvSpPr>
          <p:cNvPr id="11" name="Text 9"/>
          <p:cNvSpPr/>
          <p:nvPr/>
        </p:nvSpPr>
        <p:spPr>
          <a:xfrm>
            <a:off x="841248" y="4873752"/>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1408176" y="4855464"/>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Send the crew a product idea</a:t>
            </a:r>
            <a:endParaRPr lang="en-US" sz="1650" dirty="0"/>
          </a:p>
        </p:txBody>
      </p:sp>
      <p:sp>
        <p:nvSpPr>
          <p:cNvPr id="13" name="Text 11"/>
          <p:cNvSpPr/>
          <p:nvPr/>
        </p:nvSpPr>
        <p:spPr>
          <a:xfrm>
            <a:off x="841248" y="5806440"/>
            <a:ext cx="6035040" cy="548640"/>
          </a:xfrm>
          <a:prstGeom prst="rect">
            <a:avLst/>
          </a:prstGeom>
          <a:noFill/>
          <a:ln/>
        </p:spPr>
        <p:txBody>
          <a:bodyPr wrap="square" rtlCol="0" anchor="ctr"/>
          <a:lstStyle/>
          <a:p>
            <a:pPr indent="0" marL="0">
              <a:lnSpc>
                <a:spcPts val="1600"/>
              </a:lnSpc>
              <a:buNone/>
            </a:pPr>
            <a:r>
              <a:rPr lang="en-US" sz="1100" dirty="0">
                <a:solidFill>
                  <a:srgbClr val="9AA1B0"/>
                </a:solidFill>
                <a:latin typeface="Consolas" pitchFamily="34" charset="0"/>
                <a:ea typeface="Consolas" pitchFamily="34" charset="-122"/>
                <a:cs typeface="Consolas" pitchFamily="34" charset="-120"/>
              </a:rPr>
              <a:t>From the moment you send it, agents on this laptop start building your page. You will see them all at the end.</a:t>
            </a:r>
            <a:endParaRPr lang="en-US" sz="1100" dirty="0"/>
          </a:p>
        </p:txBody>
      </p:sp>
      <p:sp>
        <p:nvSpPr>
          <p:cNvPr id="14" name="Shape 12"/>
          <p:cNvSpPr/>
          <p:nvPr/>
        </p:nvSpPr>
        <p:spPr>
          <a:xfrm>
            <a:off x="7955280" y="1417320"/>
            <a:ext cx="3200400" cy="406908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5" name="Image 0" descr="preencoded.png">    </p:cNvPr>
          <p:cNvPicPr>
            <a:picLocks noChangeAspect="1"/>
          </p:cNvPicPr>
          <p:nvPr/>
        </p:nvPicPr>
        <p:blipFill>
          <a:blip r:embed="rId1"/>
          <a:stretch>
            <a:fillRect/>
          </a:stretch>
        </p:blipFill>
        <p:spPr>
          <a:xfrm>
            <a:off x="8458200" y="1783080"/>
            <a:ext cx="2194560" cy="2194560"/>
          </a:xfrm>
          <a:prstGeom prst="rect">
            <a:avLst/>
          </a:prstGeom>
        </p:spPr>
      </p:pic>
      <p:sp>
        <p:nvSpPr>
          <p:cNvPr id="16" name="Shape 13"/>
          <p:cNvSpPr/>
          <p:nvPr/>
        </p:nvSpPr>
        <p:spPr>
          <a:xfrm>
            <a:off x="9326880" y="420624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436608" y="4315968"/>
            <a:ext cx="237744" cy="237744"/>
          </a:xfrm>
          <a:prstGeom prst="rect">
            <a:avLst/>
          </a:prstGeom>
        </p:spPr>
      </p:pic>
      <p:sp>
        <p:nvSpPr>
          <p:cNvPr id="18" name="Text 14"/>
          <p:cNvSpPr/>
          <p:nvPr/>
        </p:nvSpPr>
        <p:spPr>
          <a:xfrm>
            <a:off x="7955280" y="4727448"/>
            <a:ext cx="3200400" cy="32004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scan to join</a:t>
            </a:r>
            <a:endParaRPr lang="en-US" sz="1600" dirty="0"/>
          </a:p>
        </p:txBody>
      </p:sp>
      <p:sp>
        <p:nvSpPr>
          <p:cNvPr id="19" name="Text 15"/>
          <p:cNvSpPr/>
          <p:nvPr/>
        </p:nvSpPr>
        <p:spPr>
          <a:xfrm>
            <a:off x="7955280" y="5029200"/>
            <a:ext cx="3200400" cy="274320"/>
          </a:xfrm>
          <a:prstGeom prst="rect">
            <a:avLst/>
          </a:prstGeom>
          <a:noFill/>
          <a:ln/>
        </p:spPr>
        <p:txBody>
          <a:bodyPr wrap="square" rtlCol="0" anchor="ctr"/>
          <a:lstStyle/>
          <a:p>
            <a:pPr algn="ctr" indent="0" marL="0">
              <a:buNone/>
            </a:pPr>
            <a:r>
              <a:rPr lang="en-US" sz="1200" dirty="0">
                <a:solidFill>
                  <a:srgbClr val="666C7A"/>
                </a:solidFill>
                <a:latin typeface="Calibri" pitchFamily="34" charset="0"/>
                <a:ea typeface="Calibri" pitchFamily="34" charset="-122"/>
                <a:cs typeface="Calibri" pitchFamily="34" charset="-120"/>
              </a:rPr>
              <a:t>the crew is waiting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WE'RE GOING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rungs from </a:t>
            </a:r>
            <a:pPr indent="0" marL="0">
              <a:buNone/>
            </a:pPr>
            <a:r>
              <a:rPr lang="en-US" sz="3200" b="1" dirty="0">
                <a:solidFill>
                  <a:srgbClr val="4F46E5"/>
                </a:solidFill>
                <a:latin typeface="Arial" pitchFamily="34" charset="0"/>
                <a:ea typeface="Arial" pitchFamily="34" charset="-122"/>
                <a:cs typeface="Arial" pitchFamily="34" charset="-120"/>
              </a:rPr>
              <a:t>a sentence</a:t>
            </a:r>
            <a:pPr indent="0" marL="0">
              <a:buNone/>
            </a:pPr>
            <a:r>
              <a:rPr lang="en-US" sz="3200" b="1" dirty="0">
                <a:solidFill>
                  <a:srgbClr val="16181D"/>
                </a:solidFill>
                <a:latin typeface="Arial" pitchFamily="34" charset="0"/>
                <a:ea typeface="Arial" pitchFamily="34" charset="-122"/>
                <a:cs typeface="Arial" pitchFamily="34" charset="-120"/>
              </a:rPr>
              <a:t> to </a:t>
            </a:r>
            <a:pPr indent="0" marL="0">
              <a:buNone/>
            </a:pPr>
            <a:r>
              <a:rPr lang="en-US" sz="3200" b="1" dirty="0">
                <a:solidFill>
                  <a:srgbClr val="4F46E5"/>
                </a:solidFill>
                <a:latin typeface="Arial" pitchFamily="34" charset="0"/>
                <a:ea typeface="Arial" pitchFamily="34" charset="-122"/>
                <a:cs typeface="Arial" pitchFamily="34" charset="-120"/>
              </a:rPr>
              <a:t>a swarm.</a:t>
            </a:r>
            <a:endParaRPr lang="en-US" sz="3200" dirty="0"/>
          </a:p>
        </p:txBody>
      </p:sp>
      <p:sp>
        <p:nvSpPr>
          <p:cNvPr id="4" name="Shape 2"/>
          <p:cNvSpPr/>
          <p:nvPr/>
        </p:nvSpPr>
        <p:spPr>
          <a:xfrm>
            <a:off x="868680" y="228600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78408" y="2395728"/>
            <a:ext cx="237744" cy="237744"/>
          </a:xfrm>
          <a:prstGeom prst="rect">
            <a:avLst/>
          </a:prstGeom>
        </p:spPr>
      </p:pic>
      <p:sp>
        <p:nvSpPr>
          <p:cNvPr id="6" name="Text 3"/>
          <p:cNvSpPr/>
          <p:nvPr/>
        </p:nvSpPr>
        <p:spPr>
          <a:xfrm>
            <a:off x="1527048" y="2331720"/>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01  PROMPT</a:t>
            </a:r>
            <a:endParaRPr lang="en-US" sz="1150" dirty="0"/>
          </a:p>
        </p:txBody>
      </p:sp>
      <p:sp>
        <p:nvSpPr>
          <p:cNvPr id="7" name="Text 4"/>
          <p:cNvSpPr/>
          <p:nvPr/>
        </p:nvSpPr>
        <p:spPr>
          <a:xfrm>
            <a:off x="3931920" y="2331720"/>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atom. </a:t>
            </a:r>
            <a:pPr indent="0" marL="0">
              <a:buNone/>
            </a:pPr>
            <a:r>
              <a:rPr lang="en-US" sz="1700" dirty="0">
                <a:solidFill>
                  <a:srgbClr val="666C7A"/>
                </a:solidFill>
                <a:latin typeface="Calibri" pitchFamily="34" charset="0"/>
                <a:ea typeface="Calibri" pitchFamily="34" charset="-122"/>
                <a:cs typeface="Calibri" pitchFamily="34" charset="-120"/>
              </a:rPr>
              <a:t>What a prompt actually is.</a:t>
            </a:r>
            <a:endParaRPr lang="en-US" sz="1700" dirty="0"/>
          </a:p>
        </p:txBody>
      </p:sp>
      <p:sp>
        <p:nvSpPr>
          <p:cNvPr id="8" name="Shape 5"/>
          <p:cNvSpPr/>
          <p:nvPr/>
        </p:nvSpPr>
        <p:spPr>
          <a:xfrm>
            <a:off x="868680" y="3035808"/>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78408" y="3145536"/>
            <a:ext cx="237744" cy="237744"/>
          </a:xfrm>
          <a:prstGeom prst="rect">
            <a:avLst/>
          </a:prstGeom>
        </p:spPr>
      </p:pic>
      <p:sp>
        <p:nvSpPr>
          <p:cNvPr id="10" name="Text 6"/>
          <p:cNvSpPr/>
          <p:nvPr/>
        </p:nvSpPr>
        <p:spPr>
          <a:xfrm>
            <a:off x="1527048" y="3081528"/>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02  AGENT</a:t>
            </a:r>
            <a:endParaRPr lang="en-US" sz="1150" dirty="0"/>
          </a:p>
        </p:txBody>
      </p:sp>
      <p:sp>
        <p:nvSpPr>
          <p:cNvPr id="11" name="Text 7"/>
          <p:cNvSpPr/>
          <p:nvPr/>
        </p:nvSpPr>
        <p:spPr>
          <a:xfrm>
            <a:off x="3931920" y="3081528"/>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loop </a:t>
            </a:r>
            <a:pPr indent="0" marL="0">
              <a:buNone/>
            </a:pPr>
            <a:r>
              <a:rPr lang="en-US" sz="1700" dirty="0">
                <a:solidFill>
                  <a:srgbClr val="666C7A"/>
                </a:solidFill>
                <a:latin typeface="Calibri" pitchFamily="34" charset="0"/>
                <a:ea typeface="Calibri" pitchFamily="34" charset="-122"/>
                <a:cs typeface="Calibri" pitchFamily="34" charset="-120"/>
              </a:rPr>
              <a:t>that turns talk into action.</a:t>
            </a:r>
            <a:endParaRPr lang="en-US" sz="1700" dirty="0"/>
          </a:p>
        </p:txBody>
      </p:sp>
      <p:sp>
        <p:nvSpPr>
          <p:cNvPr id="12" name="Shape 8"/>
          <p:cNvSpPr/>
          <p:nvPr/>
        </p:nvSpPr>
        <p:spPr>
          <a:xfrm>
            <a:off x="868680" y="3785616"/>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78408" y="3895344"/>
            <a:ext cx="237744" cy="237744"/>
          </a:xfrm>
          <a:prstGeom prst="rect">
            <a:avLst/>
          </a:prstGeom>
        </p:spPr>
      </p:pic>
      <p:sp>
        <p:nvSpPr>
          <p:cNvPr id="14" name="Text 9"/>
          <p:cNvSpPr/>
          <p:nvPr/>
        </p:nvSpPr>
        <p:spPr>
          <a:xfrm>
            <a:off x="1527048" y="3831336"/>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03  STACK</a:t>
            </a:r>
            <a:endParaRPr lang="en-US" sz="1150" dirty="0"/>
          </a:p>
        </p:txBody>
      </p:sp>
      <p:sp>
        <p:nvSpPr>
          <p:cNvPr id="15" name="Text 10"/>
          <p:cNvSpPr/>
          <p:nvPr/>
        </p:nvSpPr>
        <p:spPr>
          <a:xfrm>
            <a:off x="3931920" y="3831336"/>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infrastructure, </a:t>
            </a:r>
            <a:pPr indent="0" marL="0">
              <a:buNone/>
            </a:pPr>
            <a:r>
              <a:rPr lang="en-US" sz="1700" dirty="0">
                <a:solidFill>
                  <a:srgbClr val="666C7A"/>
                </a:solidFill>
                <a:latin typeface="Calibri" pitchFamily="34" charset="0"/>
                <a:ea typeface="Calibri" pitchFamily="34" charset="-122"/>
                <a:cs typeface="Calibri" pitchFamily="34" charset="-120"/>
              </a:rPr>
              <a:t>and why Java.</a:t>
            </a:r>
            <a:endParaRPr lang="en-US" sz="1700" dirty="0"/>
          </a:p>
        </p:txBody>
      </p:sp>
      <p:sp>
        <p:nvSpPr>
          <p:cNvPr id="16" name="Shape 11"/>
          <p:cNvSpPr/>
          <p:nvPr/>
        </p:nvSpPr>
        <p:spPr>
          <a:xfrm>
            <a:off x="868680" y="4535424"/>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78408" y="4645152"/>
            <a:ext cx="237744" cy="237744"/>
          </a:xfrm>
          <a:prstGeom prst="rect">
            <a:avLst/>
          </a:prstGeom>
        </p:spPr>
      </p:pic>
      <p:sp>
        <p:nvSpPr>
          <p:cNvPr id="18" name="Text 12"/>
          <p:cNvSpPr/>
          <p:nvPr/>
        </p:nvSpPr>
        <p:spPr>
          <a:xfrm>
            <a:off x="1527048" y="4581144"/>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04  CONTROL</a:t>
            </a:r>
            <a:endParaRPr lang="en-US" sz="1150" dirty="0"/>
          </a:p>
        </p:txBody>
      </p:sp>
      <p:sp>
        <p:nvSpPr>
          <p:cNvPr id="19" name="Text 13"/>
          <p:cNvSpPr/>
          <p:nvPr/>
        </p:nvSpPr>
        <p:spPr>
          <a:xfrm>
            <a:off x="3931920" y="4581144"/>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Six levers </a:t>
            </a:r>
            <a:pPr indent="0" marL="0">
              <a:buNone/>
            </a:pPr>
            <a:r>
              <a:rPr lang="en-US" sz="1700" dirty="0">
                <a:solidFill>
                  <a:srgbClr val="666C7A"/>
                </a:solidFill>
                <a:latin typeface="Calibri" pitchFamily="34" charset="0"/>
                <a:ea typeface="Calibri" pitchFamily="34" charset="-122"/>
                <a:cs typeface="Calibri" pitchFamily="34" charset="-120"/>
              </a:rPr>
              <a:t>beyond the prompt.</a:t>
            </a:r>
            <a:endParaRPr lang="en-US" sz="1700" dirty="0"/>
          </a:p>
        </p:txBody>
      </p:sp>
      <p:sp>
        <p:nvSpPr>
          <p:cNvPr id="20" name="Shape 14"/>
          <p:cNvSpPr/>
          <p:nvPr/>
        </p:nvSpPr>
        <p:spPr>
          <a:xfrm>
            <a:off x="868680" y="5285232"/>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78408" y="5394960"/>
            <a:ext cx="237744" cy="237744"/>
          </a:xfrm>
          <a:prstGeom prst="rect">
            <a:avLst/>
          </a:prstGeom>
        </p:spPr>
      </p:pic>
      <p:sp>
        <p:nvSpPr>
          <p:cNvPr id="22" name="Text 15"/>
          <p:cNvSpPr/>
          <p:nvPr/>
        </p:nvSpPr>
        <p:spPr>
          <a:xfrm>
            <a:off x="1527048" y="5330952"/>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05  SWARM</a:t>
            </a:r>
            <a:endParaRPr lang="en-US" sz="1150" dirty="0"/>
          </a:p>
        </p:txBody>
      </p:sp>
      <p:sp>
        <p:nvSpPr>
          <p:cNvPr id="23" name="Text 16"/>
          <p:cNvSpPr/>
          <p:nvPr/>
        </p:nvSpPr>
        <p:spPr>
          <a:xfrm>
            <a:off x="3931920" y="5330952"/>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One prompt, many workers, </a:t>
            </a:r>
            <a:pPr indent="0" marL="0">
              <a:buNone/>
            </a:pPr>
            <a:r>
              <a:rPr lang="en-US" sz="1700" dirty="0">
                <a:solidFill>
                  <a:srgbClr val="666C7A"/>
                </a:solidFill>
                <a:latin typeface="Calibri" pitchFamily="34" charset="0"/>
                <a:ea typeface="Calibri" pitchFamily="34" charset="-122"/>
                <a:cs typeface="Calibri" pitchFamily="34" charset="-120"/>
              </a:rPr>
              <a:t>live.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ACT ONE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smallest unit of the whole thing, and the most misunderstood.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ATOM</a:t>
            </a:r>
            <a:endParaRPr lang="en-US" sz="1100" dirty="0"/>
          </a:p>
        </p:txBody>
      </p:sp>
      <p:sp>
        <p:nvSpPr>
          <p:cNvPr id="3" name="Text 1"/>
          <p:cNvSpPr/>
          <p:nvPr/>
        </p:nvSpPr>
        <p:spPr>
          <a:xfrm>
            <a:off x="841248" y="1371600"/>
            <a:ext cx="5852160" cy="1371600"/>
          </a:xfrm>
          <a:prstGeom prst="rect">
            <a:avLst/>
          </a:prstGeom>
          <a:noFill/>
          <a:ln/>
        </p:spPr>
        <p:txBody>
          <a:bodyPr wrap="square" rtlCol="0" anchor="ctr"/>
          <a:lstStyle/>
          <a:p>
            <a:pPr indent="0" marL="0">
              <a:lnSpc>
                <a:spcPts val="4400"/>
              </a:lnSpc>
              <a:buNone/>
            </a:pPr>
            <a:r>
              <a:rPr lang="en-US" sz="3800" b="1" dirty="0">
                <a:solidFill>
                  <a:srgbClr val="16181D"/>
                </a:solidFill>
                <a:latin typeface="Arial" pitchFamily="34" charset="0"/>
                <a:ea typeface="Arial" pitchFamily="34" charset="-122"/>
                <a:cs typeface="Arial" pitchFamily="34" charset="-120"/>
              </a:rPr>
              <a:t>A model is just a </a:t>
            </a:r>
            <a:pPr indent="0" marL="0">
              <a:lnSpc>
                <a:spcPts val="4400"/>
              </a:lnSpc>
              <a:buNone/>
            </a:pPr>
            <a:r>
              <a:rPr lang="en-US" sz="3800" b="1" dirty="0">
                <a:solidFill>
                  <a:srgbClr val="4F46E5"/>
                </a:solidFill>
                <a:latin typeface="Arial" pitchFamily="34" charset="0"/>
                <a:ea typeface="Arial" pitchFamily="34" charset="-122"/>
                <a:cs typeface="Arial" pitchFamily="34" charset="-120"/>
              </a:rPr>
              <a:t>function.</a:t>
            </a:r>
            <a:endParaRPr lang="en-US" sz="3800" dirty="0"/>
          </a:p>
        </p:txBody>
      </p:sp>
      <p:sp>
        <p:nvSpPr>
          <p:cNvPr id="4" name="Text 2"/>
          <p:cNvSpPr/>
          <p:nvPr/>
        </p:nvSpPr>
        <p:spPr>
          <a:xfrm>
            <a:off x="841248" y="2834640"/>
            <a:ext cx="5212080" cy="1371600"/>
          </a:xfrm>
          <a:prstGeom prst="rect">
            <a:avLst/>
          </a:prstGeom>
          <a:noFill/>
          <a:ln/>
        </p:spPr>
        <p:txBody>
          <a:bodyPr wrap="square" rtlCol="0" anchor="ctr"/>
          <a:lstStyle/>
          <a:p>
            <a:pPr indent="0" marL="0">
              <a:lnSpc>
                <a:spcPts val="2800"/>
              </a:lnSpc>
              <a:buNone/>
            </a:pPr>
            <a:r>
              <a:rPr lang="en-US" sz="1800" dirty="0">
                <a:solidFill>
                  <a:srgbClr val="666C7A"/>
                </a:solidFill>
                <a:latin typeface="Calibri" pitchFamily="34" charset="0"/>
                <a:ea typeface="Calibri" pitchFamily="34" charset="-122"/>
                <a:cs typeface="Calibri" pitchFamily="34" charset="-120"/>
              </a:rPr>
              <a:t>Text goes in. Text comes out. No memory of a moment ago. No hands. No way to check its own work.</a:t>
            </a:r>
            <a:endParaRPr lang="en-US" sz="1800" dirty="0"/>
          </a:p>
        </p:txBody>
      </p:sp>
      <p:sp>
        <p:nvSpPr>
          <p:cNvPr id="5" name="Text 3"/>
          <p:cNvSpPr/>
          <p:nvPr/>
        </p:nvSpPr>
        <p:spPr>
          <a:xfrm>
            <a:off x="841248" y="4663440"/>
            <a:ext cx="5486400" cy="457200"/>
          </a:xfrm>
          <a:prstGeom prst="rect">
            <a:avLst/>
          </a:prstGeom>
          <a:noFill/>
          <a:ln/>
        </p:spPr>
        <p:txBody>
          <a:bodyPr wrap="square" rtlCol="0" anchor="ctr"/>
          <a:lstStyle/>
          <a:p>
            <a:pPr indent="0" marL="0">
              <a:buNone/>
            </a:pPr>
            <a:r>
              <a:rPr lang="en-US" sz="1300" dirty="0">
                <a:solidFill>
                  <a:srgbClr val="4F46E5"/>
                </a:solidFill>
                <a:latin typeface="Consolas" pitchFamily="34" charset="0"/>
                <a:ea typeface="Consolas" pitchFamily="34" charset="-122"/>
                <a:cs typeface="Consolas" pitchFamily="34" charset="-120"/>
              </a:rPr>
              <a:t>A prompt is you calling that function.</a:t>
            </a:r>
            <a:endParaRPr lang="en-US" sz="1300" dirty="0"/>
          </a:p>
        </p:txBody>
      </p:sp>
      <p:sp>
        <p:nvSpPr>
          <p:cNvPr id="6" name="Shape 4"/>
          <p:cNvSpPr/>
          <p:nvPr/>
        </p:nvSpPr>
        <p:spPr>
          <a:xfrm>
            <a:off x="6766560" y="1554480"/>
            <a:ext cx="4572000" cy="3474720"/>
          </a:xfrm>
          <a:prstGeom prst="roundRect">
            <a:avLst>
              <a:gd name="adj" fmla="val 2632"/>
            </a:avLst>
          </a:prstGeom>
          <a:solidFill>
            <a:srgbClr val="16181D"/>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7132320" y="1920240"/>
            <a:ext cx="3931920" cy="2743200"/>
          </a:xfrm>
          <a:prstGeom prst="rect">
            <a:avLst/>
          </a:prstGeom>
          <a:noFill/>
          <a:ln/>
        </p:spPr>
        <p:txBody>
          <a:bodyPr wrap="square" rtlCol="0" anchor="t"/>
          <a:lstStyle/>
          <a:p>
            <a:pPr indent="0" marL="0">
              <a:lnSpc>
                <a:spcPts val="3000"/>
              </a:lnSpc>
              <a:buNone/>
            </a:pPr>
            <a:r>
              <a:rPr lang="en-US" sz="1500" dirty="0">
                <a:solidFill>
                  <a:srgbClr val="C4B5FD"/>
                </a:solidFill>
                <a:latin typeface="Consolas" pitchFamily="34" charset="0"/>
                <a:ea typeface="Consolas" pitchFamily="34" charset="-122"/>
                <a:cs typeface="Consolas" pitchFamily="34" charset="-120"/>
              </a:rPr>
              <a:t>String</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 reply = </a:t>
            </a:r>
            <a:pPr indent="0" marL="0">
              <a:lnSpc>
                <a:spcPts val="3000"/>
              </a:lnSpc>
              <a:buNone/>
            </a:pPr>
            <a:endParaRPr lang="en-US" sz="1500" dirty="0"/>
          </a:p>
          <a:p>
            <a:pPr indent="0" marL="0">
              <a:lnSpc>
                <a:spcPts val="3000"/>
              </a:lnSpc>
              <a:buNone/>
            </a:pPr>
            <a:r>
              <a:rPr lang="en-US" sz="1500" dirty="0">
                <a:solidFill>
                  <a:srgbClr val="E6E9F0"/>
                </a:solidFill>
                <a:latin typeface="Consolas" pitchFamily="34" charset="0"/>
                <a:ea typeface="Consolas" pitchFamily="34" charset="-122"/>
                <a:cs typeface="Consolas" pitchFamily="34" charset="-120"/>
              </a:rPr>
              <a:t>   model.</a:t>
            </a:r>
            <a:endParaRPr lang="en-US" sz="1500" dirty="0"/>
          </a:p>
          <a:p>
            <a:pPr indent="0" marL="0">
              <a:lnSpc>
                <a:spcPts val="3000"/>
              </a:lnSpc>
              <a:buNone/>
            </a:pPr>
            <a:r>
              <a:rPr lang="en-US" sz="1500" dirty="0">
                <a:solidFill>
                  <a:srgbClr val="FBBF24"/>
                </a:solidFill>
                <a:latin typeface="Consolas" pitchFamily="34" charset="0"/>
                <a:ea typeface="Consolas" pitchFamily="34" charset="-122"/>
                <a:cs typeface="Consolas" pitchFamily="34" charset="-120"/>
              </a:rPr>
              <a:t>chat</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r>
              <a:rPr lang="en-US" sz="1500" dirty="0">
                <a:solidFill>
                  <a:srgbClr val="6EE7D8"/>
                </a:solidFill>
                <a:latin typeface="Consolas" pitchFamily="34" charset="0"/>
                <a:ea typeface="Consolas" pitchFamily="34" charset="-122"/>
                <a:cs typeface="Consolas" pitchFamily="34" charset="-120"/>
              </a:rPr>
              <a:t>"summarise this"</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text in  -&gt;  text out</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no memory. no hands.</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ask twice -&gt; two answers.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CEILING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A raw prompt hits </a:t>
            </a:r>
            <a:pPr indent="0" marL="0">
              <a:buNone/>
            </a:pPr>
            <a:r>
              <a:rPr lang="en-US" sz="3200" b="1" dirty="0">
                <a:solidFill>
                  <a:srgbClr val="4F46E5"/>
                </a:solidFill>
                <a:latin typeface="Arial" pitchFamily="34" charset="0"/>
                <a:ea typeface="Arial" pitchFamily="34" charset="-122"/>
                <a:cs typeface="Arial" pitchFamily="34" charset="-120"/>
              </a:rPr>
              <a:t>three walls.</a:t>
            </a:r>
            <a:endParaRPr lang="en-US" sz="3200" dirty="0"/>
          </a:p>
        </p:txBody>
      </p:sp>
      <p:sp>
        <p:nvSpPr>
          <p:cNvPr id="4" name="Shape 2"/>
          <p:cNvSpPr/>
          <p:nvPr/>
        </p:nvSpPr>
        <p:spPr>
          <a:xfrm>
            <a:off x="84124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285292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01</a:t>
            </a:r>
            <a:endParaRPr lang="en-US" sz="950" dirty="0"/>
          </a:p>
        </p:txBody>
      </p:sp>
      <p:sp>
        <p:nvSpPr>
          <p:cNvPr id="8" name="Text 5"/>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memory</a:t>
            </a:r>
            <a:endParaRPr lang="en-US" sz="2100" dirty="0"/>
          </a:p>
        </p:txBody>
      </p:sp>
      <p:sp>
        <p:nvSpPr>
          <p:cNvPr id="9" name="Text 6"/>
          <p:cNvSpPr/>
          <p:nvPr/>
        </p:nvSpPr>
        <p:spPr>
          <a:xfrm>
            <a:off x="120700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call starts from zero. It forgot the last sentence the instant it finished it.</a:t>
            </a:r>
            <a:endParaRPr lang="en-US" sz="1400" dirty="0"/>
          </a:p>
        </p:txBody>
      </p:sp>
      <p:sp>
        <p:nvSpPr>
          <p:cNvPr id="10" name="Shape 7"/>
          <p:cNvSpPr/>
          <p:nvPr/>
        </p:nvSpPr>
        <p:spPr>
          <a:xfrm>
            <a:off x="454456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6460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3" name="Text 9"/>
          <p:cNvSpPr/>
          <p:nvPr/>
        </p:nvSpPr>
        <p:spPr>
          <a:xfrm>
            <a:off x="655624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02</a:t>
            </a:r>
            <a:endParaRPr lang="en-US" sz="950" dirty="0"/>
          </a:p>
        </p:txBody>
      </p:sp>
      <p:sp>
        <p:nvSpPr>
          <p:cNvPr id="14" name="Text 10"/>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hands</a:t>
            </a:r>
            <a:endParaRPr lang="en-US" sz="2100" dirty="0"/>
          </a:p>
        </p:txBody>
      </p:sp>
      <p:sp>
        <p:nvSpPr>
          <p:cNvPr id="15" name="Text 11"/>
          <p:cNvSpPr/>
          <p:nvPr/>
        </p:nvSpPr>
        <p:spPr>
          <a:xfrm>
            <a:off x="491032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can describe sending the email in beautiful detail. It cannot send it.</a:t>
            </a:r>
            <a:endParaRPr lang="en-US" sz="1400" dirty="0"/>
          </a:p>
        </p:txBody>
      </p:sp>
      <p:sp>
        <p:nvSpPr>
          <p:cNvPr id="16" name="Shape 12"/>
          <p:cNvSpPr/>
          <p:nvPr/>
        </p:nvSpPr>
        <p:spPr>
          <a:xfrm>
            <a:off x="824788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56792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9" name="Text 14"/>
          <p:cNvSpPr/>
          <p:nvPr/>
        </p:nvSpPr>
        <p:spPr>
          <a:xfrm>
            <a:off x="1025956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03</a:t>
            </a:r>
            <a:endParaRPr lang="en-US" sz="950" dirty="0"/>
          </a:p>
        </p:txBody>
      </p:sp>
      <p:sp>
        <p:nvSpPr>
          <p:cNvPr id="20" name="Text 15"/>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proof</a:t>
            </a:r>
            <a:endParaRPr lang="en-US" sz="2100" dirty="0"/>
          </a:p>
        </p:txBody>
      </p:sp>
      <p:sp>
        <p:nvSpPr>
          <p:cNvPr id="21" name="Text 16"/>
          <p:cNvSpPr/>
          <p:nvPr/>
        </p:nvSpPr>
        <p:spPr>
          <a:xfrm>
            <a:off x="861364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sounds equally sure when it is right and when it is making things up.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ACT TWO</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Agent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Same model. Now it can remember, act, and try again.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EQUATION</a:t>
            </a:r>
            <a:endParaRPr lang="en-US" sz="1100" dirty="0"/>
          </a:p>
        </p:txBody>
      </p:sp>
      <p:sp>
        <p:nvSpPr>
          <p:cNvPr id="3" name="Shape 1"/>
          <p:cNvSpPr/>
          <p:nvPr/>
        </p:nvSpPr>
        <p:spPr>
          <a:xfrm>
            <a:off x="1478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 name="Shape 2"/>
          <p:cNvSpPr/>
          <p:nvPr/>
        </p:nvSpPr>
        <p:spPr>
          <a:xfrm>
            <a:off x="2310232" y="2322576"/>
            <a:ext cx="713232" cy="713232"/>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2481407" y="2493752"/>
            <a:ext cx="370881" cy="370881"/>
          </a:xfrm>
          <a:prstGeom prst="rect">
            <a:avLst/>
          </a:prstGeom>
        </p:spPr>
      </p:pic>
      <p:sp>
        <p:nvSpPr>
          <p:cNvPr id="6" name="Text 3"/>
          <p:cNvSpPr/>
          <p:nvPr/>
        </p:nvSpPr>
        <p:spPr>
          <a:xfrm>
            <a:off x="1478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model</a:t>
            </a:r>
            <a:endParaRPr lang="en-US" sz="2100" dirty="0"/>
          </a:p>
        </p:txBody>
      </p:sp>
      <p:sp>
        <p:nvSpPr>
          <p:cNvPr id="7" name="Text 4"/>
          <p:cNvSpPr/>
          <p:nvPr/>
        </p:nvSpPr>
        <p:spPr>
          <a:xfrm>
            <a:off x="1478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BRAIN</a:t>
            </a:r>
            <a:endParaRPr lang="en-US" sz="1000" dirty="0"/>
          </a:p>
        </p:txBody>
      </p:sp>
      <p:sp>
        <p:nvSpPr>
          <p:cNvPr id="8" name="Text 5"/>
          <p:cNvSpPr/>
          <p:nvPr/>
        </p:nvSpPr>
        <p:spPr>
          <a:xfrm>
            <a:off x="3855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9" name="Shape 6"/>
          <p:cNvSpPr/>
          <p:nvPr/>
        </p:nvSpPr>
        <p:spPr>
          <a:xfrm>
            <a:off x="4907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5739232" y="2322576"/>
            <a:ext cx="713232" cy="71323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910407" y="2493752"/>
            <a:ext cx="370881" cy="370881"/>
          </a:xfrm>
          <a:prstGeom prst="rect">
            <a:avLst/>
          </a:prstGeom>
        </p:spPr>
      </p:pic>
      <p:sp>
        <p:nvSpPr>
          <p:cNvPr id="12" name="Text 8"/>
          <p:cNvSpPr/>
          <p:nvPr/>
        </p:nvSpPr>
        <p:spPr>
          <a:xfrm>
            <a:off x="4907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tools</a:t>
            </a:r>
            <a:endParaRPr lang="en-US" sz="2100" dirty="0"/>
          </a:p>
        </p:txBody>
      </p:sp>
      <p:sp>
        <p:nvSpPr>
          <p:cNvPr id="13" name="Text 9"/>
          <p:cNvSpPr/>
          <p:nvPr/>
        </p:nvSpPr>
        <p:spPr>
          <a:xfrm>
            <a:off x="4907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HANDS</a:t>
            </a:r>
            <a:endParaRPr lang="en-US" sz="1000" dirty="0"/>
          </a:p>
        </p:txBody>
      </p:sp>
      <p:sp>
        <p:nvSpPr>
          <p:cNvPr id="14" name="Text 10"/>
          <p:cNvSpPr/>
          <p:nvPr/>
        </p:nvSpPr>
        <p:spPr>
          <a:xfrm>
            <a:off x="7284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15" name="Shape 11"/>
          <p:cNvSpPr/>
          <p:nvPr/>
        </p:nvSpPr>
        <p:spPr>
          <a:xfrm>
            <a:off x="8336128" y="1965960"/>
            <a:ext cx="2377440" cy="2377440"/>
          </a:xfrm>
          <a:prstGeom prst="roundRect">
            <a:avLst>
              <a:gd name="adj" fmla="val 5385"/>
            </a:avLst>
          </a:prstGeom>
          <a:solidFill>
            <a:srgbClr val="ECFDF9"/>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9168232" y="2322576"/>
            <a:ext cx="713232" cy="71323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9339407" y="2493752"/>
            <a:ext cx="370881" cy="370881"/>
          </a:xfrm>
          <a:prstGeom prst="rect">
            <a:avLst/>
          </a:prstGeom>
        </p:spPr>
      </p:pic>
      <p:sp>
        <p:nvSpPr>
          <p:cNvPr id="18" name="Text 13"/>
          <p:cNvSpPr/>
          <p:nvPr/>
        </p:nvSpPr>
        <p:spPr>
          <a:xfrm>
            <a:off x="8336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a loop</a:t>
            </a:r>
            <a:endParaRPr lang="en-US" sz="2100" dirty="0"/>
          </a:p>
        </p:txBody>
      </p:sp>
      <p:sp>
        <p:nvSpPr>
          <p:cNvPr id="19" name="Text 14"/>
          <p:cNvSpPr/>
          <p:nvPr/>
        </p:nvSpPr>
        <p:spPr>
          <a:xfrm>
            <a:off x="8336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MAGIC</a:t>
            </a:r>
            <a:endParaRPr lang="en-US" sz="1000" dirty="0"/>
          </a:p>
        </p:txBody>
      </p:sp>
      <p:sp>
        <p:nvSpPr>
          <p:cNvPr id="20" name="Text 15"/>
          <p:cNvSpPr/>
          <p:nvPr/>
        </p:nvSpPr>
        <p:spPr>
          <a:xfrm>
            <a:off x="2286000" y="5029200"/>
            <a:ext cx="7616952" cy="731520"/>
          </a:xfrm>
          <a:prstGeom prst="rect">
            <a:avLst/>
          </a:prstGeom>
          <a:noFill/>
          <a:ln/>
        </p:spPr>
        <p:txBody>
          <a:bodyPr wrap="square" rtlCol="0" anchor="ctr"/>
          <a:lstStyle/>
          <a:p>
            <a:pPr algn="ctr" indent="0" marL="0">
              <a:lnSpc>
                <a:spcPts val="2600"/>
              </a:lnSpc>
              <a:buNone/>
            </a:pPr>
            <a:r>
              <a:rPr lang="en-US" sz="1800" dirty="0">
                <a:solidFill>
                  <a:srgbClr val="666C7A"/>
                </a:solidFill>
                <a:latin typeface="Calibri" pitchFamily="34" charset="0"/>
                <a:ea typeface="Calibri" pitchFamily="34" charset="-122"/>
                <a:cs typeface="Calibri" pitchFamily="34" charset="-120"/>
              </a:rPr>
              <a:t>That is an agent. Everything else is decoration. The loop is where the magic actually lives.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THE WHOLE TRICK</a:t>
            </a:r>
            <a:endParaRPr lang="en-US" sz="1100" dirty="0"/>
          </a:p>
        </p:txBody>
      </p:sp>
      <p:sp>
        <p:nvSpPr>
          <p:cNvPr id="3" name="Text 1"/>
          <p:cNvSpPr/>
          <p:nvPr/>
        </p:nvSpPr>
        <p:spPr>
          <a:xfrm>
            <a:off x="841248" y="1554480"/>
            <a:ext cx="5120640" cy="164592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Reason. Act.</a:t>
            </a: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Observe. </a:t>
            </a:r>
            <a:endParaRPr lang="en-US" sz="3800" dirty="0"/>
          </a:p>
          <a:p>
            <a:pPr indent="0" marL="0">
              <a:lnSpc>
                <a:spcPts val="4600"/>
              </a:lnSpc>
              <a:buNone/>
            </a:pPr>
            <a:r>
              <a:rPr lang="en-US" sz="3800" b="1" dirty="0">
                <a:solidFill>
                  <a:srgbClr val="4F46E5"/>
                </a:solidFill>
                <a:latin typeface="Arial" pitchFamily="34" charset="0"/>
                <a:ea typeface="Arial" pitchFamily="34" charset="-122"/>
                <a:cs typeface="Arial" pitchFamily="34" charset="-120"/>
              </a:rPr>
              <a:t>Again.</a:t>
            </a:r>
            <a:endParaRPr lang="en-US" sz="3800" dirty="0"/>
          </a:p>
        </p:txBody>
      </p:sp>
      <p:sp>
        <p:nvSpPr>
          <p:cNvPr id="4" name="Text 2"/>
          <p:cNvSpPr/>
          <p:nvPr/>
        </p:nvSpPr>
        <p:spPr>
          <a:xfrm>
            <a:off x="841248" y="3383280"/>
            <a:ext cx="4846320" cy="13716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The model does not answer once. It works in a loop until the job is actually done, checking its own output along the way.</a:t>
            </a:r>
            <a:endParaRPr lang="en-US" sz="1700" dirty="0"/>
          </a:p>
        </p:txBody>
      </p:sp>
      <p:sp>
        <p:nvSpPr>
          <p:cNvPr id="5" name="Text 3"/>
          <p:cNvSpPr/>
          <p:nvPr/>
        </p:nvSpPr>
        <p:spPr>
          <a:xfrm>
            <a:off x="841248" y="4937760"/>
            <a:ext cx="5120640" cy="457200"/>
          </a:xfrm>
          <a:prstGeom prst="rect">
            <a:avLst/>
          </a:prstGeom>
          <a:noFill/>
          <a:ln/>
        </p:spPr>
        <p:txBody>
          <a:bodyPr wrap="square" rtlCol="0" anchor="ctr"/>
          <a:lstStyle/>
          <a:p>
            <a:pPr indent="0" marL="0">
              <a:buNone/>
            </a:pPr>
            <a:r>
              <a:rPr lang="en-US" sz="1200" dirty="0">
                <a:solidFill>
                  <a:srgbClr val="9AA1B0"/>
                </a:solidFill>
                <a:latin typeface="Consolas" pitchFamily="34" charset="0"/>
                <a:ea typeface="Consolas" pitchFamily="34" charset="-122"/>
                <a:cs typeface="Consolas" pitchFamily="34" charset="-120"/>
              </a:rPr>
              <a:t>Take away the loop and you are back to a chatbot.</a:t>
            </a:r>
            <a:endParaRPr lang="en-US" sz="1200" dirty="0"/>
          </a:p>
        </p:txBody>
      </p:sp>
      <p:sp>
        <p:nvSpPr>
          <p:cNvPr id="6" name="Shape 4"/>
          <p:cNvSpPr/>
          <p:nvPr/>
        </p:nvSpPr>
        <p:spPr>
          <a:xfrm>
            <a:off x="8869680" y="2103120"/>
            <a:ext cx="1312621" cy="2263140"/>
          </a:xfrm>
          <a:prstGeom prst="line">
            <a:avLst/>
          </a:prstGeom>
          <a:noFill/>
          <a:ln w="25400">
            <a:solidFill>
              <a:srgbClr val="C7CBD6"/>
            </a:solidFill>
            <a:prstDash val="solid"/>
            <a:tailEnd type="triangle"/>
          </a:ln>
        </p:spPr>
      </p:sp>
      <p:sp>
        <p:nvSpPr>
          <p:cNvPr id="7" name="Shape 5"/>
          <p:cNvSpPr/>
          <p:nvPr/>
        </p:nvSpPr>
        <p:spPr>
          <a:xfrm flipH="1">
            <a:off x="7557059" y="4366260"/>
            <a:ext cx="2625242" cy="0"/>
          </a:xfrm>
          <a:prstGeom prst="line">
            <a:avLst/>
          </a:prstGeom>
          <a:noFill/>
          <a:ln w="25400">
            <a:solidFill>
              <a:srgbClr val="C7CBD6"/>
            </a:solidFill>
            <a:prstDash val="solid"/>
            <a:tailEnd type="triangle"/>
          </a:ln>
        </p:spPr>
      </p:sp>
      <p:sp>
        <p:nvSpPr>
          <p:cNvPr id="8" name="Shape 6"/>
          <p:cNvSpPr/>
          <p:nvPr/>
        </p:nvSpPr>
        <p:spPr>
          <a:xfrm flipV="1">
            <a:off x="7557059" y="2103120"/>
            <a:ext cx="1312621" cy="2263140"/>
          </a:xfrm>
          <a:prstGeom prst="line">
            <a:avLst/>
          </a:prstGeom>
          <a:noFill/>
          <a:ln w="25400">
            <a:solidFill>
              <a:srgbClr val="C7CBD6"/>
            </a:solidFill>
            <a:prstDash val="solid"/>
            <a:tailEnd type="triangle"/>
          </a:ln>
        </p:spPr>
      </p:sp>
      <p:sp>
        <p:nvSpPr>
          <p:cNvPr id="9" name="Shape 7"/>
          <p:cNvSpPr/>
          <p:nvPr/>
        </p:nvSpPr>
        <p:spPr>
          <a:xfrm>
            <a:off x="8641080" y="1874520"/>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0" name="Image 0" descr="preencoded.png">    </p:cNvPr>
          <p:cNvPicPr>
            <a:picLocks noChangeAspect="1"/>
          </p:cNvPicPr>
          <p:nvPr/>
        </p:nvPicPr>
        <p:blipFill>
          <a:blip r:embed="rId1"/>
          <a:stretch>
            <a:fillRect/>
          </a:stretch>
        </p:blipFill>
        <p:spPr>
          <a:xfrm>
            <a:off x="8750808" y="1984248"/>
            <a:ext cx="237744" cy="237744"/>
          </a:xfrm>
          <a:prstGeom prst="rect">
            <a:avLst/>
          </a:prstGeom>
        </p:spPr>
      </p:pic>
      <p:sp>
        <p:nvSpPr>
          <p:cNvPr id="11" name="Shape 8"/>
          <p:cNvSpPr/>
          <p:nvPr/>
        </p:nvSpPr>
        <p:spPr>
          <a:xfrm>
            <a:off x="9953701" y="4137660"/>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10063429" y="4247388"/>
            <a:ext cx="237744" cy="237744"/>
          </a:xfrm>
          <a:prstGeom prst="rect">
            <a:avLst/>
          </a:prstGeom>
        </p:spPr>
      </p:pic>
      <p:sp>
        <p:nvSpPr>
          <p:cNvPr id="13" name="Shape 9"/>
          <p:cNvSpPr/>
          <p:nvPr/>
        </p:nvSpPr>
        <p:spPr>
          <a:xfrm>
            <a:off x="7328459" y="413766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4" name="Image 2" descr="preencoded.png">    </p:cNvPr>
          <p:cNvPicPr>
            <a:picLocks noChangeAspect="1"/>
          </p:cNvPicPr>
          <p:nvPr/>
        </p:nvPicPr>
        <p:blipFill>
          <a:blip r:embed="rId3"/>
          <a:stretch>
            <a:fillRect/>
          </a:stretch>
        </p:blipFill>
        <p:spPr>
          <a:xfrm>
            <a:off x="7438187" y="4247388"/>
            <a:ext cx="237744" cy="237744"/>
          </a:xfrm>
          <a:prstGeom prst="rect">
            <a:avLst/>
          </a:prstGeom>
        </p:spPr>
      </p:pic>
      <p:sp>
        <p:nvSpPr>
          <p:cNvPr id="15" name="Text 10"/>
          <p:cNvSpPr/>
          <p:nvPr/>
        </p:nvSpPr>
        <p:spPr>
          <a:xfrm>
            <a:off x="7955280" y="1554480"/>
            <a:ext cx="1828800" cy="274320"/>
          </a:xfrm>
          <a:prstGeom prst="rect">
            <a:avLst/>
          </a:prstGeom>
          <a:noFill/>
          <a:ln/>
        </p:spPr>
        <p:txBody>
          <a:bodyPr wrap="square" rtlCol="0" anchor="ctr"/>
          <a:lstStyle/>
          <a:p>
            <a:pPr algn="ctr" indent="0" marL="0">
              <a:buNone/>
            </a:pPr>
            <a:r>
              <a:rPr lang="en-US" sz="1100" spc="100" kern="0" dirty="0">
                <a:solidFill>
                  <a:srgbClr val="16181D"/>
                </a:solidFill>
                <a:latin typeface="Consolas" pitchFamily="34" charset="0"/>
                <a:ea typeface="Consolas" pitchFamily="34" charset="-122"/>
                <a:cs typeface="Consolas" pitchFamily="34" charset="-120"/>
              </a:rPr>
              <a:t>REASON</a:t>
            </a:r>
            <a:endParaRPr lang="en-US" sz="1100" dirty="0"/>
          </a:p>
        </p:txBody>
      </p:sp>
      <p:sp>
        <p:nvSpPr>
          <p:cNvPr id="16" name="Text 11"/>
          <p:cNvSpPr/>
          <p:nvPr/>
        </p:nvSpPr>
        <p:spPr>
          <a:xfrm>
            <a:off x="10502341" y="4238244"/>
            <a:ext cx="1280160" cy="274320"/>
          </a:xfrm>
          <a:prstGeom prst="rect">
            <a:avLst/>
          </a:prstGeom>
          <a:noFill/>
          <a:ln/>
        </p:spPr>
        <p:txBody>
          <a:bodyPr wrap="square" rtlCol="0" anchor="ctr"/>
          <a:lstStyle/>
          <a:p>
            <a:pPr indent="0" marL="0">
              <a:buNone/>
            </a:pPr>
            <a:r>
              <a:rPr lang="en-US" sz="1100" spc="100" kern="0" dirty="0">
                <a:solidFill>
                  <a:srgbClr val="16181D"/>
                </a:solidFill>
                <a:latin typeface="Consolas" pitchFamily="34" charset="0"/>
                <a:ea typeface="Consolas" pitchFamily="34" charset="-122"/>
                <a:cs typeface="Consolas" pitchFamily="34" charset="-120"/>
              </a:rPr>
              <a:t>ACT</a:t>
            </a:r>
            <a:endParaRPr lang="en-US" sz="1100" dirty="0"/>
          </a:p>
        </p:txBody>
      </p:sp>
      <p:sp>
        <p:nvSpPr>
          <p:cNvPr id="17" name="Text 12"/>
          <p:cNvSpPr/>
          <p:nvPr/>
        </p:nvSpPr>
        <p:spPr>
          <a:xfrm>
            <a:off x="5956859" y="4238244"/>
            <a:ext cx="1280160" cy="274320"/>
          </a:xfrm>
          <a:prstGeom prst="rect">
            <a:avLst/>
          </a:prstGeom>
          <a:noFill/>
          <a:ln/>
        </p:spPr>
        <p:txBody>
          <a:bodyPr wrap="square" rtlCol="0" anchor="ctr"/>
          <a:lstStyle/>
          <a:p>
            <a:pPr algn="r" indent="0" marL="0">
              <a:buNone/>
            </a:pPr>
            <a:r>
              <a:rPr lang="en-US" sz="1100" spc="100" kern="0" dirty="0">
                <a:solidFill>
                  <a:srgbClr val="16181D"/>
                </a:solidFill>
                <a:latin typeface="Consolas" pitchFamily="34" charset="0"/>
                <a:ea typeface="Consolas" pitchFamily="34" charset="-122"/>
                <a:cs typeface="Consolas" pitchFamily="34" charset="-120"/>
              </a:rPr>
              <a:t>OBSERVE</a:t>
            </a:r>
            <a:endParaRPr lang="en-US" sz="1100" dirty="0"/>
          </a:p>
        </p:txBody>
      </p:sp>
      <p:sp>
        <p:nvSpPr>
          <p:cNvPr id="18" name="Text 13"/>
          <p:cNvSpPr/>
          <p:nvPr/>
        </p:nvSpPr>
        <p:spPr>
          <a:xfrm>
            <a:off x="8229600" y="3474720"/>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done?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284C7"/>
                </a:solidFill>
                <a:latin typeface="Arial" pitchFamily="34" charset="0"/>
                <a:ea typeface="Arial" pitchFamily="34" charset="-122"/>
                <a:cs typeface="Arial" pitchFamily="34" charset="-120"/>
              </a:rPr>
              <a:t>ACT THREE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Infrastructure</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What you actually need underneath, and why the JVM is a great place to put it.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ANATOMY</a:t>
            </a:r>
            <a:endParaRPr lang="en-US" sz="1100" dirty="0"/>
          </a:p>
        </p:txBody>
      </p:sp>
      <p:sp>
        <p:nvSpPr>
          <p:cNvPr id="3" name="Text 1"/>
          <p:cNvSpPr/>
          <p:nvPr/>
        </p:nvSpPr>
        <p:spPr>
          <a:xfrm>
            <a:off x="841248" y="105156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layers under every </a:t>
            </a:r>
            <a:pPr indent="0" marL="0">
              <a:buNone/>
            </a:pPr>
            <a:r>
              <a:rPr lang="en-US" sz="3200" b="1" dirty="0">
                <a:solidFill>
                  <a:srgbClr val="4F46E5"/>
                </a:solidFill>
                <a:latin typeface="Arial" pitchFamily="34" charset="0"/>
                <a:ea typeface="Arial" pitchFamily="34" charset="-122"/>
                <a:cs typeface="Arial" pitchFamily="34" charset="-120"/>
              </a:rPr>
              <a:t>agent.</a:t>
            </a:r>
            <a:endParaRPr lang="en-US" sz="3200" dirty="0"/>
          </a:p>
        </p:txBody>
      </p:sp>
      <p:sp>
        <p:nvSpPr>
          <p:cNvPr id="4" name="Shape 2"/>
          <p:cNvSpPr/>
          <p:nvPr/>
        </p:nvSpPr>
        <p:spPr>
          <a:xfrm>
            <a:off x="841248" y="2221992"/>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50976" y="2331720"/>
            <a:ext cx="237744" cy="237744"/>
          </a:xfrm>
          <a:prstGeom prst="rect">
            <a:avLst/>
          </a:prstGeom>
        </p:spPr>
      </p:pic>
      <p:sp>
        <p:nvSpPr>
          <p:cNvPr id="6" name="Text 3"/>
          <p:cNvSpPr/>
          <p:nvPr/>
        </p:nvSpPr>
        <p:spPr>
          <a:xfrm>
            <a:off x="1499616" y="2286000"/>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runtime</a:t>
            </a:r>
            <a:endParaRPr lang="en-US" sz="1200" dirty="0"/>
          </a:p>
        </p:txBody>
      </p:sp>
      <p:sp>
        <p:nvSpPr>
          <p:cNvPr id="7" name="Text 4"/>
          <p:cNvSpPr/>
          <p:nvPr/>
        </p:nvSpPr>
        <p:spPr>
          <a:xfrm>
            <a:off x="4023360" y="2286000"/>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Ollama on localhost:11434. </a:t>
            </a:r>
            <a:pPr indent="0" marL="0">
              <a:buNone/>
            </a:pPr>
            <a:r>
              <a:rPr lang="en-US" sz="1650" dirty="0">
                <a:solidFill>
                  <a:srgbClr val="666C7A"/>
                </a:solidFill>
                <a:latin typeface="Calibri" pitchFamily="34" charset="0"/>
                <a:ea typeface="Calibri" pitchFamily="34" charset="-122"/>
                <a:cs typeface="Calibri" pitchFamily="34" charset="-120"/>
              </a:rPr>
              <a:t>qwen2.5:3b on stage, 1.5b for background work.</a:t>
            </a:r>
            <a:endParaRPr lang="en-US" sz="1650" dirty="0"/>
          </a:p>
        </p:txBody>
      </p:sp>
      <p:sp>
        <p:nvSpPr>
          <p:cNvPr id="8" name="Shape 5"/>
          <p:cNvSpPr/>
          <p:nvPr/>
        </p:nvSpPr>
        <p:spPr>
          <a:xfrm>
            <a:off x="841248" y="2990088"/>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50976" y="3099816"/>
            <a:ext cx="237744" cy="237744"/>
          </a:xfrm>
          <a:prstGeom prst="rect">
            <a:avLst/>
          </a:prstGeom>
        </p:spPr>
      </p:pic>
      <p:sp>
        <p:nvSpPr>
          <p:cNvPr id="10" name="Text 6"/>
          <p:cNvSpPr/>
          <p:nvPr/>
        </p:nvSpPr>
        <p:spPr>
          <a:xfrm>
            <a:off x="1499616" y="3054096"/>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orchestration</a:t>
            </a:r>
            <a:endParaRPr lang="en-US" sz="1200" dirty="0"/>
          </a:p>
        </p:txBody>
      </p:sp>
      <p:sp>
        <p:nvSpPr>
          <p:cNvPr id="11" name="Text 7"/>
          <p:cNvSpPr/>
          <p:nvPr/>
        </p:nvSpPr>
        <p:spPr>
          <a:xfrm>
            <a:off x="4023360" y="3054096"/>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LangChain4j 1.0 AiServices. </a:t>
            </a:r>
            <a:pPr indent="0" marL="0">
              <a:buNone/>
            </a:pPr>
            <a:r>
              <a:rPr lang="en-US" sz="1650" dirty="0">
                <a:solidFill>
                  <a:srgbClr val="666C7A"/>
                </a:solidFill>
                <a:latin typeface="Calibri" pitchFamily="34" charset="0"/>
                <a:ea typeface="Calibri" pitchFamily="34" charset="-122"/>
                <a:cs typeface="Calibri" pitchFamily="34" charset="-120"/>
              </a:rPr>
              <a:t>Interfaces with annotations. No implementations.</a:t>
            </a:r>
            <a:endParaRPr lang="en-US" sz="1650" dirty="0"/>
          </a:p>
        </p:txBody>
      </p:sp>
      <p:sp>
        <p:nvSpPr>
          <p:cNvPr id="12" name="Shape 8"/>
          <p:cNvSpPr/>
          <p:nvPr/>
        </p:nvSpPr>
        <p:spPr>
          <a:xfrm>
            <a:off x="841248" y="3758184"/>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50976" y="3867912"/>
            <a:ext cx="237744" cy="237744"/>
          </a:xfrm>
          <a:prstGeom prst="rect">
            <a:avLst/>
          </a:prstGeom>
        </p:spPr>
      </p:pic>
      <p:sp>
        <p:nvSpPr>
          <p:cNvPr id="14" name="Text 9"/>
          <p:cNvSpPr/>
          <p:nvPr/>
        </p:nvSpPr>
        <p:spPr>
          <a:xfrm>
            <a:off x="1499616" y="3822192"/>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tools</a:t>
            </a:r>
            <a:endParaRPr lang="en-US" sz="1200" dirty="0"/>
          </a:p>
        </p:txBody>
      </p:sp>
      <p:sp>
        <p:nvSpPr>
          <p:cNvPr id="15" name="Text 10"/>
          <p:cNvSpPr/>
          <p:nvPr/>
        </p:nvSpPr>
        <p:spPr>
          <a:xfrm>
            <a:off x="4023360" y="3822192"/>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Plain Java methods. </a:t>
            </a:r>
            <a:pPr indent="0" marL="0">
              <a:buNone/>
            </a:pPr>
            <a:r>
              <a:rPr lang="en-US" sz="1650" dirty="0">
                <a:solidFill>
                  <a:srgbClr val="666C7A"/>
                </a:solidFill>
                <a:latin typeface="Calibri" pitchFamily="34" charset="0"/>
                <a:ea typeface="Calibri" pitchFamily="34" charset="-122"/>
                <a:cs typeface="Calibri" pitchFamily="34" charset="-120"/>
              </a:rPr>
              <a:t>Whatever you would let an intern call.</a:t>
            </a:r>
            <a:endParaRPr lang="en-US" sz="1650" dirty="0"/>
          </a:p>
        </p:txBody>
      </p:sp>
      <p:sp>
        <p:nvSpPr>
          <p:cNvPr id="16" name="Shape 11"/>
          <p:cNvSpPr/>
          <p:nvPr/>
        </p:nvSpPr>
        <p:spPr>
          <a:xfrm>
            <a:off x="841248" y="452628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50976" y="4636008"/>
            <a:ext cx="237744" cy="237744"/>
          </a:xfrm>
          <a:prstGeom prst="rect">
            <a:avLst/>
          </a:prstGeom>
        </p:spPr>
      </p:pic>
      <p:sp>
        <p:nvSpPr>
          <p:cNvPr id="18" name="Text 12"/>
          <p:cNvSpPr/>
          <p:nvPr/>
        </p:nvSpPr>
        <p:spPr>
          <a:xfrm>
            <a:off x="1499616" y="4590288"/>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memory</a:t>
            </a:r>
            <a:endParaRPr lang="en-US" sz="1200" dirty="0"/>
          </a:p>
        </p:txBody>
      </p:sp>
      <p:sp>
        <p:nvSpPr>
          <p:cNvPr id="19" name="Text 13"/>
          <p:cNvSpPr/>
          <p:nvPr/>
        </p:nvSpPr>
        <p:spPr>
          <a:xfrm>
            <a:off x="4023360" y="4590288"/>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A queue and a result per idea. </a:t>
            </a:r>
            <a:pPr indent="0" marL="0">
              <a:buNone/>
            </a:pPr>
            <a:r>
              <a:rPr lang="en-US" sz="1650" dirty="0">
                <a:solidFill>
                  <a:srgbClr val="666C7A"/>
                </a:solidFill>
                <a:latin typeface="Calibri" pitchFamily="34" charset="0"/>
                <a:ea typeface="Calibri" pitchFamily="34" charset="-122"/>
                <a:cs typeface="Calibri" pitchFamily="34" charset="-120"/>
              </a:rPr>
              <a:t>Nothing global. Each run is its own object.</a:t>
            </a:r>
            <a:endParaRPr lang="en-US" sz="1650" dirty="0"/>
          </a:p>
        </p:txBody>
      </p:sp>
      <p:sp>
        <p:nvSpPr>
          <p:cNvPr id="20" name="Shape 14"/>
          <p:cNvSpPr/>
          <p:nvPr/>
        </p:nvSpPr>
        <p:spPr>
          <a:xfrm>
            <a:off x="841248" y="5294376"/>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50976" y="5404104"/>
            <a:ext cx="237744" cy="237744"/>
          </a:xfrm>
          <a:prstGeom prst="rect">
            <a:avLst/>
          </a:prstGeom>
        </p:spPr>
      </p:pic>
      <p:sp>
        <p:nvSpPr>
          <p:cNvPr id="22" name="Text 15"/>
          <p:cNvSpPr/>
          <p:nvPr/>
        </p:nvSpPr>
        <p:spPr>
          <a:xfrm>
            <a:off x="1499616" y="5358384"/>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structure</a:t>
            </a:r>
            <a:endParaRPr lang="en-US" sz="1200" dirty="0"/>
          </a:p>
        </p:txBody>
      </p:sp>
      <p:sp>
        <p:nvSpPr>
          <p:cNvPr id="23" name="Text 16"/>
          <p:cNvSpPr/>
          <p:nvPr/>
        </p:nvSpPr>
        <p:spPr>
          <a:xfrm>
            <a:off x="4023360" y="5358384"/>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Java records: Copy, Palette, Tier. </a:t>
            </a:r>
            <a:pPr indent="0" marL="0">
              <a:buNone/>
            </a:pPr>
            <a:r>
              <a:rPr lang="en-US" sz="1650" dirty="0">
                <a:solidFill>
                  <a:srgbClr val="666C7A"/>
                </a:solidFill>
                <a:latin typeface="Calibri" pitchFamily="34" charset="0"/>
                <a:ea typeface="Calibri" pitchFamily="34" charset="-122"/>
                <a:cs typeface="Calibri" pitchFamily="34" charset="-120"/>
              </a:rPr>
              <a:t>The model fills a type, it does not write prose.</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OBVIOUS QUESTION</a:t>
            </a:r>
            <a:endParaRPr lang="en-US" sz="1100" dirty="0"/>
          </a:p>
        </p:txBody>
      </p:sp>
      <p:sp>
        <p:nvSpPr>
          <p:cNvPr id="3" name="Text 1"/>
          <p:cNvSpPr/>
          <p:nvPr/>
        </p:nvSpPr>
        <p:spPr>
          <a:xfrm>
            <a:off x="841248" y="1371600"/>
            <a:ext cx="5486400" cy="1097280"/>
          </a:xfrm>
          <a:prstGeom prst="rect">
            <a:avLst/>
          </a:prstGeom>
          <a:noFill/>
          <a:ln/>
        </p:spPr>
        <p:txBody>
          <a:bodyPr wrap="square" rtlCol="0" anchor="ctr"/>
          <a:lstStyle/>
          <a:p>
            <a:pPr indent="0" marL="0">
              <a:buNone/>
            </a:pPr>
            <a:r>
              <a:rPr lang="en-US" sz="4400" b="1" dirty="0">
                <a:solidFill>
                  <a:srgbClr val="16181D"/>
                </a:solidFill>
                <a:latin typeface="Arial" pitchFamily="34" charset="0"/>
                <a:ea typeface="Arial" pitchFamily="34" charset="-122"/>
                <a:cs typeface="Arial" pitchFamily="34" charset="-120"/>
              </a:rPr>
              <a:t>Why </a:t>
            </a:r>
            <a:pPr indent="0" marL="0">
              <a:buNone/>
            </a:pPr>
            <a:r>
              <a:rPr lang="en-US" sz="4400" b="1" dirty="0">
                <a:solidFill>
                  <a:srgbClr val="4F46E5"/>
                </a:solidFill>
                <a:latin typeface="Arial" pitchFamily="34" charset="0"/>
                <a:ea typeface="Arial" pitchFamily="34" charset="-122"/>
                <a:cs typeface="Arial" pitchFamily="34" charset="-120"/>
              </a:rPr>
              <a:t>Java?</a:t>
            </a:r>
            <a:endParaRPr lang="en-US" sz="4400" dirty="0"/>
          </a:p>
        </p:txBody>
      </p:sp>
      <p:sp>
        <p:nvSpPr>
          <p:cNvPr id="4" name="Text 2"/>
          <p:cNvSpPr/>
          <p:nvPr/>
        </p:nvSpPr>
        <p:spPr>
          <a:xfrm>
            <a:off x="841248" y="2651760"/>
            <a:ext cx="5212080" cy="182880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Because the systems your clients trust with real money already run on the JVM. The agent should live </a:t>
            </a:r>
            <a:pPr indent="0" marL="0">
              <a:lnSpc>
                <a:spcPts val="2700"/>
              </a:lnSpc>
              <a:buNone/>
            </a:pPr>
            <a:r>
              <a:rPr lang="en-US" sz="1700" b="1" dirty="0">
                <a:solidFill>
                  <a:srgbClr val="16181D"/>
                </a:solidFill>
                <a:latin typeface="Calibri" pitchFamily="34" charset="0"/>
                <a:ea typeface="Calibri" pitchFamily="34" charset="-122"/>
                <a:cs typeface="Calibri" pitchFamily="34" charset="-120"/>
              </a:rPr>
              <a:t>next to the business</a:t>
            </a:r>
            <a:pPr indent="0" marL="0">
              <a:lnSpc>
                <a:spcPts val="2700"/>
              </a:lnSpc>
              <a:buNone/>
            </a:pPr>
            <a:r>
              <a:rPr lang="en-US" sz="1700" dirty="0">
                <a:solidFill>
                  <a:srgbClr val="666C7A"/>
                </a:solidFill>
                <a:latin typeface="Calibri" pitchFamily="34" charset="0"/>
                <a:ea typeface="Calibri" pitchFamily="34" charset="-122"/>
                <a:cs typeface="Calibri" pitchFamily="34" charset="-120"/>
              </a:rPr>
              <a:t>, not in a Python service bolted on the side.</a:t>
            </a:r>
            <a:endParaRPr lang="en-US" sz="1700" dirty="0"/>
          </a:p>
        </p:txBody>
      </p:sp>
      <p:sp>
        <p:nvSpPr>
          <p:cNvPr id="5" name="Text 3"/>
          <p:cNvSpPr/>
          <p:nvPr/>
        </p:nvSpPr>
        <p:spPr>
          <a:xfrm>
            <a:off x="841248" y="4754880"/>
            <a:ext cx="5212080" cy="731520"/>
          </a:xfrm>
          <a:prstGeom prst="rect">
            <a:avLst/>
          </a:prstGeom>
          <a:noFill/>
          <a:ln/>
        </p:spPr>
        <p:txBody>
          <a:bodyPr wrap="square" rtlCol="0" anchor="ctr"/>
          <a:lstStyle/>
          <a:p>
            <a:pPr indent="0" marL="0">
              <a:lnSpc>
                <a:spcPts val="2000"/>
              </a:lnSpc>
              <a:buNone/>
            </a:pPr>
            <a:r>
              <a:rPr lang="en-US" sz="1200" dirty="0">
                <a:solidFill>
                  <a:srgbClr val="4F46E5"/>
                </a:solidFill>
                <a:latin typeface="Consolas" pitchFamily="34" charset="0"/>
                <a:ea typeface="Consolas" pitchFamily="34" charset="-122"/>
                <a:cs typeface="Consolas" pitchFamily="34" charset="-120"/>
              </a:rPr>
              <a:t>Behind Spring Security. Inside your transactions. Beside your data.</a:t>
            </a:r>
            <a:endParaRPr lang="en-US" sz="1200" dirty="0"/>
          </a:p>
        </p:txBody>
      </p:sp>
      <p:sp>
        <p:nvSpPr>
          <p:cNvPr id="6" name="Shape 4"/>
          <p:cNvSpPr/>
          <p:nvPr/>
        </p:nvSpPr>
        <p:spPr>
          <a:xfrm>
            <a:off x="6675120" y="201168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Shape 5"/>
          <p:cNvSpPr/>
          <p:nvPr/>
        </p:nvSpPr>
        <p:spPr>
          <a:xfrm>
            <a:off x="6967728" y="218998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8" name="Image 0" descr="preencoded.png">    </p:cNvPr>
          <p:cNvPicPr>
            <a:picLocks noChangeAspect="1"/>
          </p:cNvPicPr>
          <p:nvPr/>
        </p:nvPicPr>
        <p:blipFill>
          <a:blip r:embed="rId1"/>
          <a:stretch>
            <a:fillRect/>
          </a:stretch>
        </p:blipFill>
        <p:spPr>
          <a:xfrm>
            <a:off x="7090623" y="2312883"/>
            <a:ext cx="266273" cy="266273"/>
          </a:xfrm>
          <a:prstGeom prst="rect">
            <a:avLst/>
          </a:prstGeom>
        </p:spPr>
      </p:pic>
      <p:sp>
        <p:nvSpPr>
          <p:cNvPr id="9" name="Text 6"/>
          <p:cNvSpPr/>
          <p:nvPr/>
        </p:nvSpPr>
        <p:spPr>
          <a:xfrm>
            <a:off x="7635240" y="214884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LangChain4j</a:t>
            </a:r>
            <a:endParaRPr lang="en-US" sz="1200" dirty="0"/>
          </a:p>
        </p:txBody>
      </p:sp>
      <p:sp>
        <p:nvSpPr>
          <p:cNvPr id="10" name="Text 7"/>
          <p:cNvSpPr/>
          <p:nvPr/>
        </p:nvSpPr>
        <p:spPr>
          <a:xfrm>
            <a:off x="7635240" y="244144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agents, tools and AI Services, the idiomatic way</a:t>
            </a:r>
            <a:endParaRPr lang="en-US" sz="1300" dirty="0"/>
          </a:p>
        </p:txBody>
      </p:sp>
      <p:sp>
        <p:nvSpPr>
          <p:cNvPr id="11" name="Shape 8"/>
          <p:cNvSpPr/>
          <p:nvPr/>
        </p:nvSpPr>
        <p:spPr>
          <a:xfrm>
            <a:off x="6675120" y="306324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9"/>
          <p:cNvSpPr/>
          <p:nvPr/>
        </p:nvSpPr>
        <p:spPr>
          <a:xfrm>
            <a:off x="6967728" y="324154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1" descr="preencoded.png">    </p:cNvPr>
          <p:cNvPicPr>
            <a:picLocks noChangeAspect="1"/>
          </p:cNvPicPr>
          <p:nvPr/>
        </p:nvPicPr>
        <p:blipFill>
          <a:blip r:embed="rId2"/>
          <a:stretch>
            <a:fillRect/>
          </a:stretch>
        </p:blipFill>
        <p:spPr>
          <a:xfrm>
            <a:off x="7090623" y="3364443"/>
            <a:ext cx="266273" cy="266273"/>
          </a:xfrm>
          <a:prstGeom prst="rect">
            <a:avLst/>
          </a:prstGeom>
        </p:spPr>
      </p:pic>
      <p:sp>
        <p:nvSpPr>
          <p:cNvPr id="14" name="Text 10"/>
          <p:cNvSpPr/>
          <p:nvPr/>
        </p:nvSpPr>
        <p:spPr>
          <a:xfrm>
            <a:off x="7635240" y="320040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Spring AI</a:t>
            </a:r>
            <a:endParaRPr lang="en-US" sz="1200" dirty="0"/>
          </a:p>
        </p:txBody>
      </p:sp>
      <p:sp>
        <p:nvSpPr>
          <p:cNvPr id="15" name="Text 11"/>
          <p:cNvSpPr/>
          <p:nvPr/>
        </p:nvSpPr>
        <p:spPr>
          <a:xfrm>
            <a:off x="7635240" y="349300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the same, wired into Spring Boot</a:t>
            </a:r>
            <a:endParaRPr lang="en-US" sz="1300" dirty="0"/>
          </a:p>
        </p:txBody>
      </p:sp>
      <p:sp>
        <p:nvSpPr>
          <p:cNvPr id="16" name="Shape 12"/>
          <p:cNvSpPr/>
          <p:nvPr/>
        </p:nvSpPr>
        <p:spPr>
          <a:xfrm>
            <a:off x="6675120" y="411480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6967728" y="4293108"/>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7090623" y="4416003"/>
            <a:ext cx="266273" cy="266273"/>
          </a:xfrm>
          <a:prstGeom prst="rect">
            <a:avLst/>
          </a:prstGeom>
        </p:spPr>
      </p:pic>
      <p:sp>
        <p:nvSpPr>
          <p:cNvPr id="19" name="Text 14"/>
          <p:cNvSpPr/>
          <p:nvPr/>
        </p:nvSpPr>
        <p:spPr>
          <a:xfrm>
            <a:off x="7635240" y="425196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the point</a:t>
            </a:r>
            <a:endParaRPr lang="en-US" sz="1200" dirty="0"/>
          </a:p>
        </p:txBody>
      </p:sp>
      <p:sp>
        <p:nvSpPr>
          <p:cNvPr id="20" name="Text 15"/>
          <p:cNvSpPr/>
          <p:nvPr/>
        </p:nvSpPr>
        <p:spPr>
          <a:xfrm>
            <a:off x="7635240" y="454456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type-safe, testable, production-grade agents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MODEL, TONIGHT</a:t>
            </a:r>
            <a:endParaRPr lang="en-US" sz="1100" dirty="0"/>
          </a:p>
        </p:txBody>
      </p:sp>
      <p:sp>
        <p:nvSpPr>
          <p:cNvPr id="3" name="Text 1"/>
          <p:cNvSpPr/>
          <p:nvPr/>
        </p:nvSpPr>
        <p:spPr>
          <a:xfrm>
            <a:off x="841248" y="1463040"/>
            <a:ext cx="5486400" cy="1828800"/>
          </a:xfrm>
          <a:prstGeom prst="rect">
            <a:avLst/>
          </a:prstGeom>
          <a:noFill/>
          <a:ln/>
        </p:spPr>
        <p:txBody>
          <a:bodyPr wrap="square" rtlCol="0" anchor="ctr"/>
          <a:lstStyle/>
          <a:p>
            <a:pPr indent="0" marL="0">
              <a:lnSpc>
                <a:spcPts val="4400"/>
              </a:lnSpc>
              <a:buNone/>
            </a:pPr>
            <a:r>
              <a:rPr lang="en-US" sz="3600" b="1" dirty="0">
                <a:solidFill>
                  <a:srgbClr val="4F46E5"/>
                </a:solidFill>
                <a:latin typeface="Arial" pitchFamily="34" charset="0"/>
                <a:ea typeface="Arial" pitchFamily="34" charset="-122"/>
                <a:cs typeface="Arial" pitchFamily="34" charset="-120"/>
              </a:rPr>
              <a:t>Qwen.</a:t>
            </a:r>
            <a:pPr indent="0" marL="0">
              <a:lnSpc>
                <a:spcPts val="4400"/>
              </a:lnSpc>
              <a:buNone/>
            </a:pPr>
            <a:r>
              <a:rPr lang="en-US" sz="3600" b="1" dirty="0">
                <a:solidFill>
                  <a:srgbClr val="16181D"/>
                </a:solidFill>
                <a:latin typeface="Arial" pitchFamily="34" charset="0"/>
                <a:ea typeface="Arial" pitchFamily="34" charset="-122"/>
                <a:cs typeface="Arial" pitchFamily="34" charset="-120"/>
              </a:rPr>
              <a:t> Local. Free.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Never leaves the room.</a:t>
            </a:r>
            <a:endParaRPr lang="en-US" sz="3600" dirty="0"/>
          </a:p>
        </p:txBody>
      </p:sp>
      <p:sp>
        <p:nvSpPr>
          <p:cNvPr id="4" name="Text 2"/>
          <p:cNvSpPr/>
          <p:nvPr/>
        </p:nvSpPr>
        <p:spPr>
          <a:xfrm>
            <a:off x="841248" y="3520440"/>
            <a:ext cx="5120640" cy="137160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Ollama serves the model from this laptop. No cloud call, no per-token bill, no data leaving the building. That last part is what your regulated clients care about most.</a:t>
            </a:r>
            <a:endParaRPr lang="en-US" sz="1600" dirty="0"/>
          </a:p>
        </p:txBody>
      </p:sp>
      <p:sp>
        <p:nvSpPr>
          <p:cNvPr id="5" name="Text 3"/>
          <p:cNvSpPr/>
          <p:nvPr/>
        </p:nvSpPr>
        <p:spPr>
          <a:xfrm>
            <a:off x="841248" y="5074920"/>
            <a:ext cx="1828800" cy="685800"/>
          </a:xfrm>
          <a:prstGeom prst="rect">
            <a:avLst/>
          </a:prstGeom>
          <a:noFill/>
          <a:ln/>
        </p:spPr>
        <p:txBody>
          <a:bodyPr wrap="square" rtlCol="0" anchor="ctr"/>
          <a:lstStyle/>
          <a:p>
            <a:pPr indent="0" marL="0">
              <a:buNone/>
            </a:pPr>
            <a:r>
              <a:rPr lang="en-US" sz="3800" b="1" dirty="0">
                <a:solidFill>
                  <a:srgbClr val="0284C7"/>
                </a:solidFill>
                <a:latin typeface="Arial" pitchFamily="34" charset="0"/>
                <a:ea typeface="Arial" pitchFamily="34" charset="-122"/>
                <a:cs typeface="Arial" pitchFamily="34" charset="-120"/>
              </a:rPr>
              <a:t>3B</a:t>
            </a:r>
            <a:endParaRPr lang="en-US" sz="3800" dirty="0"/>
          </a:p>
        </p:txBody>
      </p:sp>
      <p:sp>
        <p:nvSpPr>
          <p:cNvPr id="6" name="Text 4"/>
          <p:cNvSpPr/>
          <p:nvPr/>
        </p:nvSpPr>
        <p:spPr>
          <a:xfrm>
            <a:off x="84124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PARAMS, ON A LAPTOP</a:t>
            </a:r>
            <a:endParaRPr lang="en-US" sz="950" dirty="0"/>
          </a:p>
        </p:txBody>
      </p:sp>
      <p:sp>
        <p:nvSpPr>
          <p:cNvPr id="7" name="Text 5"/>
          <p:cNvSpPr/>
          <p:nvPr/>
        </p:nvSpPr>
        <p:spPr>
          <a:xfrm>
            <a:off x="2670048" y="5074920"/>
            <a:ext cx="1828800" cy="685800"/>
          </a:xfrm>
          <a:prstGeom prst="rect">
            <a:avLst/>
          </a:prstGeom>
          <a:noFill/>
          <a:ln/>
        </p:spPr>
        <p:txBody>
          <a:bodyPr wrap="square" rtlCol="0" anchor="ctr"/>
          <a:lstStyle/>
          <a:p>
            <a:pPr indent="0" marL="0">
              <a:buNone/>
            </a:pPr>
            <a:r>
              <a:rPr lang="en-US" sz="3800" b="1" dirty="0">
                <a:solidFill>
                  <a:srgbClr val="0F9E8E"/>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67004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PER TOKEN, EVER</a:t>
            </a:r>
            <a:endParaRPr lang="en-US" sz="950" dirty="0"/>
          </a:p>
        </p:txBody>
      </p:sp>
      <p:sp>
        <p:nvSpPr>
          <p:cNvPr id="9" name="Text 7"/>
          <p:cNvSpPr/>
          <p:nvPr/>
        </p:nvSpPr>
        <p:spPr>
          <a:xfrm>
            <a:off x="4361688" y="507492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0</a:t>
            </a:r>
            <a:endParaRPr lang="en-US" sz="3800" dirty="0"/>
          </a:p>
        </p:txBody>
      </p:sp>
      <p:sp>
        <p:nvSpPr>
          <p:cNvPr id="10" name="Text 8"/>
          <p:cNvSpPr/>
          <p:nvPr/>
        </p:nvSpPr>
        <p:spPr>
          <a:xfrm>
            <a:off x="436168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BYTES LEAVE THE ROOM</a:t>
            </a:r>
            <a:endParaRPr lang="en-US" sz="950" dirty="0"/>
          </a:p>
        </p:txBody>
      </p:sp>
      <p:sp>
        <p:nvSpPr>
          <p:cNvPr id="11" name="Shape 9"/>
          <p:cNvSpPr/>
          <p:nvPr/>
        </p:nvSpPr>
        <p:spPr>
          <a:xfrm>
            <a:off x="7040880" y="1554480"/>
            <a:ext cx="3840480" cy="3566160"/>
          </a:xfrm>
          <a:prstGeom prst="roundRect">
            <a:avLst>
              <a:gd name="adj" fmla="val 3077"/>
            </a:avLst>
          </a:prstGeom>
          <a:solidFill>
            <a:srgbClr val="F5F7FA"/>
          </a:solidFill>
          <a:ln w="15240">
            <a:solidFill>
              <a:srgbClr val="E1E5EC"/>
            </a:solidFill>
            <a:prstDash val="dash"/>
          </a:ln>
          <a:effectLst>
            <a:outerShdw sx="100000" sy="100000" kx="0" ky="0" algn="bl" rotWithShape="0" blurRad="139700" dist="38100" dir="5400000">
              <a:srgbClr val="9AA6BC">
                <a:alpha val="28000"/>
              </a:srgbClr>
            </a:outerShdw>
          </a:effectLst>
        </p:spPr>
      </p:sp>
      <p:sp>
        <p:nvSpPr>
          <p:cNvPr id="12" name="Text 10"/>
          <p:cNvSpPr/>
          <p:nvPr/>
        </p:nvSpPr>
        <p:spPr>
          <a:xfrm>
            <a:off x="7315200" y="1755648"/>
            <a:ext cx="2743200" cy="274320"/>
          </a:xfrm>
          <a:prstGeom prst="rect">
            <a:avLst/>
          </a:prstGeom>
          <a:noFill/>
          <a:ln/>
        </p:spPr>
        <p:txBody>
          <a:bodyPr wrap="square" rtlCol="0" anchor="ctr"/>
          <a:lstStyle/>
          <a:p>
            <a:pPr indent="0" marL="0">
              <a:buNone/>
            </a:pPr>
            <a:r>
              <a:rPr lang="en-US" sz="1000" spc="200" kern="0" dirty="0">
                <a:solidFill>
                  <a:srgbClr val="0F9E8E"/>
                </a:solidFill>
                <a:latin typeface="Consolas" pitchFamily="34" charset="0"/>
                <a:ea typeface="Consolas" pitchFamily="34" charset="-122"/>
                <a:cs typeface="Consolas" pitchFamily="34" charset="-120"/>
              </a:rPr>
              <a:t>YOUR BUILDING</a:t>
            </a:r>
            <a:endParaRPr lang="en-US" sz="1000" dirty="0"/>
          </a:p>
        </p:txBody>
      </p:sp>
      <p:sp>
        <p:nvSpPr>
          <p:cNvPr id="13" name="Shape 11"/>
          <p:cNvSpPr/>
          <p:nvPr/>
        </p:nvSpPr>
        <p:spPr>
          <a:xfrm>
            <a:off x="7726680" y="2423160"/>
            <a:ext cx="2468880" cy="1554480"/>
          </a:xfrm>
          <a:prstGeom prst="roundRect">
            <a:avLst>
              <a:gd name="adj" fmla="val 4706"/>
            </a:avLst>
          </a:prstGeom>
          <a:solidFill>
            <a:srgbClr val="FFFFFF"/>
          </a:solidFill>
          <a:ln w="15240">
            <a:solidFill>
              <a:srgbClr val="666C7A"/>
            </a:solidFill>
            <a:prstDash val="solid"/>
          </a:ln>
        </p:spPr>
      </p:sp>
      <p:sp>
        <p:nvSpPr>
          <p:cNvPr id="14" name="Shape 12"/>
          <p:cNvSpPr/>
          <p:nvPr/>
        </p:nvSpPr>
        <p:spPr>
          <a:xfrm rot="10800000">
            <a:off x="7452360" y="3977640"/>
            <a:ext cx="3017520" cy="256032"/>
          </a:xfrm>
          <a:prstGeom prst="trapezoid">
            <a:avLst/>
          </a:prstGeom>
          <a:solidFill>
            <a:srgbClr val="EEF1F6"/>
          </a:solidFill>
          <a:ln w="15240">
            <a:solidFill>
              <a:srgbClr val="666C7A"/>
            </a:solidFill>
            <a:prstDash val="solid"/>
          </a:ln>
        </p:spPr>
      </p:sp>
      <p:sp>
        <p:nvSpPr>
          <p:cNvPr id="15" name="Shape 13"/>
          <p:cNvSpPr/>
          <p:nvPr/>
        </p:nvSpPr>
        <p:spPr>
          <a:xfrm>
            <a:off x="8631936" y="2807208"/>
            <a:ext cx="658368" cy="658368"/>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0" descr="preencoded.png">    </p:cNvPr>
          <p:cNvPicPr>
            <a:picLocks noChangeAspect="1"/>
          </p:cNvPicPr>
          <p:nvPr/>
        </p:nvPicPr>
        <p:blipFill>
          <a:blip r:embed="rId1"/>
          <a:stretch>
            <a:fillRect/>
          </a:stretch>
        </p:blipFill>
        <p:spPr>
          <a:xfrm>
            <a:off x="8789944" y="2965216"/>
            <a:ext cx="342351" cy="342351"/>
          </a:xfrm>
          <a:prstGeom prst="rect">
            <a:avLst/>
          </a:prstGeom>
        </p:spPr>
      </p:pic>
      <p:sp>
        <p:nvSpPr>
          <p:cNvPr id="17" name="Shape 14"/>
          <p:cNvSpPr/>
          <p:nvPr/>
        </p:nvSpPr>
        <p:spPr>
          <a:xfrm>
            <a:off x="7973568" y="2715768"/>
            <a:ext cx="146304" cy="146304"/>
          </a:xfrm>
          <a:prstGeom prst="ellipse">
            <a:avLst/>
          </a:prstGeom>
          <a:solidFill>
            <a:srgbClr val="0F9E8E"/>
          </a:solidFill>
          <a:ln/>
        </p:spPr>
      </p:sp>
      <p:sp>
        <p:nvSpPr>
          <p:cNvPr id="18" name="Shape 15"/>
          <p:cNvSpPr/>
          <p:nvPr/>
        </p:nvSpPr>
        <p:spPr>
          <a:xfrm>
            <a:off x="9802368" y="2715768"/>
            <a:ext cx="146304" cy="146304"/>
          </a:xfrm>
          <a:prstGeom prst="ellipse">
            <a:avLst/>
          </a:prstGeom>
          <a:solidFill>
            <a:srgbClr val="7C3AED"/>
          </a:solidFill>
          <a:ln/>
        </p:spPr>
      </p:sp>
      <p:sp>
        <p:nvSpPr>
          <p:cNvPr id="19" name="Shape 16"/>
          <p:cNvSpPr/>
          <p:nvPr/>
        </p:nvSpPr>
        <p:spPr>
          <a:xfrm>
            <a:off x="7973568" y="3538728"/>
            <a:ext cx="146304" cy="146304"/>
          </a:xfrm>
          <a:prstGeom prst="ellipse">
            <a:avLst/>
          </a:prstGeom>
          <a:solidFill>
            <a:srgbClr val="0284C7"/>
          </a:solidFill>
          <a:ln/>
        </p:spPr>
      </p:sp>
      <p:sp>
        <p:nvSpPr>
          <p:cNvPr id="20" name="Shape 17"/>
          <p:cNvSpPr/>
          <p:nvPr/>
        </p:nvSpPr>
        <p:spPr>
          <a:xfrm>
            <a:off x="9802368" y="3538728"/>
            <a:ext cx="146304" cy="146304"/>
          </a:xfrm>
          <a:prstGeom prst="ellipse">
            <a:avLst/>
          </a:prstGeom>
          <a:solidFill>
            <a:srgbClr val="E11D48"/>
          </a:solidFill>
          <a:ln/>
        </p:spPr>
      </p:sp>
      <p:sp>
        <p:nvSpPr>
          <p:cNvPr id="21" name="Text 18"/>
          <p:cNvSpPr/>
          <p:nvPr/>
        </p:nvSpPr>
        <p:spPr>
          <a:xfrm>
            <a:off x="7040880" y="4663440"/>
            <a:ext cx="3840480" cy="274320"/>
          </a:xfrm>
          <a:prstGeom prst="rect">
            <a:avLst/>
          </a:prstGeom>
          <a:noFill/>
          <a:ln/>
        </p:spPr>
        <p:txBody>
          <a:bodyPr wrap="square" rtlCol="0" anchor="ctr"/>
          <a:lstStyle/>
          <a:p>
            <a:pPr algn="ctr" indent="0" marL="0">
              <a:buNone/>
            </a:pPr>
            <a:r>
              <a:rPr lang="en-US" sz="1000" spc="100" kern="0" dirty="0">
                <a:solidFill>
                  <a:srgbClr val="666C7A"/>
                </a:solidFill>
                <a:latin typeface="Consolas" pitchFamily="34" charset="0"/>
                <a:ea typeface="Consolas" pitchFamily="34" charset="-122"/>
                <a:cs typeface="Consolas" pitchFamily="34" charset="-120"/>
              </a:rPr>
              <a:t>every token stays inside</a:t>
            </a:r>
            <a:endParaRPr lang="en-US" sz="1000" dirty="0"/>
          </a:p>
        </p:txBody>
      </p:sp>
      <p:sp>
        <p:nvSpPr>
          <p:cNvPr id="22" name="Shape 19"/>
          <p:cNvSpPr/>
          <p:nvPr/>
        </p:nvSpPr>
        <p:spPr>
          <a:xfrm>
            <a:off x="11109960" y="1600200"/>
            <a:ext cx="731520" cy="731520"/>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23" name="Image 1" descr="preencoded.png">    </p:cNvPr>
          <p:cNvPicPr>
            <a:picLocks noChangeAspect="1"/>
          </p:cNvPicPr>
          <p:nvPr/>
        </p:nvPicPr>
        <p:blipFill>
          <a:blip r:embed="rId2"/>
          <a:stretch>
            <a:fillRect/>
          </a:stretch>
        </p:blipFill>
        <p:spPr>
          <a:xfrm>
            <a:off x="11285525" y="1775765"/>
            <a:ext cx="380390" cy="380390"/>
          </a:xfrm>
          <a:prstGeom prst="rect">
            <a:avLst/>
          </a:prstGeom>
        </p:spPr>
      </p:pic>
      <p:sp>
        <p:nvSpPr>
          <p:cNvPr id="24" name="Shape 20"/>
          <p:cNvSpPr/>
          <p:nvPr/>
        </p:nvSpPr>
        <p:spPr>
          <a:xfrm>
            <a:off x="11109960" y="1600200"/>
            <a:ext cx="731520" cy="731520"/>
          </a:xfrm>
          <a:prstGeom prst="line">
            <a:avLst/>
          </a:prstGeom>
          <a:noFill/>
          <a:ln w="31750">
            <a:solidFill>
              <a:srgbClr val="E11D48"/>
            </a:solidFill>
            <a:prstDash val="solid"/>
          </a:ln>
        </p:spPr>
      </p:sp>
      <p:sp>
        <p:nvSpPr>
          <p:cNvPr id="25" name="Text 21"/>
          <p:cNvSpPr/>
          <p:nvPr/>
        </p:nvSpPr>
        <p:spPr>
          <a:xfrm>
            <a:off x="10835640" y="2487168"/>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no cloud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ACT FOUR</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Control Beyond</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prompt is one lever. There are five more, and they are where reliability comes from.</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COCKPIT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Six ways to steer. Only </a:t>
            </a:r>
            <a:pPr indent="0" marL="0">
              <a:buNone/>
            </a:pPr>
            <a:r>
              <a:rPr lang="en-US" sz="3000" b="1" dirty="0">
                <a:solidFill>
                  <a:srgbClr val="4F46E5"/>
                </a:solidFill>
                <a:latin typeface="Arial" pitchFamily="34" charset="0"/>
                <a:ea typeface="Arial" pitchFamily="34" charset="-122"/>
                <a:cs typeface="Arial" pitchFamily="34" charset="-120"/>
              </a:rPr>
              <a:t>one</a:t>
            </a:r>
            <a:pPr indent="0" marL="0">
              <a:buNone/>
            </a:pPr>
            <a:r>
              <a:rPr lang="en-US" sz="3000" b="1" dirty="0">
                <a:solidFill>
                  <a:srgbClr val="16181D"/>
                </a:solidFill>
                <a:latin typeface="Arial" pitchFamily="34" charset="0"/>
                <a:ea typeface="Arial" pitchFamily="34" charset="-122"/>
                <a:cs typeface="Arial" pitchFamily="34" charset="-120"/>
              </a:rPr>
              <a:t> is the prompt.</a:t>
            </a:r>
            <a:endParaRPr lang="en-US" sz="3000" dirty="0"/>
          </a:p>
        </p:txBody>
      </p:sp>
      <p:sp>
        <p:nvSpPr>
          <p:cNvPr id="4" name="Shape 2"/>
          <p:cNvSpPr/>
          <p:nvPr/>
        </p:nvSpPr>
        <p:spPr>
          <a:xfrm>
            <a:off x="8412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52144" y="23500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75039" y="2472903"/>
            <a:ext cx="266273" cy="266273"/>
          </a:xfrm>
          <a:prstGeom prst="rect">
            <a:avLst/>
          </a:prstGeom>
        </p:spPr>
      </p:pic>
      <p:sp>
        <p:nvSpPr>
          <p:cNvPr id="7" name="Text 4"/>
          <p:cNvSpPr/>
          <p:nvPr/>
        </p:nvSpPr>
        <p:spPr>
          <a:xfrm>
            <a:off x="18013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01</a:t>
            </a:r>
            <a:endParaRPr lang="en-US" sz="950" dirty="0"/>
          </a:p>
        </p:txBody>
      </p:sp>
      <p:sp>
        <p:nvSpPr>
          <p:cNvPr id="8" name="Text 5"/>
          <p:cNvSpPr/>
          <p:nvPr/>
        </p:nvSpPr>
        <p:spPr>
          <a:xfrm>
            <a:off x="18013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The prompt</a:t>
            </a:r>
            <a:endParaRPr lang="en-US" sz="1800" dirty="0"/>
          </a:p>
        </p:txBody>
      </p:sp>
      <p:sp>
        <p:nvSpPr>
          <p:cNvPr id="9" name="Text 6"/>
          <p:cNvSpPr/>
          <p:nvPr/>
        </p:nvSpPr>
        <p:spPr>
          <a:xfrm>
            <a:off x="11612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you want. The instruction everyone knows.</a:t>
            </a:r>
            <a:endParaRPr lang="en-US" sz="1250" dirty="0"/>
          </a:p>
        </p:txBody>
      </p:sp>
      <p:sp>
        <p:nvSpPr>
          <p:cNvPr id="10" name="Shape 7"/>
          <p:cNvSpPr/>
          <p:nvPr/>
        </p:nvSpPr>
        <p:spPr>
          <a:xfrm>
            <a:off x="44988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9744" y="235000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32639" y="2472903"/>
            <a:ext cx="266273" cy="266273"/>
          </a:xfrm>
          <a:prstGeom prst="rect">
            <a:avLst/>
          </a:prstGeom>
        </p:spPr>
      </p:pic>
      <p:sp>
        <p:nvSpPr>
          <p:cNvPr id="13" name="Text 9"/>
          <p:cNvSpPr/>
          <p:nvPr/>
        </p:nvSpPr>
        <p:spPr>
          <a:xfrm>
            <a:off x="54589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02</a:t>
            </a:r>
            <a:endParaRPr lang="en-US" sz="950" dirty="0"/>
          </a:p>
        </p:txBody>
      </p:sp>
      <p:sp>
        <p:nvSpPr>
          <p:cNvPr id="14" name="Text 10"/>
          <p:cNvSpPr/>
          <p:nvPr/>
        </p:nvSpPr>
        <p:spPr>
          <a:xfrm>
            <a:off x="54589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Tools</a:t>
            </a:r>
            <a:endParaRPr lang="en-US" sz="1800" dirty="0"/>
          </a:p>
        </p:txBody>
      </p:sp>
      <p:sp>
        <p:nvSpPr>
          <p:cNvPr id="15" name="Text 11"/>
          <p:cNvSpPr/>
          <p:nvPr/>
        </p:nvSpPr>
        <p:spPr>
          <a:xfrm>
            <a:off x="48188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is allowed to touch. The capability boundary.</a:t>
            </a:r>
            <a:endParaRPr lang="en-US" sz="1250" dirty="0"/>
          </a:p>
        </p:txBody>
      </p:sp>
      <p:sp>
        <p:nvSpPr>
          <p:cNvPr id="16" name="Shape 12"/>
          <p:cNvSpPr/>
          <p:nvPr/>
        </p:nvSpPr>
        <p:spPr>
          <a:xfrm>
            <a:off x="81564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467344" y="2350008"/>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590239" y="2472903"/>
            <a:ext cx="266273" cy="266273"/>
          </a:xfrm>
          <a:prstGeom prst="rect">
            <a:avLst/>
          </a:prstGeom>
        </p:spPr>
      </p:pic>
      <p:sp>
        <p:nvSpPr>
          <p:cNvPr id="19" name="Text 14"/>
          <p:cNvSpPr/>
          <p:nvPr/>
        </p:nvSpPr>
        <p:spPr>
          <a:xfrm>
            <a:off x="91165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03</a:t>
            </a:r>
            <a:endParaRPr lang="en-US" sz="950" dirty="0"/>
          </a:p>
        </p:txBody>
      </p:sp>
      <p:sp>
        <p:nvSpPr>
          <p:cNvPr id="20" name="Text 15"/>
          <p:cNvSpPr/>
          <p:nvPr/>
        </p:nvSpPr>
        <p:spPr>
          <a:xfrm>
            <a:off x="91165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Schema</a:t>
            </a:r>
            <a:endParaRPr lang="en-US" sz="1800" dirty="0"/>
          </a:p>
        </p:txBody>
      </p:sp>
      <p:sp>
        <p:nvSpPr>
          <p:cNvPr id="21" name="Text 16"/>
          <p:cNvSpPr/>
          <p:nvPr/>
        </p:nvSpPr>
        <p:spPr>
          <a:xfrm>
            <a:off x="84764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The shape of the answer. A typed object, not prose.</a:t>
            </a:r>
            <a:endParaRPr lang="en-US" sz="1250" dirty="0"/>
          </a:p>
        </p:txBody>
      </p:sp>
      <p:sp>
        <p:nvSpPr>
          <p:cNvPr id="22" name="Shape 17"/>
          <p:cNvSpPr/>
          <p:nvPr/>
        </p:nvSpPr>
        <p:spPr>
          <a:xfrm>
            <a:off x="8412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1152144" y="4434840"/>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1275039" y="4557735"/>
            <a:ext cx="266273" cy="266273"/>
          </a:xfrm>
          <a:prstGeom prst="rect">
            <a:avLst/>
          </a:prstGeom>
        </p:spPr>
      </p:pic>
      <p:sp>
        <p:nvSpPr>
          <p:cNvPr id="25" name="Text 19"/>
          <p:cNvSpPr/>
          <p:nvPr/>
        </p:nvSpPr>
        <p:spPr>
          <a:xfrm>
            <a:off x="18013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04</a:t>
            </a:r>
            <a:endParaRPr lang="en-US" sz="950" dirty="0"/>
          </a:p>
        </p:txBody>
      </p:sp>
      <p:sp>
        <p:nvSpPr>
          <p:cNvPr id="26" name="Text 20"/>
          <p:cNvSpPr/>
          <p:nvPr/>
        </p:nvSpPr>
        <p:spPr>
          <a:xfrm>
            <a:off x="18013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Guardrails</a:t>
            </a:r>
            <a:endParaRPr lang="en-US" sz="1800" dirty="0"/>
          </a:p>
        </p:txBody>
      </p:sp>
      <p:sp>
        <p:nvSpPr>
          <p:cNvPr id="27" name="Text 21"/>
          <p:cNvSpPr/>
          <p:nvPr/>
        </p:nvSpPr>
        <p:spPr>
          <a:xfrm>
            <a:off x="11612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Validation that rejects bad output before it escapes.</a:t>
            </a:r>
            <a:endParaRPr lang="en-US" sz="1250" dirty="0"/>
          </a:p>
        </p:txBody>
      </p:sp>
      <p:sp>
        <p:nvSpPr>
          <p:cNvPr id="28" name="Shape 22"/>
          <p:cNvSpPr/>
          <p:nvPr/>
        </p:nvSpPr>
        <p:spPr>
          <a:xfrm>
            <a:off x="44988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4809744" y="4434840"/>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4932639" y="4557735"/>
            <a:ext cx="266273" cy="266273"/>
          </a:xfrm>
          <a:prstGeom prst="rect">
            <a:avLst/>
          </a:prstGeom>
        </p:spPr>
      </p:pic>
      <p:sp>
        <p:nvSpPr>
          <p:cNvPr id="31" name="Text 24"/>
          <p:cNvSpPr/>
          <p:nvPr/>
        </p:nvSpPr>
        <p:spPr>
          <a:xfrm>
            <a:off x="54589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05</a:t>
            </a:r>
            <a:endParaRPr lang="en-US" sz="950" dirty="0"/>
          </a:p>
        </p:txBody>
      </p:sp>
      <p:sp>
        <p:nvSpPr>
          <p:cNvPr id="32" name="Text 25"/>
          <p:cNvSpPr/>
          <p:nvPr/>
        </p:nvSpPr>
        <p:spPr>
          <a:xfrm>
            <a:off x="54589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Memory</a:t>
            </a:r>
            <a:endParaRPr lang="en-US" sz="1800" dirty="0"/>
          </a:p>
        </p:txBody>
      </p:sp>
      <p:sp>
        <p:nvSpPr>
          <p:cNvPr id="33" name="Text 26"/>
          <p:cNvSpPr/>
          <p:nvPr/>
        </p:nvSpPr>
        <p:spPr>
          <a:xfrm>
            <a:off x="48188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remembers, and pointedly what it forgets.</a:t>
            </a:r>
            <a:endParaRPr lang="en-US" sz="1250" dirty="0"/>
          </a:p>
        </p:txBody>
      </p:sp>
      <p:sp>
        <p:nvSpPr>
          <p:cNvPr id="34" name="Shape 27"/>
          <p:cNvSpPr/>
          <p:nvPr/>
        </p:nvSpPr>
        <p:spPr>
          <a:xfrm>
            <a:off x="81564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5" name="Shape 28"/>
          <p:cNvSpPr/>
          <p:nvPr/>
        </p:nvSpPr>
        <p:spPr>
          <a:xfrm>
            <a:off x="8467344" y="4434840"/>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6" name="Image 5" descr="preencoded.png">    </p:cNvPr>
          <p:cNvPicPr>
            <a:picLocks noChangeAspect="1"/>
          </p:cNvPicPr>
          <p:nvPr/>
        </p:nvPicPr>
        <p:blipFill>
          <a:blip r:embed="rId6"/>
          <a:stretch>
            <a:fillRect/>
          </a:stretch>
        </p:blipFill>
        <p:spPr>
          <a:xfrm>
            <a:off x="8590239" y="4557735"/>
            <a:ext cx="266273" cy="266273"/>
          </a:xfrm>
          <a:prstGeom prst="rect">
            <a:avLst/>
          </a:prstGeom>
        </p:spPr>
      </p:pic>
      <p:sp>
        <p:nvSpPr>
          <p:cNvPr id="37" name="Text 29"/>
          <p:cNvSpPr/>
          <p:nvPr/>
        </p:nvSpPr>
        <p:spPr>
          <a:xfrm>
            <a:off x="91165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06</a:t>
            </a:r>
            <a:endParaRPr lang="en-US" sz="950" dirty="0"/>
          </a:p>
        </p:txBody>
      </p:sp>
      <p:sp>
        <p:nvSpPr>
          <p:cNvPr id="38" name="Text 30"/>
          <p:cNvSpPr/>
          <p:nvPr/>
        </p:nvSpPr>
        <p:spPr>
          <a:xfrm>
            <a:off x="91165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Orchestration</a:t>
            </a:r>
            <a:endParaRPr lang="en-US" sz="1800" dirty="0"/>
          </a:p>
        </p:txBody>
      </p:sp>
      <p:sp>
        <p:nvSpPr>
          <p:cNvPr id="39" name="Text 31"/>
          <p:cNvSpPr/>
          <p:nvPr/>
        </p:nvSpPr>
        <p:spPr>
          <a:xfrm>
            <a:off x="84764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Who talks to whom. Tonight, a crew.</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SHIFT</a:t>
            </a:r>
            <a:endParaRPr lang="en-US" sz="1100" dirty="0"/>
          </a:p>
        </p:txBody>
      </p:sp>
      <p:sp>
        <p:nvSpPr>
          <p:cNvPr id="3" name="Text 1"/>
          <p:cNvSpPr/>
          <p:nvPr/>
        </p:nvSpPr>
        <p:spPr>
          <a:xfrm>
            <a:off x="1097280" y="1234440"/>
            <a:ext cx="10058400" cy="1645920"/>
          </a:xfrm>
          <a:prstGeom prst="rect">
            <a:avLst/>
          </a:prstGeom>
          <a:noFill/>
          <a:ln/>
        </p:spPr>
        <p:txBody>
          <a:bodyPr wrap="square" rtlCol="0" anchor="ctr"/>
          <a:lstStyle/>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don't </a:t>
            </a:r>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program</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an agent.</a:t>
            </a:r>
            <a:endParaRPr lang="en-US" sz="4400" dirty="0"/>
          </a:p>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a:t>
            </a:r>
            <a:endParaRPr lang="en-US" sz="4400" dirty="0"/>
          </a:p>
          <a:p>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constrain</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it.</a:t>
            </a:r>
            <a:endParaRPr lang="en-US" sz="4400" dirty="0"/>
          </a:p>
        </p:txBody>
      </p:sp>
      <p:sp>
        <p:nvSpPr>
          <p:cNvPr id="4" name="Shape 2"/>
          <p:cNvSpPr/>
          <p:nvPr/>
        </p:nvSpPr>
        <p:spPr>
          <a:xfrm>
            <a:off x="5364328" y="3931920"/>
            <a:ext cx="1463040" cy="914400"/>
          </a:xfrm>
          <a:prstGeom prst="roundRect">
            <a:avLst>
              <a:gd name="adj" fmla="val 12000"/>
            </a:avLst>
          </a:prstGeom>
          <a:solidFill>
            <a:srgbClr val="F5F7FA"/>
          </a:solidFill>
          <a:ln w="19050">
            <a:solidFill>
              <a:srgbClr val="4F46E5"/>
            </a:solidFill>
            <a:prstDash val="dash"/>
          </a:ln>
        </p:spPr>
      </p:sp>
      <p:sp>
        <p:nvSpPr>
          <p:cNvPr id="5" name="Shape 3"/>
          <p:cNvSpPr/>
          <p:nvPr/>
        </p:nvSpPr>
        <p:spPr>
          <a:xfrm>
            <a:off x="5958688" y="4251960"/>
            <a:ext cx="274320" cy="274320"/>
          </a:xfrm>
          <a:prstGeom prst="ellipse">
            <a:avLst/>
          </a:prstGeom>
          <a:solidFill>
            <a:srgbClr val="4F46E5"/>
          </a:solidFill>
          <a:ln/>
        </p:spPr>
      </p:sp>
      <p:sp>
        <p:nvSpPr>
          <p:cNvPr id="6" name="Text 4"/>
          <p:cNvSpPr/>
          <p:nvPr/>
        </p:nvSpPr>
        <p:spPr>
          <a:xfrm>
            <a:off x="4632808" y="3429000"/>
            <a:ext cx="2926080" cy="292608"/>
          </a:xfrm>
          <a:prstGeom prst="rect">
            <a:avLst/>
          </a:prstGeom>
          <a:noFill/>
          <a:ln/>
        </p:spPr>
        <p:txBody>
          <a:bodyPr wrap="square" rtlCol="0" anchor="ctr"/>
          <a:lstStyle/>
          <a:p>
            <a:pPr algn="ctr" indent="0" marL="0">
              <a:buNone/>
            </a:pPr>
            <a:r>
              <a:rPr lang="en-US" sz="1100" b="1" spc="100" kern="0" dirty="0">
                <a:solidFill>
                  <a:srgbClr val="0F9E8E"/>
                </a:solidFill>
                <a:latin typeface="Consolas" pitchFamily="34" charset="0"/>
                <a:ea typeface="Consolas" pitchFamily="34" charset="-122"/>
                <a:cs typeface="Consolas" pitchFamily="34" charset="-120"/>
              </a:rPr>
              <a:t>PROMPT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a:t>
            </a:r>
            <a:endParaRPr lang="en-US" sz="1100" dirty="0"/>
          </a:p>
        </p:txBody>
      </p:sp>
      <p:sp>
        <p:nvSpPr>
          <p:cNvPr id="7" name="Text 5"/>
          <p:cNvSpPr/>
          <p:nvPr/>
        </p:nvSpPr>
        <p:spPr>
          <a:xfrm>
            <a:off x="7147408" y="4242816"/>
            <a:ext cx="2926080" cy="292608"/>
          </a:xfrm>
          <a:prstGeom prst="rect">
            <a:avLst/>
          </a:prstGeom>
          <a:noFill/>
          <a:ln/>
        </p:spPr>
        <p:txBody>
          <a:bodyPr wrap="square" rtlCol="0" anchor="ctr"/>
          <a:lstStyle/>
          <a:p>
            <a:pPr algn="l" indent="0" marL="0">
              <a:buNone/>
            </a:pPr>
            <a:r>
              <a:rPr lang="en-US" sz="1100" b="1" spc="100" kern="0" dirty="0">
                <a:solidFill>
                  <a:srgbClr val="7C3AED"/>
                </a:solidFill>
                <a:latin typeface="Consolas" pitchFamily="34" charset="0"/>
                <a:ea typeface="Consolas" pitchFamily="34" charset="-122"/>
                <a:cs typeface="Consolas" pitchFamily="34" charset="-120"/>
              </a:rPr>
              <a:t>TOOLS  </a:t>
            </a:r>
            <a:pPr algn="l" indent="0" marL="0">
              <a:buNone/>
            </a:pPr>
            <a:r>
              <a:rPr lang="en-US" sz="1100" spc="100" kern="0" dirty="0">
                <a:solidFill>
                  <a:srgbClr val="9AA1B0"/>
                </a:solidFill>
                <a:latin typeface="Consolas" pitchFamily="34" charset="0"/>
                <a:ea typeface="Consolas" pitchFamily="34" charset="-122"/>
                <a:cs typeface="Consolas" pitchFamily="34" charset="-120"/>
              </a:rPr>
              <a:t>say how far</a:t>
            </a:r>
            <a:endParaRPr lang="en-US" sz="1100" dirty="0"/>
          </a:p>
        </p:txBody>
      </p:sp>
      <p:sp>
        <p:nvSpPr>
          <p:cNvPr id="8" name="Text 6"/>
          <p:cNvSpPr/>
          <p:nvPr/>
        </p:nvSpPr>
        <p:spPr>
          <a:xfrm>
            <a:off x="4632808" y="5120640"/>
            <a:ext cx="2926080" cy="292608"/>
          </a:xfrm>
          <a:prstGeom prst="rect">
            <a:avLst/>
          </a:prstGeom>
          <a:noFill/>
          <a:ln/>
        </p:spPr>
        <p:txBody>
          <a:bodyPr wrap="square" rtlCol="0" anchor="ctr"/>
          <a:lstStyle/>
          <a:p>
            <a:pPr algn="ctr" indent="0" marL="0">
              <a:buNone/>
            </a:pPr>
            <a:r>
              <a:rPr lang="en-US" sz="1100" b="1" spc="100" kern="0" dirty="0">
                <a:solidFill>
                  <a:srgbClr val="0284C7"/>
                </a:solidFill>
                <a:latin typeface="Consolas" pitchFamily="34" charset="0"/>
                <a:ea typeface="Consolas" pitchFamily="34" charset="-122"/>
                <a:cs typeface="Consolas" pitchFamily="34" charset="-120"/>
              </a:rPr>
              <a:t>SCHEMA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 shape</a:t>
            </a:r>
            <a:endParaRPr lang="en-US" sz="1100" dirty="0"/>
          </a:p>
        </p:txBody>
      </p:sp>
      <p:sp>
        <p:nvSpPr>
          <p:cNvPr id="9" name="Text 7"/>
          <p:cNvSpPr/>
          <p:nvPr/>
        </p:nvSpPr>
        <p:spPr>
          <a:xfrm>
            <a:off x="2118208" y="4242816"/>
            <a:ext cx="2926080" cy="292608"/>
          </a:xfrm>
          <a:prstGeom prst="rect">
            <a:avLst/>
          </a:prstGeom>
          <a:noFill/>
          <a:ln/>
        </p:spPr>
        <p:txBody>
          <a:bodyPr wrap="square" rtlCol="0" anchor="ctr"/>
          <a:lstStyle/>
          <a:p>
            <a:pPr algn="r" indent="0" marL="0">
              <a:buNone/>
            </a:pPr>
            <a:r>
              <a:rPr lang="en-US" sz="1100" b="1" spc="100" kern="0" dirty="0">
                <a:solidFill>
                  <a:srgbClr val="E11D48"/>
                </a:solidFill>
                <a:latin typeface="Consolas" pitchFamily="34" charset="0"/>
                <a:ea typeface="Consolas" pitchFamily="34" charset="-122"/>
                <a:cs typeface="Consolas" pitchFamily="34" charset="-120"/>
              </a:rPr>
              <a:t>ORCHESTRATION  </a:t>
            </a:r>
            <a:pPr algn="r" indent="0" marL="0">
              <a:buNone/>
            </a:pPr>
            <a:r>
              <a:rPr lang="en-US" sz="1100" spc="100" kern="0" dirty="0">
                <a:solidFill>
                  <a:srgbClr val="9AA1B0"/>
                </a:solidFill>
                <a:latin typeface="Consolas" pitchFamily="34" charset="0"/>
                <a:ea typeface="Consolas" pitchFamily="34" charset="-122"/>
                <a:cs typeface="Consolas" pitchFamily="34" charset="-120"/>
              </a:rPr>
              <a:t>says who</a:t>
            </a:r>
            <a:endParaRPr lang="en-US" sz="1100" dirty="0"/>
          </a:p>
        </p:txBody>
      </p:sp>
      <p:sp>
        <p:nvSpPr>
          <p:cNvPr id="10" name="Text 8"/>
          <p:cNvSpPr/>
          <p:nvPr/>
        </p:nvSpPr>
        <p:spPr>
          <a:xfrm>
            <a:off x="2286000" y="5943600"/>
            <a:ext cx="7616952" cy="457200"/>
          </a:xfrm>
          <a:prstGeom prst="rect">
            <a:avLst/>
          </a:prstGeom>
          <a:noFill/>
          <a:ln/>
        </p:spPr>
        <p:txBody>
          <a:bodyPr wrap="square" rtlCol="0" anchor="ctr"/>
          <a:lstStyle/>
          <a:p>
            <a:pPr algn="ctr" indent="0" marL="0">
              <a:buNone/>
            </a:pPr>
            <a:r>
              <a:rPr lang="en-US" sz="1700" dirty="0">
                <a:solidFill>
                  <a:srgbClr val="666C7A"/>
                </a:solidFill>
                <a:latin typeface="Calibri" pitchFamily="34" charset="0"/>
                <a:ea typeface="Calibri" pitchFamily="34" charset="-122"/>
                <a:cs typeface="Calibri" pitchFamily="34" charset="-120"/>
              </a:rPr>
              <a:t>Good agent design is good constraint design.</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ACT FIVE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One Prompt.</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Many Workers.</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Agents that help each other, and a critique that loops back. Then we run it, live.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PATTERN</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Not a pipeline. </a:t>
            </a:r>
            <a:pPr indent="0" marL="0">
              <a:buNone/>
            </a:pPr>
            <a:r>
              <a:rPr lang="en-US" sz="3200" b="1" dirty="0">
                <a:solidFill>
                  <a:srgbClr val="4F46E5"/>
                </a:solidFill>
                <a:latin typeface="Arial" pitchFamily="34" charset="0"/>
                <a:ea typeface="Arial" pitchFamily="34" charset="-122"/>
                <a:cs typeface="Arial" pitchFamily="34" charset="-120"/>
              </a:rPr>
              <a:t>A web.</a:t>
            </a:r>
            <a:endParaRPr lang="en-US" sz="3200" dirty="0"/>
          </a:p>
        </p:txBody>
      </p:sp>
      <p:sp>
        <p:nvSpPr>
          <p:cNvPr id="4" name="Text 2"/>
          <p:cNvSpPr/>
          <p:nvPr/>
        </p:nvSpPr>
        <p:spPr>
          <a:xfrm>
            <a:off x="841248" y="1783080"/>
            <a:ext cx="6766560" cy="45720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Agents run in parallel. The one that finishes first helps another. And the critique loops back.</a:t>
            </a:r>
            <a:endParaRPr lang="en-US" sz="1550" dirty="0"/>
          </a:p>
        </p:txBody>
      </p:sp>
      <p:sp>
        <p:nvSpPr>
          <p:cNvPr id="5" name="Shape 3"/>
          <p:cNvSpPr/>
          <p:nvPr/>
        </p:nvSpPr>
        <p:spPr>
          <a:xfrm flipV="1">
            <a:off x="3611880" y="2926080"/>
            <a:ext cx="2148840" cy="1143000"/>
          </a:xfrm>
          <a:prstGeom prst="line">
            <a:avLst/>
          </a:prstGeom>
          <a:noFill/>
          <a:ln w="20320">
            <a:solidFill>
              <a:srgbClr val="7C3AED"/>
            </a:solidFill>
            <a:prstDash val="solid"/>
            <a:tailEnd type="triangle"/>
          </a:ln>
        </p:spPr>
      </p:sp>
      <p:sp>
        <p:nvSpPr>
          <p:cNvPr id="6" name="Shape 4"/>
          <p:cNvSpPr/>
          <p:nvPr/>
        </p:nvSpPr>
        <p:spPr>
          <a:xfrm>
            <a:off x="5760720" y="2926080"/>
            <a:ext cx="2148840" cy="1143000"/>
          </a:xfrm>
          <a:prstGeom prst="line">
            <a:avLst/>
          </a:prstGeom>
          <a:noFill/>
          <a:ln w="20320">
            <a:solidFill>
              <a:srgbClr val="0F9E8E"/>
            </a:solidFill>
            <a:prstDash val="solid"/>
            <a:tailEnd type="triangle"/>
          </a:ln>
        </p:spPr>
      </p:sp>
      <p:sp>
        <p:nvSpPr>
          <p:cNvPr id="7" name="Shape 5"/>
          <p:cNvSpPr/>
          <p:nvPr/>
        </p:nvSpPr>
        <p:spPr>
          <a:xfrm>
            <a:off x="3611880" y="4069080"/>
            <a:ext cx="4297680" cy="0"/>
          </a:xfrm>
          <a:prstGeom prst="line">
            <a:avLst/>
          </a:prstGeom>
          <a:noFill/>
          <a:ln w="20320">
            <a:solidFill>
              <a:srgbClr val="7C3AED"/>
            </a:solidFill>
            <a:prstDash val="solid"/>
            <a:tailEnd type="triangle"/>
          </a:ln>
        </p:spPr>
      </p:sp>
      <p:sp>
        <p:nvSpPr>
          <p:cNvPr id="8" name="Shape 6"/>
          <p:cNvSpPr/>
          <p:nvPr/>
        </p:nvSpPr>
        <p:spPr>
          <a:xfrm flipH="1">
            <a:off x="5760720" y="4069080"/>
            <a:ext cx="2148840" cy="1188720"/>
          </a:xfrm>
          <a:prstGeom prst="line">
            <a:avLst/>
          </a:prstGeom>
          <a:noFill/>
          <a:ln w="20320">
            <a:solidFill>
              <a:srgbClr val="0284C7"/>
            </a:solidFill>
            <a:prstDash val="solid"/>
            <a:tailEnd type="triangle"/>
          </a:ln>
        </p:spPr>
      </p:sp>
      <p:sp>
        <p:nvSpPr>
          <p:cNvPr id="9" name="Text 7"/>
          <p:cNvSpPr/>
          <p:nvPr/>
        </p:nvSpPr>
        <p:spPr>
          <a:xfrm>
            <a:off x="3447288" y="3218688"/>
            <a:ext cx="17373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tone hint</a:t>
            </a:r>
            <a:endParaRPr lang="en-US" sz="950" dirty="0"/>
          </a:p>
        </p:txBody>
      </p:sp>
      <p:sp>
        <p:nvSpPr>
          <p:cNvPr id="10" name="Text 8"/>
          <p:cNvSpPr/>
          <p:nvPr/>
        </p:nvSpPr>
        <p:spPr>
          <a:xfrm>
            <a:off x="6510528" y="3218688"/>
            <a:ext cx="1097280" cy="274320"/>
          </a:xfrm>
          <a:prstGeom prst="rect">
            <a:avLst/>
          </a:prstGeom>
          <a:noFill/>
          <a:ln/>
        </p:spPr>
        <p:txBody>
          <a:bodyPr wrap="square" rtlCol="0" anchor="ctr"/>
          <a:lstStyle/>
          <a:p>
            <a:pPr algn="ctr" indent="0" marL="0">
              <a:buNone/>
            </a:pPr>
            <a:r>
              <a:rPr lang="en-US" sz="950" spc="100" kern="0" dirty="0">
                <a:solidFill>
                  <a:srgbClr val="0F9E8E"/>
                </a:solidFill>
                <a:latin typeface="Consolas" pitchFamily="34" charset="0"/>
                <a:ea typeface="Consolas" pitchFamily="34" charset="-122"/>
                <a:cs typeface="Consolas" pitchFamily="34" charset="-120"/>
              </a:rPr>
              <a:t>copy</a:t>
            </a:r>
            <a:endParaRPr lang="en-US" sz="950" dirty="0"/>
          </a:p>
        </p:txBody>
      </p:sp>
      <p:sp>
        <p:nvSpPr>
          <p:cNvPr id="11" name="Text 9"/>
          <p:cNvSpPr/>
          <p:nvPr/>
        </p:nvSpPr>
        <p:spPr>
          <a:xfrm>
            <a:off x="5120640" y="4224528"/>
            <a:ext cx="1280160" cy="274320"/>
          </a:xfrm>
          <a:prstGeom prst="rect">
            <a:avLst/>
          </a:prstGeom>
          <a:noFill/>
          <a:ln/>
        </p:spPr>
        <p:txBody>
          <a:bodyPr wrap="square" rtlCol="0" anchor="ctr"/>
          <a:lstStyle/>
          <a:p>
            <a:pPr algn="ctr" indent="0" marL="0">
              <a:buNone/>
            </a:pPr>
            <a:r>
              <a:rPr lang="en-US" sz="950" spc="100" kern="0" dirty="0">
                <a:solidFill>
                  <a:srgbClr val="7C3AED"/>
                </a:solidFill>
                <a:latin typeface="Consolas" pitchFamily="34" charset="0"/>
                <a:ea typeface="Consolas" pitchFamily="34" charset="-122"/>
                <a:cs typeface="Consolas" pitchFamily="34" charset="-120"/>
              </a:rPr>
              <a:t>palette</a:t>
            </a:r>
            <a:endParaRPr lang="en-US" sz="950" dirty="0"/>
          </a:p>
        </p:txBody>
      </p:sp>
      <p:sp>
        <p:nvSpPr>
          <p:cNvPr id="12" name="Text 10"/>
          <p:cNvSpPr/>
          <p:nvPr/>
        </p:nvSpPr>
        <p:spPr>
          <a:xfrm>
            <a:off x="6492240" y="4754880"/>
            <a:ext cx="1371600" cy="274320"/>
          </a:xfrm>
          <a:prstGeom prst="rect">
            <a:avLst/>
          </a:prstGeom>
          <a:noFill/>
          <a:ln/>
        </p:spPr>
        <p:txBody>
          <a:bodyPr wrap="square" rtlCol="0" anchor="ctr"/>
          <a:lstStyle/>
          <a:p>
            <a:pPr algn="ctr" indent="0" marL="0">
              <a:buNone/>
            </a:pPr>
            <a:r>
              <a:rPr lang="en-US" sz="950" spc="100" kern="0" dirty="0">
                <a:solidFill>
                  <a:srgbClr val="0284C7"/>
                </a:solidFill>
                <a:latin typeface="Consolas" pitchFamily="34" charset="0"/>
                <a:ea typeface="Consolas" pitchFamily="34" charset="-122"/>
                <a:cs typeface="Consolas" pitchFamily="34" charset="-120"/>
              </a:rPr>
              <a:t>the page</a:t>
            </a:r>
            <a:endParaRPr lang="en-US" sz="950" dirty="0"/>
          </a:p>
        </p:txBody>
      </p:sp>
      <p:sp>
        <p:nvSpPr>
          <p:cNvPr id="13" name="Shape 11"/>
          <p:cNvSpPr/>
          <p:nvPr/>
        </p:nvSpPr>
        <p:spPr>
          <a:xfrm>
            <a:off x="5760720" y="5257800"/>
            <a:ext cx="4434840" cy="0"/>
          </a:xfrm>
          <a:prstGeom prst="line">
            <a:avLst/>
          </a:prstGeom>
          <a:noFill/>
          <a:ln w="21590">
            <a:solidFill>
              <a:srgbClr val="E11D48"/>
            </a:solidFill>
            <a:prstDash val="dash"/>
          </a:ln>
        </p:spPr>
      </p:sp>
      <p:sp>
        <p:nvSpPr>
          <p:cNvPr id="14" name="Shape 12"/>
          <p:cNvSpPr/>
          <p:nvPr/>
        </p:nvSpPr>
        <p:spPr>
          <a:xfrm flipV="1">
            <a:off x="10195560" y="2926080"/>
            <a:ext cx="0" cy="2331720"/>
          </a:xfrm>
          <a:prstGeom prst="line">
            <a:avLst/>
          </a:prstGeom>
          <a:noFill/>
          <a:ln w="21590">
            <a:solidFill>
              <a:srgbClr val="E11D48"/>
            </a:solidFill>
            <a:prstDash val="dash"/>
          </a:ln>
        </p:spPr>
      </p:sp>
      <p:sp>
        <p:nvSpPr>
          <p:cNvPr id="15" name="Shape 13"/>
          <p:cNvSpPr/>
          <p:nvPr/>
        </p:nvSpPr>
        <p:spPr>
          <a:xfrm flipH="1">
            <a:off x="5760720" y="2926080"/>
            <a:ext cx="4434840" cy="0"/>
          </a:xfrm>
          <a:prstGeom prst="line">
            <a:avLst/>
          </a:prstGeom>
          <a:noFill/>
          <a:ln w="21590">
            <a:solidFill>
              <a:srgbClr val="E11D48"/>
            </a:solidFill>
            <a:prstDash val="dash"/>
            <a:tailEnd type="triangle"/>
          </a:ln>
        </p:spPr>
      </p:sp>
      <p:sp>
        <p:nvSpPr>
          <p:cNvPr id="16" name="Text 14"/>
          <p:cNvSpPr/>
          <p:nvPr/>
        </p:nvSpPr>
        <p:spPr>
          <a:xfrm>
            <a:off x="10149840" y="3913632"/>
            <a:ext cx="1463040" cy="274320"/>
          </a:xfrm>
          <a:prstGeom prst="rect">
            <a:avLst/>
          </a:prstGeom>
          <a:noFill/>
          <a:ln/>
        </p:spPr>
        <p:txBody>
          <a:bodyPr wrap="square" rtlCol="0" anchor="ctr"/>
          <a:lstStyle/>
          <a:p>
            <a:pPr indent="0" marL="0">
              <a:buNone/>
            </a:pPr>
            <a:r>
              <a:rPr lang="en-US" sz="950" spc="100" kern="0" dirty="0">
                <a:solidFill>
                  <a:srgbClr val="E11D48"/>
                </a:solidFill>
                <a:latin typeface="Consolas" pitchFamily="34" charset="0"/>
                <a:ea typeface="Consolas" pitchFamily="34" charset="-122"/>
                <a:cs typeface="Consolas" pitchFamily="34" charset="-120"/>
              </a:rPr>
              <a:t>critique</a:t>
            </a:r>
            <a:endParaRPr lang="en-US" sz="950" dirty="0"/>
          </a:p>
        </p:txBody>
      </p:sp>
      <p:sp>
        <p:nvSpPr>
          <p:cNvPr id="17" name="Text 15"/>
          <p:cNvSpPr/>
          <p:nvPr/>
        </p:nvSpPr>
        <p:spPr>
          <a:xfrm>
            <a:off x="6858000" y="2578608"/>
            <a:ext cx="3200400" cy="274320"/>
          </a:xfrm>
          <a:prstGeom prst="rect">
            <a:avLst/>
          </a:prstGeom>
          <a:noFill/>
          <a:ln/>
        </p:spPr>
        <p:txBody>
          <a:bodyPr wrap="square" rtlCol="0" anchor="ctr"/>
          <a:lstStyle/>
          <a:p>
            <a:pPr algn="r" indent="0" marL="0">
              <a:buNone/>
            </a:pPr>
            <a:r>
              <a:rPr lang="en-US" sz="900" spc="50" kern="0" dirty="0">
                <a:solidFill>
                  <a:srgbClr val="E11D48"/>
                </a:solidFill>
                <a:latin typeface="Consolas" pitchFamily="34" charset="0"/>
                <a:ea typeface="Consolas" pitchFamily="34" charset="-122"/>
                <a:cs typeface="Consolas" pitchFamily="34" charset="-120"/>
              </a:rPr>
              <a:t>the copy is rewritten, live</a:t>
            </a:r>
            <a:endParaRPr lang="en-US" sz="900" dirty="0"/>
          </a:p>
        </p:txBody>
      </p:sp>
      <p:sp>
        <p:nvSpPr>
          <p:cNvPr id="18" name="Shape 16"/>
          <p:cNvSpPr/>
          <p:nvPr/>
        </p:nvSpPr>
        <p:spPr>
          <a:xfrm>
            <a:off x="5285232" y="2450592"/>
            <a:ext cx="950976" cy="950976"/>
          </a:xfrm>
          <a:prstGeom prst="ellipse">
            <a:avLst/>
          </a:prstGeom>
          <a:solidFill>
            <a:srgbClr val="0F9E8E"/>
          </a:solidFill>
          <a:ln/>
          <a:effectLst>
            <a:outerShdw sx="100000" sy="100000" kx="0" ky="0" algn="bl" rotWithShape="0" blurRad="139700" dist="38100" dir="5400000">
              <a:srgbClr val="9AA6BC">
                <a:alpha val="28000"/>
              </a:srgbClr>
            </a:outerShdw>
          </a:effectLst>
        </p:spPr>
      </p:sp>
      <p:sp>
        <p:nvSpPr>
          <p:cNvPr id="19" name="Text 17"/>
          <p:cNvSpPr/>
          <p:nvPr/>
        </p:nvSpPr>
        <p:spPr>
          <a:xfrm>
            <a:off x="5285232" y="2724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copy</a:t>
            </a:r>
            <a:endParaRPr lang="en-US" sz="1150" dirty="0"/>
          </a:p>
        </p:txBody>
      </p:sp>
      <p:sp>
        <p:nvSpPr>
          <p:cNvPr id="20" name="Text 18"/>
          <p:cNvSpPr/>
          <p:nvPr/>
        </p:nvSpPr>
        <p:spPr>
          <a:xfrm>
            <a:off x="5285232" y="2944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writes</a:t>
            </a:r>
            <a:endParaRPr lang="en-US" sz="800" dirty="0"/>
          </a:p>
        </p:txBody>
      </p:sp>
      <p:sp>
        <p:nvSpPr>
          <p:cNvPr id="21" name="Shape 19"/>
          <p:cNvSpPr/>
          <p:nvPr/>
        </p:nvSpPr>
        <p:spPr>
          <a:xfrm>
            <a:off x="3136392" y="3593592"/>
            <a:ext cx="950976" cy="950976"/>
          </a:xfrm>
          <a:prstGeom prst="ellipse">
            <a:avLst/>
          </a:prstGeom>
          <a:solidFill>
            <a:srgbClr val="7C3AED"/>
          </a:solidFill>
          <a:ln/>
          <a:effectLst>
            <a:outerShdw sx="100000" sy="100000" kx="0" ky="0" algn="bl" rotWithShape="0" blurRad="139700" dist="38100" dir="5400000">
              <a:srgbClr val="9AA6BC">
                <a:alpha val="28000"/>
              </a:srgbClr>
            </a:outerShdw>
          </a:effectLst>
        </p:spPr>
      </p:sp>
      <p:sp>
        <p:nvSpPr>
          <p:cNvPr id="22" name="Text 20"/>
          <p:cNvSpPr/>
          <p:nvPr/>
        </p:nvSpPr>
        <p:spPr>
          <a:xfrm>
            <a:off x="313639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design</a:t>
            </a:r>
            <a:endParaRPr lang="en-US" sz="1150" dirty="0"/>
          </a:p>
        </p:txBody>
      </p:sp>
      <p:sp>
        <p:nvSpPr>
          <p:cNvPr id="23" name="Text 21"/>
          <p:cNvSpPr/>
          <p:nvPr/>
        </p:nvSpPr>
        <p:spPr>
          <a:xfrm>
            <a:off x="313639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styles</a:t>
            </a:r>
            <a:endParaRPr lang="en-US" sz="800" dirty="0"/>
          </a:p>
        </p:txBody>
      </p:sp>
      <p:sp>
        <p:nvSpPr>
          <p:cNvPr id="24" name="Shape 22"/>
          <p:cNvSpPr/>
          <p:nvPr/>
        </p:nvSpPr>
        <p:spPr>
          <a:xfrm>
            <a:off x="7434072" y="3593592"/>
            <a:ext cx="950976" cy="950976"/>
          </a:xfrm>
          <a:prstGeom prst="ellipse">
            <a:avLst/>
          </a:prstGeom>
          <a:solidFill>
            <a:srgbClr val="0284C7"/>
          </a:solidFill>
          <a:ln/>
          <a:effectLst>
            <a:outerShdw sx="100000" sy="100000" kx="0" ky="0" algn="bl" rotWithShape="0" blurRad="139700" dist="38100" dir="5400000">
              <a:srgbClr val="9AA6BC">
                <a:alpha val="28000"/>
              </a:srgbClr>
            </a:outerShdw>
          </a:effectLst>
        </p:spPr>
      </p:sp>
      <p:sp>
        <p:nvSpPr>
          <p:cNvPr id="25" name="Text 23"/>
          <p:cNvSpPr/>
          <p:nvPr/>
        </p:nvSpPr>
        <p:spPr>
          <a:xfrm>
            <a:off x="7434072" y="386791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build</a:t>
            </a:r>
            <a:endParaRPr lang="en-US" sz="1150" dirty="0"/>
          </a:p>
        </p:txBody>
      </p:sp>
      <p:sp>
        <p:nvSpPr>
          <p:cNvPr id="26" name="Text 24"/>
          <p:cNvSpPr/>
          <p:nvPr/>
        </p:nvSpPr>
        <p:spPr>
          <a:xfrm>
            <a:off x="7434072" y="408736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assembles</a:t>
            </a:r>
            <a:endParaRPr lang="en-US" sz="800" dirty="0"/>
          </a:p>
        </p:txBody>
      </p:sp>
      <p:sp>
        <p:nvSpPr>
          <p:cNvPr id="27" name="Shape 25"/>
          <p:cNvSpPr/>
          <p:nvPr/>
        </p:nvSpPr>
        <p:spPr>
          <a:xfrm>
            <a:off x="5285232" y="4782312"/>
            <a:ext cx="950976" cy="950976"/>
          </a:xfrm>
          <a:prstGeom prst="ellipse">
            <a:avLst/>
          </a:prstGeom>
          <a:solidFill>
            <a:srgbClr val="E11D48"/>
          </a:solidFill>
          <a:ln/>
          <a:effectLst>
            <a:outerShdw sx="100000" sy="100000" kx="0" ky="0" algn="bl" rotWithShape="0" blurRad="139700" dist="38100" dir="5400000">
              <a:srgbClr val="9AA6BC">
                <a:alpha val="28000"/>
              </a:srgbClr>
            </a:outerShdw>
          </a:effectLst>
        </p:spPr>
      </p:sp>
      <p:sp>
        <p:nvSpPr>
          <p:cNvPr id="28" name="Text 26"/>
          <p:cNvSpPr/>
          <p:nvPr/>
        </p:nvSpPr>
        <p:spPr>
          <a:xfrm>
            <a:off x="5285232" y="5056632"/>
            <a:ext cx="950976" cy="274320"/>
          </a:xfrm>
          <a:prstGeom prst="rect">
            <a:avLst/>
          </a:prstGeom>
          <a:noFill/>
          <a:ln/>
        </p:spPr>
        <p:txBody>
          <a:bodyPr wrap="square" rtlCol="0" anchor="ctr"/>
          <a:lstStyle/>
          <a:p>
            <a:pPr algn="ctr" indent="0" marL="0">
              <a:buNone/>
            </a:pPr>
            <a:r>
              <a:rPr lang="en-US" sz="1150" b="1" dirty="0">
                <a:solidFill>
                  <a:srgbClr val="FFFFFF"/>
                </a:solidFill>
                <a:latin typeface="Consolas" pitchFamily="34" charset="0"/>
                <a:ea typeface="Consolas" pitchFamily="34" charset="-122"/>
                <a:cs typeface="Consolas" pitchFamily="34" charset="-120"/>
              </a:rPr>
              <a:t>skeptic</a:t>
            </a:r>
            <a:endParaRPr lang="en-US" sz="1150" dirty="0"/>
          </a:p>
        </p:txBody>
      </p:sp>
      <p:sp>
        <p:nvSpPr>
          <p:cNvPr id="29" name="Text 27"/>
          <p:cNvSpPr/>
          <p:nvPr/>
        </p:nvSpPr>
        <p:spPr>
          <a:xfrm>
            <a:off x="5285232" y="5276088"/>
            <a:ext cx="950976" cy="256032"/>
          </a:xfrm>
          <a:prstGeom prst="rect">
            <a:avLst/>
          </a:prstGeom>
          <a:noFill/>
          <a:ln/>
        </p:spPr>
        <p:txBody>
          <a:bodyPr wrap="square" rtlCol="0" anchor="ctr"/>
          <a:lstStyle/>
          <a:p>
            <a:pPr algn="ctr" indent="0" marL="0">
              <a:buNone/>
            </a:pPr>
            <a:r>
              <a:rPr lang="en-US" sz="800" dirty="0">
                <a:solidFill>
                  <a:srgbClr val="FFFFFF"/>
                </a:solidFill>
                <a:latin typeface="Consolas" pitchFamily="34" charset="0"/>
                <a:ea typeface="Consolas" pitchFamily="34" charset="-122"/>
                <a:cs typeface="Consolas" pitchFamily="34" charset="-120"/>
              </a:rPr>
              <a:t>critiques</a:t>
            </a:r>
            <a:endParaRPr lang="en-US" sz="800" dirty="0"/>
          </a:p>
        </p:txBody>
      </p:sp>
      <p:sp>
        <p:nvSpPr>
          <p:cNvPr id="30" name="Text 28"/>
          <p:cNvSpPr/>
          <p:nvPr/>
        </p:nvSpPr>
        <p:spPr>
          <a:xfrm>
            <a:off x="2286000" y="6080760"/>
            <a:ext cx="7616952" cy="45720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Every agent is the same local model. </a:t>
            </a:r>
            <a:pPr algn="ctr" indent="0" marL="0">
              <a:buNone/>
            </a:pPr>
            <a:r>
              <a:rPr lang="en-US" sz="1600" b="1" dirty="0">
                <a:solidFill>
                  <a:srgbClr val="4F46E5"/>
                </a:solidFill>
                <a:latin typeface="Calibri" pitchFamily="34" charset="0"/>
                <a:ea typeface="Calibri" pitchFamily="34" charset="-122"/>
                <a:cs typeface="Calibri" pitchFamily="34" charset="-120"/>
              </a:rPr>
              <a:t>The web is the architecture.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WHAT'S REALLY STEERING</a:t>
            </a:r>
            <a:endParaRPr lang="en-US" sz="1100" dirty="0"/>
          </a:p>
        </p:txBody>
      </p:sp>
      <p:sp>
        <p:nvSpPr>
          <p:cNvPr id="3" name="Text 1"/>
          <p:cNvSpPr/>
          <p:nvPr/>
        </p:nvSpPr>
        <p:spPr>
          <a:xfrm>
            <a:off x="841248" y="1463040"/>
            <a:ext cx="5486400" cy="1097280"/>
          </a:xfrm>
          <a:prstGeom prst="rect">
            <a:avLst/>
          </a:prstGeom>
          <a:noFill/>
          <a:ln/>
        </p:spPr>
        <p:txBody>
          <a:bodyPr wrap="square" rtlCol="0" anchor="ctr"/>
          <a:lstStyle/>
          <a:p>
            <a:pPr indent="0" marL="0">
              <a:buNone/>
            </a:pPr>
            <a:r>
              <a:rPr lang="en-US" sz="3600" b="1" dirty="0">
                <a:solidFill>
                  <a:srgbClr val="16181D"/>
                </a:solidFill>
                <a:latin typeface="Arial" pitchFamily="34" charset="0"/>
                <a:ea typeface="Arial" pitchFamily="34" charset="-122"/>
                <a:cs typeface="Arial" pitchFamily="34" charset="-120"/>
              </a:rPr>
              <a:t>The prompt barely </a:t>
            </a:r>
            <a:pPr indent="0" marL="0">
              <a:buNone/>
            </a:pPr>
            <a:r>
              <a:rPr lang="en-US" sz="3600" b="1" dirty="0">
                <a:solidFill>
                  <a:srgbClr val="4F46E5"/>
                </a:solidFill>
                <a:latin typeface="Arial" pitchFamily="34" charset="0"/>
                <a:ea typeface="Arial" pitchFamily="34" charset="-122"/>
                <a:cs typeface="Arial" pitchFamily="34" charset="-120"/>
              </a:rPr>
              <a:t>changed.</a:t>
            </a:r>
            <a:endParaRPr lang="en-US" sz="3600" dirty="0"/>
          </a:p>
        </p:txBody>
      </p:sp>
      <p:sp>
        <p:nvSpPr>
          <p:cNvPr id="4" name="Text 2"/>
          <p:cNvSpPr/>
          <p:nvPr/>
        </p:nvSpPr>
        <p:spPr>
          <a:xfrm>
            <a:off x="841248" y="2834640"/>
            <a:ext cx="4937760" cy="1097280"/>
          </a:xfrm>
          <a:prstGeom prst="rect">
            <a:avLst/>
          </a:prstGeom>
          <a:noFill/>
          <a:ln/>
        </p:spPr>
        <p:txBody>
          <a:bodyPr wrap="square" rtlCol="0" anchor="ctr"/>
          <a:lstStyle/>
          <a:p>
            <a:pPr indent="0" marL="0">
              <a:lnSpc>
                <a:spcPts val="2700"/>
              </a:lnSpc>
              <a:buNone/>
            </a:pPr>
            <a:r>
              <a:rPr lang="en-US" sz="1800" dirty="0">
                <a:solidFill>
                  <a:srgbClr val="666C7A"/>
                </a:solidFill>
                <a:latin typeface="Calibri" pitchFamily="34" charset="0"/>
                <a:ea typeface="Calibri" pitchFamily="34" charset="-122"/>
                <a:cs typeface="Calibri" pitchFamily="34" charset="-120"/>
              </a:rPr>
              <a:t>The power came from the levers around it, not from a cleverer sentence.</a:t>
            </a:r>
            <a:endParaRPr lang="en-US" sz="1800" dirty="0"/>
          </a:p>
        </p:txBody>
      </p:sp>
      <p:sp>
        <p:nvSpPr>
          <p:cNvPr id="5" name="Shape 3"/>
          <p:cNvSpPr/>
          <p:nvPr/>
        </p:nvSpPr>
        <p:spPr>
          <a:xfrm>
            <a:off x="6583680" y="1920240"/>
            <a:ext cx="475488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6876288" y="2098548"/>
            <a:ext cx="512064" cy="512064"/>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6999183" y="2221443"/>
            <a:ext cx="266273" cy="266273"/>
          </a:xfrm>
          <a:prstGeom prst="rect">
            <a:avLst/>
          </a:prstGeom>
        </p:spPr>
      </p:pic>
      <p:sp>
        <p:nvSpPr>
          <p:cNvPr id="8" name="Text 5"/>
          <p:cNvSpPr/>
          <p:nvPr/>
        </p:nvSpPr>
        <p:spPr>
          <a:xfrm>
            <a:off x="7543800" y="219456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01</a:t>
            </a:r>
            <a:endParaRPr lang="en-US" sz="1000" dirty="0"/>
          </a:p>
        </p:txBody>
      </p:sp>
      <p:sp>
        <p:nvSpPr>
          <p:cNvPr id="9" name="Text 6"/>
          <p:cNvSpPr/>
          <p:nvPr/>
        </p:nvSpPr>
        <p:spPr>
          <a:xfrm>
            <a:off x="8915400" y="219456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Prompt:  </a:t>
            </a:r>
            <a:pPr indent="0" marL="0">
              <a:buNone/>
            </a:pPr>
            <a:r>
              <a:rPr lang="en-US" sz="1400" dirty="0">
                <a:solidFill>
                  <a:srgbClr val="666C7A"/>
                </a:solidFill>
                <a:latin typeface="Calibri" pitchFamily="34" charset="0"/>
                <a:ea typeface="Calibri" pitchFamily="34" charset="-122"/>
                <a:cs typeface="Calibri" pitchFamily="34" charset="-120"/>
              </a:rPr>
              <a:t>one plain English line</a:t>
            </a:r>
            <a:endParaRPr lang="en-US" sz="1400" dirty="0"/>
          </a:p>
        </p:txBody>
      </p:sp>
      <p:sp>
        <p:nvSpPr>
          <p:cNvPr id="10" name="Shape 7"/>
          <p:cNvSpPr/>
          <p:nvPr/>
        </p:nvSpPr>
        <p:spPr>
          <a:xfrm>
            <a:off x="6583680" y="297180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6876288" y="31501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6999183" y="3273003"/>
            <a:ext cx="266273" cy="266273"/>
          </a:xfrm>
          <a:prstGeom prst="rect">
            <a:avLst/>
          </a:prstGeom>
        </p:spPr>
      </p:pic>
      <p:sp>
        <p:nvSpPr>
          <p:cNvPr id="13" name="Text 9"/>
          <p:cNvSpPr/>
          <p:nvPr/>
        </p:nvSpPr>
        <p:spPr>
          <a:xfrm>
            <a:off x="7543800" y="324612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03</a:t>
            </a:r>
            <a:endParaRPr lang="en-US" sz="1000" dirty="0"/>
          </a:p>
        </p:txBody>
      </p:sp>
      <p:sp>
        <p:nvSpPr>
          <p:cNvPr id="14" name="Text 10"/>
          <p:cNvSpPr/>
          <p:nvPr/>
        </p:nvSpPr>
        <p:spPr>
          <a:xfrm>
            <a:off x="8915400" y="324612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Schema:  </a:t>
            </a:r>
            <a:pPr indent="0" marL="0">
              <a:buNone/>
            </a:pPr>
            <a:r>
              <a:rPr lang="en-US" sz="1400" dirty="0">
                <a:solidFill>
                  <a:srgbClr val="666C7A"/>
                </a:solidFill>
                <a:latin typeface="Calibri" pitchFamily="34" charset="0"/>
                <a:ea typeface="Calibri" pitchFamily="34" charset="-122"/>
                <a:cs typeface="Calibri" pitchFamily="34" charset="-120"/>
              </a:rPr>
              <a:t>a sentence becomes a typed crew</a:t>
            </a:r>
            <a:endParaRPr lang="en-US" sz="1400" dirty="0"/>
          </a:p>
        </p:txBody>
      </p:sp>
      <p:sp>
        <p:nvSpPr>
          <p:cNvPr id="15" name="Shape 11"/>
          <p:cNvSpPr/>
          <p:nvPr/>
        </p:nvSpPr>
        <p:spPr>
          <a:xfrm>
            <a:off x="6583680" y="402336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6876288" y="420166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6999183" y="4324563"/>
            <a:ext cx="266273" cy="266273"/>
          </a:xfrm>
          <a:prstGeom prst="rect">
            <a:avLst/>
          </a:prstGeom>
        </p:spPr>
      </p:pic>
      <p:sp>
        <p:nvSpPr>
          <p:cNvPr id="18" name="Text 13"/>
          <p:cNvSpPr/>
          <p:nvPr/>
        </p:nvSpPr>
        <p:spPr>
          <a:xfrm>
            <a:off x="7543800" y="429768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06</a:t>
            </a:r>
            <a:endParaRPr lang="en-US" sz="1000" dirty="0"/>
          </a:p>
        </p:txBody>
      </p:sp>
      <p:sp>
        <p:nvSpPr>
          <p:cNvPr id="19" name="Text 14"/>
          <p:cNvSpPr/>
          <p:nvPr/>
        </p:nvSpPr>
        <p:spPr>
          <a:xfrm>
            <a:off x="8915400" y="429768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Orchestration:  </a:t>
            </a:r>
            <a:pPr indent="0" marL="0">
              <a:buNone/>
            </a:pPr>
            <a:r>
              <a:rPr lang="en-US" sz="1400" dirty="0">
                <a:solidFill>
                  <a:srgbClr val="666C7A"/>
                </a:solidFill>
                <a:latin typeface="Calibri" pitchFamily="34" charset="0"/>
                <a:ea typeface="Calibri" pitchFamily="34" charset="-122"/>
                <a:cs typeface="Calibri" pitchFamily="34" charset="-120"/>
              </a:rPr>
              <a:t>they run as a team</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TONIGHT'S DEMO, WIRED UP</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How the </a:t>
            </a:r>
            <a:pPr indent="0" marL="0">
              <a:buNone/>
            </a:pPr>
            <a:r>
              <a:rPr lang="en-US" sz="3200" b="1" dirty="0">
                <a:solidFill>
                  <a:srgbClr val="4F46E5"/>
                </a:solidFill>
                <a:latin typeface="Arial" pitchFamily="34" charset="0"/>
                <a:ea typeface="Arial" pitchFamily="34" charset="-122"/>
                <a:cs typeface="Arial" pitchFamily="34" charset="-120"/>
              </a:rPr>
              <a:t>Live Build</a:t>
            </a:r>
            <a:pPr indent="0" marL="0">
              <a:buNone/>
            </a:pPr>
            <a:r>
              <a:rPr lang="en-US" sz="3200" b="1" dirty="0">
                <a:solidFill>
                  <a:srgbClr val="16181D"/>
                </a:solidFill>
                <a:latin typeface="Arial" pitchFamily="34" charset="0"/>
                <a:ea typeface="Arial" pitchFamily="34" charset="-122"/>
                <a:cs typeface="Arial" pitchFamily="34" charset="-120"/>
              </a:rPr>
              <a:t> works.</a:t>
            </a:r>
            <a:endParaRPr lang="en-US" sz="3200" dirty="0"/>
          </a:p>
        </p:txBody>
      </p:sp>
      <p:sp>
        <p:nvSpPr>
          <p:cNvPr id="4" name="Shape 2"/>
          <p:cNvSpPr/>
          <p:nvPr/>
        </p:nvSpPr>
        <p:spPr>
          <a:xfrm>
            <a:off x="84124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412748" y="3035808"/>
            <a:ext cx="640080" cy="64008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566367" y="3189427"/>
            <a:ext cx="332842" cy="332842"/>
          </a:xfrm>
          <a:prstGeom prst="rect">
            <a:avLst/>
          </a:prstGeom>
        </p:spPr>
      </p:pic>
      <p:sp>
        <p:nvSpPr>
          <p:cNvPr id="7" name="Text 4"/>
          <p:cNvSpPr/>
          <p:nvPr/>
        </p:nvSpPr>
        <p:spPr>
          <a:xfrm>
            <a:off x="84124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Phone</a:t>
            </a:r>
            <a:endParaRPr lang="en-US" sz="1500" dirty="0"/>
          </a:p>
        </p:txBody>
      </p:sp>
      <p:sp>
        <p:nvSpPr>
          <p:cNvPr id="8" name="Text 5"/>
          <p:cNvSpPr/>
          <p:nvPr/>
        </p:nvSpPr>
        <p:spPr>
          <a:xfrm>
            <a:off x="93268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POST /submit</a:t>
            </a:r>
            <a:endParaRPr lang="en-US" sz="900" dirty="0"/>
          </a:p>
        </p:txBody>
      </p:sp>
      <p:sp>
        <p:nvSpPr>
          <p:cNvPr id="9" name="Shape 6"/>
          <p:cNvSpPr/>
          <p:nvPr/>
        </p:nvSpPr>
        <p:spPr>
          <a:xfrm>
            <a:off x="2684095" y="3771900"/>
            <a:ext cx="278915" cy="0"/>
          </a:xfrm>
          <a:prstGeom prst="line">
            <a:avLst/>
          </a:prstGeom>
          <a:noFill/>
          <a:ln w="20320">
            <a:solidFill>
              <a:srgbClr val="9AA1B0"/>
            </a:solidFill>
            <a:prstDash val="solid"/>
            <a:tailEnd type="triangle"/>
          </a:ln>
        </p:spPr>
      </p:sp>
      <p:sp>
        <p:nvSpPr>
          <p:cNvPr id="10" name="Shape 7"/>
          <p:cNvSpPr/>
          <p:nvPr/>
        </p:nvSpPr>
        <p:spPr>
          <a:xfrm>
            <a:off x="302277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3594278" y="3035808"/>
            <a:ext cx="640080" cy="64008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3747897" y="3189427"/>
            <a:ext cx="332842" cy="332842"/>
          </a:xfrm>
          <a:prstGeom prst="rect">
            <a:avLst/>
          </a:prstGeom>
        </p:spPr>
      </p:pic>
      <p:sp>
        <p:nvSpPr>
          <p:cNvPr id="13" name="Text 9"/>
          <p:cNvSpPr/>
          <p:nvPr/>
        </p:nvSpPr>
        <p:spPr>
          <a:xfrm>
            <a:off x="302277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Spring Boot</a:t>
            </a:r>
            <a:endParaRPr lang="en-US" sz="1500" dirty="0"/>
          </a:p>
        </p:txBody>
      </p:sp>
      <p:sp>
        <p:nvSpPr>
          <p:cNvPr id="14" name="Text 10"/>
          <p:cNvSpPr/>
          <p:nvPr/>
        </p:nvSpPr>
        <p:spPr>
          <a:xfrm>
            <a:off x="311421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on your hotspot</a:t>
            </a:r>
            <a:endParaRPr lang="en-US" sz="900" dirty="0"/>
          </a:p>
        </p:txBody>
      </p:sp>
      <p:sp>
        <p:nvSpPr>
          <p:cNvPr id="15" name="Shape 11"/>
          <p:cNvSpPr/>
          <p:nvPr/>
        </p:nvSpPr>
        <p:spPr>
          <a:xfrm>
            <a:off x="4865625" y="3771900"/>
            <a:ext cx="278915" cy="0"/>
          </a:xfrm>
          <a:prstGeom prst="line">
            <a:avLst/>
          </a:prstGeom>
          <a:noFill/>
          <a:ln w="20320">
            <a:solidFill>
              <a:srgbClr val="9AA1B0"/>
            </a:solidFill>
            <a:prstDash val="solid"/>
            <a:tailEnd type="triangle"/>
          </a:ln>
        </p:spPr>
      </p:sp>
      <p:sp>
        <p:nvSpPr>
          <p:cNvPr id="16" name="Shape 12"/>
          <p:cNvSpPr/>
          <p:nvPr/>
        </p:nvSpPr>
        <p:spPr>
          <a:xfrm>
            <a:off x="520430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5775808" y="3035808"/>
            <a:ext cx="640080" cy="64008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5929427" y="3189427"/>
            <a:ext cx="332842" cy="332842"/>
          </a:xfrm>
          <a:prstGeom prst="rect">
            <a:avLst/>
          </a:prstGeom>
        </p:spPr>
      </p:pic>
      <p:sp>
        <p:nvSpPr>
          <p:cNvPr id="19" name="Text 14"/>
          <p:cNvSpPr/>
          <p:nvPr/>
        </p:nvSpPr>
        <p:spPr>
          <a:xfrm>
            <a:off x="520430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crew</a:t>
            </a:r>
            <a:endParaRPr lang="en-US" sz="1500" dirty="0"/>
          </a:p>
        </p:txBody>
      </p:sp>
      <p:sp>
        <p:nvSpPr>
          <p:cNvPr id="20" name="Text 15"/>
          <p:cNvSpPr/>
          <p:nvPr/>
        </p:nvSpPr>
        <p:spPr>
          <a:xfrm>
            <a:off x="529574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LangChain4j + Qwen</a:t>
            </a:r>
            <a:endParaRPr lang="en-US" sz="900" dirty="0"/>
          </a:p>
        </p:txBody>
      </p:sp>
      <p:sp>
        <p:nvSpPr>
          <p:cNvPr id="21" name="Shape 16"/>
          <p:cNvSpPr/>
          <p:nvPr/>
        </p:nvSpPr>
        <p:spPr>
          <a:xfrm>
            <a:off x="7047155" y="3771900"/>
            <a:ext cx="278915" cy="0"/>
          </a:xfrm>
          <a:prstGeom prst="line">
            <a:avLst/>
          </a:prstGeom>
          <a:noFill/>
          <a:ln w="20320">
            <a:solidFill>
              <a:srgbClr val="9AA1B0"/>
            </a:solidFill>
            <a:prstDash val="solid"/>
            <a:tailEnd type="triangle"/>
          </a:ln>
        </p:spPr>
      </p:sp>
      <p:sp>
        <p:nvSpPr>
          <p:cNvPr id="22" name="Shape 17"/>
          <p:cNvSpPr/>
          <p:nvPr/>
        </p:nvSpPr>
        <p:spPr>
          <a:xfrm>
            <a:off x="738583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7957337" y="3035808"/>
            <a:ext cx="640080" cy="64008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8110957" y="3189427"/>
            <a:ext cx="332842" cy="332842"/>
          </a:xfrm>
          <a:prstGeom prst="rect">
            <a:avLst/>
          </a:prstGeom>
        </p:spPr>
      </p:pic>
      <p:sp>
        <p:nvSpPr>
          <p:cNvPr id="25" name="Text 19"/>
          <p:cNvSpPr/>
          <p:nvPr/>
        </p:nvSpPr>
        <p:spPr>
          <a:xfrm>
            <a:off x="738583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Live events</a:t>
            </a:r>
            <a:endParaRPr lang="en-US" sz="1500" dirty="0"/>
          </a:p>
        </p:txBody>
      </p:sp>
      <p:sp>
        <p:nvSpPr>
          <p:cNvPr id="26" name="Text 20"/>
          <p:cNvSpPr/>
          <p:nvPr/>
        </p:nvSpPr>
        <p:spPr>
          <a:xfrm>
            <a:off x="747727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server-sent stream</a:t>
            </a:r>
            <a:endParaRPr lang="en-US" sz="900" dirty="0"/>
          </a:p>
        </p:txBody>
      </p:sp>
      <p:sp>
        <p:nvSpPr>
          <p:cNvPr id="27" name="Shape 21"/>
          <p:cNvSpPr/>
          <p:nvPr/>
        </p:nvSpPr>
        <p:spPr>
          <a:xfrm>
            <a:off x="9228685" y="3771900"/>
            <a:ext cx="278915" cy="0"/>
          </a:xfrm>
          <a:prstGeom prst="line">
            <a:avLst/>
          </a:prstGeom>
          <a:noFill/>
          <a:ln w="20320">
            <a:solidFill>
              <a:srgbClr val="9AA1B0"/>
            </a:solidFill>
            <a:prstDash val="solid"/>
            <a:tailEnd type="triangle"/>
          </a:ln>
        </p:spPr>
      </p:sp>
      <p:sp>
        <p:nvSpPr>
          <p:cNvPr id="28" name="Shape 22"/>
          <p:cNvSpPr/>
          <p:nvPr/>
        </p:nvSpPr>
        <p:spPr>
          <a:xfrm>
            <a:off x="956736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10138867" y="3035808"/>
            <a:ext cx="640080" cy="64008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10292486" y="3189427"/>
            <a:ext cx="332842" cy="332842"/>
          </a:xfrm>
          <a:prstGeom prst="rect">
            <a:avLst/>
          </a:prstGeom>
        </p:spPr>
      </p:pic>
      <p:sp>
        <p:nvSpPr>
          <p:cNvPr id="31" name="Text 24"/>
          <p:cNvSpPr/>
          <p:nvPr/>
        </p:nvSpPr>
        <p:spPr>
          <a:xfrm>
            <a:off x="956736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stage</a:t>
            </a:r>
            <a:endParaRPr lang="en-US" sz="1500" dirty="0"/>
          </a:p>
        </p:txBody>
      </p:sp>
      <p:sp>
        <p:nvSpPr>
          <p:cNvPr id="32" name="Text 25"/>
          <p:cNvSpPr/>
          <p:nvPr/>
        </p:nvSpPr>
        <p:spPr>
          <a:xfrm>
            <a:off x="965880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page builds live</a:t>
            </a:r>
            <a:endParaRPr lang="en-US" sz="900" dirty="0"/>
          </a:p>
        </p:txBody>
      </p:sp>
      <p:sp>
        <p:nvSpPr>
          <p:cNvPr id="33" name="Text 26"/>
          <p:cNvSpPr/>
          <p:nvPr/>
        </p:nvSpPr>
        <p:spPr>
          <a:xfrm>
            <a:off x="1828800" y="5257800"/>
            <a:ext cx="8534095" cy="731520"/>
          </a:xfrm>
          <a:prstGeom prst="rect">
            <a:avLst/>
          </a:prstGeom>
          <a:noFill/>
          <a:ln/>
        </p:spPr>
        <p:txBody>
          <a:bodyPr wrap="square" rtlCol="0" anchor="ctr"/>
          <a:lstStyle/>
          <a:p>
            <a:pPr algn="ctr" indent="0" marL="0">
              <a:lnSpc>
                <a:spcPts val="2200"/>
              </a:lnSpc>
              <a:buNone/>
            </a:pPr>
            <a:r>
              <a:rPr lang="en-US" sz="1500" dirty="0">
                <a:solidFill>
                  <a:srgbClr val="666C7A"/>
                </a:solidFill>
                <a:latin typeface="Calibri" pitchFamily="34" charset="0"/>
                <a:ea typeface="Calibri" pitchFamily="34" charset="-122"/>
                <a:cs typeface="Calibri" pitchFamily="34" charset="-120"/>
              </a:rPr>
              <a:t>Their phone talks to a laptop on your hotspot. The agents build the page. Every step streams to the projector. Nothing touches the internet.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LEVER 3, UP CLOSE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crew returns </a:t>
            </a:r>
            <a:pPr indent="0" marL="0">
              <a:buNone/>
            </a:pPr>
            <a:r>
              <a:rPr lang="en-US" sz="3000" b="1" dirty="0">
                <a:solidFill>
                  <a:srgbClr val="4F46E5"/>
                </a:solidFill>
                <a:latin typeface="Arial" pitchFamily="34" charset="0"/>
                <a:ea typeface="Arial" pitchFamily="34" charset="-122"/>
                <a:cs typeface="Arial" pitchFamily="34" charset="-120"/>
              </a:rPr>
              <a:t>data</a:t>
            </a:r>
            <a:pPr indent="0" marL="0">
              <a:buNone/>
            </a:pPr>
            <a:r>
              <a:rPr lang="en-US" sz="3000" b="1" dirty="0">
                <a:solidFill>
                  <a:srgbClr val="16181D"/>
                </a:solidFill>
                <a:latin typeface="Arial" pitchFamily="34" charset="0"/>
                <a:ea typeface="Arial" pitchFamily="34" charset="-122"/>
                <a:cs typeface="Arial" pitchFamily="34" charset="-120"/>
              </a:rPr>
              <a:t>, not prose.</a:t>
            </a:r>
            <a:endParaRPr lang="en-US" sz="3000" dirty="0"/>
          </a:p>
        </p:txBody>
      </p:sp>
      <p:sp>
        <p:nvSpPr>
          <p:cNvPr id="4" name="Shape 2"/>
          <p:cNvSpPr/>
          <p:nvPr/>
        </p:nvSpPr>
        <p:spPr>
          <a:xfrm>
            <a:off x="841248" y="2057400"/>
            <a:ext cx="5029200" cy="3200400"/>
          </a:xfrm>
          <a:prstGeom prst="roundRect">
            <a:avLst>
              <a:gd name="adj" fmla="val 2857"/>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52728" y="2331720"/>
            <a:ext cx="4297680" cy="2651760"/>
          </a:xfrm>
          <a:prstGeom prst="rect">
            <a:avLst/>
          </a:prstGeom>
          <a:noFill/>
          <a:ln/>
        </p:spPr>
        <p:txBody>
          <a:bodyPr wrap="square" rtlCol="0" anchor="t"/>
          <a:lstStyle/>
          <a:p>
            <a:pPr indent="0" marL="0">
              <a:lnSpc>
                <a:spcPts val="2500"/>
              </a:lnSpc>
              <a:buNone/>
            </a:pPr>
            <a:r>
              <a:rPr lang="en-US" sz="1400" dirty="0">
                <a:solidFill>
                  <a:srgbClr val="6B7280"/>
                </a:solidFill>
                <a:latin typeface="Consolas" pitchFamily="34" charset="0"/>
                <a:ea typeface="Consolas" pitchFamily="34" charset="-122"/>
                <a:cs typeface="Consolas" pitchFamily="34" charset="-120"/>
              </a:rPr>
              <a:t>// the Copywriter's return type
</a:t>
            </a:r>
            <a:pPr indent="0" marL="0">
              <a:lnSpc>
                <a:spcPts val="2500"/>
              </a:lnSpc>
              <a:buNone/>
            </a:pPr>
            <a:r>
              <a:rPr lang="en-US" sz="1400" dirty="0">
                <a:solidFill>
                  <a:srgbClr val="C4B5FD"/>
                </a:solidFill>
                <a:latin typeface="Consolas" pitchFamily="34" charset="0"/>
                <a:ea typeface="Consolas" pitchFamily="34" charset="-122"/>
                <a:cs typeface="Consolas" pitchFamily="34" charset="-120"/>
              </a:rPr>
              <a:t>record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Copy</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headline,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subhead,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cta,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List&lt;Feature&gt;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features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endParaRPr lang="en-US" sz="1400" dirty="0"/>
          </a:p>
        </p:txBody>
      </p:sp>
      <p:sp>
        <p:nvSpPr>
          <p:cNvPr id="6" name="Shape 4"/>
          <p:cNvSpPr/>
          <p:nvPr/>
        </p:nvSpPr>
        <p:spPr>
          <a:xfrm>
            <a:off x="6400800" y="2057400"/>
            <a:ext cx="4937760" cy="320040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6766560" y="2331720"/>
            <a:ext cx="4206240" cy="2651760"/>
          </a:xfrm>
          <a:prstGeom prst="rect">
            <a:avLst/>
          </a:prstGeom>
          <a:noFill/>
          <a:ln/>
        </p:spPr>
        <p:txBody>
          <a:bodyPr wrap="square" rtlCol="0" anchor="t"/>
          <a:lstStyle/>
          <a:p>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"headline"</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"Plants, but they text you.",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"subhead"</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"Never kill a fern again.",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"cta"</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"Get early access",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"features"</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 {…}, {…}, {…} ]
</a:t>
            </a:r>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a:t>
            </a:r>
            <a:endParaRPr lang="en-US" sz="1350" dirty="0"/>
          </a:p>
        </p:txBody>
      </p:sp>
      <p:sp>
        <p:nvSpPr>
          <p:cNvPr id="8" name="Text 6"/>
          <p:cNvSpPr/>
          <p:nvPr/>
        </p:nvSpPr>
        <p:spPr>
          <a:xfrm>
            <a:off x="841248" y="5577840"/>
            <a:ext cx="10509199" cy="54864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No scraping a paragraph. The page is built field by field from a typed object, so it never surprises you.</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1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One interface. </a:t>
            </a:r>
            <a:pPr indent="0" marL="0">
              <a:buNone/>
            </a:pPr>
            <a:r>
              <a:rPr lang="en-US" sz="2700" b="1" dirty="0">
                <a:solidFill>
                  <a:srgbClr val="4F46E5"/>
                </a:solidFill>
                <a:latin typeface="Arial" pitchFamily="34" charset="0"/>
                <a:ea typeface="Arial" pitchFamily="34" charset="-122"/>
                <a:cs typeface="Arial" pitchFamily="34" charset="-120"/>
              </a:rPr>
              <a:t>Every worker.</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No implementation. The annotations are the program.</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interface </a:t>
            </a:r>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Worker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endParaRPr lang="en-US" sz="1550" dirty="0"/>
          </a:p>
          <a:p>
            <a:pPr indent="0" marL="0">
              <a:lnSpc>
                <a:spcPts val="3000"/>
              </a:lnSpc>
              <a:buNone/>
            </a:pP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@SystemMessage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"You are a {{role}}.</a:t>
            </a:r>
            <a:pPr indent="0" marL="0">
              <a:lnSpc>
                <a:spcPts val="3000"/>
              </a:lnSpc>
              <a:buNone/>
            </a:pPr>
            <a:endParaRPr lang="en-US" sz="1550" dirty="0"/>
          </a:p>
          <a:p>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                 Answer only from that view."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@UserMessage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"{{task}}"</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  String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work(</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("role") String role,</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("task") String 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2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Plan, dispatch, </a:t>
            </a:r>
            <a:pPr indent="0" marL="0">
              <a:buNone/>
            </a:pPr>
            <a:r>
              <a:rPr lang="en-US" sz="2700" b="1" dirty="0">
                <a:solidFill>
                  <a:srgbClr val="4F46E5"/>
                </a:solidFill>
                <a:latin typeface="Arial" pitchFamily="34" charset="0"/>
                <a:ea typeface="Arial" pitchFamily="34" charset="-122"/>
                <a:cs typeface="Arial" pitchFamily="34" charset="-120"/>
              </a:rPr>
              <a:t>synthesize.</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Plan</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plan = planner.assemble(prompt);</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1 prompt -&gt; a crew</a:t>
            </a:r>
            <a:endParaRPr lang="en-US" sz="1550" dirty="0"/>
          </a:p>
          <a:p>
            <a:pPr indent="0" marL="0">
              <a:lnSpc>
                <a:spcPts val="3000"/>
              </a:lnSpc>
              <a:buNone/>
            </a:pP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 =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new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StringBuilder();</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for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 : plan.crew()) {</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out</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 answer = worker.work(a.role(), a.task());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notes.append(a.role()).append(answer);</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String</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result = synthesizer.synthesize(notes);</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in</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LIVE BUILD</a:t>
            </a:r>
            <a:endParaRPr lang="en-US" sz="1200" dirty="0"/>
          </a:p>
        </p:txBody>
      </p:sp>
      <p:sp>
        <p:nvSpPr>
          <p:cNvPr id="4" name="Text 2"/>
          <p:cNvSpPr/>
          <p:nvPr/>
        </p:nvSpPr>
        <p:spPr>
          <a:xfrm>
            <a:off x="0" y="1828800"/>
            <a:ext cx="12191695" cy="1188720"/>
          </a:xfrm>
          <a:prstGeom prst="rect">
            <a:avLst/>
          </a:prstGeom>
          <a:noFill/>
          <a:ln/>
        </p:spPr>
        <p:txBody>
          <a:bodyPr wrap="square" rtlCol="0" anchor="ctr"/>
          <a:lstStyle/>
          <a:p>
            <a:pPr algn="ctr" indent="0" marL="0">
              <a:buNone/>
            </a:pPr>
            <a:r>
              <a:rPr lang="en-US" sz="5800" b="1" dirty="0">
                <a:solidFill>
                  <a:srgbClr val="16181D"/>
                </a:solidFill>
                <a:latin typeface="Arial" pitchFamily="34" charset="0"/>
                <a:ea typeface="Arial" pitchFamily="34" charset="-122"/>
                <a:cs typeface="Arial" pitchFamily="34" charset="-120"/>
              </a:rPr>
              <a:t>Let's build </a:t>
            </a:r>
            <a:pPr algn="ctr" indent="0" marL="0">
              <a:buNone/>
            </a:pPr>
            <a:r>
              <a:rPr lang="en-US" sz="5800" b="1" dirty="0">
                <a:solidFill>
                  <a:srgbClr val="4F46E5"/>
                </a:solidFill>
                <a:latin typeface="Arial" pitchFamily="34" charset="0"/>
                <a:ea typeface="Arial" pitchFamily="34" charset="-122"/>
                <a:cs typeface="Arial" pitchFamily="34" charset="-120"/>
              </a:rPr>
              <a:t>one of yours.</a:t>
            </a:r>
            <a:endParaRPr lang="en-US" sz="5800" dirty="0"/>
          </a:p>
        </p:txBody>
      </p:sp>
      <p:sp>
        <p:nvSpPr>
          <p:cNvPr id="5" name="Shape 3"/>
          <p:cNvSpPr/>
          <p:nvPr/>
        </p:nvSpPr>
        <p:spPr>
          <a:xfrm>
            <a:off x="1158088" y="3383280"/>
            <a:ext cx="2743200" cy="822960"/>
          </a:xfrm>
          <a:prstGeom prst="roundRect">
            <a:avLst>
              <a:gd name="adj" fmla="val 13333"/>
            </a:avLst>
          </a:prstGeom>
          <a:solidFill>
            <a:srgbClr val="F5F7FA"/>
          </a:solidFill>
          <a:ln w="19050">
            <a:solidFill>
              <a:srgbClr val="4F46E5"/>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5808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your idea</a:t>
            </a:r>
            <a:endParaRPr lang="en-US" sz="1600" dirty="0"/>
          </a:p>
        </p:txBody>
      </p:sp>
      <p:sp>
        <p:nvSpPr>
          <p:cNvPr id="7" name="Shape 5"/>
          <p:cNvSpPr/>
          <p:nvPr/>
        </p:nvSpPr>
        <p:spPr>
          <a:xfrm>
            <a:off x="4065880" y="3794760"/>
            <a:ext cx="493776" cy="0"/>
          </a:xfrm>
          <a:prstGeom prst="line">
            <a:avLst/>
          </a:prstGeom>
          <a:noFill/>
          <a:ln w="22860">
            <a:solidFill>
              <a:srgbClr val="9AA1B0"/>
            </a:solidFill>
            <a:prstDash val="solid"/>
            <a:tailEnd type="triangle"/>
          </a:ln>
        </p:spPr>
      </p:sp>
      <p:sp>
        <p:nvSpPr>
          <p:cNvPr id="8" name="Shape 6"/>
          <p:cNvSpPr/>
          <p:nvPr/>
        </p:nvSpPr>
        <p:spPr>
          <a:xfrm>
            <a:off x="4724248" y="3383280"/>
            <a:ext cx="2743200" cy="822960"/>
          </a:xfrm>
          <a:prstGeom prst="roundRect">
            <a:avLst>
              <a:gd name="adj" fmla="val 13333"/>
            </a:avLst>
          </a:prstGeom>
          <a:solidFill>
            <a:srgbClr val="F5F7FA"/>
          </a:solidFill>
          <a:ln w="1905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472424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the crew</a:t>
            </a:r>
            <a:endParaRPr lang="en-US" sz="1600" dirty="0"/>
          </a:p>
        </p:txBody>
      </p:sp>
      <p:sp>
        <p:nvSpPr>
          <p:cNvPr id="10" name="Shape 8"/>
          <p:cNvSpPr/>
          <p:nvPr/>
        </p:nvSpPr>
        <p:spPr>
          <a:xfrm>
            <a:off x="7632040" y="3794760"/>
            <a:ext cx="493776" cy="0"/>
          </a:xfrm>
          <a:prstGeom prst="line">
            <a:avLst/>
          </a:prstGeom>
          <a:noFill/>
          <a:ln w="22860">
            <a:solidFill>
              <a:srgbClr val="9AA1B0"/>
            </a:solidFill>
            <a:prstDash val="solid"/>
            <a:tailEnd type="triangle"/>
          </a:ln>
        </p:spPr>
      </p:sp>
      <p:sp>
        <p:nvSpPr>
          <p:cNvPr id="11" name="Shape 9"/>
          <p:cNvSpPr/>
          <p:nvPr/>
        </p:nvSpPr>
        <p:spPr>
          <a:xfrm>
            <a:off x="8290408" y="3383280"/>
            <a:ext cx="2743200" cy="822960"/>
          </a:xfrm>
          <a:prstGeom prst="roundRect">
            <a:avLst>
              <a:gd name="adj" fmla="val 13333"/>
            </a:avLst>
          </a:prstGeom>
          <a:solidFill>
            <a:srgbClr val="F5F7FA"/>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2" name="Text 10"/>
          <p:cNvSpPr/>
          <p:nvPr/>
        </p:nvSpPr>
        <p:spPr>
          <a:xfrm>
            <a:off x="829040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a live landing page</a:t>
            </a:r>
            <a:endParaRPr lang="en-US" sz="1600" dirty="0"/>
          </a:p>
        </p:txBody>
      </p:sp>
      <p:sp>
        <p:nvSpPr>
          <p:cNvPr id="13" name="Text 11"/>
          <p:cNvSpPr/>
          <p:nvPr/>
        </p:nvSpPr>
        <p:spPr>
          <a:xfrm>
            <a:off x="1828800" y="4892040"/>
            <a:ext cx="8534095" cy="64008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Didn't send one yet? Scan the code. I'll pick a good one and we watch the crew build it, live.</a:t>
            </a:r>
            <a:endParaRPr lang="en-US" sz="1600" dirty="0"/>
          </a:p>
        </p:txBody>
      </p:sp>
      <p:pic>
        <p:nvPicPr>
          <p:cNvPr id="14" name="Image 0" descr="preencoded.png">    </p:cNvPr>
          <p:cNvPicPr>
            <a:picLocks noChangeAspect="1"/>
          </p:cNvPicPr>
          <p:nvPr/>
        </p:nvPicPr>
        <p:blipFill>
          <a:blip r:embed="rId1"/>
          <a:stretch>
            <a:fillRect/>
          </a:stretch>
        </p:blipFill>
        <p:spPr>
          <a:xfrm>
            <a:off x="5547208" y="5577840"/>
            <a:ext cx="960120" cy="96012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WHAT JUST HAPPENED</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One sentence became a </a:t>
            </a:r>
            <a:pPr indent="0" marL="0">
              <a:buNone/>
            </a:pPr>
            <a:r>
              <a:rPr lang="en-US" sz="3200" b="1" dirty="0">
                <a:solidFill>
                  <a:srgbClr val="4F46E5"/>
                </a:solidFill>
                <a:latin typeface="Arial" pitchFamily="34" charset="0"/>
                <a:ea typeface="Arial" pitchFamily="34" charset="-122"/>
                <a:cs typeface="Arial" pitchFamily="34" charset="-120"/>
              </a:rPr>
              <a:t>team.</a:t>
            </a:r>
            <a:endParaRPr lang="en-US" sz="3200" dirty="0"/>
          </a:p>
        </p:txBody>
      </p:sp>
      <p:sp>
        <p:nvSpPr>
          <p:cNvPr id="4" name="Shape 2"/>
          <p:cNvSpPr/>
          <p:nvPr/>
        </p:nvSpPr>
        <p:spPr>
          <a:xfrm>
            <a:off x="84124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self-assembled</a:t>
            </a:r>
            <a:endParaRPr lang="en-US" sz="2100" dirty="0"/>
          </a:p>
        </p:txBody>
      </p:sp>
      <p:sp>
        <p:nvSpPr>
          <p:cNvPr id="8" name="Text 5"/>
          <p:cNvSpPr/>
          <p:nvPr/>
        </p:nvSpPr>
        <p:spPr>
          <a:xfrm>
            <a:off x="120700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You never named the crew. The planner chose who to hire.</a:t>
            </a:r>
            <a:endParaRPr lang="en-US" sz="1400" dirty="0"/>
          </a:p>
        </p:txBody>
      </p:sp>
      <p:sp>
        <p:nvSpPr>
          <p:cNvPr id="9" name="Shape 6"/>
          <p:cNvSpPr/>
          <p:nvPr/>
        </p:nvSpPr>
        <p:spPr>
          <a:xfrm>
            <a:off x="454456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864608" y="2734056"/>
            <a:ext cx="603504" cy="60350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2" name="Text 8"/>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stayed home</a:t>
            </a:r>
            <a:endParaRPr lang="en-US" sz="2100" dirty="0"/>
          </a:p>
        </p:txBody>
      </p:sp>
      <p:sp>
        <p:nvSpPr>
          <p:cNvPr id="13" name="Text 9"/>
          <p:cNvSpPr/>
          <p:nvPr/>
        </p:nvSpPr>
        <p:spPr>
          <a:xfrm>
            <a:off x="491032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token ran on this laptop. Nothing left the room.</a:t>
            </a:r>
            <a:endParaRPr lang="en-US" sz="1400" dirty="0"/>
          </a:p>
        </p:txBody>
      </p:sp>
      <p:sp>
        <p:nvSpPr>
          <p:cNvPr id="14" name="Shape 10"/>
          <p:cNvSpPr/>
          <p:nvPr/>
        </p:nvSpPr>
        <p:spPr>
          <a:xfrm>
            <a:off x="824788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567928" y="2734056"/>
            <a:ext cx="603504" cy="60350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7" name="Text 12"/>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was small</a:t>
            </a:r>
            <a:endParaRPr lang="en-US" sz="2100" dirty="0"/>
          </a:p>
        </p:txBody>
      </p:sp>
      <p:sp>
        <p:nvSpPr>
          <p:cNvPr id="18" name="Text 13"/>
          <p:cNvSpPr/>
          <p:nvPr/>
        </p:nvSpPr>
        <p:spPr>
          <a:xfrm>
            <a:off x="861364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Roughly a hundred lines of Java. That's the scary part.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NO HAND WAVING</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The whole thing, </a:t>
            </a:r>
            <a:pPr indent="0" marL="0">
              <a:buNone/>
            </a:pPr>
            <a:r>
              <a:rPr lang="en-US" sz="3200" b="1" dirty="0">
                <a:solidFill>
                  <a:srgbClr val="4F46E5"/>
                </a:solidFill>
                <a:latin typeface="Arial" pitchFamily="34" charset="0"/>
                <a:ea typeface="Arial" pitchFamily="34" charset="-122"/>
                <a:cs typeface="Arial" pitchFamily="34" charset="-120"/>
              </a:rPr>
              <a:t>measured.</a:t>
            </a:r>
            <a:endParaRPr lang="en-US" sz="3200" dirty="0"/>
          </a:p>
        </p:txBody>
      </p:sp>
      <p:sp>
        <p:nvSpPr>
          <p:cNvPr id="4" name="Text 2"/>
          <p:cNvSpPr/>
          <p:nvPr/>
        </p:nvSpPr>
        <p:spPr>
          <a:xfrm>
            <a:off x="841248" y="1783080"/>
            <a:ext cx="7863840" cy="45720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Everything on this slide is counted from the repository you can clone tonight, not rounded up for a talk.</a:t>
            </a:r>
            <a:endParaRPr lang="en-US" sz="1500" dirty="0"/>
          </a:p>
        </p:txBody>
      </p:sp>
      <p:sp>
        <p:nvSpPr>
          <p:cNvPr id="5" name="Shape 3"/>
          <p:cNvSpPr/>
          <p:nvPr/>
        </p:nvSpPr>
        <p:spPr>
          <a:xfrm>
            <a:off x="8412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61288" y="2670048"/>
            <a:ext cx="2761488" cy="566928"/>
          </a:xfrm>
          <a:prstGeom prst="rect">
            <a:avLst/>
          </a:prstGeom>
          <a:noFill/>
          <a:ln/>
        </p:spPr>
        <p:txBody>
          <a:bodyPr wrap="square" rtlCol="0" anchor="ctr"/>
          <a:lstStyle/>
          <a:p>
            <a:pPr indent="0" marL="0">
              <a:buNone/>
            </a:pPr>
            <a:r>
              <a:rPr lang="en-US" sz="3000" b="1" dirty="0">
                <a:solidFill>
                  <a:srgbClr val="4F46E5"/>
                </a:solidFill>
                <a:latin typeface="Arial" pitchFamily="34" charset="0"/>
                <a:ea typeface="Arial" pitchFamily="34" charset="-122"/>
                <a:cs typeface="Arial" pitchFamily="34" charset="-120"/>
              </a:rPr>
              <a:t>1 212</a:t>
            </a:r>
            <a:endParaRPr lang="en-US" sz="3000" dirty="0"/>
          </a:p>
        </p:txBody>
      </p:sp>
      <p:sp>
        <p:nvSpPr>
          <p:cNvPr id="7" name="Text 5"/>
          <p:cNvSpPr/>
          <p:nvPr/>
        </p:nvSpPr>
        <p:spPr>
          <a:xfrm>
            <a:off x="11612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lines of Java</a:t>
            </a:r>
            <a:endParaRPr lang="en-US" sz="1400" dirty="0"/>
          </a:p>
        </p:txBody>
      </p:sp>
      <p:sp>
        <p:nvSpPr>
          <p:cNvPr id="8" name="Text 6"/>
          <p:cNvSpPr/>
          <p:nvPr/>
        </p:nvSpPr>
        <p:spPr>
          <a:xfrm>
            <a:off x="11612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across 8 files</a:t>
            </a:r>
            <a:endParaRPr lang="en-US" sz="1150" dirty="0"/>
          </a:p>
        </p:txBody>
      </p:sp>
      <p:sp>
        <p:nvSpPr>
          <p:cNvPr id="9" name="Shape 7"/>
          <p:cNvSpPr/>
          <p:nvPr/>
        </p:nvSpPr>
        <p:spPr>
          <a:xfrm>
            <a:off x="44988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Text 8"/>
          <p:cNvSpPr/>
          <p:nvPr/>
        </p:nvSpPr>
        <p:spPr>
          <a:xfrm>
            <a:off x="4818888" y="2670048"/>
            <a:ext cx="2761488" cy="566928"/>
          </a:xfrm>
          <a:prstGeom prst="rect">
            <a:avLst/>
          </a:prstGeom>
          <a:noFill/>
          <a:ln/>
        </p:spPr>
        <p:txBody>
          <a:bodyPr wrap="square" rtlCol="0" anchor="ctr"/>
          <a:lstStyle/>
          <a:p>
            <a:pPr indent="0" marL="0">
              <a:buNone/>
            </a:pPr>
            <a:r>
              <a:rPr lang="en-US" sz="3000" b="1" dirty="0">
                <a:solidFill>
                  <a:srgbClr val="7C3AED"/>
                </a:solidFill>
                <a:latin typeface="Arial" pitchFamily="34" charset="0"/>
                <a:ea typeface="Arial" pitchFamily="34" charset="-122"/>
                <a:cs typeface="Arial" pitchFamily="34" charset="-120"/>
              </a:rPr>
              <a:t>7</a:t>
            </a:r>
            <a:endParaRPr lang="en-US" sz="3000" dirty="0"/>
          </a:p>
        </p:txBody>
      </p:sp>
      <p:sp>
        <p:nvSpPr>
          <p:cNvPr id="11" name="Text 9"/>
          <p:cNvSpPr/>
          <p:nvPr/>
        </p:nvSpPr>
        <p:spPr>
          <a:xfrm>
            <a:off x="48188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agents</a:t>
            </a:r>
            <a:endParaRPr lang="en-US" sz="1400" dirty="0"/>
          </a:p>
        </p:txBody>
      </p:sp>
      <p:sp>
        <p:nvSpPr>
          <p:cNvPr id="12" name="Text 10"/>
          <p:cNvSpPr/>
          <p:nvPr/>
        </p:nvSpPr>
        <p:spPr>
          <a:xfrm>
            <a:off x="48188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one model, seven system prompts</a:t>
            </a:r>
            <a:endParaRPr lang="en-US" sz="1150" dirty="0"/>
          </a:p>
        </p:txBody>
      </p:sp>
      <p:sp>
        <p:nvSpPr>
          <p:cNvPr id="13" name="Shape 11"/>
          <p:cNvSpPr/>
          <p:nvPr/>
        </p:nvSpPr>
        <p:spPr>
          <a:xfrm>
            <a:off x="8156448" y="2468880"/>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4" name="Text 12"/>
          <p:cNvSpPr/>
          <p:nvPr/>
        </p:nvSpPr>
        <p:spPr>
          <a:xfrm>
            <a:off x="8476488" y="2670048"/>
            <a:ext cx="2761488" cy="566928"/>
          </a:xfrm>
          <a:prstGeom prst="rect">
            <a:avLst/>
          </a:prstGeom>
          <a:noFill/>
          <a:ln/>
        </p:spPr>
        <p:txBody>
          <a:bodyPr wrap="square" rtlCol="0" anchor="ctr"/>
          <a:lstStyle/>
          <a:p>
            <a:pPr indent="0" marL="0">
              <a:buNone/>
            </a:pPr>
            <a:r>
              <a:rPr lang="en-US" sz="3000" b="1" dirty="0">
                <a:solidFill>
                  <a:srgbClr val="0284C7"/>
                </a:solidFill>
                <a:latin typeface="Arial" pitchFamily="34" charset="0"/>
                <a:ea typeface="Arial" pitchFamily="34" charset="-122"/>
                <a:cs typeface="Arial" pitchFamily="34" charset="-120"/>
              </a:rPr>
              <a:t>9</a:t>
            </a:r>
            <a:endParaRPr lang="en-US" sz="3000" dirty="0"/>
          </a:p>
        </p:txBody>
      </p:sp>
      <p:sp>
        <p:nvSpPr>
          <p:cNvPr id="15" name="Text 13"/>
          <p:cNvSpPr/>
          <p:nvPr/>
        </p:nvSpPr>
        <p:spPr>
          <a:xfrm>
            <a:off x="8476488" y="3218688"/>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HTTP endpoints</a:t>
            </a:r>
            <a:endParaRPr lang="en-US" sz="1400" dirty="0"/>
          </a:p>
        </p:txBody>
      </p:sp>
      <p:sp>
        <p:nvSpPr>
          <p:cNvPr id="16" name="Text 14"/>
          <p:cNvSpPr/>
          <p:nvPr/>
        </p:nvSpPr>
        <p:spPr>
          <a:xfrm>
            <a:off x="8476488" y="3511296"/>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submit, run, hide, queue, gallery, page…</a:t>
            </a:r>
            <a:endParaRPr lang="en-US" sz="1150" dirty="0"/>
          </a:p>
        </p:txBody>
      </p:sp>
      <p:sp>
        <p:nvSpPr>
          <p:cNvPr id="17" name="Shape 15"/>
          <p:cNvSpPr/>
          <p:nvPr/>
        </p:nvSpPr>
        <p:spPr>
          <a:xfrm>
            <a:off x="8412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8" name="Text 16"/>
          <p:cNvSpPr/>
          <p:nvPr/>
        </p:nvSpPr>
        <p:spPr>
          <a:xfrm>
            <a:off x="1161288" y="4389120"/>
            <a:ext cx="2761488" cy="566928"/>
          </a:xfrm>
          <a:prstGeom prst="rect">
            <a:avLst/>
          </a:prstGeom>
          <a:noFill/>
          <a:ln/>
        </p:spPr>
        <p:txBody>
          <a:bodyPr wrap="square" rtlCol="0" anchor="ctr"/>
          <a:lstStyle/>
          <a:p>
            <a:pPr indent="0" marL="0">
              <a:buNone/>
            </a:pPr>
            <a:r>
              <a:rPr lang="en-US" sz="3000" b="1" dirty="0">
                <a:solidFill>
                  <a:srgbClr val="0F9E8E"/>
                </a:solidFill>
                <a:latin typeface="Arial" pitchFamily="34" charset="0"/>
                <a:ea typeface="Arial" pitchFamily="34" charset="-122"/>
                <a:cs typeface="Arial" pitchFamily="34" charset="-120"/>
              </a:rPr>
              <a:t>10</a:t>
            </a:r>
            <a:endParaRPr lang="en-US" sz="3000" dirty="0"/>
          </a:p>
        </p:txBody>
      </p:sp>
      <p:sp>
        <p:nvSpPr>
          <p:cNvPr id="19" name="Text 17"/>
          <p:cNvSpPr/>
          <p:nvPr/>
        </p:nvSpPr>
        <p:spPr>
          <a:xfrm>
            <a:off x="11612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event types</a:t>
            </a:r>
            <a:endParaRPr lang="en-US" sz="1400" dirty="0"/>
          </a:p>
        </p:txBody>
      </p:sp>
      <p:sp>
        <p:nvSpPr>
          <p:cNvPr id="20" name="Text 18"/>
          <p:cNvSpPr/>
          <p:nvPr/>
        </p:nvSpPr>
        <p:spPr>
          <a:xfrm>
            <a:off x="11612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streamed to the projector over SSE</a:t>
            </a:r>
            <a:endParaRPr lang="en-US" sz="1150" dirty="0"/>
          </a:p>
        </p:txBody>
      </p:sp>
      <p:sp>
        <p:nvSpPr>
          <p:cNvPr id="21" name="Shape 19"/>
          <p:cNvSpPr/>
          <p:nvPr/>
        </p:nvSpPr>
        <p:spPr>
          <a:xfrm>
            <a:off x="44988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Text 20"/>
          <p:cNvSpPr/>
          <p:nvPr/>
        </p:nvSpPr>
        <p:spPr>
          <a:xfrm>
            <a:off x="4818888" y="4389120"/>
            <a:ext cx="2761488" cy="566928"/>
          </a:xfrm>
          <a:prstGeom prst="rect">
            <a:avLst/>
          </a:prstGeom>
          <a:noFill/>
          <a:ln/>
        </p:spPr>
        <p:txBody>
          <a:bodyPr wrap="square" rtlCol="0" anchor="ctr"/>
          <a:lstStyle/>
          <a:p>
            <a:pPr indent="0" marL="0">
              <a:buNone/>
            </a:pPr>
            <a:r>
              <a:rPr lang="en-US" sz="3000" b="1" dirty="0">
                <a:solidFill>
                  <a:srgbClr val="D97706"/>
                </a:solidFill>
                <a:latin typeface="Arial" pitchFamily="34" charset="0"/>
                <a:ea typeface="Arial" pitchFamily="34" charset="-122"/>
                <a:cs typeface="Arial" pitchFamily="34" charset="-120"/>
              </a:rPr>
              <a:t>8</a:t>
            </a:r>
            <a:endParaRPr lang="en-US" sz="3000" dirty="0"/>
          </a:p>
        </p:txBody>
      </p:sp>
      <p:sp>
        <p:nvSpPr>
          <p:cNvPr id="23" name="Text 21"/>
          <p:cNvSpPr/>
          <p:nvPr/>
        </p:nvSpPr>
        <p:spPr>
          <a:xfrm>
            <a:off x="48188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dependencies</a:t>
            </a:r>
            <a:endParaRPr lang="en-US" sz="1400" dirty="0"/>
          </a:p>
        </p:txBody>
      </p:sp>
      <p:sp>
        <p:nvSpPr>
          <p:cNvPr id="24" name="Text 22"/>
          <p:cNvSpPr/>
          <p:nvPr/>
        </p:nvSpPr>
        <p:spPr>
          <a:xfrm>
            <a:off x="48188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Spring Boot, LangChain4j, Ollama, ZXing</a:t>
            </a:r>
            <a:endParaRPr lang="en-US" sz="1150" dirty="0"/>
          </a:p>
        </p:txBody>
      </p:sp>
      <p:sp>
        <p:nvSpPr>
          <p:cNvPr id="25" name="Shape 23"/>
          <p:cNvSpPr/>
          <p:nvPr/>
        </p:nvSpPr>
        <p:spPr>
          <a:xfrm>
            <a:off x="8156448" y="4187952"/>
            <a:ext cx="3401568" cy="1481328"/>
          </a:xfrm>
          <a:prstGeom prst="roundRect">
            <a:avLst>
              <a:gd name="adj" fmla="val 617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Text 24"/>
          <p:cNvSpPr/>
          <p:nvPr/>
        </p:nvSpPr>
        <p:spPr>
          <a:xfrm>
            <a:off x="8476488" y="4389120"/>
            <a:ext cx="2761488" cy="566928"/>
          </a:xfrm>
          <a:prstGeom prst="rect">
            <a:avLst/>
          </a:prstGeom>
          <a:noFill/>
          <a:ln/>
        </p:spPr>
        <p:txBody>
          <a:bodyPr wrap="square" rtlCol="0" anchor="ctr"/>
          <a:lstStyle/>
          <a:p>
            <a:pPr indent="0" marL="0">
              <a:buNone/>
            </a:pPr>
            <a:r>
              <a:rPr lang="en-US" sz="3000" b="1" dirty="0">
                <a:solidFill>
                  <a:srgbClr val="E11D48"/>
                </a:solidFill>
                <a:latin typeface="Arial" pitchFamily="34" charset="0"/>
                <a:ea typeface="Arial" pitchFamily="34" charset="-122"/>
                <a:cs typeface="Arial" pitchFamily="34" charset="-120"/>
              </a:rPr>
              <a:t>0</a:t>
            </a:r>
            <a:endParaRPr lang="en-US" sz="3000" dirty="0"/>
          </a:p>
        </p:txBody>
      </p:sp>
      <p:sp>
        <p:nvSpPr>
          <p:cNvPr id="27" name="Text 25"/>
          <p:cNvSpPr/>
          <p:nvPr/>
        </p:nvSpPr>
        <p:spPr>
          <a:xfrm>
            <a:off x="8476488" y="4937760"/>
            <a:ext cx="2761488" cy="310896"/>
          </a:xfrm>
          <a:prstGeom prst="rect">
            <a:avLst/>
          </a:prstGeom>
          <a:noFill/>
          <a:ln/>
        </p:spPr>
        <p:txBody>
          <a:bodyPr wrap="square" rtlCol="0" anchor="ctr"/>
          <a:lstStyle/>
          <a:p>
            <a:pPr indent="0" marL="0">
              <a:buNone/>
            </a:pPr>
            <a:r>
              <a:rPr lang="en-US" sz="1400" b="1" dirty="0">
                <a:solidFill>
                  <a:srgbClr val="16181D"/>
                </a:solidFill>
                <a:latin typeface="Arial" pitchFamily="34" charset="0"/>
                <a:ea typeface="Arial" pitchFamily="34" charset="-122"/>
                <a:cs typeface="Arial" pitchFamily="34" charset="-120"/>
              </a:rPr>
              <a:t>cloud calls</a:t>
            </a:r>
            <a:endParaRPr lang="en-US" sz="1400" dirty="0"/>
          </a:p>
        </p:txBody>
      </p:sp>
      <p:sp>
        <p:nvSpPr>
          <p:cNvPr id="28" name="Text 26"/>
          <p:cNvSpPr/>
          <p:nvPr/>
        </p:nvSpPr>
        <p:spPr>
          <a:xfrm>
            <a:off x="8476488" y="5230368"/>
            <a:ext cx="2761488" cy="347472"/>
          </a:xfrm>
          <a:prstGeom prst="rect">
            <a:avLst/>
          </a:prstGeom>
          <a:noFill/>
          <a:ln/>
        </p:spPr>
        <p:txBody>
          <a:bodyPr wrap="square" rtlCol="0" anchor="ctr"/>
          <a:lstStyle/>
          <a:p>
            <a:pPr indent="0" marL="0">
              <a:lnSpc>
                <a:spcPts val="1400"/>
              </a:lnSpc>
              <a:buNone/>
            </a:pPr>
            <a:r>
              <a:rPr lang="en-US" sz="1150" dirty="0">
                <a:solidFill>
                  <a:srgbClr val="666C7A"/>
                </a:solidFill>
                <a:latin typeface="Calibri" pitchFamily="34" charset="0"/>
                <a:ea typeface="Calibri" pitchFamily="34" charset="-122"/>
                <a:cs typeface="Calibri" pitchFamily="34" charset="-120"/>
              </a:rPr>
              <a:t>nothing left the laptop, all evening</a:t>
            </a:r>
            <a:endParaRPr lang="en-US" sz="1150" dirty="0"/>
          </a:p>
        </p:txBody>
      </p:sp>
      <p:sp>
        <p:nvSpPr>
          <p:cNvPr id="29" name="Text 27"/>
          <p:cNvSpPr/>
          <p:nvPr/>
        </p:nvSpPr>
        <p:spPr>
          <a:xfrm>
            <a:off x="841248" y="5943600"/>
            <a:ext cx="10509199" cy="548640"/>
          </a:xfrm>
          <a:prstGeom prst="rect">
            <a:avLst/>
          </a:prstGeom>
          <a:noFill/>
          <a:ln/>
        </p:spPr>
        <p:txBody>
          <a:bodyPr wrap="square" rtlCol="0" anchor="ctr"/>
          <a:lstStyle/>
          <a:p>
            <a:pPr algn="ctr" indent="0" marL="0">
              <a:buNone/>
            </a:pPr>
            <a:r>
              <a:rPr lang="en-US" sz="1500" dirty="0">
                <a:solidFill>
                  <a:srgbClr val="666C7A"/>
                </a:solidFill>
                <a:latin typeface="Calibri" pitchFamily="34" charset="0"/>
                <a:ea typeface="Calibri" pitchFamily="34" charset="-122"/>
                <a:cs typeface="Calibri" pitchFamily="34" charset="-120"/>
              </a:rPr>
              <a:t>A landing page comes out at about </a:t>
            </a:r>
            <a:pPr algn="ctr" indent="0" marL="0">
              <a:buNone/>
            </a:pPr>
            <a:r>
              <a:rPr lang="en-US" sz="1500" b="1" dirty="0">
                <a:solidFill>
                  <a:srgbClr val="4F46E5"/>
                </a:solidFill>
                <a:latin typeface="Calibri" pitchFamily="34" charset="0"/>
                <a:ea typeface="Calibri" pitchFamily="34" charset="-122"/>
                <a:cs typeface="Calibri" pitchFamily="34" charset="-120"/>
              </a:rPr>
              <a:t>12 KB</a:t>
            </a:r>
            <a:pPr algn="ctr" indent="0" marL="0">
              <a:buNone/>
            </a:pPr>
            <a:r>
              <a:rPr lang="en-US" sz="1500" dirty="0">
                <a:solidFill>
                  <a:srgbClr val="666C7A"/>
                </a:solidFill>
                <a:latin typeface="Calibri" pitchFamily="34" charset="0"/>
                <a:ea typeface="Calibri" pitchFamily="34" charset="-122"/>
                <a:cs typeface="Calibri" pitchFamily="34" charset="-120"/>
              </a:rPr>
              <a:t>: one HTML file, styles inlined, no framework, no build step, opens on any phone in the room.</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WHAT YOU ACTUALLY WATCHED</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model was the easy part. </a:t>
            </a:r>
            <a:pPr indent="0" marL="0">
              <a:buNone/>
            </a:pPr>
            <a:r>
              <a:rPr lang="en-US" sz="3000" b="1" dirty="0">
                <a:solidFill>
                  <a:srgbClr val="4F46E5"/>
                </a:solidFill>
                <a:latin typeface="Arial" pitchFamily="34" charset="0"/>
                <a:ea typeface="Arial" pitchFamily="34" charset="-122"/>
                <a:cs typeface="Arial" pitchFamily="34" charset="-120"/>
              </a:rPr>
              <a:t>This is the work.</a:t>
            </a:r>
            <a:endParaRPr lang="en-US" sz="3000" dirty="0"/>
          </a:p>
        </p:txBody>
      </p:sp>
      <p:sp>
        <p:nvSpPr>
          <p:cNvPr id="4" name="Text 2"/>
          <p:cNvSpPr/>
          <p:nvPr/>
        </p:nvSpPr>
        <p:spPr>
          <a:xfrm>
            <a:off x="841248" y="1783080"/>
            <a:ext cx="7863840" cy="548640"/>
          </a:xfrm>
          <a:prstGeom prst="rect">
            <a:avLst/>
          </a:prstGeom>
          <a:noFill/>
          <a:ln/>
        </p:spPr>
        <p:txBody>
          <a:bodyPr wrap="square" rtlCol="0" anchor="ctr"/>
          <a:lstStyle/>
          <a:p>
            <a:pPr indent="0" marL="0">
              <a:buNone/>
            </a:pPr>
            <a:r>
              <a:rPr lang="en-US" sz="1550" dirty="0">
                <a:solidFill>
                  <a:srgbClr val="666C7A"/>
                </a:solidFill>
                <a:latin typeface="Calibri" pitchFamily="34" charset="0"/>
                <a:ea typeface="Calibri" pitchFamily="34" charset="-122"/>
                <a:cs typeface="Calibri" pitchFamily="34" charset="-120"/>
              </a:rPr>
              <a:t>Swap Qwen for a bigger model and almost nothing here changes. The harness is the part you build, own and get paged about.</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1143000" y="2798064"/>
            <a:ext cx="493776" cy="493776"/>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Parallelism</a:t>
            </a:r>
            <a:endParaRPr lang="en-US" sz="1550" dirty="0"/>
          </a:p>
        </p:txBody>
      </p:sp>
      <p:sp>
        <p:nvSpPr>
          <p:cNvPr id="9" name="Text 6"/>
          <p:cNvSpPr/>
          <p:nvPr/>
        </p:nvSpPr>
        <p:spPr>
          <a:xfrm>
            <a:off x="11612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Three agents start together. The one that finishes first assists, it does not idle.</a:t>
            </a:r>
            <a:endParaRPr lang="en-US" sz="120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0600" y="2798064"/>
            <a:ext cx="493776" cy="493776"/>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Feedback loops</a:t>
            </a:r>
            <a:endParaRPr lang="en-US" sz="1550" dirty="0"/>
          </a:p>
        </p:txBody>
      </p:sp>
      <p:sp>
        <p:nvSpPr>
          <p:cNvPr id="14" name="Text 10"/>
          <p:cNvSpPr/>
          <p:nvPr/>
        </p:nvSpPr>
        <p:spPr>
          <a:xfrm>
            <a:off x="48188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Reviewer and the Skeptic send work backwards, and the copy is rewritten.</a:t>
            </a:r>
            <a:endParaRPr lang="en-US" sz="120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8458200" y="2798064"/>
            <a:ext cx="493776" cy="493776"/>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Fallbacks</a:t>
            </a:r>
            <a:endParaRPr lang="en-US" sz="1550" dirty="0"/>
          </a:p>
        </p:txBody>
      </p:sp>
      <p:sp>
        <p:nvSpPr>
          <p:cNvPr id="19" name="Text 14"/>
          <p:cNvSpPr/>
          <p:nvPr/>
        </p:nvSpPr>
        <p:spPr>
          <a:xfrm>
            <a:off x="8476488" y="3429000"/>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Every agent has a house answer. Kill Ollama mid-talk and the page still builds.</a:t>
            </a:r>
            <a:endParaRPr lang="en-US" sz="120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1" name="Shape 16"/>
          <p:cNvSpPr/>
          <p:nvPr/>
        </p:nvSpPr>
        <p:spPr>
          <a:xfrm>
            <a:off x="1143000" y="4818888"/>
            <a:ext cx="493776" cy="493776"/>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2" name="Image 3" descr="preencoded.png">    </p:cNvPr>
          <p:cNvPicPr>
            <a:picLocks noChangeAspect="1"/>
          </p:cNvPicPr>
          <p:nvPr/>
        </p:nvPicPr>
        <p:blipFill>
          <a:blip r:embed="rId4"/>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Human in the loop</a:t>
            </a:r>
            <a:endParaRPr lang="en-US" sz="1550" dirty="0"/>
          </a:p>
        </p:txBody>
      </p:sp>
      <p:sp>
        <p:nvSpPr>
          <p:cNvPr id="24" name="Text 18"/>
          <p:cNvSpPr/>
          <p:nvPr/>
        </p:nvSpPr>
        <p:spPr>
          <a:xfrm>
            <a:off x="11612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Nothing reaches the projector until I press Run. I can Hide anything first.</a:t>
            </a:r>
            <a:endParaRPr lang="en-US" sz="120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6" name="Shape 20"/>
          <p:cNvSpPr/>
          <p:nvPr/>
        </p:nvSpPr>
        <p:spPr>
          <a:xfrm>
            <a:off x="4800600" y="4818888"/>
            <a:ext cx="493776" cy="493776"/>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7" name="Image 4" descr="preencoded.png">    </p:cNvPr>
          <p:cNvPicPr>
            <a:picLocks noChangeAspect="1"/>
          </p:cNvPicPr>
          <p:nvPr/>
        </p:nvPicPr>
        <p:blipFill>
          <a:blip r:embed="rId5"/>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Limits</a:t>
            </a:r>
            <a:endParaRPr lang="en-US" sz="1550" dirty="0"/>
          </a:p>
        </p:txBody>
      </p:sp>
      <p:sp>
        <p:nvSpPr>
          <p:cNvPr id="29" name="Text 22"/>
          <p:cNvSpPr/>
          <p:nvPr/>
        </p:nvSpPr>
        <p:spPr>
          <a:xfrm>
            <a:off x="48188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Rate limits, a queue cap, dedup and a key on the panel. A room of devs will test all four.</a:t>
            </a:r>
            <a:endParaRPr lang="en-US" sz="120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1" name="Shape 24"/>
          <p:cNvSpPr/>
          <p:nvPr/>
        </p:nvSpPr>
        <p:spPr>
          <a:xfrm>
            <a:off x="8458200" y="4818888"/>
            <a:ext cx="493776" cy="493776"/>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2" name="Image 5" descr="preencoded.png">    </p:cNvPr>
          <p:cNvPicPr>
            <a:picLocks noChangeAspect="1"/>
          </p:cNvPicPr>
          <p:nvPr/>
        </p:nvPicPr>
        <p:blipFill>
          <a:blip r:embed="rId6"/>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indent="0" marL="0">
              <a:buNone/>
            </a:pPr>
            <a:r>
              <a:rPr lang="en-US" sz="1550" b="1" dirty="0">
                <a:solidFill>
                  <a:srgbClr val="16181D"/>
                </a:solidFill>
                <a:latin typeface="Arial" pitchFamily="34" charset="0"/>
                <a:ea typeface="Arial" pitchFamily="34" charset="-122"/>
                <a:cs typeface="Arial" pitchFamily="34" charset="-120"/>
              </a:rPr>
              <a:t>Background work</a:t>
            </a:r>
            <a:endParaRPr lang="en-US" sz="1550" dirty="0"/>
          </a:p>
        </p:txBody>
      </p:sp>
      <p:sp>
        <p:nvSpPr>
          <p:cNvPr id="34" name="Text 26"/>
          <p:cNvSpPr/>
          <p:nvPr/>
        </p:nvSpPr>
        <p:spPr>
          <a:xfrm>
            <a:off x="8476488" y="5449824"/>
            <a:ext cx="2761488" cy="731520"/>
          </a:xfrm>
          <a:prstGeom prst="rect">
            <a:avLst/>
          </a:prstGeom>
          <a:noFill/>
          <a:ln/>
        </p:spPr>
        <p:txBody>
          <a:bodyPr wrap="square" rtlCol="0" anchor="ctr"/>
          <a:lstStyle/>
          <a:p>
            <a:pPr indent="0" marL="0">
              <a:lnSpc>
                <a:spcPts val="1600"/>
              </a:lnSpc>
              <a:buNone/>
            </a:pPr>
            <a:r>
              <a:rPr lang="en-US" sz="1200" dirty="0">
                <a:solidFill>
                  <a:srgbClr val="666C7A"/>
                </a:solidFill>
                <a:latin typeface="Calibri" pitchFamily="34" charset="0"/>
                <a:ea typeface="Calibri" pitchFamily="34" charset="-122"/>
                <a:cs typeface="Calibri" pitchFamily="34" charset="-120"/>
              </a:rPr>
              <a:t>The queue kept building while I talked. Scheduling is orchestration too.</a:t>
            </a:r>
            <a:endParaRPr lang="en-US" sz="1200" dirty="0"/>
          </a:p>
        </p:txBody>
      </p:sp>
      <p:sp>
        <p:nvSpPr>
          <p:cNvPr id="35" name="Text 27"/>
          <p:cNvSpPr/>
          <p:nvPr/>
        </p:nvSpPr>
        <p:spPr>
          <a:xfrm>
            <a:off x="1828800" y="6263640"/>
            <a:ext cx="8534095" cy="457200"/>
          </a:xfrm>
          <a:prstGeom prst="rect">
            <a:avLst/>
          </a:prstGeom>
          <a:noFill/>
          <a:ln/>
        </p:spPr>
        <p:txBody>
          <a:bodyPr wrap="square" rtlCol="0" anchor="ctr"/>
          <a:lstStyle/>
          <a:p>
            <a:pPr algn="ctr" indent="0" marL="0">
              <a:buNone/>
            </a:pPr>
            <a:r>
              <a:rPr lang="en-US" sz="1550" dirty="0">
                <a:solidFill>
                  <a:srgbClr val="666C7A"/>
                </a:solidFill>
                <a:latin typeface="Calibri" pitchFamily="34" charset="0"/>
                <a:ea typeface="Calibri" pitchFamily="34" charset="-122"/>
                <a:cs typeface="Calibri" pitchFamily="34" charset="-120"/>
              </a:rPr>
              <a:t>None of that is prompting. </a:t>
            </a:r>
            <a:pPr algn="ctr" indent="0" marL="0">
              <a:buNone/>
            </a:pPr>
            <a:r>
              <a:rPr lang="en-US" sz="1550" b="1" dirty="0">
                <a:solidFill>
                  <a:srgbClr val="4F46E5"/>
                </a:solidFill>
                <a:latin typeface="Calibri" pitchFamily="34" charset="0"/>
                <a:ea typeface="Calibri" pitchFamily="34" charset="-122"/>
                <a:cs typeface="Calibri" pitchFamily="34" charset="-120"/>
              </a:rPr>
              <a:t>All of it is engineering you already know how to do.</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REVEAL</a:t>
            </a:r>
            <a:endParaRPr lang="en-US" sz="1100" dirty="0"/>
          </a:p>
        </p:txBody>
      </p:sp>
      <p:sp>
        <p:nvSpPr>
          <p:cNvPr id="3" name="Text 1"/>
          <p:cNvSpPr/>
          <p:nvPr/>
        </p:nvSpPr>
        <p:spPr>
          <a:xfrm>
            <a:off x="841248" y="1463040"/>
            <a:ext cx="7680960" cy="1828800"/>
          </a:xfrm>
          <a:prstGeom prst="rect">
            <a:avLst/>
          </a:prstGeom>
          <a:noFill/>
          <a:ln/>
        </p:spPr>
        <p:txBody>
          <a:bodyPr wrap="square" rtlCol="0" anchor="ctr"/>
          <a:lstStyle/>
          <a:p>
            <a:pPr indent="0" marL="0">
              <a:lnSpc>
                <a:spcPts val="5000"/>
              </a:lnSpc>
              <a:buNone/>
            </a:pPr>
            <a:r>
              <a:rPr lang="en-US" sz="4000" b="1" dirty="0">
                <a:solidFill>
                  <a:srgbClr val="16181D"/>
                </a:solidFill>
                <a:latin typeface="Arial" pitchFamily="34" charset="0"/>
                <a:ea typeface="Arial" pitchFamily="34" charset="-122"/>
                <a:cs typeface="Arial" pitchFamily="34" charset="-120"/>
              </a:rPr>
              <a:t>You have been </a:t>
            </a:r>
            <a:pPr indent="0" marL="0">
              <a:lnSpc>
                <a:spcPts val="5000"/>
              </a:lnSpc>
              <a:buNone/>
            </a:pPr>
            <a:r>
              <a:rPr lang="en-US" sz="4000" b="1" dirty="0">
                <a:solidFill>
                  <a:srgbClr val="4F46E5"/>
                </a:solidFill>
                <a:latin typeface="Arial" pitchFamily="34" charset="0"/>
                <a:ea typeface="Arial" pitchFamily="34" charset="-122"/>
                <a:cs typeface="Arial" pitchFamily="34" charset="-120"/>
              </a:rPr>
              <a:t>employing them</a:t>
            </a:r>
            <a:pPr indent="0" marL="0">
              <a:lnSpc>
                <a:spcPts val="5000"/>
              </a:lnSpc>
              <a:buNone/>
            </a:pPr>
            <a:endParaRPr lang="en-US" sz="4000" dirty="0"/>
          </a:p>
          <a:p>
            <a:pPr indent="0" marL="0">
              <a:lnSpc>
                <a:spcPts val="5000"/>
              </a:lnSpc>
              <a:buNone/>
            </a:pPr>
            <a:r>
              <a:rPr lang="en-US" sz="4000" b="1" dirty="0">
                <a:solidFill>
                  <a:srgbClr val="16181D"/>
                </a:solidFill>
                <a:latin typeface="Arial" pitchFamily="34" charset="0"/>
                <a:ea typeface="Arial" pitchFamily="34" charset="-122"/>
                <a:cs typeface="Arial" pitchFamily="34" charset="-120"/>
              </a:rPr>
              <a:t>this whole time.</a:t>
            </a:r>
            <a:endParaRPr lang="en-US" sz="4000" dirty="0"/>
          </a:p>
        </p:txBody>
      </p:sp>
      <p:sp>
        <p:nvSpPr>
          <p:cNvPr id="4" name="Text 2"/>
          <p:cNvSpPr/>
          <p:nvPr/>
        </p:nvSpPr>
        <p:spPr>
          <a:xfrm>
            <a:off x="841248" y="3520440"/>
            <a:ext cx="5943600" cy="146304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Every idea you sent went straight into the queue. While I was talking about prompts and levers and loops, seven agents on this laptop were quietly building a landing page for each one.</a:t>
            </a:r>
            <a:endParaRPr lang="en-US" sz="1700" dirty="0"/>
          </a:p>
        </p:txBody>
      </p:sp>
      <p:sp>
        <p:nvSpPr>
          <p:cNvPr id="5" name="Text 3"/>
          <p:cNvSpPr/>
          <p:nvPr/>
        </p:nvSpPr>
        <p:spPr>
          <a:xfrm>
            <a:off x="841248" y="512064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7</a:t>
            </a:r>
            <a:endParaRPr lang="en-US" sz="3800" dirty="0"/>
          </a:p>
        </p:txBody>
      </p:sp>
      <p:sp>
        <p:nvSpPr>
          <p:cNvPr id="6" name="Text 4"/>
          <p:cNvSpPr/>
          <p:nvPr/>
        </p:nvSpPr>
        <p:spPr>
          <a:xfrm>
            <a:off x="84124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AGENTS PER IDEA</a:t>
            </a:r>
            <a:endParaRPr lang="en-US" sz="950" dirty="0"/>
          </a:p>
        </p:txBody>
      </p:sp>
      <p:sp>
        <p:nvSpPr>
          <p:cNvPr id="7" name="Text 5"/>
          <p:cNvSpPr/>
          <p:nvPr/>
        </p:nvSpPr>
        <p:spPr>
          <a:xfrm>
            <a:off x="285292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5292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12064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a:t>
            </a:r>
            <a:endParaRPr lang="en-US" sz="3800" dirty="0"/>
          </a:p>
        </p:txBody>
      </p:sp>
      <p:sp>
        <p:nvSpPr>
          <p:cNvPr id="10" name="Text 8"/>
          <p:cNvSpPr/>
          <p:nvPr/>
        </p:nvSpPr>
        <p:spPr>
          <a:xfrm>
            <a:off x="4590288" y="577900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LAPTOP, STILL WARM</a:t>
            </a:r>
            <a:endParaRPr lang="en-US" sz="950" dirty="0"/>
          </a:p>
        </p:txBody>
      </p:sp>
      <p:sp>
        <p:nvSpPr>
          <p:cNvPr id="11" name="Shape 9"/>
          <p:cNvSpPr/>
          <p:nvPr/>
        </p:nvSpPr>
        <p:spPr>
          <a:xfrm>
            <a:off x="7680960" y="17373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10"/>
          <p:cNvSpPr/>
          <p:nvPr/>
        </p:nvSpPr>
        <p:spPr>
          <a:xfrm>
            <a:off x="7973568" y="1988820"/>
            <a:ext cx="548640" cy="54864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3" name="Image 0" descr="preencoded.png">    </p:cNvPr>
          <p:cNvPicPr>
            <a:picLocks noChangeAspect="1"/>
          </p:cNvPicPr>
          <p:nvPr/>
        </p:nvPicPr>
        <p:blipFill>
          <a:blip r:embed="rId1"/>
          <a:stretch>
            <a:fillRect/>
          </a:stretch>
        </p:blipFill>
        <p:spPr>
          <a:xfrm>
            <a:off x="8105242" y="2120494"/>
            <a:ext cx="285293" cy="285293"/>
          </a:xfrm>
          <a:prstGeom prst="rect">
            <a:avLst/>
          </a:prstGeom>
        </p:spPr>
      </p:pic>
      <p:sp>
        <p:nvSpPr>
          <p:cNvPr id="14" name="Text 11"/>
          <p:cNvSpPr/>
          <p:nvPr/>
        </p:nvSpPr>
        <p:spPr>
          <a:xfrm>
            <a:off x="8732520" y="17373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you sent it</a:t>
            </a:r>
            <a:endParaRPr lang="en-US" sz="1700" dirty="0"/>
          </a:p>
        </p:txBody>
      </p:sp>
      <p:sp>
        <p:nvSpPr>
          <p:cNvPr id="15" name="Shape 12"/>
          <p:cNvSpPr/>
          <p:nvPr/>
        </p:nvSpPr>
        <p:spPr>
          <a:xfrm>
            <a:off x="9509760" y="2788920"/>
            <a:ext cx="0" cy="320040"/>
          </a:xfrm>
          <a:prstGeom prst="line">
            <a:avLst/>
          </a:prstGeom>
          <a:noFill/>
          <a:ln w="20320">
            <a:solidFill>
              <a:srgbClr val="9AA1B0"/>
            </a:solidFill>
            <a:prstDash val="solid"/>
            <a:tailEnd type="triangle"/>
          </a:ln>
        </p:spPr>
      </p:sp>
      <p:sp>
        <p:nvSpPr>
          <p:cNvPr id="16" name="Shape 13"/>
          <p:cNvSpPr/>
          <p:nvPr/>
        </p:nvSpPr>
        <p:spPr>
          <a:xfrm>
            <a:off x="7680960" y="31089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4"/>
          <p:cNvSpPr/>
          <p:nvPr/>
        </p:nvSpPr>
        <p:spPr>
          <a:xfrm>
            <a:off x="7973568" y="3360420"/>
            <a:ext cx="548640" cy="54864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1" descr="preencoded.png">    </p:cNvPr>
          <p:cNvPicPr>
            <a:picLocks noChangeAspect="1"/>
          </p:cNvPicPr>
          <p:nvPr/>
        </p:nvPicPr>
        <p:blipFill>
          <a:blip r:embed="rId2"/>
          <a:stretch>
            <a:fillRect/>
          </a:stretch>
        </p:blipFill>
        <p:spPr>
          <a:xfrm>
            <a:off x="8105242" y="3492094"/>
            <a:ext cx="285293" cy="285293"/>
          </a:xfrm>
          <a:prstGeom prst="rect">
            <a:avLst/>
          </a:prstGeom>
        </p:spPr>
      </p:pic>
      <p:sp>
        <p:nvSpPr>
          <p:cNvPr id="19" name="Text 15"/>
          <p:cNvSpPr/>
          <p:nvPr/>
        </p:nvSpPr>
        <p:spPr>
          <a:xfrm>
            <a:off x="8732520" y="31089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they built it</a:t>
            </a:r>
            <a:endParaRPr lang="en-US" sz="1700" dirty="0"/>
          </a:p>
        </p:txBody>
      </p:sp>
      <p:sp>
        <p:nvSpPr>
          <p:cNvPr id="20" name="Shape 16"/>
          <p:cNvSpPr/>
          <p:nvPr/>
        </p:nvSpPr>
        <p:spPr>
          <a:xfrm>
            <a:off x="9509760" y="4160520"/>
            <a:ext cx="0" cy="320040"/>
          </a:xfrm>
          <a:prstGeom prst="line">
            <a:avLst/>
          </a:prstGeom>
          <a:noFill/>
          <a:ln w="20320">
            <a:solidFill>
              <a:srgbClr val="9AA1B0"/>
            </a:solidFill>
            <a:prstDash val="solid"/>
            <a:tailEnd type="triangle"/>
          </a:ln>
        </p:spPr>
      </p:sp>
      <p:sp>
        <p:nvSpPr>
          <p:cNvPr id="21" name="Shape 17"/>
          <p:cNvSpPr/>
          <p:nvPr/>
        </p:nvSpPr>
        <p:spPr>
          <a:xfrm>
            <a:off x="7680960" y="4480560"/>
            <a:ext cx="3657600" cy="1051560"/>
          </a:xfrm>
          <a:prstGeom prst="roundRect">
            <a:avLst>
              <a:gd name="adj" fmla="val 869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2" name="Shape 18"/>
          <p:cNvSpPr/>
          <p:nvPr/>
        </p:nvSpPr>
        <p:spPr>
          <a:xfrm>
            <a:off x="7973568" y="4732020"/>
            <a:ext cx="548640" cy="54864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23" name="Image 2" descr="preencoded.png">    </p:cNvPr>
          <p:cNvPicPr>
            <a:picLocks noChangeAspect="1"/>
          </p:cNvPicPr>
          <p:nvPr/>
        </p:nvPicPr>
        <p:blipFill>
          <a:blip r:embed="rId3"/>
          <a:stretch>
            <a:fillRect/>
          </a:stretch>
        </p:blipFill>
        <p:spPr>
          <a:xfrm>
            <a:off x="8105242" y="4863694"/>
            <a:ext cx="285293" cy="285293"/>
          </a:xfrm>
          <a:prstGeom prst="rect">
            <a:avLst/>
          </a:prstGeom>
        </p:spPr>
      </p:pic>
      <p:sp>
        <p:nvSpPr>
          <p:cNvPr id="24" name="Text 19"/>
          <p:cNvSpPr/>
          <p:nvPr/>
        </p:nvSpPr>
        <p:spPr>
          <a:xfrm>
            <a:off x="8732520" y="4480560"/>
            <a:ext cx="2468880" cy="1051560"/>
          </a:xfrm>
          <a:prstGeom prst="rect">
            <a:avLst/>
          </a:prstGeom>
          <a:noFill/>
          <a:ln/>
        </p:spPr>
        <p:txBody>
          <a:bodyPr wrap="square" rtlCol="0" anchor="ctr"/>
          <a:lstStyle/>
          <a:p>
            <a:pPr indent="0" marL="0">
              <a:buNone/>
            </a:pPr>
            <a:r>
              <a:rPr lang="en-US" sz="1700" b="1" dirty="0">
                <a:solidFill>
                  <a:srgbClr val="16181D"/>
                </a:solidFill>
                <a:latin typeface="Arial" pitchFamily="34" charset="0"/>
                <a:ea typeface="Arial" pitchFamily="34" charset="-122"/>
                <a:cs typeface="Arial" pitchFamily="34" charset="-120"/>
              </a:rPr>
              <a:t>here it all is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WALL</a:t>
            </a:r>
            <a:endParaRPr lang="en-US" sz="1200" dirty="0"/>
          </a:p>
        </p:txBody>
      </p:sp>
      <p:sp>
        <p:nvSpPr>
          <p:cNvPr id="4" name="Text 2"/>
          <p:cNvSpPr/>
          <p:nvPr/>
        </p:nvSpPr>
        <p:spPr>
          <a:xfrm>
            <a:off x="0" y="1463040"/>
            <a:ext cx="12191695" cy="1005840"/>
          </a:xfrm>
          <a:prstGeom prst="rect">
            <a:avLst/>
          </a:prstGeom>
          <a:noFill/>
          <a:ln/>
        </p:spPr>
        <p:txBody>
          <a:bodyPr wrap="square" rtlCol="0" anchor="ctr"/>
          <a:lstStyle/>
          <a:p>
            <a:pPr algn="ctr" indent="0" marL="0">
              <a:buNone/>
            </a:pPr>
            <a:r>
              <a:rPr lang="en-US" sz="4600" b="1" dirty="0">
                <a:solidFill>
                  <a:srgbClr val="16181D"/>
                </a:solidFill>
                <a:latin typeface="Arial" pitchFamily="34" charset="0"/>
                <a:ea typeface="Arial" pitchFamily="34" charset="-122"/>
                <a:cs typeface="Arial" pitchFamily="34" charset="-120"/>
              </a:rPr>
              <a:t>Everyone's, </a:t>
            </a:r>
            <a:pPr algn="ctr" indent="0" marL="0">
              <a:buNone/>
            </a:pPr>
            <a:r>
              <a:rPr lang="en-US" sz="4600" b="1" dirty="0">
                <a:solidFill>
                  <a:srgbClr val="4F46E5"/>
                </a:solidFill>
                <a:latin typeface="Arial" pitchFamily="34" charset="0"/>
                <a:ea typeface="Arial" pitchFamily="34" charset="-122"/>
                <a:cs typeface="Arial" pitchFamily="34" charset="-120"/>
              </a:rPr>
              <a:t>all at once.</a:t>
            </a:r>
            <a:endParaRPr lang="en-US" sz="4600" dirty="0"/>
          </a:p>
        </p:txBody>
      </p:sp>
      <p:sp>
        <p:nvSpPr>
          <p:cNvPr id="5" name="Text 3"/>
          <p:cNvSpPr/>
          <p:nvPr/>
        </p:nvSpPr>
        <p:spPr>
          <a:xfrm>
            <a:off x="0" y="2606040"/>
            <a:ext cx="12191695" cy="457200"/>
          </a:xfrm>
          <a:prstGeom prst="rect">
            <a:avLst/>
          </a:prstGeom>
          <a:noFill/>
          <a:ln/>
        </p:spPr>
        <p:txBody>
          <a:bodyPr wrap="square" rtlCol="0" anchor="ctr"/>
          <a:lstStyle/>
          <a:p>
            <a:pPr algn="ctr" indent="0" marL="0">
              <a:buNone/>
            </a:pPr>
            <a:r>
              <a:rPr lang="en-US" sz="1900" dirty="0">
                <a:solidFill>
                  <a:srgbClr val="666C7A"/>
                </a:solidFill>
                <a:latin typeface="Calibri" pitchFamily="34" charset="0"/>
                <a:ea typeface="Calibri" pitchFamily="34" charset="-122"/>
                <a:cs typeface="Calibri" pitchFamily="34" charset="-120"/>
              </a:rPr>
              <a:t>Find yours. Your name is on it.</a:t>
            </a:r>
            <a:endParaRPr lang="en-US" sz="1900" dirty="0"/>
          </a:p>
        </p:txBody>
      </p:sp>
      <p:sp>
        <p:nvSpPr>
          <p:cNvPr id="6" name="Shape 4"/>
          <p:cNvSpPr/>
          <p:nvPr/>
        </p:nvSpPr>
        <p:spPr>
          <a:xfrm>
            <a:off x="783184" y="3429000"/>
            <a:ext cx="1920240" cy="1371600"/>
          </a:xfrm>
          <a:prstGeom prst="roundRect">
            <a:avLst>
              <a:gd name="adj" fmla="val 8000"/>
            </a:avLst>
          </a:prstGeom>
          <a:solidFill>
            <a:srgbClr val="F5F7FA"/>
          </a:solidFill>
          <a:ln w="17780">
            <a:solidFill>
              <a:srgbClr val="4F46E5"/>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783184"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name</a:t>
            </a:r>
            <a:endParaRPr lang="en-US" sz="1500" dirty="0"/>
          </a:p>
        </p:txBody>
      </p:sp>
      <p:sp>
        <p:nvSpPr>
          <p:cNvPr id="8" name="Shape 6"/>
          <p:cNvSpPr/>
          <p:nvPr/>
        </p:nvSpPr>
        <p:spPr>
          <a:xfrm>
            <a:off x="2959456" y="3429000"/>
            <a:ext cx="1920240" cy="1371600"/>
          </a:xfrm>
          <a:prstGeom prst="roundRect">
            <a:avLst>
              <a:gd name="adj" fmla="val 8000"/>
            </a:avLst>
          </a:prstGeom>
          <a:solidFill>
            <a:srgbClr val="F5F7FA"/>
          </a:solidFill>
          <a:ln w="1778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2959456"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artwork</a:t>
            </a:r>
            <a:endParaRPr lang="en-US" sz="1500" dirty="0"/>
          </a:p>
        </p:txBody>
      </p:sp>
      <p:sp>
        <p:nvSpPr>
          <p:cNvPr id="10" name="Shape 8"/>
          <p:cNvSpPr/>
          <p:nvPr/>
        </p:nvSpPr>
        <p:spPr>
          <a:xfrm>
            <a:off x="5135728" y="3429000"/>
            <a:ext cx="1920240" cy="1371600"/>
          </a:xfrm>
          <a:prstGeom prst="roundRect">
            <a:avLst>
              <a:gd name="adj" fmla="val 8000"/>
            </a:avLst>
          </a:prstGeom>
          <a:solidFill>
            <a:srgbClr val="F5F7FA"/>
          </a:solidFill>
          <a:ln w="17780">
            <a:solidFill>
              <a:srgbClr val="0F9E8E"/>
            </a:solidFill>
            <a:prstDash val="solid"/>
          </a:ln>
          <a:effectLst>
            <a:outerShdw sx="100000" sy="100000" kx="0" ky="0" algn="bl" rotWithShape="0" blurRad="139700" dist="38100" dir="5400000">
              <a:srgbClr val="9AA6BC">
                <a:alpha val="28000"/>
              </a:srgbClr>
            </a:outerShdw>
          </a:effectLst>
        </p:spPr>
      </p:sp>
      <p:sp>
        <p:nvSpPr>
          <p:cNvPr id="11" name="Text 9"/>
          <p:cNvSpPr/>
          <p:nvPr/>
        </p:nvSpPr>
        <p:spPr>
          <a:xfrm>
            <a:off x="5135728"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copy</a:t>
            </a:r>
            <a:endParaRPr lang="en-US" sz="1500" dirty="0"/>
          </a:p>
        </p:txBody>
      </p:sp>
      <p:sp>
        <p:nvSpPr>
          <p:cNvPr id="12" name="Shape 10"/>
          <p:cNvSpPr/>
          <p:nvPr/>
        </p:nvSpPr>
        <p:spPr>
          <a:xfrm>
            <a:off x="7312000" y="3429000"/>
            <a:ext cx="1920240" cy="1371600"/>
          </a:xfrm>
          <a:prstGeom prst="roundRect">
            <a:avLst>
              <a:gd name="adj" fmla="val 8000"/>
            </a:avLst>
          </a:prstGeom>
          <a:solidFill>
            <a:srgbClr val="F5F7FA"/>
          </a:solidFill>
          <a:ln w="17780">
            <a:solidFill>
              <a:srgbClr val="D97706"/>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7312000"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palette</a:t>
            </a:r>
            <a:endParaRPr lang="en-US" sz="1500" dirty="0"/>
          </a:p>
        </p:txBody>
      </p:sp>
      <p:sp>
        <p:nvSpPr>
          <p:cNvPr id="14" name="Shape 12"/>
          <p:cNvSpPr/>
          <p:nvPr/>
        </p:nvSpPr>
        <p:spPr>
          <a:xfrm>
            <a:off x="9488272" y="3429000"/>
            <a:ext cx="1920240" cy="1371600"/>
          </a:xfrm>
          <a:prstGeom prst="roundRect">
            <a:avLst>
              <a:gd name="adj" fmla="val 8000"/>
            </a:avLst>
          </a:prstGeom>
          <a:solidFill>
            <a:srgbClr val="F5F7FA"/>
          </a:solidFill>
          <a:ln w="17780">
            <a:solidFill>
              <a:srgbClr val="E11D48"/>
            </a:solidFill>
            <a:prstDash val="solid"/>
          </a:ln>
          <a:effectLst>
            <a:outerShdw sx="100000" sy="100000" kx="0" ky="0" algn="bl" rotWithShape="0" blurRad="139700" dist="38100" dir="5400000">
              <a:srgbClr val="9AA6BC">
                <a:alpha val="28000"/>
              </a:srgbClr>
            </a:outerShdw>
          </a:effectLst>
        </p:spPr>
      </p:sp>
      <p:sp>
        <p:nvSpPr>
          <p:cNvPr id="15" name="Text 13"/>
          <p:cNvSpPr/>
          <p:nvPr/>
        </p:nvSpPr>
        <p:spPr>
          <a:xfrm>
            <a:off x="9488272" y="3429000"/>
            <a:ext cx="1920240" cy="137160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a critique</a:t>
            </a:r>
            <a:endParaRPr lang="en-US" sz="1500" dirty="0"/>
          </a:p>
        </p:txBody>
      </p:sp>
      <p:sp>
        <p:nvSpPr>
          <p:cNvPr id="16" name="Text 14"/>
          <p:cNvSpPr/>
          <p:nvPr/>
        </p:nvSpPr>
        <p:spPr>
          <a:xfrm>
            <a:off x="1828800" y="5120640"/>
            <a:ext cx="8534095" cy="457200"/>
          </a:xfrm>
          <a:prstGeom prst="rect">
            <a:avLst/>
          </a:prstGeom>
          <a:noFill/>
          <a:ln/>
        </p:spPr>
        <p:txBody>
          <a:bodyPr wrap="square" rtlCol="0" anchor="ctr"/>
          <a:lstStyle/>
          <a:p>
            <a:pPr algn="ctr" indent="0" marL="0">
              <a:buNone/>
            </a:pPr>
            <a:r>
              <a:rPr lang="en-US" sz="1200" dirty="0">
                <a:solidFill>
                  <a:srgbClr val="9AA1B0"/>
                </a:solidFill>
                <a:latin typeface="Consolas" pitchFamily="34" charset="0"/>
                <a:ea typeface="Consolas" pitchFamily="34" charset="-122"/>
                <a:cs typeface="Consolas" pitchFamily="34" charset="-120"/>
              </a:rPr>
              <a:t>every page invented from scratch, by a different run of the same seven agents</a:t>
            </a:r>
            <a:endParaRPr lang="en-US" sz="1200" dirty="0"/>
          </a:p>
        </p:txBody>
      </p:sp>
      <p:sp>
        <p:nvSpPr>
          <p:cNvPr id="17" name="Text 15"/>
          <p:cNvSpPr/>
          <p:nvPr/>
        </p:nvSpPr>
        <p:spPr>
          <a:xfrm>
            <a:off x="1828800" y="5852160"/>
            <a:ext cx="8534095" cy="457200"/>
          </a:xfrm>
          <a:prstGeom prst="rect">
            <a:avLst/>
          </a:prstGeom>
          <a:noFill/>
          <a:ln/>
        </p:spPr>
        <p:txBody>
          <a:bodyPr wrap="square" rtlCol="0" anchor="ctr"/>
          <a:lstStyle/>
          <a:p>
            <a:pPr algn="ctr" indent="0" marL="0">
              <a:buNone/>
            </a:pPr>
            <a:r>
              <a:rPr lang="en-US" sz="1300" dirty="0">
                <a:solidFill>
                  <a:srgbClr val="4F46E5"/>
                </a:solidFill>
                <a:latin typeface="Consolas" pitchFamily="34" charset="0"/>
                <a:ea typeface="Consolas" pitchFamily="34" charset="-122"/>
                <a:cs typeface="Consolas" pitchFamily="34" charset="-120"/>
              </a:rPr>
              <a:t>open  /gallery  on the projector</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64008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TAKEAWAY</a:t>
            </a:r>
            <a:endParaRPr lang="en-US" sz="1100" dirty="0"/>
          </a:p>
        </p:txBody>
      </p:sp>
      <p:sp>
        <p:nvSpPr>
          <p:cNvPr id="3" name="Text 1"/>
          <p:cNvSpPr/>
          <p:nvPr/>
        </p:nvSpPr>
        <p:spPr>
          <a:xfrm>
            <a:off x="841248" y="1325880"/>
            <a:ext cx="5943600" cy="2377440"/>
          </a:xfrm>
          <a:prstGeom prst="rect">
            <a:avLst/>
          </a:prstGeom>
          <a:noFill/>
          <a:ln/>
        </p:spPr>
        <p:txBody>
          <a:bodyPr wrap="square" rtlCol="0" anchor="ctr"/>
          <a:lstStyle/>
          <a:p>
            <a:pPr indent="0" marL="0">
              <a:lnSpc>
                <a:spcPts val="4400"/>
              </a:lnSpc>
              <a:buNone/>
            </a:pPr>
            <a:r>
              <a:rPr lang="en-US" sz="3600" b="1" dirty="0">
                <a:solidFill>
                  <a:srgbClr val="16181D"/>
                </a:solidFill>
                <a:latin typeface="Arial" pitchFamily="34" charset="0"/>
                <a:ea typeface="Arial" pitchFamily="34" charset="-122"/>
                <a:cs typeface="Arial" pitchFamily="34" charset="-120"/>
              </a:rPr>
              <a:t>Your codebase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becomes a </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team</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you direct</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 in English.</a:t>
            </a:r>
            <a:endParaRPr lang="en-US" sz="3600" dirty="0"/>
          </a:p>
        </p:txBody>
      </p:sp>
      <p:sp>
        <p:nvSpPr>
          <p:cNvPr id="4" name="Text 2"/>
          <p:cNvSpPr/>
          <p:nvPr/>
        </p:nvSpPr>
        <p:spPr>
          <a:xfrm>
            <a:off x="841248" y="4160520"/>
            <a:ext cx="5760720" cy="128016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One prompt. Many workers. In Java, on your own machine. The skill ahead is knowing what to ask, and how to constrain the answer.</a:t>
            </a:r>
            <a:endParaRPr lang="en-US" sz="1600" dirty="0"/>
          </a:p>
        </p:txBody>
      </p:sp>
      <p:sp>
        <p:nvSpPr>
          <p:cNvPr id="5" name="Text 3"/>
          <p:cNvSpPr/>
          <p:nvPr/>
        </p:nvSpPr>
        <p:spPr>
          <a:xfrm>
            <a:off x="841248" y="5669280"/>
            <a:ext cx="5486400" cy="822960"/>
          </a:xfrm>
          <a:prstGeom prst="rect">
            <a:avLst/>
          </a:prstGeom>
          <a:noFill/>
          <a:ln/>
        </p:spPr>
        <p:txBody>
          <a:bodyPr wrap="square" rtlCol="0" anchor="ctr"/>
          <a:lstStyle/>
          <a:p>
            <a:pPr indent="0" marL="0">
              <a:lnSpc>
                <a:spcPts val="22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2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200"/>
              </a:lnSpc>
              <a:buNone/>
            </a:pPr>
            <a:endParaRPr lang="en-US" sz="1250" dirty="0"/>
          </a:p>
          <a:p>
            <a:pPr indent="0" marL="0">
              <a:lnSpc>
                <a:spcPts val="2200"/>
              </a:lnSpc>
              <a:buNone/>
            </a:pPr>
            <a:r>
              <a:rPr lang="en-US" sz="1250" dirty="0">
                <a:solidFill>
                  <a:srgbClr val="9AA1B0"/>
                </a:solidFill>
                <a:latin typeface="Consolas" pitchFamily="34" charset="0"/>
                <a:ea typeface="Consolas" pitchFamily="34" charset="-122"/>
                <a:cs typeface="Consolas" pitchFamily="34" charset="-120"/>
              </a:rPr>
              <a:t>what do you want to break first?</a:t>
            </a:r>
            <a:endParaRPr lang="en-US" sz="1250" dirty="0"/>
          </a:p>
        </p:txBody>
      </p:sp>
      <p:sp>
        <p:nvSpPr>
          <p:cNvPr id="6" name="Shape 4"/>
          <p:cNvSpPr/>
          <p:nvPr/>
        </p:nvSpPr>
        <p:spPr>
          <a:xfrm>
            <a:off x="736092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7612380" y="1965960"/>
            <a:ext cx="1371600" cy="1371600"/>
          </a:xfrm>
          <a:prstGeom prst="rect">
            <a:avLst/>
          </a:prstGeom>
        </p:spPr>
      </p:pic>
      <p:sp>
        <p:nvSpPr>
          <p:cNvPr id="8" name="Shape 5"/>
          <p:cNvSpPr/>
          <p:nvPr/>
        </p:nvSpPr>
        <p:spPr>
          <a:xfrm>
            <a:off x="8087868" y="3566160"/>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8188818" y="3667110"/>
            <a:ext cx="218724" cy="218724"/>
          </a:xfrm>
          <a:prstGeom prst="rect">
            <a:avLst/>
          </a:prstGeom>
        </p:spPr>
      </p:pic>
      <p:sp>
        <p:nvSpPr>
          <p:cNvPr id="10" name="Text 6"/>
          <p:cNvSpPr/>
          <p:nvPr/>
        </p:nvSpPr>
        <p:spPr>
          <a:xfrm>
            <a:off x="736092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LinkedIn</a:t>
            </a:r>
            <a:endParaRPr lang="en-US" sz="1500" dirty="0"/>
          </a:p>
        </p:txBody>
      </p:sp>
      <p:sp>
        <p:nvSpPr>
          <p:cNvPr id="11" name="Text 7"/>
          <p:cNvSpPr/>
          <p:nvPr/>
        </p:nvSpPr>
        <p:spPr>
          <a:xfrm>
            <a:off x="736092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Nevin Tom</a:t>
            </a:r>
            <a:endParaRPr lang="en-US" sz="1150" dirty="0"/>
          </a:p>
        </p:txBody>
      </p:sp>
      <p:sp>
        <p:nvSpPr>
          <p:cNvPr id="12" name="Shape 8"/>
          <p:cNvSpPr/>
          <p:nvPr/>
        </p:nvSpPr>
        <p:spPr>
          <a:xfrm>
            <a:off x="955548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806940" y="1965960"/>
            <a:ext cx="1371600" cy="1371600"/>
          </a:xfrm>
          <a:prstGeom prst="rect">
            <a:avLst/>
          </a:prstGeom>
        </p:spPr>
      </p:pic>
      <p:sp>
        <p:nvSpPr>
          <p:cNvPr id="14" name="Shape 9"/>
          <p:cNvSpPr/>
          <p:nvPr/>
        </p:nvSpPr>
        <p:spPr>
          <a:xfrm>
            <a:off x="10282428" y="3566160"/>
            <a:ext cx="420624" cy="420624"/>
          </a:xfrm>
          <a:prstGeom prst="ellipse">
            <a:avLst/>
          </a:prstGeom>
          <a:solidFill>
            <a:srgbClr val="16181D"/>
          </a:solidFill>
          <a:ln/>
          <a:effectLst>
            <a:outerShdw sx="100000" sy="100000" kx="0" ky="0" algn="bl" rotWithShape="0" blurRad="139700" dist="38100" dir="5400000">
              <a:srgbClr val="9AA6BC">
                <a:alpha val="28000"/>
              </a:srgbClr>
            </a:outerShdw>
          </a:effectLst>
        </p:spPr>
      </p:sp>
      <p:pic>
        <p:nvPicPr>
          <p:cNvPr id="15" name="Image 3" descr="preencoded.png">    </p:cNvPr>
          <p:cNvPicPr>
            <a:picLocks noChangeAspect="1"/>
          </p:cNvPicPr>
          <p:nvPr/>
        </p:nvPicPr>
        <p:blipFill>
          <a:blip r:embed="rId4"/>
          <a:stretch>
            <a:fillRect/>
          </a:stretch>
        </p:blipFill>
        <p:spPr>
          <a:xfrm>
            <a:off x="10383378" y="3667110"/>
            <a:ext cx="218724" cy="218724"/>
          </a:xfrm>
          <a:prstGeom prst="rect">
            <a:avLst/>
          </a:prstGeom>
        </p:spPr>
      </p:pic>
      <p:sp>
        <p:nvSpPr>
          <p:cNvPr id="16" name="Text 10"/>
          <p:cNvSpPr/>
          <p:nvPr/>
        </p:nvSpPr>
        <p:spPr>
          <a:xfrm>
            <a:off x="955548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GitHub</a:t>
            </a:r>
            <a:endParaRPr lang="en-US" sz="1500" dirty="0"/>
          </a:p>
        </p:txBody>
      </p:sp>
      <p:sp>
        <p:nvSpPr>
          <p:cNvPr id="17" name="Text 11"/>
          <p:cNvSpPr/>
          <p:nvPr/>
        </p:nvSpPr>
        <p:spPr>
          <a:xfrm>
            <a:off x="955548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the demo repo</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2026-08-05T14:54:19Z</dcterms:created>
  <dcterms:modified xsi:type="dcterms:W3CDTF">2026-08-05T14:54:19Z</dcterms:modified>
</cp:coreProperties>
</file>